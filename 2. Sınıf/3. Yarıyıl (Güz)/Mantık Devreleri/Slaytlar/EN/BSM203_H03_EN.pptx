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7" r:id="rId1"/>
  </p:sldMasterIdLst>
  <p:notesMasterIdLst>
    <p:notesMasterId r:id="rId17"/>
  </p:notesMasterIdLst>
  <p:handoutMasterIdLst>
    <p:handoutMasterId r:id="rId18"/>
  </p:handoutMasterIdLst>
  <p:sldIdLst>
    <p:sldId id="348" r:id="rId2"/>
    <p:sldId id="349" r:id="rId3"/>
    <p:sldId id="350" r:id="rId4"/>
    <p:sldId id="351" r:id="rId5"/>
    <p:sldId id="352" r:id="rId6"/>
    <p:sldId id="353" r:id="rId7"/>
    <p:sldId id="354" r:id="rId8"/>
    <p:sldId id="355" r:id="rId9"/>
    <p:sldId id="356" r:id="rId10"/>
    <p:sldId id="357" r:id="rId11"/>
    <p:sldId id="358" r:id="rId12"/>
    <p:sldId id="359" r:id="rId13"/>
    <p:sldId id="360" r:id="rId14"/>
    <p:sldId id="361" r:id="rId15"/>
    <p:sldId id="362" r:id="rId16"/>
  </p:sldIdLst>
  <p:sldSz cx="9144000" cy="6858000" type="screen4x3"/>
  <p:notesSz cx="7315200" cy="9601200"/>
  <p:defaultTextStyle>
    <a:defPPr>
      <a:defRPr lang="en-US"/>
    </a:defPPr>
    <a:lvl1pPr algn="l" rtl="0" fontAlgn="base">
      <a:spcBef>
        <a:spcPct val="0"/>
      </a:spcBef>
      <a:spcAft>
        <a:spcPct val="0"/>
      </a:spcAft>
      <a:defRPr sz="1600" b="1" kern="1200">
        <a:solidFill>
          <a:schemeClr val="tx1"/>
        </a:solidFill>
        <a:latin typeface="Times New Roman" pitchFamily="18" charset="0"/>
        <a:ea typeface="+mn-ea"/>
        <a:cs typeface="+mn-cs"/>
      </a:defRPr>
    </a:lvl1pPr>
    <a:lvl2pPr marL="457200" algn="l" rtl="0" fontAlgn="base">
      <a:spcBef>
        <a:spcPct val="0"/>
      </a:spcBef>
      <a:spcAft>
        <a:spcPct val="0"/>
      </a:spcAft>
      <a:defRPr sz="1600" b="1" kern="1200">
        <a:solidFill>
          <a:schemeClr val="tx1"/>
        </a:solidFill>
        <a:latin typeface="Times New Roman" pitchFamily="18" charset="0"/>
        <a:ea typeface="+mn-ea"/>
        <a:cs typeface="+mn-cs"/>
      </a:defRPr>
    </a:lvl2pPr>
    <a:lvl3pPr marL="914400" algn="l" rtl="0" fontAlgn="base">
      <a:spcBef>
        <a:spcPct val="0"/>
      </a:spcBef>
      <a:spcAft>
        <a:spcPct val="0"/>
      </a:spcAft>
      <a:defRPr sz="1600" b="1" kern="1200">
        <a:solidFill>
          <a:schemeClr val="tx1"/>
        </a:solidFill>
        <a:latin typeface="Times New Roman" pitchFamily="18" charset="0"/>
        <a:ea typeface="+mn-ea"/>
        <a:cs typeface="+mn-cs"/>
      </a:defRPr>
    </a:lvl3pPr>
    <a:lvl4pPr marL="1371600" algn="l" rtl="0" fontAlgn="base">
      <a:spcBef>
        <a:spcPct val="0"/>
      </a:spcBef>
      <a:spcAft>
        <a:spcPct val="0"/>
      </a:spcAft>
      <a:defRPr sz="1600" b="1" kern="1200">
        <a:solidFill>
          <a:schemeClr val="tx1"/>
        </a:solidFill>
        <a:latin typeface="Times New Roman" pitchFamily="18" charset="0"/>
        <a:ea typeface="+mn-ea"/>
        <a:cs typeface="+mn-cs"/>
      </a:defRPr>
    </a:lvl4pPr>
    <a:lvl5pPr marL="1828800" algn="l" rtl="0" fontAlgn="base">
      <a:spcBef>
        <a:spcPct val="0"/>
      </a:spcBef>
      <a:spcAft>
        <a:spcPct val="0"/>
      </a:spcAft>
      <a:defRPr sz="1600" b="1" kern="1200">
        <a:solidFill>
          <a:schemeClr val="tx1"/>
        </a:solidFill>
        <a:latin typeface="Times New Roman" pitchFamily="18" charset="0"/>
        <a:ea typeface="+mn-ea"/>
        <a:cs typeface="+mn-cs"/>
      </a:defRPr>
    </a:lvl5pPr>
    <a:lvl6pPr marL="2286000" algn="l" defTabSz="914400" rtl="0" eaLnBrk="1" latinLnBrk="0" hangingPunct="1">
      <a:defRPr sz="1600" b="1" kern="1200">
        <a:solidFill>
          <a:schemeClr val="tx1"/>
        </a:solidFill>
        <a:latin typeface="Times New Roman" pitchFamily="18" charset="0"/>
        <a:ea typeface="+mn-ea"/>
        <a:cs typeface="+mn-cs"/>
      </a:defRPr>
    </a:lvl6pPr>
    <a:lvl7pPr marL="2743200" algn="l" defTabSz="914400" rtl="0" eaLnBrk="1" latinLnBrk="0" hangingPunct="1">
      <a:defRPr sz="1600" b="1" kern="1200">
        <a:solidFill>
          <a:schemeClr val="tx1"/>
        </a:solidFill>
        <a:latin typeface="Times New Roman" pitchFamily="18" charset="0"/>
        <a:ea typeface="+mn-ea"/>
        <a:cs typeface="+mn-cs"/>
      </a:defRPr>
    </a:lvl7pPr>
    <a:lvl8pPr marL="3200400" algn="l" defTabSz="914400" rtl="0" eaLnBrk="1" latinLnBrk="0" hangingPunct="1">
      <a:defRPr sz="1600" b="1" kern="1200">
        <a:solidFill>
          <a:schemeClr val="tx1"/>
        </a:solidFill>
        <a:latin typeface="Times New Roman" pitchFamily="18" charset="0"/>
        <a:ea typeface="+mn-ea"/>
        <a:cs typeface="+mn-cs"/>
      </a:defRPr>
    </a:lvl8pPr>
    <a:lvl9pPr marL="3657600" algn="l" defTabSz="914400" rtl="0" eaLnBrk="1" latinLnBrk="0" hangingPunct="1">
      <a:defRPr sz="1600" b="1"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dministrator"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66FF"/>
    <a:srgbClr val="FF9900"/>
    <a:srgbClr val="0000CC"/>
    <a:srgbClr val="A50021"/>
    <a:srgbClr val="990033"/>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261" autoAdjust="0"/>
    <p:restoredTop sz="94660"/>
  </p:normalViewPr>
  <p:slideViewPr>
    <p:cSldViewPr snapToGrid="0">
      <p:cViewPr varScale="1">
        <p:scale>
          <a:sx n="107" d="100"/>
          <a:sy n="107" d="100"/>
        </p:scale>
        <p:origin x="3456"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52" d="100"/>
          <a:sy n="52" d="100"/>
        </p:scale>
        <p:origin x="-1782" y="-9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2466" name="Rectangle 2"/>
          <p:cNvSpPr>
            <a:spLocks noGrp="1" noChangeArrowheads="1"/>
          </p:cNvSpPr>
          <p:nvPr>
            <p:ph type="hdr" sz="quarter"/>
          </p:nvPr>
        </p:nvSpPr>
        <p:spPr bwMode="auto">
          <a:xfrm>
            <a:off x="0" y="0"/>
            <a:ext cx="3189288" cy="471488"/>
          </a:xfrm>
          <a:prstGeom prst="rect">
            <a:avLst/>
          </a:prstGeom>
          <a:noFill/>
          <a:ln w="9525">
            <a:noFill/>
            <a:miter lim="800000"/>
            <a:headEnd/>
            <a:tailEnd/>
          </a:ln>
          <a:effectLst/>
        </p:spPr>
        <p:txBody>
          <a:bodyPr vert="horz" wrap="none" lIns="95288" tIns="47644" rIns="95288" bIns="47644" numCol="1" anchor="ctr" anchorCtr="0" compatLnSpc="1">
            <a:prstTxWarp prst="textNoShape">
              <a:avLst/>
            </a:prstTxWarp>
          </a:bodyPr>
          <a:lstStyle>
            <a:lvl1pPr defTabSz="954088" eaLnBrk="0" hangingPunct="0">
              <a:defRPr sz="1300" b="0">
                <a:latin typeface="Helvetica" pitchFamily="34" charset="0"/>
              </a:defRPr>
            </a:lvl1pPr>
          </a:lstStyle>
          <a:p>
            <a:endParaRPr lang="en-US"/>
          </a:p>
        </p:txBody>
      </p:sp>
      <p:sp>
        <p:nvSpPr>
          <p:cNvPr id="62467" name="Rectangle 3"/>
          <p:cNvSpPr>
            <a:spLocks noGrp="1" noChangeArrowheads="1"/>
          </p:cNvSpPr>
          <p:nvPr>
            <p:ph type="dt" sz="quarter" idx="1"/>
          </p:nvPr>
        </p:nvSpPr>
        <p:spPr bwMode="auto">
          <a:xfrm>
            <a:off x="4148138" y="0"/>
            <a:ext cx="3186112" cy="471488"/>
          </a:xfrm>
          <a:prstGeom prst="rect">
            <a:avLst/>
          </a:prstGeom>
          <a:noFill/>
          <a:ln w="9525">
            <a:noFill/>
            <a:miter lim="800000"/>
            <a:headEnd/>
            <a:tailEnd/>
          </a:ln>
          <a:effectLst/>
        </p:spPr>
        <p:txBody>
          <a:bodyPr vert="horz" wrap="none" lIns="95288" tIns="47644" rIns="95288" bIns="47644" numCol="1" anchor="ctr" anchorCtr="0" compatLnSpc="1">
            <a:prstTxWarp prst="textNoShape">
              <a:avLst/>
            </a:prstTxWarp>
          </a:bodyPr>
          <a:lstStyle>
            <a:lvl1pPr algn="r" defTabSz="954088" eaLnBrk="0" hangingPunct="0">
              <a:defRPr sz="1300" b="0">
                <a:latin typeface="Helvetica" pitchFamily="34" charset="0"/>
              </a:defRPr>
            </a:lvl1pPr>
          </a:lstStyle>
          <a:p>
            <a:endParaRPr lang="en-US"/>
          </a:p>
        </p:txBody>
      </p:sp>
      <p:sp>
        <p:nvSpPr>
          <p:cNvPr id="62468" name="Rectangle 4"/>
          <p:cNvSpPr>
            <a:spLocks noGrp="1" noChangeArrowheads="1"/>
          </p:cNvSpPr>
          <p:nvPr>
            <p:ph type="ftr" sz="quarter" idx="2"/>
          </p:nvPr>
        </p:nvSpPr>
        <p:spPr bwMode="auto">
          <a:xfrm>
            <a:off x="0" y="9145588"/>
            <a:ext cx="3189288" cy="469900"/>
          </a:xfrm>
          <a:prstGeom prst="rect">
            <a:avLst/>
          </a:prstGeom>
          <a:noFill/>
          <a:ln w="9525">
            <a:noFill/>
            <a:miter lim="800000"/>
            <a:headEnd/>
            <a:tailEnd/>
          </a:ln>
          <a:effectLst/>
        </p:spPr>
        <p:txBody>
          <a:bodyPr vert="horz" wrap="none" lIns="95288" tIns="47644" rIns="95288" bIns="47644" numCol="1" anchor="b" anchorCtr="0" compatLnSpc="1">
            <a:prstTxWarp prst="textNoShape">
              <a:avLst/>
            </a:prstTxWarp>
          </a:bodyPr>
          <a:lstStyle>
            <a:lvl1pPr defTabSz="954088" eaLnBrk="0" hangingPunct="0">
              <a:defRPr sz="1300" b="0">
                <a:latin typeface="Helvetica" pitchFamily="34" charset="0"/>
              </a:defRPr>
            </a:lvl1pPr>
          </a:lstStyle>
          <a:p>
            <a:endParaRPr lang="en-US"/>
          </a:p>
        </p:txBody>
      </p:sp>
      <p:sp>
        <p:nvSpPr>
          <p:cNvPr id="62469" name="Rectangle 5"/>
          <p:cNvSpPr>
            <a:spLocks noGrp="1" noChangeArrowheads="1"/>
          </p:cNvSpPr>
          <p:nvPr>
            <p:ph type="sldNum" sz="quarter" idx="3"/>
          </p:nvPr>
        </p:nvSpPr>
        <p:spPr bwMode="auto">
          <a:xfrm>
            <a:off x="4148138" y="9145588"/>
            <a:ext cx="3186112" cy="469900"/>
          </a:xfrm>
          <a:prstGeom prst="rect">
            <a:avLst/>
          </a:prstGeom>
          <a:noFill/>
          <a:ln w="9525">
            <a:noFill/>
            <a:miter lim="800000"/>
            <a:headEnd/>
            <a:tailEnd/>
          </a:ln>
          <a:effectLst/>
        </p:spPr>
        <p:txBody>
          <a:bodyPr vert="horz" wrap="none" lIns="95288" tIns="47644" rIns="95288" bIns="47644" numCol="1" anchor="b" anchorCtr="0" compatLnSpc="1">
            <a:prstTxWarp prst="textNoShape">
              <a:avLst/>
            </a:prstTxWarp>
          </a:bodyPr>
          <a:lstStyle>
            <a:lvl1pPr algn="r" defTabSz="954088" eaLnBrk="0" hangingPunct="0">
              <a:defRPr sz="1300" b="0">
                <a:latin typeface="Helvetica" pitchFamily="34" charset="0"/>
              </a:defRPr>
            </a:lvl1pPr>
          </a:lstStyle>
          <a:p>
            <a:fld id="{30149713-49C3-4999-92B4-E05B099C5832}" type="slidenum">
              <a:rPr lang="en-US"/>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167063" cy="477838"/>
          </a:xfrm>
          <a:prstGeom prst="rect">
            <a:avLst/>
          </a:prstGeom>
          <a:noFill/>
          <a:ln w="9525">
            <a:noFill/>
            <a:miter lim="800000"/>
            <a:headEnd/>
            <a:tailEnd/>
          </a:ln>
          <a:effectLst/>
        </p:spPr>
        <p:txBody>
          <a:bodyPr vert="horz" wrap="none" lIns="96898" tIns="48450" rIns="96898" bIns="48450" numCol="1" anchor="ctr" anchorCtr="0" compatLnSpc="1">
            <a:prstTxWarp prst="textNoShape">
              <a:avLst/>
            </a:prstTxWarp>
          </a:bodyPr>
          <a:lstStyle>
            <a:lvl1pPr defTabSz="969963" eaLnBrk="0" hangingPunct="0">
              <a:defRPr sz="1300" b="0"/>
            </a:lvl1pPr>
          </a:lstStyle>
          <a:p>
            <a:endParaRPr lang="en-US"/>
          </a:p>
        </p:txBody>
      </p:sp>
      <p:sp>
        <p:nvSpPr>
          <p:cNvPr id="6147" name="Rectangle 3"/>
          <p:cNvSpPr>
            <a:spLocks noGrp="1" noChangeArrowheads="1"/>
          </p:cNvSpPr>
          <p:nvPr>
            <p:ph type="dt" idx="1"/>
          </p:nvPr>
        </p:nvSpPr>
        <p:spPr bwMode="auto">
          <a:xfrm>
            <a:off x="4148138" y="0"/>
            <a:ext cx="3167062" cy="477838"/>
          </a:xfrm>
          <a:prstGeom prst="rect">
            <a:avLst/>
          </a:prstGeom>
          <a:noFill/>
          <a:ln w="9525">
            <a:noFill/>
            <a:miter lim="800000"/>
            <a:headEnd/>
            <a:tailEnd/>
          </a:ln>
          <a:effectLst/>
        </p:spPr>
        <p:txBody>
          <a:bodyPr vert="horz" wrap="none" lIns="96898" tIns="48450" rIns="96898" bIns="48450" numCol="1" anchor="ctr" anchorCtr="0" compatLnSpc="1">
            <a:prstTxWarp prst="textNoShape">
              <a:avLst/>
            </a:prstTxWarp>
          </a:bodyPr>
          <a:lstStyle>
            <a:lvl1pPr algn="r" defTabSz="969963" eaLnBrk="0" hangingPunct="0">
              <a:defRPr sz="1300" b="0"/>
            </a:lvl1pPr>
          </a:lstStyle>
          <a:p>
            <a:endParaRPr lang="en-US"/>
          </a:p>
        </p:txBody>
      </p:sp>
      <p:sp>
        <p:nvSpPr>
          <p:cNvPr id="6148" name="Rectangle 4"/>
          <p:cNvSpPr>
            <a:spLocks noGrp="1" noRot="1" noChangeAspect="1" noChangeArrowheads="1" noTextEdit="1"/>
          </p:cNvSpPr>
          <p:nvPr>
            <p:ph type="sldImg" idx="2"/>
          </p:nvPr>
        </p:nvSpPr>
        <p:spPr bwMode="auto">
          <a:xfrm>
            <a:off x="1257300" y="720725"/>
            <a:ext cx="4802188" cy="3602038"/>
          </a:xfrm>
          <a:prstGeom prst="rect">
            <a:avLst/>
          </a:prstGeom>
          <a:noFill/>
          <a:ln w="9525">
            <a:solidFill>
              <a:srgbClr val="000000"/>
            </a:solidFill>
            <a:miter lim="800000"/>
            <a:headEnd/>
            <a:tailEnd/>
          </a:ln>
          <a:effectLst/>
        </p:spPr>
      </p:sp>
      <p:sp>
        <p:nvSpPr>
          <p:cNvPr id="6149" name="Rectangle 5"/>
          <p:cNvSpPr>
            <a:spLocks noGrp="1" noChangeArrowheads="1"/>
          </p:cNvSpPr>
          <p:nvPr>
            <p:ph type="body" sz="quarter" idx="3"/>
          </p:nvPr>
        </p:nvSpPr>
        <p:spPr bwMode="auto">
          <a:xfrm>
            <a:off x="974725" y="4559300"/>
            <a:ext cx="5365750" cy="4321175"/>
          </a:xfrm>
          <a:prstGeom prst="rect">
            <a:avLst/>
          </a:prstGeom>
          <a:noFill/>
          <a:ln w="9525">
            <a:noFill/>
            <a:miter lim="800000"/>
            <a:headEnd/>
            <a:tailEnd/>
          </a:ln>
          <a:effectLst/>
        </p:spPr>
        <p:txBody>
          <a:bodyPr vert="horz" wrap="none" lIns="96898" tIns="48450" rIns="96898" bIns="48450" numCol="1" anchor="ctr"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150" name="Rectangle 6"/>
          <p:cNvSpPr>
            <a:spLocks noGrp="1" noChangeArrowheads="1"/>
          </p:cNvSpPr>
          <p:nvPr>
            <p:ph type="ftr" sz="quarter" idx="4"/>
          </p:nvPr>
        </p:nvSpPr>
        <p:spPr bwMode="auto">
          <a:xfrm>
            <a:off x="0" y="9123363"/>
            <a:ext cx="3167063" cy="477837"/>
          </a:xfrm>
          <a:prstGeom prst="rect">
            <a:avLst/>
          </a:prstGeom>
          <a:noFill/>
          <a:ln w="9525">
            <a:noFill/>
            <a:miter lim="800000"/>
            <a:headEnd/>
            <a:tailEnd/>
          </a:ln>
          <a:effectLst/>
        </p:spPr>
        <p:txBody>
          <a:bodyPr vert="horz" wrap="none" lIns="96898" tIns="48450" rIns="96898" bIns="48450" numCol="1" anchor="b" anchorCtr="0" compatLnSpc="1">
            <a:prstTxWarp prst="textNoShape">
              <a:avLst/>
            </a:prstTxWarp>
          </a:bodyPr>
          <a:lstStyle>
            <a:lvl1pPr defTabSz="969963" eaLnBrk="0" hangingPunct="0">
              <a:defRPr sz="1300" b="0"/>
            </a:lvl1pPr>
          </a:lstStyle>
          <a:p>
            <a:endParaRPr lang="en-US"/>
          </a:p>
        </p:txBody>
      </p:sp>
      <p:sp>
        <p:nvSpPr>
          <p:cNvPr id="6151" name="Rectangle 7"/>
          <p:cNvSpPr>
            <a:spLocks noGrp="1" noChangeArrowheads="1"/>
          </p:cNvSpPr>
          <p:nvPr>
            <p:ph type="sldNum" sz="quarter" idx="5"/>
          </p:nvPr>
        </p:nvSpPr>
        <p:spPr bwMode="auto">
          <a:xfrm>
            <a:off x="4148138" y="9123363"/>
            <a:ext cx="3167062" cy="477837"/>
          </a:xfrm>
          <a:prstGeom prst="rect">
            <a:avLst/>
          </a:prstGeom>
          <a:noFill/>
          <a:ln w="9525">
            <a:noFill/>
            <a:miter lim="800000"/>
            <a:headEnd/>
            <a:tailEnd/>
          </a:ln>
          <a:effectLst/>
        </p:spPr>
        <p:txBody>
          <a:bodyPr vert="horz" wrap="none" lIns="96898" tIns="48450" rIns="96898" bIns="48450" numCol="1" anchor="b" anchorCtr="0" compatLnSpc="1">
            <a:prstTxWarp prst="textNoShape">
              <a:avLst/>
            </a:prstTxWarp>
          </a:bodyPr>
          <a:lstStyle>
            <a:lvl1pPr algn="r" defTabSz="969963" eaLnBrk="0" hangingPunct="0">
              <a:defRPr sz="1300" b="0"/>
            </a:lvl1pPr>
          </a:lstStyle>
          <a:p>
            <a:fld id="{27370632-C4D1-440D-BFB9-8CACEFF6C8BE}" type="slidenum">
              <a:rPr lang="en-US"/>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sp>
        <p:nvSpPr>
          <p:cNvPr id="150530" name="Rectangle 2"/>
          <p:cNvSpPr>
            <a:spLocks noGrp="1" noChangeArrowheads="1"/>
          </p:cNvSpPr>
          <p:nvPr>
            <p:ph type="ctrTitle"/>
          </p:nvPr>
        </p:nvSpPr>
        <p:spPr>
          <a:xfrm>
            <a:off x="685800" y="817563"/>
            <a:ext cx="7772400" cy="1614487"/>
          </a:xfrm>
        </p:spPr>
        <p:txBody>
          <a:bodyPr/>
          <a:lstStyle>
            <a:lvl1pPr>
              <a:defRPr sz="4400"/>
            </a:lvl1pPr>
          </a:lstStyle>
          <a:p>
            <a:r>
              <a:rPr lang="en-US"/>
              <a:t>Click to edit Master title style</a:t>
            </a:r>
          </a:p>
        </p:txBody>
      </p:sp>
      <p:sp>
        <p:nvSpPr>
          <p:cNvPr id="150531" name="Rectangle 3"/>
          <p:cNvSpPr>
            <a:spLocks noGrp="1" noChangeArrowheads="1"/>
          </p:cNvSpPr>
          <p:nvPr>
            <p:ph type="subTitle" idx="1"/>
          </p:nvPr>
        </p:nvSpPr>
        <p:spPr>
          <a:xfrm>
            <a:off x="1371600" y="3938588"/>
            <a:ext cx="6400800" cy="1752600"/>
          </a:xfrm>
        </p:spPr>
        <p:txBody>
          <a:bodyPr/>
          <a:lstStyle>
            <a:lvl1pPr marL="0" indent="0" algn="ctr">
              <a:spcBef>
                <a:spcPct val="0"/>
              </a:spcBef>
              <a:buFontTx/>
              <a:buNone/>
              <a:defRPr sz="2800"/>
            </a:lvl1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İçerik Yer Tutucusu"/>
          <p:cNvSpPr>
            <a:spLocks noGrp="1"/>
          </p:cNvSpPr>
          <p:nvPr>
            <p:ph idx="1"/>
          </p:nvPr>
        </p:nvSpPr>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Altbilgi Yer Tutucusu"/>
          <p:cNvSpPr>
            <a:spLocks noGrp="1"/>
          </p:cNvSpPr>
          <p:nvPr>
            <p:ph type="ftr" sz="quarter" idx="10"/>
          </p:nvPr>
        </p:nvSpPr>
        <p:spPr/>
        <p:txBody>
          <a:bodyPr/>
          <a:lstStyle>
            <a:lvl1pPr>
              <a:defRPr/>
            </a:lvl1pPr>
          </a:lstStyle>
          <a:p>
            <a:r>
              <a:rPr lang="tr-TR"/>
              <a:t>Mantık Devreleri </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1 Başlık"/>
          <p:cNvSpPr>
            <a:spLocks noGrp="1"/>
          </p:cNvSpPr>
          <p:nvPr>
            <p:ph type="title"/>
          </p:nvPr>
        </p:nvSpPr>
        <p:spPr>
          <a:xfrm>
            <a:off x="722313" y="4406900"/>
            <a:ext cx="7772400" cy="1362075"/>
          </a:xfrm>
        </p:spPr>
        <p:txBody>
          <a:bodyPr anchor="t"/>
          <a:lstStyle>
            <a:lvl1pPr algn="l">
              <a:defRPr sz="4000" b="1" cap="all"/>
            </a:lvl1pPr>
          </a:lstStyle>
          <a:p>
            <a:r>
              <a:rPr lang="tr-TR"/>
              <a:t>Asıl başlık stili için tıklatın</a:t>
            </a:r>
          </a:p>
        </p:txBody>
      </p:sp>
      <p:sp>
        <p:nvSpPr>
          <p:cNvPr id="3" name="2 Metin Yer Tutucusu"/>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tr-TR"/>
              <a:t>Asıl metin stillerini düzenlemek için tıklatın</a:t>
            </a:r>
          </a:p>
        </p:txBody>
      </p:sp>
      <p:sp>
        <p:nvSpPr>
          <p:cNvPr id="4" name="3 Altbilgi Yer Tutucusu"/>
          <p:cNvSpPr>
            <a:spLocks noGrp="1"/>
          </p:cNvSpPr>
          <p:nvPr>
            <p:ph type="ftr" sz="quarter" idx="10"/>
          </p:nvPr>
        </p:nvSpPr>
        <p:spPr/>
        <p:txBody>
          <a:bodyPr/>
          <a:lstStyle>
            <a:lvl1pPr>
              <a:defRPr/>
            </a:lvl1pPr>
          </a:lstStyle>
          <a:p>
            <a:r>
              <a:rPr lang="tr-TR"/>
              <a:t>Mantık Devreleri </a:t>
            </a: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İçerik Yer Tutucusu"/>
          <p:cNvSpPr>
            <a:spLocks noGrp="1"/>
          </p:cNvSpPr>
          <p:nvPr>
            <p:ph sz="half" idx="1"/>
          </p:nvPr>
        </p:nvSpPr>
        <p:spPr>
          <a:xfrm>
            <a:off x="374650" y="1141413"/>
            <a:ext cx="4111625" cy="5078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İçerik Yer Tutucusu"/>
          <p:cNvSpPr>
            <a:spLocks noGrp="1"/>
          </p:cNvSpPr>
          <p:nvPr>
            <p:ph sz="half" idx="2"/>
          </p:nvPr>
        </p:nvSpPr>
        <p:spPr>
          <a:xfrm>
            <a:off x="4638675" y="1141413"/>
            <a:ext cx="4111625" cy="5078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4 Altbilgi Yer Tutucusu"/>
          <p:cNvSpPr>
            <a:spLocks noGrp="1"/>
          </p:cNvSpPr>
          <p:nvPr>
            <p:ph type="ftr" sz="quarter" idx="10"/>
          </p:nvPr>
        </p:nvSpPr>
        <p:spPr/>
        <p:txBody>
          <a:bodyPr/>
          <a:lstStyle>
            <a:lvl1pPr>
              <a:defRPr/>
            </a:lvl1pPr>
          </a:lstStyle>
          <a:p>
            <a:r>
              <a:rPr lang="tr-TR"/>
              <a:t>Mantık Devreleri </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4638"/>
            <a:ext cx="8229600" cy="1143000"/>
          </a:xfrm>
        </p:spPr>
        <p:txBody>
          <a:bodyPr/>
          <a:lstStyle>
            <a:lvl1pPr>
              <a:defRPr/>
            </a:lvl1pPr>
          </a:lstStyle>
          <a:p>
            <a:r>
              <a:rPr lang="tr-TR"/>
              <a:t>Asıl başlık stili için tıklatın</a:t>
            </a:r>
          </a:p>
        </p:txBody>
      </p:sp>
      <p:sp>
        <p:nvSpPr>
          <p:cNvPr id="3" name="2 Metin Yer Tutucusu"/>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4" name="3 İçerik Yer Tutucusu"/>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4 Metin Yer Tutucusu"/>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6" name="5 İçerik Yer Tutucusu"/>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7" name="6 Altbilgi Yer Tutucusu"/>
          <p:cNvSpPr>
            <a:spLocks noGrp="1"/>
          </p:cNvSpPr>
          <p:nvPr>
            <p:ph type="ftr" sz="quarter" idx="10"/>
          </p:nvPr>
        </p:nvSpPr>
        <p:spPr/>
        <p:txBody>
          <a:bodyPr/>
          <a:lstStyle>
            <a:lvl1pPr>
              <a:defRPr/>
            </a:lvl1pPr>
          </a:lstStyle>
          <a:p>
            <a:r>
              <a:rPr lang="tr-TR"/>
              <a:t>Mantık Devreleri </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Altbilgi Yer Tutucusu"/>
          <p:cNvSpPr>
            <a:spLocks noGrp="1"/>
          </p:cNvSpPr>
          <p:nvPr>
            <p:ph type="ftr" sz="quarter" idx="10"/>
          </p:nvPr>
        </p:nvSpPr>
        <p:spPr/>
        <p:txBody>
          <a:bodyPr/>
          <a:lstStyle>
            <a:lvl1pPr>
              <a:defRPr/>
            </a:lvl1pPr>
          </a:lstStyle>
          <a:p>
            <a:r>
              <a:rPr lang="tr-TR"/>
              <a:t>Mantık Devreleri </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1 Altbilgi Yer Tutucusu"/>
          <p:cNvSpPr>
            <a:spLocks noGrp="1"/>
          </p:cNvSpPr>
          <p:nvPr>
            <p:ph type="ftr" sz="quarter" idx="10"/>
          </p:nvPr>
        </p:nvSpPr>
        <p:spPr/>
        <p:txBody>
          <a:bodyPr/>
          <a:lstStyle>
            <a:lvl1pPr>
              <a:defRPr/>
            </a:lvl1pPr>
          </a:lstStyle>
          <a:p>
            <a:r>
              <a:rPr lang="tr-TR"/>
              <a:t>Mantık Devreleri </a:t>
            </a:r>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3050"/>
            <a:ext cx="3008313" cy="1162050"/>
          </a:xfrm>
        </p:spPr>
        <p:txBody>
          <a:bodyPr anchor="b"/>
          <a:lstStyle>
            <a:lvl1pPr algn="l">
              <a:defRPr sz="2000" b="1"/>
            </a:lvl1pPr>
          </a:lstStyle>
          <a:p>
            <a:r>
              <a:rPr lang="tr-TR"/>
              <a:t>Asıl başlık stili için tıklatın</a:t>
            </a:r>
          </a:p>
        </p:txBody>
      </p:sp>
      <p:sp>
        <p:nvSpPr>
          <p:cNvPr id="3" name="2 İçerik Yer Tutucusu"/>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Metin Yer Tutucusu"/>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tıklatın</a:t>
            </a:r>
          </a:p>
        </p:txBody>
      </p:sp>
      <p:sp>
        <p:nvSpPr>
          <p:cNvPr id="5" name="4 Altbilgi Yer Tutucusu"/>
          <p:cNvSpPr>
            <a:spLocks noGrp="1"/>
          </p:cNvSpPr>
          <p:nvPr>
            <p:ph type="ftr" sz="quarter" idx="10"/>
          </p:nvPr>
        </p:nvSpPr>
        <p:spPr/>
        <p:txBody>
          <a:bodyPr/>
          <a:lstStyle>
            <a:lvl1pPr>
              <a:defRPr/>
            </a:lvl1pPr>
          </a:lstStyle>
          <a:p>
            <a:r>
              <a:rPr lang="tr-TR"/>
              <a:t>Mantık Devreleri </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1 Başlık"/>
          <p:cNvSpPr>
            <a:spLocks noGrp="1"/>
          </p:cNvSpPr>
          <p:nvPr>
            <p:ph type="title"/>
          </p:nvPr>
        </p:nvSpPr>
        <p:spPr>
          <a:xfrm>
            <a:off x="1792288" y="4800600"/>
            <a:ext cx="5486400" cy="566738"/>
          </a:xfrm>
        </p:spPr>
        <p:txBody>
          <a:bodyPr anchor="b"/>
          <a:lstStyle>
            <a:lvl1pPr algn="l">
              <a:defRPr sz="2000" b="1"/>
            </a:lvl1pPr>
          </a:lstStyle>
          <a:p>
            <a:r>
              <a:rPr lang="tr-TR"/>
              <a:t>Asıl başlık stili için tıklatın</a:t>
            </a:r>
          </a:p>
        </p:txBody>
      </p:sp>
      <p:sp>
        <p:nvSpPr>
          <p:cNvPr id="3" name="2 Resim Yer Tutucusu"/>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3 Metin Yer Tutucusu"/>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tıklatın</a:t>
            </a:r>
          </a:p>
        </p:txBody>
      </p:sp>
      <p:sp>
        <p:nvSpPr>
          <p:cNvPr id="5" name="4 Altbilgi Yer Tutucusu"/>
          <p:cNvSpPr>
            <a:spLocks noGrp="1"/>
          </p:cNvSpPr>
          <p:nvPr>
            <p:ph type="ftr" sz="quarter" idx="10"/>
          </p:nvPr>
        </p:nvSpPr>
        <p:spPr/>
        <p:txBody>
          <a:bodyPr/>
          <a:lstStyle>
            <a:lvl1pPr>
              <a:defRPr/>
            </a:lvl1pPr>
          </a:lstStyle>
          <a:p>
            <a:r>
              <a:rPr lang="tr-TR"/>
              <a:t>Mantık Devreleri </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Dikey Metin Yer Tutucusu"/>
          <p:cNvSpPr>
            <a:spLocks noGrp="1"/>
          </p:cNvSpPr>
          <p:nvPr>
            <p:ph type="body" orient="vert" idx="1"/>
          </p:nvPr>
        </p:nvSpPr>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Altbilgi Yer Tutucusu"/>
          <p:cNvSpPr>
            <a:spLocks noGrp="1"/>
          </p:cNvSpPr>
          <p:nvPr>
            <p:ph type="ftr" sz="quarter" idx="10"/>
          </p:nvPr>
        </p:nvSpPr>
        <p:spPr/>
        <p:txBody>
          <a:bodyPr/>
          <a:lstStyle>
            <a:lvl1pPr>
              <a:defRPr/>
            </a:lvl1pPr>
          </a:lstStyle>
          <a:p>
            <a:r>
              <a:rPr lang="tr-TR"/>
              <a:t>Mantık Devreleri </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1 Dikey Başlık"/>
          <p:cNvSpPr>
            <a:spLocks noGrp="1"/>
          </p:cNvSpPr>
          <p:nvPr>
            <p:ph type="title" orient="vert"/>
          </p:nvPr>
        </p:nvSpPr>
        <p:spPr>
          <a:xfrm>
            <a:off x="6656388" y="76200"/>
            <a:ext cx="2093912" cy="6143625"/>
          </a:xfrm>
        </p:spPr>
        <p:txBody>
          <a:bodyPr vert="eaVert"/>
          <a:lstStyle/>
          <a:p>
            <a:r>
              <a:rPr lang="tr-TR"/>
              <a:t>Asıl başlık stili için tıklatın</a:t>
            </a:r>
          </a:p>
        </p:txBody>
      </p:sp>
      <p:sp>
        <p:nvSpPr>
          <p:cNvPr id="3" name="2 Dikey Metin Yer Tutucusu"/>
          <p:cNvSpPr>
            <a:spLocks noGrp="1"/>
          </p:cNvSpPr>
          <p:nvPr>
            <p:ph type="body" orient="vert" idx="1"/>
          </p:nvPr>
        </p:nvSpPr>
        <p:spPr>
          <a:xfrm>
            <a:off x="374650" y="76200"/>
            <a:ext cx="6129338" cy="6143625"/>
          </a:xfrm>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Altbilgi Yer Tutucusu"/>
          <p:cNvSpPr>
            <a:spLocks noGrp="1"/>
          </p:cNvSpPr>
          <p:nvPr>
            <p:ph type="ftr" sz="quarter" idx="10"/>
          </p:nvPr>
        </p:nvSpPr>
        <p:spPr/>
        <p:txBody>
          <a:bodyPr/>
          <a:lstStyle>
            <a:lvl1pPr>
              <a:defRPr/>
            </a:lvl1pPr>
          </a:lstStyle>
          <a:p>
            <a:r>
              <a:rPr lang="tr-TR"/>
              <a:t>Mantık Devreleri </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9506" name="Rectangle 2"/>
          <p:cNvSpPr>
            <a:spLocks noGrp="1" noChangeArrowheads="1"/>
          </p:cNvSpPr>
          <p:nvPr>
            <p:ph type="title"/>
          </p:nvPr>
        </p:nvSpPr>
        <p:spPr bwMode="auto">
          <a:xfrm>
            <a:off x="682625" y="76200"/>
            <a:ext cx="7772400" cy="79057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49507" name="Rectangle 3"/>
          <p:cNvSpPr>
            <a:spLocks noGrp="1" noChangeArrowheads="1"/>
          </p:cNvSpPr>
          <p:nvPr>
            <p:ph type="body" idx="1"/>
          </p:nvPr>
        </p:nvSpPr>
        <p:spPr bwMode="auto">
          <a:xfrm>
            <a:off x="374650" y="1141413"/>
            <a:ext cx="8375650" cy="507841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9509" name="Rectangle 5"/>
          <p:cNvSpPr>
            <a:spLocks noGrp="1" noChangeArrowheads="1"/>
          </p:cNvSpPr>
          <p:nvPr>
            <p:ph type="ftr" sz="quarter" idx="3"/>
          </p:nvPr>
        </p:nvSpPr>
        <p:spPr bwMode="auto">
          <a:xfrm>
            <a:off x="2774950" y="6400800"/>
            <a:ext cx="3276600" cy="457200"/>
          </a:xfrm>
          <a:prstGeom prst="rect">
            <a:avLst/>
          </a:prstGeom>
          <a:noFill/>
          <a:ln w="9525">
            <a:noFill/>
            <a:miter lim="800000"/>
            <a:headEnd/>
            <a:tailEnd/>
          </a:ln>
          <a:effectLst/>
        </p:spPr>
        <p:txBody>
          <a:bodyPr vert="horz" wrap="square" lIns="45720" tIns="45720" rIns="45720" bIns="45720" numCol="1" anchor="ctr" anchorCtr="1" compatLnSpc="1">
            <a:prstTxWarp prst="textNoShape">
              <a:avLst/>
            </a:prstTxWarp>
          </a:bodyPr>
          <a:lstStyle>
            <a:lvl1pPr algn="ctr">
              <a:defRPr sz="1200" b="0" i="1">
                <a:latin typeface="Comic Sans MS" pitchFamily="66" charset="0"/>
              </a:defRPr>
            </a:lvl1pPr>
          </a:lstStyle>
          <a:p>
            <a:r>
              <a:rPr lang="tr-TR"/>
              <a:t>Mantık Devreleri </a:t>
            </a:r>
            <a:endParaRPr lang="en-US"/>
          </a:p>
        </p:txBody>
      </p:sp>
      <p:sp>
        <p:nvSpPr>
          <p:cNvPr id="149510" name="Line 6"/>
          <p:cNvSpPr>
            <a:spLocks noChangeShapeType="1"/>
          </p:cNvSpPr>
          <p:nvPr/>
        </p:nvSpPr>
        <p:spPr bwMode="auto">
          <a:xfrm>
            <a:off x="454025" y="881063"/>
            <a:ext cx="8229600" cy="0"/>
          </a:xfrm>
          <a:prstGeom prst="line">
            <a:avLst/>
          </a:prstGeom>
          <a:noFill/>
          <a:ln w="57150" cmpd="thinThick">
            <a:solidFill>
              <a:srgbClr val="000080"/>
            </a:solidFill>
            <a:round/>
            <a:headEnd/>
            <a:tailEnd/>
          </a:ln>
          <a:effectLst/>
        </p:spPr>
        <p:txBody>
          <a:bodyPr wrap="none" anchor="ctr"/>
          <a:lstStyle/>
          <a:p>
            <a:endParaRPr lang="tr-TR"/>
          </a:p>
        </p:txBody>
      </p:sp>
      <p:sp>
        <p:nvSpPr>
          <p:cNvPr id="149511" name="Text Box 7"/>
          <p:cNvSpPr txBox="1">
            <a:spLocks noChangeArrowheads="1"/>
          </p:cNvSpPr>
          <p:nvPr/>
        </p:nvSpPr>
        <p:spPr bwMode="auto">
          <a:xfrm>
            <a:off x="8320088" y="6480175"/>
            <a:ext cx="430212" cy="274638"/>
          </a:xfrm>
          <a:prstGeom prst="rect">
            <a:avLst/>
          </a:prstGeom>
          <a:noFill/>
          <a:ln w="57150" cmpd="thinThick">
            <a:noFill/>
            <a:miter lim="800000"/>
            <a:headEnd/>
            <a:tailEnd/>
          </a:ln>
          <a:effectLst/>
        </p:spPr>
        <p:txBody>
          <a:bodyPr lIns="45720" rIns="45720" anchor="ctr" anchorCtr="1"/>
          <a:lstStyle/>
          <a:p>
            <a:fld id="{3FDBBA2D-AA24-4AFF-839B-9F312CEE755F}" type="slidenum">
              <a:rPr lang="en-US" sz="1200" b="0">
                <a:latin typeface="Comic Sans MS" pitchFamily="66" charset="0"/>
              </a:rPr>
              <a:pPr/>
              <a:t>‹#›</a:t>
            </a:fld>
            <a:endParaRPr lang="en-US" sz="1200" b="0">
              <a:latin typeface="Comic Sans MS" pitchFamily="66" charset="0"/>
            </a:endParaRPr>
          </a:p>
        </p:txBody>
      </p:sp>
      <p:sp>
        <p:nvSpPr>
          <p:cNvPr id="149512" name="Rectangle 8"/>
          <p:cNvSpPr>
            <a:spLocks noChangeArrowheads="1"/>
          </p:cNvSpPr>
          <p:nvPr/>
        </p:nvSpPr>
        <p:spPr bwMode="auto">
          <a:xfrm>
            <a:off x="61563" y="6400800"/>
            <a:ext cx="3276600" cy="457200"/>
          </a:xfrm>
          <a:prstGeom prst="rect">
            <a:avLst/>
          </a:prstGeom>
          <a:noFill/>
          <a:ln w="9525">
            <a:noFill/>
            <a:miter lim="800000"/>
            <a:headEnd/>
            <a:tailEnd/>
          </a:ln>
          <a:effectLst/>
        </p:spPr>
        <p:txBody>
          <a:bodyPr lIns="45720" rIns="45720" anchor="ctr" anchorCtr="1"/>
          <a:lstStyle/>
          <a:p>
            <a:pPr algn="ctr"/>
            <a:r>
              <a:rPr lang="tr-TR" sz="1200" b="0" i="1" dirty="0">
                <a:latin typeface="Comic Sans MS" pitchFamily="66" charset="0"/>
              </a:rPr>
              <a:t>Ali </a:t>
            </a:r>
            <a:r>
              <a:rPr lang="tr-TR" sz="1200" b="0" i="1" dirty="0" err="1">
                <a:latin typeface="Comic Sans MS" pitchFamily="66" charset="0"/>
              </a:rPr>
              <a:t>Gülbağ</a:t>
            </a:r>
            <a:r>
              <a:rPr lang="en-US" sz="1200" b="0" i="1" dirty="0">
                <a:latin typeface="Comic Sans MS" pitchFamily="66" charset="0"/>
              </a:rPr>
              <a:t> (Translated by Sinan </a:t>
            </a:r>
            <a:r>
              <a:rPr lang="en-US" sz="1200" b="0" i="1" dirty="0" err="1">
                <a:latin typeface="Comic Sans MS" pitchFamily="66" charset="0"/>
              </a:rPr>
              <a:t>İlyas</a:t>
            </a:r>
            <a:r>
              <a:rPr lang="en-US" sz="1200" b="0" i="1" dirty="0">
                <a:latin typeface="Comic Sans MS" pitchFamily="66" charset="0"/>
              </a:rPr>
              <a:t>)</a:t>
            </a:r>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Lst>
  <p:hf sldNum="0" hdr="0" dt="0"/>
  <p:txStyles>
    <p:titleStyle>
      <a:lvl1pPr algn="ctr" rtl="0" eaLnBrk="0" fontAlgn="base" hangingPunct="0">
        <a:spcBef>
          <a:spcPct val="0"/>
        </a:spcBef>
        <a:spcAft>
          <a:spcPct val="0"/>
        </a:spcAft>
        <a:defRPr sz="4000">
          <a:solidFill>
            <a:srgbClr val="000099"/>
          </a:solidFill>
          <a:latin typeface="+mj-lt"/>
          <a:ea typeface="+mj-ea"/>
          <a:cs typeface="+mj-cs"/>
        </a:defRPr>
      </a:lvl1pPr>
      <a:lvl2pPr algn="ctr" rtl="0" eaLnBrk="0" fontAlgn="base" hangingPunct="0">
        <a:spcBef>
          <a:spcPct val="0"/>
        </a:spcBef>
        <a:spcAft>
          <a:spcPct val="0"/>
        </a:spcAft>
        <a:defRPr sz="4000">
          <a:solidFill>
            <a:srgbClr val="000099"/>
          </a:solidFill>
          <a:latin typeface="Times New Roman" pitchFamily="18" charset="0"/>
        </a:defRPr>
      </a:lvl2pPr>
      <a:lvl3pPr algn="ctr" rtl="0" eaLnBrk="0" fontAlgn="base" hangingPunct="0">
        <a:spcBef>
          <a:spcPct val="0"/>
        </a:spcBef>
        <a:spcAft>
          <a:spcPct val="0"/>
        </a:spcAft>
        <a:defRPr sz="4000">
          <a:solidFill>
            <a:srgbClr val="000099"/>
          </a:solidFill>
          <a:latin typeface="Times New Roman" pitchFamily="18" charset="0"/>
        </a:defRPr>
      </a:lvl3pPr>
      <a:lvl4pPr algn="ctr" rtl="0" eaLnBrk="0" fontAlgn="base" hangingPunct="0">
        <a:spcBef>
          <a:spcPct val="0"/>
        </a:spcBef>
        <a:spcAft>
          <a:spcPct val="0"/>
        </a:spcAft>
        <a:defRPr sz="4000">
          <a:solidFill>
            <a:srgbClr val="000099"/>
          </a:solidFill>
          <a:latin typeface="Times New Roman" pitchFamily="18" charset="0"/>
        </a:defRPr>
      </a:lvl4pPr>
      <a:lvl5pPr algn="ctr" rtl="0" eaLnBrk="0" fontAlgn="base" hangingPunct="0">
        <a:spcBef>
          <a:spcPct val="0"/>
        </a:spcBef>
        <a:spcAft>
          <a:spcPct val="0"/>
        </a:spcAft>
        <a:defRPr sz="4000">
          <a:solidFill>
            <a:srgbClr val="000099"/>
          </a:solidFill>
          <a:latin typeface="Times New Roman" pitchFamily="18" charset="0"/>
        </a:defRPr>
      </a:lvl5pPr>
      <a:lvl6pPr marL="457200" algn="ctr" rtl="0" eaLnBrk="0" fontAlgn="base" hangingPunct="0">
        <a:spcBef>
          <a:spcPct val="0"/>
        </a:spcBef>
        <a:spcAft>
          <a:spcPct val="0"/>
        </a:spcAft>
        <a:defRPr sz="4000">
          <a:solidFill>
            <a:srgbClr val="000099"/>
          </a:solidFill>
          <a:latin typeface="Times New Roman" pitchFamily="18" charset="0"/>
        </a:defRPr>
      </a:lvl6pPr>
      <a:lvl7pPr marL="914400" algn="ctr" rtl="0" eaLnBrk="0" fontAlgn="base" hangingPunct="0">
        <a:spcBef>
          <a:spcPct val="0"/>
        </a:spcBef>
        <a:spcAft>
          <a:spcPct val="0"/>
        </a:spcAft>
        <a:defRPr sz="4000">
          <a:solidFill>
            <a:srgbClr val="000099"/>
          </a:solidFill>
          <a:latin typeface="Times New Roman" pitchFamily="18" charset="0"/>
        </a:defRPr>
      </a:lvl7pPr>
      <a:lvl8pPr marL="1371600" algn="ctr" rtl="0" eaLnBrk="0" fontAlgn="base" hangingPunct="0">
        <a:spcBef>
          <a:spcPct val="0"/>
        </a:spcBef>
        <a:spcAft>
          <a:spcPct val="0"/>
        </a:spcAft>
        <a:defRPr sz="4000">
          <a:solidFill>
            <a:srgbClr val="000099"/>
          </a:solidFill>
          <a:latin typeface="Times New Roman" pitchFamily="18" charset="0"/>
        </a:defRPr>
      </a:lvl8pPr>
      <a:lvl9pPr marL="1828800" algn="ctr" rtl="0" eaLnBrk="0" fontAlgn="base" hangingPunct="0">
        <a:spcBef>
          <a:spcPct val="0"/>
        </a:spcBef>
        <a:spcAft>
          <a:spcPct val="0"/>
        </a:spcAft>
        <a:defRPr sz="4000">
          <a:solidFill>
            <a:srgbClr val="000099"/>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rgbClr val="0000CC"/>
          </a:solidFill>
          <a:latin typeface="Comic Sans MS" pitchFamily="66" charset="0"/>
        </a:defRPr>
      </a:lvl2pPr>
      <a:lvl3pPr marL="1143000" indent="-228600" algn="l" rtl="0" eaLnBrk="0" fontAlgn="base" hangingPunct="0">
        <a:spcBef>
          <a:spcPct val="20000"/>
        </a:spcBef>
        <a:spcAft>
          <a:spcPct val="0"/>
        </a:spcAft>
        <a:buChar char="•"/>
        <a:defRPr sz="2400">
          <a:solidFill>
            <a:srgbClr val="990000"/>
          </a:solidFill>
          <a:latin typeface="Comic Sans MS" pitchFamily="66" charset="0"/>
        </a:defRPr>
      </a:lvl3pPr>
      <a:lvl4pPr marL="1600200" indent="-228600" algn="l" rtl="0" eaLnBrk="0" fontAlgn="base" hangingPunct="0">
        <a:spcBef>
          <a:spcPct val="20000"/>
        </a:spcBef>
        <a:spcAft>
          <a:spcPct val="0"/>
        </a:spcAft>
        <a:buChar char="–"/>
        <a:defRPr sz="2000">
          <a:solidFill>
            <a:srgbClr val="006600"/>
          </a:solidFill>
          <a:latin typeface="Comic Sans MS" pitchFamily="66" charset="0"/>
        </a:defRPr>
      </a:lvl4pPr>
      <a:lvl5pPr marL="2057400" indent="-228600" algn="l" rtl="0" eaLnBrk="0" fontAlgn="base" hangingPunct="0">
        <a:spcBef>
          <a:spcPct val="20000"/>
        </a:spcBef>
        <a:spcAft>
          <a:spcPct val="0"/>
        </a:spcAft>
        <a:buChar char="»"/>
        <a:defRPr sz="2000">
          <a:solidFill>
            <a:srgbClr val="663300"/>
          </a:solidFill>
          <a:latin typeface="Comic Sans MS" pitchFamily="66" charset="0"/>
        </a:defRPr>
      </a:lvl5pPr>
      <a:lvl6pPr marL="2514600" indent="-228600" algn="l" rtl="0" eaLnBrk="0" fontAlgn="base" hangingPunct="0">
        <a:spcBef>
          <a:spcPct val="20000"/>
        </a:spcBef>
        <a:spcAft>
          <a:spcPct val="0"/>
        </a:spcAft>
        <a:buChar char="»"/>
        <a:defRPr sz="2000">
          <a:solidFill>
            <a:srgbClr val="663300"/>
          </a:solidFill>
          <a:latin typeface="Comic Sans MS" pitchFamily="66" charset="0"/>
        </a:defRPr>
      </a:lvl6pPr>
      <a:lvl7pPr marL="2971800" indent="-228600" algn="l" rtl="0" eaLnBrk="0" fontAlgn="base" hangingPunct="0">
        <a:spcBef>
          <a:spcPct val="20000"/>
        </a:spcBef>
        <a:spcAft>
          <a:spcPct val="0"/>
        </a:spcAft>
        <a:buChar char="»"/>
        <a:defRPr sz="2000">
          <a:solidFill>
            <a:srgbClr val="663300"/>
          </a:solidFill>
          <a:latin typeface="Comic Sans MS" pitchFamily="66" charset="0"/>
        </a:defRPr>
      </a:lvl7pPr>
      <a:lvl8pPr marL="3429000" indent="-228600" algn="l" rtl="0" eaLnBrk="0" fontAlgn="base" hangingPunct="0">
        <a:spcBef>
          <a:spcPct val="20000"/>
        </a:spcBef>
        <a:spcAft>
          <a:spcPct val="0"/>
        </a:spcAft>
        <a:buChar char="»"/>
        <a:defRPr sz="2000">
          <a:solidFill>
            <a:srgbClr val="663300"/>
          </a:solidFill>
          <a:latin typeface="Comic Sans MS" pitchFamily="66" charset="0"/>
        </a:defRPr>
      </a:lvl8pPr>
      <a:lvl9pPr marL="3886200" indent="-228600" algn="l" rtl="0" eaLnBrk="0" fontAlgn="base" hangingPunct="0">
        <a:spcBef>
          <a:spcPct val="20000"/>
        </a:spcBef>
        <a:spcAft>
          <a:spcPct val="0"/>
        </a:spcAft>
        <a:buChar char="»"/>
        <a:defRPr sz="2000">
          <a:solidFill>
            <a:srgbClr val="663300"/>
          </a:solidFill>
          <a:latin typeface="Comic Sans MS" pitchFamily="66" charset="0"/>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Altbilgi Yer Tutucusu"/>
          <p:cNvSpPr>
            <a:spLocks noGrp="1"/>
          </p:cNvSpPr>
          <p:nvPr>
            <p:ph type="ftr" sz="quarter" idx="10"/>
          </p:nvPr>
        </p:nvSpPr>
        <p:spPr/>
        <p:txBody>
          <a:bodyPr/>
          <a:lstStyle/>
          <a:p>
            <a:r>
              <a:rPr lang="en-US" dirty="0"/>
              <a:t>Logic Circuits</a:t>
            </a:r>
          </a:p>
        </p:txBody>
      </p:sp>
      <p:sp>
        <p:nvSpPr>
          <p:cNvPr id="409602" name="Rectangle 2"/>
          <p:cNvSpPr>
            <a:spLocks noGrp="1" noChangeArrowheads="1"/>
          </p:cNvSpPr>
          <p:nvPr>
            <p:ph type="title"/>
          </p:nvPr>
        </p:nvSpPr>
        <p:spPr/>
        <p:txBody>
          <a:bodyPr/>
          <a:lstStyle/>
          <a:p>
            <a:r>
              <a:rPr lang="en-US" sz="3600" b="1" dirty="0"/>
              <a:t>Number Systems</a:t>
            </a:r>
            <a:endParaRPr lang="tr-TR" sz="3600" b="1" dirty="0"/>
          </a:p>
        </p:txBody>
      </p:sp>
      <p:sp>
        <p:nvSpPr>
          <p:cNvPr id="409603" name="Rectangle 3"/>
          <p:cNvSpPr>
            <a:spLocks noGrp="1" noChangeArrowheads="1"/>
          </p:cNvSpPr>
          <p:nvPr>
            <p:ph type="body" idx="1"/>
          </p:nvPr>
        </p:nvSpPr>
        <p:spPr>
          <a:xfrm>
            <a:off x="374650" y="1055688"/>
            <a:ext cx="8375650" cy="5078412"/>
          </a:xfrm>
        </p:spPr>
        <p:txBody>
          <a:bodyPr/>
          <a:lstStyle/>
          <a:p>
            <a:pPr marL="0" indent="0" algn="just">
              <a:buFontTx/>
              <a:buNone/>
            </a:pPr>
            <a:r>
              <a:rPr lang="en-US" sz="2400" b="1" dirty="0">
                <a:solidFill>
                  <a:srgbClr val="FF0000"/>
                </a:solidFill>
              </a:rPr>
              <a:t>Last Week</a:t>
            </a:r>
            <a:endParaRPr lang="tr-TR" sz="2400" b="1" dirty="0">
              <a:solidFill>
                <a:srgbClr val="FF0000"/>
              </a:solidFill>
            </a:endParaRPr>
          </a:p>
          <a:p>
            <a:pPr marL="0" indent="0" algn="just"/>
            <a:r>
              <a:rPr lang="en-US" sz="2400" b="1" dirty="0"/>
              <a:t> Floating Point Numbers</a:t>
            </a:r>
            <a:endParaRPr lang="tr-TR" sz="2400" b="1" dirty="0"/>
          </a:p>
          <a:p>
            <a:pPr marL="0" indent="0" algn="just"/>
            <a:r>
              <a:rPr lang="tr-TR" sz="2400" b="1" dirty="0"/>
              <a:t> </a:t>
            </a:r>
            <a:r>
              <a:rPr lang="en-US" sz="2400" b="1" dirty="0"/>
              <a:t>Arithmetic Operations on Signed Numbers</a:t>
            </a:r>
            <a:endParaRPr lang="tr-TR" sz="2400" b="1" dirty="0"/>
          </a:p>
          <a:p>
            <a:pPr marL="0" indent="0" algn="just">
              <a:buFontTx/>
              <a:buNone/>
            </a:pPr>
            <a:r>
              <a:rPr lang="tr-TR" sz="2400" b="1" dirty="0"/>
              <a:t>	</a:t>
            </a:r>
            <a:r>
              <a:rPr lang="en-US" sz="2400" b="1" dirty="0"/>
              <a:t>Addition and Subtraction</a:t>
            </a:r>
            <a:endParaRPr lang="tr-TR" sz="2400" dirty="0"/>
          </a:p>
          <a:p>
            <a:pPr marL="0" indent="0" algn="just">
              <a:buFontTx/>
              <a:buNone/>
            </a:pPr>
            <a:r>
              <a:rPr lang="tr-TR" sz="2400" b="1" dirty="0"/>
              <a:t>	</a:t>
            </a:r>
            <a:r>
              <a:rPr lang="en-US" sz="2400" b="1" dirty="0"/>
              <a:t>Multiplication and Division</a:t>
            </a:r>
            <a:endParaRPr lang="tr-TR" sz="2400" b="1" dirty="0"/>
          </a:p>
          <a:p>
            <a:pPr marL="0" indent="0" algn="just">
              <a:buFontTx/>
              <a:buNone/>
            </a:pPr>
            <a:endParaRPr lang="tr-TR" sz="2400" b="1" dirty="0">
              <a:solidFill>
                <a:srgbClr val="FF0000"/>
              </a:solidFill>
            </a:endParaRPr>
          </a:p>
          <a:p>
            <a:pPr marL="0" indent="0" algn="just">
              <a:buFontTx/>
              <a:buNone/>
            </a:pPr>
            <a:r>
              <a:rPr lang="en-US" sz="2400" b="1" dirty="0">
                <a:solidFill>
                  <a:srgbClr val="FF0000"/>
                </a:solidFill>
              </a:rPr>
              <a:t>This Week</a:t>
            </a:r>
            <a:endParaRPr lang="tr-TR" sz="2400" b="1" dirty="0">
              <a:solidFill>
                <a:srgbClr val="FF0000"/>
              </a:solidFill>
            </a:endParaRPr>
          </a:p>
          <a:p>
            <a:pPr marL="0" indent="0" algn="just"/>
            <a:r>
              <a:rPr lang="tr-TR" sz="2400" b="1" dirty="0"/>
              <a:t> </a:t>
            </a:r>
            <a:r>
              <a:rPr lang="en-US" sz="2400" b="1" dirty="0"/>
              <a:t>Hexadecimal Number System</a:t>
            </a:r>
            <a:endParaRPr lang="tr-TR" sz="2400" b="1" dirty="0"/>
          </a:p>
          <a:p>
            <a:pPr marL="0" indent="0" algn="just"/>
            <a:r>
              <a:rPr lang="tr-TR" sz="2400" b="1" dirty="0">
                <a:solidFill>
                  <a:schemeClr val="tx1"/>
                </a:solidFill>
                <a:latin typeface="+mn-lt"/>
                <a:ea typeface="+mn-ea"/>
                <a:cs typeface="+mn-cs"/>
              </a:rPr>
              <a:t> </a:t>
            </a:r>
            <a:r>
              <a:rPr lang="en-US" sz="2400" b="1" dirty="0">
                <a:solidFill>
                  <a:schemeClr val="tx1"/>
                </a:solidFill>
                <a:latin typeface="+mn-lt"/>
                <a:ea typeface="+mn-ea"/>
                <a:cs typeface="+mn-cs"/>
              </a:rPr>
              <a:t>Octal Number System</a:t>
            </a:r>
            <a:endParaRPr lang="tr-TR" sz="2400" b="1" dirty="0">
              <a:solidFill>
                <a:schemeClr val="tx1"/>
              </a:solidFill>
              <a:latin typeface="+mn-lt"/>
              <a:ea typeface="+mn-ea"/>
              <a:cs typeface="+mn-cs"/>
            </a:endParaRPr>
          </a:p>
          <a:p>
            <a:pPr marL="0" indent="0" algn="just"/>
            <a:r>
              <a:rPr lang="tr-TR" sz="2400" b="1" dirty="0"/>
              <a:t> </a:t>
            </a:r>
            <a:r>
              <a:rPr lang="en-US" sz="2400" b="1" dirty="0"/>
              <a:t>Conversion Between Hexadecimal/Octal/Decimal Systems</a:t>
            </a:r>
            <a:endParaRPr lang="tr-TR" sz="2400" b="1" dirty="0"/>
          </a:p>
          <a:p>
            <a:pPr marL="0" indent="0" algn="just">
              <a:buFontTx/>
              <a:buNone/>
            </a:pPr>
            <a:endParaRPr lang="tr-TR"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Altbilgi Yer Tutucusu"/>
          <p:cNvSpPr>
            <a:spLocks noGrp="1"/>
          </p:cNvSpPr>
          <p:nvPr>
            <p:ph type="ftr" sz="quarter" idx="10"/>
          </p:nvPr>
        </p:nvSpPr>
        <p:spPr/>
        <p:txBody>
          <a:bodyPr/>
          <a:lstStyle/>
          <a:p>
            <a:r>
              <a:rPr lang="en-US" dirty="0"/>
              <a:t>Logic Circuits</a:t>
            </a:r>
          </a:p>
        </p:txBody>
      </p:sp>
      <p:sp>
        <p:nvSpPr>
          <p:cNvPr id="411650" name="Rectangle 2"/>
          <p:cNvSpPr>
            <a:spLocks noGrp="1" noChangeArrowheads="1"/>
          </p:cNvSpPr>
          <p:nvPr>
            <p:ph type="title"/>
          </p:nvPr>
        </p:nvSpPr>
        <p:spPr>
          <a:xfrm>
            <a:off x="539750" y="76200"/>
            <a:ext cx="8151813" cy="790575"/>
          </a:xfrm>
        </p:spPr>
        <p:txBody>
          <a:bodyPr/>
          <a:lstStyle/>
          <a:p>
            <a:r>
              <a:rPr lang="tr-TR" sz="2400" b="1" dirty="0" err="1"/>
              <a:t>Hexadecimal</a:t>
            </a:r>
            <a:r>
              <a:rPr lang="en-US" sz="2400" b="1" dirty="0"/>
              <a:t> Number System</a:t>
            </a:r>
            <a:endParaRPr lang="tr-TR" sz="2400" b="1" dirty="0"/>
          </a:p>
        </p:txBody>
      </p:sp>
      <p:sp>
        <p:nvSpPr>
          <p:cNvPr id="411651" name="Rectangle 3"/>
          <p:cNvSpPr>
            <a:spLocks noGrp="1" noChangeArrowheads="1"/>
          </p:cNvSpPr>
          <p:nvPr>
            <p:ph type="body" idx="1"/>
          </p:nvPr>
        </p:nvSpPr>
        <p:spPr>
          <a:xfrm>
            <a:off x="303213" y="912813"/>
            <a:ext cx="4789292" cy="5078412"/>
          </a:xfrm>
        </p:spPr>
        <p:txBody>
          <a:bodyPr/>
          <a:lstStyle/>
          <a:p>
            <a:pPr marL="0" indent="0" algn="just">
              <a:buNone/>
            </a:pPr>
            <a:r>
              <a:rPr lang="en-US" sz="2200" dirty="0">
                <a:solidFill>
                  <a:schemeClr val="tx1"/>
                </a:solidFill>
                <a:latin typeface="+mn-lt"/>
                <a:ea typeface="+mn-ea"/>
                <a:cs typeface="+mn-cs"/>
              </a:rPr>
              <a:t>There are 16 figures in hexadecimal system.</a:t>
            </a:r>
            <a:r>
              <a:rPr lang="tr-TR" sz="2200" dirty="0">
                <a:solidFill>
                  <a:schemeClr val="tx1"/>
                </a:solidFill>
                <a:latin typeface="+mn-lt"/>
                <a:ea typeface="+mn-ea"/>
                <a:cs typeface="+mn-cs"/>
              </a:rPr>
              <a:t> </a:t>
            </a:r>
            <a:r>
              <a:rPr lang="en-US" sz="2200" dirty="0">
                <a:solidFill>
                  <a:schemeClr val="tx1"/>
                </a:solidFill>
                <a:latin typeface="+mn-lt"/>
                <a:ea typeface="+mn-ea"/>
                <a:cs typeface="+mn-cs"/>
              </a:rPr>
              <a:t>First ten figures are numbers from 0 to 9, and the last 6 figures are the letters from A to F. It </a:t>
            </a:r>
            <a:r>
              <a:rPr lang="en-US" sz="2200" dirty="0"/>
              <a:t>gets difficult to write and read large binary numbers. But computers work only with binary numbers.</a:t>
            </a:r>
            <a:r>
              <a:rPr lang="tr-TR" sz="2200" dirty="0">
                <a:solidFill>
                  <a:schemeClr val="tx1"/>
                </a:solidFill>
                <a:latin typeface="+mn-lt"/>
                <a:ea typeface="+mn-ea"/>
                <a:cs typeface="+mn-cs"/>
              </a:rPr>
              <a:t> </a:t>
            </a:r>
            <a:r>
              <a:rPr lang="en-US" sz="2200" dirty="0">
                <a:solidFill>
                  <a:schemeClr val="tx1"/>
                </a:solidFill>
                <a:latin typeface="+mn-lt"/>
                <a:ea typeface="+mn-ea"/>
                <a:cs typeface="+mn-cs"/>
              </a:rPr>
              <a:t>Considering that a computer command consists of 32 bits, it would require a massive effort to write a computer program using binary system. Using hexadecimal system instead makes this process easier. In hexadecimal system, each digit corresponds to a 4</a:t>
            </a:r>
            <a:r>
              <a:rPr lang="en-US" sz="2200" dirty="0"/>
              <a:t>-</a:t>
            </a:r>
            <a:r>
              <a:rPr lang="en-US" sz="2200" dirty="0">
                <a:solidFill>
                  <a:schemeClr val="tx1"/>
                </a:solidFill>
                <a:latin typeface="+mn-lt"/>
                <a:ea typeface="+mn-ea"/>
                <a:cs typeface="+mn-cs"/>
              </a:rPr>
              <a:t>bit binary number.</a:t>
            </a:r>
            <a:endParaRPr lang="tr-TR" sz="2200" dirty="0">
              <a:solidFill>
                <a:schemeClr val="tx1"/>
              </a:solidFill>
              <a:latin typeface="+mn-lt"/>
              <a:ea typeface="+mn-ea"/>
              <a:cs typeface="+mn-cs"/>
            </a:endParaRPr>
          </a:p>
        </p:txBody>
      </p:sp>
      <p:graphicFrame>
        <p:nvGraphicFramePr>
          <p:cNvPr id="5" name="4 Tablo"/>
          <p:cNvGraphicFramePr>
            <a:graphicFrameLocks noGrp="1"/>
          </p:cNvGraphicFramePr>
          <p:nvPr>
            <p:extLst>
              <p:ext uri="{D42A27DB-BD31-4B8C-83A1-F6EECF244321}">
                <p14:modId xmlns:p14="http://schemas.microsoft.com/office/powerpoint/2010/main" val="2106993140"/>
              </p:ext>
            </p:extLst>
          </p:nvPr>
        </p:nvGraphicFramePr>
        <p:xfrm>
          <a:off x="5275385" y="960382"/>
          <a:ext cx="3488788" cy="4940046"/>
        </p:xfrm>
        <a:graphic>
          <a:graphicData uri="http://schemas.openxmlformats.org/drawingml/2006/table">
            <a:tbl>
              <a:tblPr/>
              <a:tblGrid>
                <a:gridCol w="881251">
                  <a:extLst>
                    <a:ext uri="{9D8B030D-6E8A-4147-A177-3AD203B41FA5}">
                      <a16:colId xmlns:a16="http://schemas.microsoft.com/office/drawing/2014/main" val="20000"/>
                    </a:ext>
                  </a:extLst>
                </a:gridCol>
                <a:gridCol w="1223655">
                  <a:extLst>
                    <a:ext uri="{9D8B030D-6E8A-4147-A177-3AD203B41FA5}">
                      <a16:colId xmlns:a16="http://schemas.microsoft.com/office/drawing/2014/main" val="20001"/>
                    </a:ext>
                  </a:extLst>
                </a:gridCol>
                <a:gridCol w="1383882">
                  <a:extLst>
                    <a:ext uri="{9D8B030D-6E8A-4147-A177-3AD203B41FA5}">
                      <a16:colId xmlns:a16="http://schemas.microsoft.com/office/drawing/2014/main" val="20002"/>
                    </a:ext>
                  </a:extLst>
                </a:gridCol>
              </a:tblGrid>
              <a:tr h="199390">
                <a:tc>
                  <a:txBody>
                    <a:bodyPr/>
                    <a:lstStyle/>
                    <a:p>
                      <a:pPr marL="90170" algn="just">
                        <a:lnSpc>
                          <a:spcPct val="115000"/>
                        </a:lnSpc>
                        <a:spcBef>
                          <a:spcPts val="600"/>
                        </a:spcBef>
                        <a:spcAft>
                          <a:spcPts val="0"/>
                        </a:spcAft>
                      </a:pPr>
                      <a:r>
                        <a:rPr lang="en-US" sz="1800" b="0" dirty="0">
                          <a:solidFill>
                            <a:srgbClr val="000000"/>
                          </a:solidFill>
                          <a:latin typeface="Calibri"/>
                          <a:ea typeface="Times New Roman"/>
                        </a:rPr>
                        <a:t>Decimal</a:t>
                      </a:r>
                      <a:endParaRPr lang="tr-TR" sz="1800" b="1" dirty="0">
                        <a:solidFill>
                          <a:srgbClr val="000000"/>
                        </a:solidFill>
                        <a:latin typeface="Calibri"/>
                        <a:ea typeface="Times New Roman"/>
                      </a:endParaRPr>
                    </a:p>
                  </a:txBody>
                  <a:tcPr marL="19050" marR="190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pattFill prst="pct20">
                      <a:fgClr>
                        <a:srgbClr val="000000"/>
                      </a:fgClr>
                      <a:bgClr>
                        <a:srgbClr val="D9D9D9"/>
                      </a:bgClr>
                    </a:pattFill>
                  </a:tcPr>
                </a:tc>
                <a:tc>
                  <a:txBody>
                    <a:bodyPr/>
                    <a:lstStyle/>
                    <a:p>
                      <a:pPr marL="90170" algn="ctr">
                        <a:lnSpc>
                          <a:spcPct val="115000"/>
                        </a:lnSpc>
                        <a:spcAft>
                          <a:spcPts val="0"/>
                        </a:spcAft>
                      </a:pPr>
                      <a:r>
                        <a:rPr lang="en-US" sz="1800" dirty="0">
                          <a:latin typeface="Times New Roman"/>
                          <a:ea typeface="Times New Roman"/>
                        </a:rPr>
                        <a:t>Binary</a:t>
                      </a:r>
                      <a:endParaRPr lang="tr-TR" sz="1800" dirty="0">
                        <a:latin typeface="Times New Roman"/>
                        <a:ea typeface="Times New Roman"/>
                      </a:endParaRPr>
                    </a:p>
                  </a:txBody>
                  <a:tcPr marL="19050" marR="190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pattFill prst="pct20">
                      <a:fgClr>
                        <a:srgbClr val="000000"/>
                      </a:fgClr>
                      <a:bgClr>
                        <a:srgbClr val="D9D9D9"/>
                      </a:bgClr>
                    </a:pattFill>
                  </a:tcPr>
                </a:tc>
                <a:tc>
                  <a:txBody>
                    <a:bodyPr/>
                    <a:lstStyle/>
                    <a:p>
                      <a:pPr marL="90170" algn="ctr">
                        <a:lnSpc>
                          <a:spcPct val="115000"/>
                        </a:lnSpc>
                        <a:spcAft>
                          <a:spcPts val="0"/>
                        </a:spcAft>
                      </a:pPr>
                      <a:r>
                        <a:rPr lang="en-US" sz="1800" dirty="0">
                          <a:latin typeface="Times New Roman"/>
                          <a:ea typeface="Times New Roman"/>
                        </a:rPr>
                        <a:t>Hexadecimal</a:t>
                      </a:r>
                      <a:endParaRPr lang="tr-TR" sz="1800" dirty="0">
                        <a:latin typeface="Times New Roman"/>
                        <a:ea typeface="Times New Roman"/>
                      </a:endParaRPr>
                    </a:p>
                  </a:txBody>
                  <a:tcPr marL="19050" marR="190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pattFill prst="pct20">
                      <a:fgClr>
                        <a:srgbClr val="000000"/>
                      </a:fgClr>
                      <a:bgClr>
                        <a:srgbClr val="D9D9D9"/>
                      </a:bgClr>
                    </a:pattFill>
                  </a:tcPr>
                </a:tc>
                <a:extLst>
                  <a:ext uri="{0D108BD9-81ED-4DB2-BD59-A6C34878D82A}">
                    <a16:rowId xmlns:a16="http://schemas.microsoft.com/office/drawing/2014/main" val="10000"/>
                  </a:ext>
                </a:extLst>
              </a:tr>
              <a:tr h="120865">
                <a:tc>
                  <a:txBody>
                    <a:bodyPr/>
                    <a:lstStyle/>
                    <a:p>
                      <a:pPr marL="90170" algn="ctr">
                        <a:lnSpc>
                          <a:spcPct val="115000"/>
                        </a:lnSpc>
                        <a:spcAft>
                          <a:spcPts val="0"/>
                        </a:spcAft>
                      </a:pPr>
                      <a:r>
                        <a:rPr lang="tr-TR" sz="1800">
                          <a:latin typeface="Times New Roman"/>
                          <a:ea typeface="Times New Roman"/>
                        </a:rPr>
                        <a:t>0</a:t>
                      </a:r>
                    </a:p>
                  </a:txBody>
                  <a:tcPr marL="19050" marR="190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0170" algn="ctr">
                        <a:lnSpc>
                          <a:spcPct val="115000"/>
                        </a:lnSpc>
                        <a:spcAft>
                          <a:spcPts val="0"/>
                        </a:spcAft>
                      </a:pPr>
                      <a:r>
                        <a:rPr lang="tr-TR" sz="1800">
                          <a:latin typeface="Times New Roman"/>
                          <a:ea typeface="Times New Roman"/>
                        </a:rPr>
                        <a:t>0000</a:t>
                      </a:r>
                    </a:p>
                  </a:txBody>
                  <a:tcPr marL="19050" marR="190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0170" algn="ctr">
                        <a:lnSpc>
                          <a:spcPct val="115000"/>
                        </a:lnSpc>
                        <a:spcAft>
                          <a:spcPts val="0"/>
                        </a:spcAft>
                      </a:pPr>
                      <a:r>
                        <a:rPr lang="tr-TR" sz="1800">
                          <a:latin typeface="Times New Roman"/>
                          <a:ea typeface="Times New Roman"/>
                        </a:rPr>
                        <a:t>0</a:t>
                      </a:r>
                    </a:p>
                  </a:txBody>
                  <a:tcPr marL="19050" marR="190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90170" algn="ctr">
                        <a:lnSpc>
                          <a:spcPct val="115000"/>
                        </a:lnSpc>
                        <a:spcAft>
                          <a:spcPts val="0"/>
                        </a:spcAft>
                      </a:pPr>
                      <a:r>
                        <a:rPr lang="tr-TR" sz="1800">
                          <a:latin typeface="Times New Roman"/>
                          <a:ea typeface="Times New Roman"/>
                        </a:rPr>
                        <a:t>1</a:t>
                      </a:r>
                    </a:p>
                  </a:txBody>
                  <a:tcPr marL="19050" marR="190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0170" algn="ctr">
                        <a:lnSpc>
                          <a:spcPct val="115000"/>
                        </a:lnSpc>
                        <a:spcAft>
                          <a:spcPts val="0"/>
                        </a:spcAft>
                      </a:pPr>
                      <a:r>
                        <a:rPr lang="tr-TR" sz="1800">
                          <a:latin typeface="Times New Roman"/>
                          <a:ea typeface="Times New Roman"/>
                        </a:rPr>
                        <a:t>0001</a:t>
                      </a:r>
                    </a:p>
                  </a:txBody>
                  <a:tcPr marL="19050" marR="190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0170" algn="ctr">
                        <a:lnSpc>
                          <a:spcPct val="115000"/>
                        </a:lnSpc>
                        <a:spcAft>
                          <a:spcPts val="0"/>
                        </a:spcAft>
                      </a:pPr>
                      <a:r>
                        <a:rPr lang="tr-TR" sz="1800">
                          <a:latin typeface="Times New Roman"/>
                          <a:ea typeface="Times New Roman"/>
                        </a:rPr>
                        <a:t>1</a:t>
                      </a:r>
                    </a:p>
                  </a:txBody>
                  <a:tcPr marL="19050" marR="190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90170" algn="ctr">
                        <a:lnSpc>
                          <a:spcPct val="115000"/>
                        </a:lnSpc>
                        <a:spcAft>
                          <a:spcPts val="0"/>
                        </a:spcAft>
                      </a:pPr>
                      <a:r>
                        <a:rPr lang="tr-TR" sz="1800">
                          <a:latin typeface="Times New Roman"/>
                          <a:ea typeface="Times New Roman"/>
                        </a:rPr>
                        <a:t>2</a:t>
                      </a:r>
                    </a:p>
                  </a:txBody>
                  <a:tcPr marL="19050" marR="190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0170" algn="ctr">
                        <a:lnSpc>
                          <a:spcPct val="115000"/>
                        </a:lnSpc>
                        <a:spcAft>
                          <a:spcPts val="0"/>
                        </a:spcAft>
                      </a:pPr>
                      <a:r>
                        <a:rPr lang="tr-TR" sz="1800">
                          <a:latin typeface="Times New Roman"/>
                          <a:ea typeface="Times New Roman"/>
                        </a:rPr>
                        <a:t>0010</a:t>
                      </a:r>
                    </a:p>
                  </a:txBody>
                  <a:tcPr marL="19050" marR="190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0170" algn="ctr">
                        <a:lnSpc>
                          <a:spcPct val="115000"/>
                        </a:lnSpc>
                        <a:spcAft>
                          <a:spcPts val="0"/>
                        </a:spcAft>
                      </a:pPr>
                      <a:r>
                        <a:rPr lang="tr-TR" sz="1800">
                          <a:latin typeface="Times New Roman"/>
                          <a:ea typeface="Times New Roman"/>
                        </a:rPr>
                        <a:t>2</a:t>
                      </a:r>
                    </a:p>
                  </a:txBody>
                  <a:tcPr marL="19050" marR="190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4028">
                <a:tc>
                  <a:txBody>
                    <a:bodyPr/>
                    <a:lstStyle/>
                    <a:p>
                      <a:pPr marL="90170" algn="ctr">
                        <a:lnSpc>
                          <a:spcPct val="115000"/>
                        </a:lnSpc>
                        <a:spcAft>
                          <a:spcPts val="0"/>
                        </a:spcAft>
                      </a:pPr>
                      <a:r>
                        <a:rPr lang="tr-TR" sz="1800">
                          <a:latin typeface="Times New Roman"/>
                          <a:ea typeface="Times New Roman"/>
                        </a:rPr>
                        <a:t>3</a:t>
                      </a:r>
                    </a:p>
                  </a:txBody>
                  <a:tcPr marL="19050" marR="190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0170" algn="ctr">
                        <a:lnSpc>
                          <a:spcPct val="115000"/>
                        </a:lnSpc>
                        <a:spcAft>
                          <a:spcPts val="0"/>
                        </a:spcAft>
                      </a:pPr>
                      <a:r>
                        <a:rPr lang="tr-TR" sz="1800">
                          <a:latin typeface="Times New Roman"/>
                          <a:ea typeface="Times New Roman"/>
                        </a:rPr>
                        <a:t>0011</a:t>
                      </a:r>
                    </a:p>
                  </a:txBody>
                  <a:tcPr marL="19050" marR="190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0170" algn="ctr">
                        <a:lnSpc>
                          <a:spcPct val="115000"/>
                        </a:lnSpc>
                        <a:spcAft>
                          <a:spcPts val="0"/>
                        </a:spcAft>
                      </a:pPr>
                      <a:r>
                        <a:rPr lang="tr-TR" sz="1800">
                          <a:latin typeface="Times New Roman"/>
                          <a:ea typeface="Times New Roman"/>
                        </a:rPr>
                        <a:t>3</a:t>
                      </a:r>
                    </a:p>
                  </a:txBody>
                  <a:tcPr marL="19050" marR="190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90170" algn="ctr">
                        <a:lnSpc>
                          <a:spcPct val="115000"/>
                        </a:lnSpc>
                        <a:spcAft>
                          <a:spcPts val="0"/>
                        </a:spcAft>
                      </a:pPr>
                      <a:r>
                        <a:rPr lang="tr-TR" sz="1800">
                          <a:latin typeface="Times New Roman"/>
                          <a:ea typeface="Times New Roman"/>
                        </a:rPr>
                        <a:t>4</a:t>
                      </a:r>
                    </a:p>
                  </a:txBody>
                  <a:tcPr marL="19050" marR="190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0170" algn="ctr">
                        <a:lnSpc>
                          <a:spcPct val="115000"/>
                        </a:lnSpc>
                        <a:spcAft>
                          <a:spcPts val="0"/>
                        </a:spcAft>
                      </a:pPr>
                      <a:r>
                        <a:rPr lang="tr-TR" sz="1800">
                          <a:latin typeface="Times New Roman"/>
                          <a:ea typeface="Times New Roman"/>
                        </a:rPr>
                        <a:t>0100</a:t>
                      </a:r>
                    </a:p>
                  </a:txBody>
                  <a:tcPr marL="19050" marR="190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0170" algn="ctr">
                        <a:lnSpc>
                          <a:spcPct val="115000"/>
                        </a:lnSpc>
                        <a:spcAft>
                          <a:spcPts val="0"/>
                        </a:spcAft>
                      </a:pPr>
                      <a:r>
                        <a:rPr lang="tr-TR" sz="1800">
                          <a:latin typeface="Times New Roman"/>
                          <a:ea typeface="Times New Roman"/>
                        </a:rPr>
                        <a:t>4</a:t>
                      </a:r>
                    </a:p>
                  </a:txBody>
                  <a:tcPr marL="19050" marR="190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marL="90170" algn="ctr">
                        <a:lnSpc>
                          <a:spcPct val="115000"/>
                        </a:lnSpc>
                        <a:spcAft>
                          <a:spcPts val="0"/>
                        </a:spcAft>
                      </a:pPr>
                      <a:r>
                        <a:rPr lang="tr-TR" sz="1800">
                          <a:latin typeface="Times New Roman"/>
                          <a:ea typeface="Times New Roman"/>
                        </a:rPr>
                        <a:t>5</a:t>
                      </a:r>
                    </a:p>
                  </a:txBody>
                  <a:tcPr marL="19050" marR="190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0170" algn="ctr">
                        <a:lnSpc>
                          <a:spcPct val="115000"/>
                        </a:lnSpc>
                        <a:spcAft>
                          <a:spcPts val="0"/>
                        </a:spcAft>
                      </a:pPr>
                      <a:r>
                        <a:rPr lang="tr-TR" sz="1800">
                          <a:latin typeface="Times New Roman"/>
                          <a:ea typeface="Times New Roman"/>
                        </a:rPr>
                        <a:t>0101</a:t>
                      </a:r>
                    </a:p>
                  </a:txBody>
                  <a:tcPr marL="19050" marR="190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0170" algn="ctr">
                        <a:lnSpc>
                          <a:spcPct val="115000"/>
                        </a:lnSpc>
                        <a:spcAft>
                          <a:spcPts val="0"/>
                        </a:spcAft>
                      </a:pPr>
                      <a:r>
                        <a:rPr lang="tr-TR" sz="1800">
                          <a:latin typeface="Times New Roman"/>
                          <a:ea typeface="Times New Roman"/>
                        </a:rPr>
                        <a:t>5</a:t>
                      </a:r>
                    </a:p>
                  </a:txBody>
                  <a:tcPr marL="19050" marR="190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0">
                <a:tc>
                  <a:txBody>
                    <a:bodyPr/>
                    <a:lstStyle/>
                    <a:p>
                      <a:pPr marL="90170" algn="ctr">
                        <a:lnSpc>
                          <a:spcPct val="115000"/>
                        </a:lnSpc>
                        <a:spcAft>
                          <a:spcPts val="0"/>
                        </a:spcAft>
                      </a:pPr>
                      <a:r>
                        <a:rPr lang="tr-TR" sz="1800">
                          <a:latin typeface="Times New Roman"/>
                          <a:ea typeface="Times New Roman"/>
                        </a:rPr>
                        <a:t>6</a:t>
                      </a:r>
                    </a:p>
                  </a:txBody>
                  <a:tcPr marL="19050" marR="190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0170" algn="ctr">
                        <a:lnSpc>
                          <a:spcPct val="115000"/>
                        </a:lnSpc>
                        <a:spcAft>
                          <a:spcPts val="0"/>
                        </a:spcAft>
                      </a:pPr>
                      <a:r>
                        <a:rPr lang="tr-TR" sz="1800">
                          <a:latin typeface="Times New Roman"/>
                          <a:ea typeface="Times New Roman"/>
                        </a:rPr>
                        <a:t>0110</a:t>
                      </a:r>
                    </a:p>
                  </a:txBody>
                  <a:tcPr marL="19050" marR="190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0170" algn="ctr">
                        <a:lnSpc>
                          <a:spcPct val="115000"/>
                        </a:lnSpc>
                        <a:spcAft>
                          <a:spcPts val="0"/>
                        </a:spcAft>
                      </a:pPr>
                      <a:r>
                        <a:rPr lang="tr-TR" sz="1800">
                          <a:latin typeface="Times New Roman"/>
                          <a:ea typeface="Times New Roman"/>
                        </a:rPr>
                        <a:t>6</a:t>
                      </a:r>
                    </a:p>
                  </a:txBody>
                  <a:tcPr marL="19050" marR="190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0">
                <a:tc>
                  <a:txBody>
                    <a:bodyPr/>
                    <a:lstStyle/>
                    <a:p>
                      <a:pPr marL="90170" algn="ctr">
                        <a:lnSpc>
                          <a:spcPct val="115000"/>
                        </a:lnSpc>
                        <a:spcAft>
                          <a:spcPts val="0"/>
                        </a:spcAft>
                      </a:pPr>
                      <a:r>
                        <a:rPr lang="tr-TR" sz="1800">
                          <a:latin typeface="Times New Roman"/>
                          <a:ea typeface="Times New Roman"/>
                        </a:rPr>
                        <a:t>7</a:t>
                      </a:r>
                    </a:p>
                  </a:txBody>
                  <a:tcPr marL="19050" marR="190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0170" algn="ctr">
                        <a:lnSpc>
                          <a:spcPct val="115000"/>
                        </a:lnSpc>
                        <a:spcAft>
                          <a:spcPts val="0"/>
                        </a:spcAft>
                      </a:pPr>
                      <a:r>
                        <a:rPr lang="tr-TR" sz="1800">
                          <a:latin typeface="Times New Roman"/>
                          <a:ea typeface="Times New Roman"/>
                        </a:rPr>
                        <a:t>0111</a:t>
                      </a:r>
                    </a:p>
                  </a:txBody>
                  <a:tcPr marL="19050" marR="190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0170" algn="ctr">
                        <a:lnSpc>
                          <a:spcPct val="115000"/>
                        </a:lnSpc>
                        <a:spcAft>
                          <a:spcPts val="0"/>
                        </a:spcAft>
                      </a:pPr>
                      <a:r>
                        <a:rPr lang="tr-TR" sz="1800">
                          <a:latin typeface="Times New Roman"/>
                          <a:ea typeface="Times New Roman"/>
                        </a:rPr>
                        <a:t>7</a:t>
                      </a:r>
                    </a:p>
                  </a:txBody>
                  <a:tcPr marL="19050" marR="190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0">
                <a:tc>
                  <a:txBody>
                    <a:bodyPr/>
                    <a:lstStyle/>
                    <a:p>
                      <a:pPr marL="90170" algn="ctr">
                        <a:lnSpc>
                          <a:spcPct val="115000"/>
                        </a:lnSpc>
                        <a:spcAft>
                          <a:spcPts val="0"/>
                        </a:spcAft>
                      </a:pPr>
                      <a:r>
                        <a:rPr lang="tr-TR" sz="1800">
                          <a:latin typeface="Times New Roman"/>
                          <a:ea typeface="Times New Roman"/>
                        </a:rPr>
                        <a:t>8</a:t>
                      </a:r>
                    </a:p>
                  </a:txBody>
                  <a:tcPr marL="19050" marR="190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0170" algn="ctr">
                        <a:lnSpc>
                          <a:spcPct val="115000"/>
                        </a:lnSpc>
                        <a:spcAft>
                          <a:spcPts val="0"/>
                        </a:spcAft>
                      </a:pPr>
                      <a:r>
                        <a:rPr lang="tr-TR" sz="1800">
                          <a:latin typeface="Times New Roman"/>
                          <a:ea typeface="Times New Roman"/>
                        </a:rPr>
                        <a:t>1000</a:t>
                      </a:r>
                    </a:p>
                  </a:txBody>
                  <a:tcPr marL="19050" marR="190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0170" algn="ctr">
                        <a:lnSpc>
                          <a:spcPct val="115000"/>
                        </a:lnSpc>
                        <a:spcAft>
                          <a:spcPts val="0"/>
                        </a:spcAft>
                      </a:pPr>
                      <a:r>
                        <a:rPr lang="tr-TR" sz="1800">
                          <a:latin typeface="Times New Roman"/>
                          <a:ea typeface="Times New Roman"/>
                        </a:rPr>
                        <a:t>8</a:t>
                      </a:r>
                    </a:p>
                  </a:txBody>
                  <a:tcPr marL="19050" marR="190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0">
                <a:tc>
                  <a:txBody>
                    <a:bodyPr/>
                    <a:lstStyle/>
                    <a:p>
                      <a:pPr marL="90170" algn="ctr">
                        <a:lnSpc>
                          <a:spcPct val="115000"/>
                        </a:lnSpc>
                        <a:spcAft>
                          <a:spcPts val="0"/>
                        </a:spcAft>
                      </a:pPr>
                      <a:r>
                        <a:rPr lang="tr-TR" sz="1800">
                          <a:latin typeface="Times New Roman"/>
                          <a:ea typeface="Times New Roman"/>
                        </a:rPr>
                        <a:t>9</a:t>
                      </a:r>
                    </a:p>
                  </a:txBody>
                  <a:tcPr marL="19050" marR="190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0170" algn="ctr">
                        <a:lnSpc>
                          <a:spcPct val="115000"/>
                        </a:lnSpc>
                        <a:spcAft>
                          <a:spcPts val="0"/>
                        </a:spcAft>
                      </a:pPr>
                      <a:r>
                        <a:rPr lang="tr-TR" sz="1800">
                          <a:latin typeface="Times New Roman"/>
                          <a:ea typeface="Times New Roman"/>
                        </a:rPr>
                        <a:t>1001</a:t>
                      </a:r>
                    </a:p>
                  </a:txBody>
                  <a:tcPr marL="19050" marR="190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0170" algn="ctr">
                        <a:lnSpc>
                          <a:spcPct val="115000"/>
                        </a:lnSpc>
                        <a:spcAft>
                          <a:spcPts val="0"/>
                        </a:spcAft>
                      </a:pPr>
                      <a:r>
                        <a:rPr lang="tr-TR" sz="1800">
                          <a:latin typeface="Times New Roman"/>
                          <a:ea typeface="Times New Roman"/>
                        </a:rPr>
                        <a:t>9</a:t>
                      </a:r>
                    </a:p>
                  </a:txBody>
                  <a:tcPr marL="19050" marR="190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0">
                <a:tc>
                  <a:txBody>
                    <a:bodyPr/>
                    <a:lstStyle/>
                    <a:p>
                      <a:pPr marL="90170" algn="ctr">
                        <a:lnSpc>
                          <a:spcPct val="115000"/>
                        </a:lnSpc>
                        <a:spcAft>
                          <a:spcPts val="0"/>
                        </a:spcAft>
                      </a:pPr>
                      <a:r>
                        <a:rPr lang="tr-TR" sz="1800">
                          <a:latin typeface="Times New Roman"/>
                          <a:ea typeface="Times New Roman"/>
                        </a:rPr>
                        <a:t>10</a:t>
                      </a:r>
                    </a:p>
                  </a:txBody>
                  <a:tcPr marL="19050" marR="190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0170" algn="ctr">
                        <a:lnSpc>
                          <a:spcPct val="115000"/>
                        </a:lnSpc>
                        <a:spcAft>
                          <a:spcPts val="0"/>
                        </a:spcAft>
                      </a:pPr>
                      <a:r>
                        <a:rPr lang="tr-TR" sz="1800">
                          <a:latin typeface="Times New Roman"/>
                          <a:ea typeface="Times New Roman"/>
                        </a:rPr>
                        <a:t>1010</a:t>
                      </a:r>
                    </a:p>
                  </a:txBody>
                  <a:tcPr marL="19050" marR="190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0170" algn="ctr">
                        <a:lnSpc>
                          <a:spcPct val="115000"/>
                        </a:lnSpc>
                        <a:spcAft>
                          <a:spcPts val="0"/>
                        </a:spcAft>
                      </a:pPr>
                      <a:r>
                        <a:rPr lang="tr-TR" sz="1800">
                          <a:latin typeface="Times New Roman"/>
                          <a:ea typeface="Times New Roman"/>
                        </a:rPr>
                        <a:t>A</a:t>
                      </a:r>
                    </a:p>
                  </a:txBody>
                  <a:tcPr marL="19050" marR="190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0">
                <a:tc>
                  <a:txBody>
                    <a:bodyPr/>
                    <a:lstStyle/>
                    <a:p>
                      <a:pPr marL="90170" algn="ctr">
                        <a:lnSpc>
                          <a:spcPct val="115000"/>
                        </a:lnSpc>
                        <a:spcAft>
                          <a:spcPts val="0"/>
                        </a:spcAft>
                      </a:pPr>
                      <a:r>
                        <a:rPr lang="tr-TR" sz="1800">
                          <a:latin typeface="Times New Roman"/>
                          <a:ea typeface="Times New Roman"/>
                        </a:rPr>
                        <a:t>11</a:t>
                      </a:r>
                    </a:p>
                  </a:txBody>
                  <a:tcPr marL="19050" marR="190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0170" algn="ctr">
                        <a:lnSpc>
                          <a:spcPct val="115000"/>
                        </a:lnSpc>
                        <a:spcAft>
                          <a:spcPts val="0"/>
                        </a:spcAft>
                      </a:pPr>
                      <a:r>
                        <a:rPr lang="tr-TR" sz="1800">
                          <a:latin typeface="Times New Roman"/>
                          <a:ea typeface="Times New Roman"/>
                        </a:rPr>
                        <a:t>1011</a:t>
                      </a:r>
                    </a:p>
                  </a:txBody>
                  <a:tcPr marL="19050" marR="190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0170" algn="ctr">
                        <a:lnSpc>
                          <a:spcPct val="115000"/>
                        </a:lnSpc>
                        <a:spcAft>
                          <a:spcPts val="0"/>
                        </a:spcAft>
                      </a:pPr>
                      <a:r>
                        <a:rPr lang="tr-TR" sz="1800">
                          <a:latin typeface="Times New Roman"/>
                          <a:ea typeface="Times New Roman"/>
                        </a:rPr>
                        <a:t>B</a:t>
                      </a:r>
                    </a:p>
                  </a:txBody>
                  <a:tcPr marL="19050" marR="190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0">
                <a:tc>
                  <a:txBody>
                    <a:bodyPr/>
                    <a:lstStyle/>
                    <a:p>
                      <a:pPr marL="90170" algn="ctr">
                        <a:lnSpc>
                          <a:spcPct val="115000"/>
                        </a:lnSpc>
                        <a:spcAft>
                          <a:spcPts val="0"/>
                        </a:spcAft>
                      </a:pPr>
                      <a:r>
                        <a:rPr lang="tr-TR" sz="1800">
                          <a:latin typeface="Times New Roman"/>
                          <a:ea typeface="Times New Roman"/>
                        </a:rPr>
                        <a:t>12</a:t>
                      </a:r>
                    </a:p>
                  </a:txBody>
                  <a:tcPr marL="19050" marR="190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0170" algn="ctr">
                        <a:lnSpc>
                          <a:spcPct val="115000"/>
                        </a:lnSpc>
                        <a:spcAft>
                          <a:spcPts val="0"/>
                        </a:spcAft>
                      </a:pPr>
                      <a:r>
                        <a:rPr lang="tr-TR" sz="1800">
                          <a:latin typeface="Times New Roman"/>
                          <a:ea typeface="Times New Roman"/>
                        </a:rPr>
                        <a:t>1100</a:t>
                      </a:r>
                    </a:p>
                  </a:txBody>
                  <a:tcPr marL="19050" marR="190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0170" algn="ctr">
                        <a:lnSpc>
                          <a:spcPct val="115000"/>
                        </a:lnSpc>
                        <a:spcAft>
                          <a:spcPts val="0"/>
                        </a:spcAft>
                      </a:pPr>
                      <a:r>
                        <a:rPr lang="tr-TR" sz="1800">
                          <a:latin typeface="Times New Roman"/>
                          <a:ea typeface="Times New Roman"/>
                        </a:rPr>
                        <a:t>C</a:t>
                      </a:r>
                    </a:p>
                  </a:txBody>
                  <a:tcPr marL="19050" marR="190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r h="0">
                <a:tc>
                  <a:txBody>
                    <a:bodyPr/>
                    <a:lstStyle/>
                    <a:p>
                      <a:pPr marL="90170" algn="ctr">
                        <a:lnSpc>
                          <a:spcPct val="115000"/>
                        </a:lnSpc>
                        <a:spcAft>
                          <a:spcPts val="0"/>
                        </a:spcAft>
                      </a:pPr>
                      <a:r>
                        <a:rPr lang="tr-TR" sz="1800">
                          <a:latin typeface="Times New Roman"/>
                          <a:ea typeface="Times New Roman"/>
                        </a:rPr>
                        <a:t>13</a:t>
                      </a:r>
                    </a:p>
                  </a:txBody>
                  <a:tcPr marL="19050" marR="190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0170" algn="ctr">
                        <a:lnSpc>
                          <a:spcPct val="115000"/>
                        </a:lnSpc>
                        <a:spcAft>
                          <a:spcPts val="0"/>
                        </a:spcAft>
                      </a:pPr>
                      <a:r>
                        <a:rPr lang="tr-TR" sz="1800">
                          <a:latin typeface="Times New Roman"/>
                          <a:ea typeface="Times New Roman"/>
                        </a:rPr>
                        <a:t>1101</a:t>
                      </a:r>
                    </a:p>
                  </a:txBody>
                  <a:tcPr marL="19050" marR="190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0170" algn="ctr">
                        <a:lnSpc>
                          <a:spcPct val="115000"/>
                        </a:lnSpc>
                        <a:spcAft>
                          <a:spcPts val="0"/>
                        </a:spcAft>
                      </a:pPr>
                      <a:r>
                        <a:rPr lang="tr-TR" sz="1800">
                          <a:latin typeface="Times New Roman"/>
                          <a:ea typeface="Times New Roman"/>
                        </a:rPr>
                        <a:t>D</a:t>
                      </a:r>
                    </a:p>
                  </a:txBody>
                  <a:tcPr marL="19050" marR="190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4"/>
                  </a:ext>
                </a:extLst>
              </a:tr>
              <a:tr h="0">
                <a:tc>
                  <a:txBody>
                    <a:bodyPr/>
                    <a:lstStyle/>
                    <a:p>
                      <a:pPr marL="90170" algn="ctr">
                        <a:lnSpc>
                          <a:spcPct val="115000"/>
                        </a:lnSpc>
                        <a:spcAft>
                          <a:spcPts val="0"/>
                        </a:spcAft>
                      </a:pPr>
                      <a:r>
                        <a:rPr lang="tr-TR" sz="1800">
                          <a:latin typeface="Times New Roman"/>
                          <a:ea typeface="Times New Roman"/>
                        </a:rPr>
                        <a:t>14</a:t>
                      </a:r>
                    </a:p>
                  </a:txBody>
                  <a:tcPr marL="19050" marR="190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0170" algn="ctr">
                        <a:lnSpc>
                          <a:spcPct val="115000"/>
                        </a:lnSpc>
                        <a:spcAft>
                          <a:spcPts val="0"/>
                        </a:spcAft>
                      </a:pPr>
                      <a:r>
                        <a:rPr lang="tr-TR" sz="1800">
                          <a:latin typeface="Times New Roman"/>
                          <a:ea typeface="Times New Roman"/>
                        </a:rPr>
                        <a:t>1110</a:t>
                      </a:r>
                    </a:p>
                  </a:txBody>
                  <a:tcPr marL="19050" marR="190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0170" algn="ctr">
                        <a:lnSpc>
                          <a:spcPct val="115000"/>
                        </a:lnSpc>
                        <a:spcAft>
                          <a:spcPts val="0"/>
                        </a:spcAft>
                      </a:pPr>
                      <a:r>
                        <a:rPr lang="tr-TR" sz="1800">
                          <a:latin typeface="Times New Roman"/>
                          <a:ea typeface="Times New Roman"/>
                        </a:rPr>
                        <a:t>E</a:t>
                      </a:r>
                    </a:p>
                  </a:txBody>
                  <a:tcPr marL="19050" marR="190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5"/>
                  </a:ext>
                </a:extLst>
              </a:tr>
              <a:tr h="0">
                <a:tc>
                  <a:txBody>
                    <a:bodyPr/>
                    <a:lstStyle/>
                    <a:p>
                      <a:pPr marL="90170" algn="ctr">
                        <a:lnSpc>
                          <a:spcPct val="115000"/>
                        </a:lnSpc>
                        <a:spcAft>
                          <a:spcPts val="0"/>
                        </a:spcAft>
                      </a:pPr>
                      <a:r>
                        <a:rPr lang="tr-TR" sz="1800">
                          <a:latin typeface="Times New Roman"/>
                          <a:ea typeface="Times New Roman"/>
                        </a:rPr>
                        <a:t>15</a:t>
                      </a:r>
                    </a:p>
                  </a:txBody>
                  <a:tcPr marL="19050" marR="190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0170" algn="ctr">
                        <a:lnSpc>
                          <a:spcPct val="115000"/>
                        </a:lnSpc>
                        <a:spcAft>
                          <a:spcPts val="0"/>
                        </a:spcAft>
                      </a:pPr>
                      <a:r>
                        <a:rPr lang="tr-TR" sz="1800">
                          <a:latin typeface="Times New Roman"/>
                          <a:ea typeface="Times New Roman"/>
                        </a:rPr>
                        <a:t>1111</a:t>
                      </a:r>
                    </a:p>
                  </a:txBody>
                  <a:tcPr marL="19050" marR="190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0170" algn="ctr">
                        <a:lnSpc>
                          <a:spcPct val="115000"/>
                        </a:lnSpc>
                        <a:spcAft>
                          <a:spcPts val="0"/>
                        </a:spcAft>
                      </a:pPr>
                      <a:r>
                        <a:rPr lang="tr-TR" sz="1800" dirty="0">
                          <a:latin typeface="Times New Roman"/>
                          <a:ea typeface="Times New Roman"/>
                        </a:rPr>
                        <a:t>F</a:t>
                      </a:r>
                    </a:p>
                  </a:txBody>
                  <a:tcPr marL="19050" marR="190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6"/>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z="2400" b="1" dirty="0" err="1"/>
              <a:t>Hexadecimal</a:t>
            </a:r>
            <a:r>
              <a:rPr lang="en-US" sz="2400" b="1" dirty="0"/>
              <a:t> Number System</a:t>
            </a:r>
            <a:endParaRPr lang="tr-TR" sz="2400" dirty="0"/>
          </a:p>
        </p:txBody>
      </p:sp>
      <p:sp>
        <p:nvSpPr>
          <p:cNvPr id="3" name="2 İçerik Yer Tutucusu"/>
          <p:cNvSpPr>
            <a:spLocks noGrp="1"/>
          </p:cNvSpPr>
          <p:nvPr>
            <p:ph idx="1"/>
          </p:nvPr>
        </p:nvSpPr>
        <p:spPr>
          <a:xfrm>
            <a:off x="388718" y="930393"/>
            <a:ext cx="8375650" cy="5078412"/>
          </a:xfrm>
        </p:spPr>
        <p:txBody>
          <a:bodyPr/>
          <a:lstStyle/>
          <a:p>
            <a:pPr marL="0" indent="0" algn="just">
              <a:buNone/>
            </a:pPr>
            <a:r>
              <a:rPr lang="en-US" sz="2200" dirty="0">
                <a:solidFill>
                  <a:schemeClr val="tx1"/>
                </a:solidFill>
                <a:latin typeface="+mn-lt"/>
                <a:ea typeface="+mn-ea"/>
                <a:cs typeface="+mn-cs"/>
              </a:rPr>
              <a:t>In hexadecimal system</a:t>
            </a:r>
            <a:r>
              <a:rPr lang="tr-TR" sz="2200" dirty="0">
                <a:solidFill>
                  <a:schemeClr val="tx1"/>
                </a:solidFill>
                <a:latin typeface="+mn-lt"/>
                <a:ea typeface="+mn-ea"/>
                <a:cs typeface="+mn-cs"/>
              </a:rPr>
              <a:t> F</a:t>
            </a:r>
            <a:r>
              <a:rPr lang="tr-TR" sz="2200" baseline="-25000" dirty="0">
                <a:solidFill>
                  <a:schemeClr val="tx1"/>
                </a:solidFill>
                <a:latin typeface="+mn-lt"/>
                <a:ea typeface="+mn-ea"/>
                <a:cs typeface="+mn-cs"/>
              </a:rPr>
              <a:t>16</a:t>
            </a:r>
            <a:r>
              <a:rPr lang="en-US" sz="2200" baseline="-25000" dirty="0">
                <a:solidFill>
                  <a:schemeClr val="tx1"/>
                </a:solidFill>
                <a:latin typeface="+mn-lt"/>
                <a:ea typeface="+mn-ea"/>
                <a:cs typeface="+mn-cs"/>
              </a:rPr>
              <a:t> </a:t>
            </a:r>
            <a:r>
              <a:rPr lang="en-US" sz="2200" dirty="0">
                <a:solidFill>
                  <a:schemeClr val="tx1"/>
                </a:solidFill>
                <a:latin typeface="+mn-lt"/>
                <a:ea typeface="+mn-ea"/>
                <a:cs typeface="+mn-cs"/>
              </a:rPr>
              <a:t>is followed by </a:t>
            </a:r>
            <a:r>
              <a:rPr lang="tr-TR" sz="2200" dirty="0">
                <a:solidFill>
                  <a:schemeClr val="tx1"/>
                </a:solidFill>
                <a:latin typeface="+mn-lt"/>
                <a:ea typeface="+mn-ea"/>
                <a:cs typeface="+mn-cs"/>
              </a:rPr>
              <a:t>10</a:t>
            </a:r>
            <a:r>
              <a:rPr lang="tr-TR" sz="2200" baseline="-25000" dirty="0">
                <a:solidFill>
                  <a:schemeClr val="tx1"/>
                </a:solidFill>
                <a:latin typeface="+mn-lt"/>
                <a:ea typeface="+mn-ea"/>
                <a:cs typeface="+mn-cs"/>
              </a:rPr>
              <a:t>16</a:t>
            </a:r>
            <a:r>
              <a:rPr lang="en-US" sz="2200" dirty="0">
                <a:solidFill>
                  <a:schemeClr val="tx1"/>
                </a:solidFill>
                <a:latin typeface="+mn-lt"/>
                <a:ea typeface="+mn-ea"/>
                <a:cs typeface="+mn-cs"/>
              </a:rPr>
              <a:t> and continues as </a:t>
            </a:r>
            <a:r>
              <a:rPr lang="tr-TR" sz="2200" dirty="0">
                <a:solidFill>
                  <a:schemeClr val="tx1"/>
                </a:solidFill>
                <a:latin typeface="+mn-lt"/>
                <a:ea typeface="+mn-ea"/>
                <a:cs typeface="+mn-cs"/>
              </a:rPr>
              <a:t>11</a:t>
            </a:r>
            <a:r>
              <a:rPr lang="tr-TR" sz="2200" baseline="-25000" dirty="0">
                <a:solidFill>
                  <a:schemeClr val="tx1"/>
                </a:solidFill>
                <a:latin typeface="+mn-lt"/>
                <a:ea typeface="+mn-ea"/>
                <a:cs typeface="+mn-cs"/>
              </a:rPr>
              <a:t>16</a:t>
            </a:r>
            <a:r>
              <a:rPr lang="tr-TR" sz="2200" dirty="0">
                <a:solidFill>
                  <a:schemeClr val="tx1"/>
                </a:solidFill>
                <a:latin typeface="+mn-lt"/>
                <a:ea typeface="+mn-ea"/>
                <a:cs typeface="+mn-cs"/>
              </a:rPr>
              <a:t>,12</a:t>
            </a:r>
            <a:r>
              <a:rPr lang="tr-TR" sz="2200" baseline="-25000" dirty="0">
                <a:solidFill>
                  <a:schemeClr val="tx1"/>
                </a:solidFill>
                <a:latin typeface="+mn-lt"/>
                <a:ea typeface="+mn-ea"/>
                <a:cs typeface="+mn-cs"/>
              </a:rPr>
              <a:t>16</a:t>
            </a:r>
            <a:r>
              <a:rPr lang="tr-TR" sz="2200" dirty="0">
                <a:solidFill>
                  <a:schemeClr val="tx1"/>
                </a:solidFill>
                <a:latin typeface="+mn-lt"/>
                <a:ea typeface="+mn-ea"/>
                <a:cs typeface="+mn-cs"/>
              </a:rPr>
              <a:t>,...,19</a:t>
            </a:r>
            <a:r>
              <a:rPr lang="tr-TR" sz="2200" baseline="-25000" dirty="0">
                <a:solidFill>
                  <a:schemeClr val="tx1"/>
                </a:solidFill>
                <a:latin typeface="+mn-lt"/>
                <a:ea typeface="+mn-ea"/>
                <a:cs typeface="+mn-cs"/>
              </a:rPr>
              <a:t>16</a:t>
            </a:r>
            <a:r>
              <a:rPr lang="tr-TR" sz="2200" dirty="0">
                <a:solidFill>
                  <a:schemeClr val="tx1"/>
                </a:solidFill>
                <a:latin typeface="+mn-lt"/>
                <a:ea typeface="+mn-ea"/>
                <a:cs typeface="+mn-cs"/>
              </a:rPr>
              <a:t>,1A</a:t>
            </a:r>
            <a:r>
              <a:rPr lang="tr-TR" sz="2200" baseline="-25000" dirty="0">
                <a:solidFill>
                  <a:schemeClr val="tx1"/>
                </a:solidFill>
                <a:latin typeface="+mn-lt"/>
                <a:ea typeface="+mn-ea"/>
                <a:cs typeface="+mn-cs"/>
              </a:rPr>
              <a:t>16</a:t>
            </a:r>
            <a:r>
              <a:rPr lang="tr-TR" sz="2200" dirty="0">
                <a:solidFill>
                  <a:schemeClr val="tx1"/>
                </a:solidFill>
                <a:latin typeface="+mn-lt"/>
                <a:ea typeface="+mn-ea"/>
                <a:cs typeface="+mn-cs"/>
              </a:rPr>
              <a:t>, ..., 1F</a:t>
            </a:r>
            <a:r>
              <a:rPr lang="tr-TR" sz="2200" baseline="-25000" dirty="0">
                <a:solidFill>
                  <a:schemeClr val="tx1"/>
                </a:solidFill>
                <a:latin typeface="+mn-lt"/>
                <a:ea typeface="+mn-ea"/>
                <a:cs typeface="+mn-cs"/>
              </a:rPr>
              <a:t>16</a:t>
            </a:r>
            <a:r>
              <a:rPr lang="tr-TR" sz="2200" dirty="0">
                <a:solidFill>
                  <a:schemeClr val="tx1"/>
                </a:solidFill>
                <a:latin typeface="+mn-lt"/>
                <a:ea typeface="+mn-ea"/>
                <a:cs typeface="+mn-cs"/>
              </a:rPr>
              <a:t>.</a:t>
            </a:r>
          </a:p>
          <a:p>
            <a:pPr marL="0" indent="0" algn="just">
              <a:buNone/>
            </a:pPr>
            <a:endParaRPr lang="tr-TR" sz="2200" dirty="0"/>
          </a:p>
          <a:p>
            <a:pPr marL="0" indent="0" algn="just">
              <a:buNone/>
            </a:pPr>
            <a:r>
              <a:rPr lang="en-US" sz="2200" dirty="0"/>
              <a:t>Two digits in hexadecimal can represent numbers between </a:t>
            </a:r>
            <a:r>
              <a:rPr lang="tr-TR" sz="2200" dirty="0">
                <a:solidFill>
                  <a:schemeClr val="tx1"/>
                </a:solidFill>
                <a:latin typeface="+mn-lt"/>
                <a:ea typeface="+mn-ea"/>
                <a:cs typeface="+mn-cs"/>
              </a:rPr>
              <a:t>0 (00</a:t>
            </a:r>
            <a:r>
              <a:rPr lang="tr-TR" sz="2200" baseline="-25000" dirty="0">
                <a:solidFill>
                  <a:schemeClr val="tx1"/>
                </a:solidFill>
                <a:latin typeface="+mn-lt"/>
                <a:ea typeface="+mn-ea"/>
                <a:cs typeface="+mn-cs"/>
              </a:rPr>
              <a:t>16</a:t>
            </a:r>
            <a:r>
              <a:rPr lang="tr-TR" sz="2200" dirty="0">
                <a:solidFill>
                  <a:schemeClr val="tx1"/>
                </a:solidFill>
                <a:latin typeface="+mn-lt"/>
                <a:ea typeface="+mn-ea"/>
                <a:cs typeface="+mn-cs"/>
              </a:rPr>
              <a:t>) </a:t>
            </a:r>
            <a:r>
              <a:rPr lang="en-US" sz="2200" dirty="0">
                <a:solidFill>
                  <a:schemeClr val="tx1"/>
                </a:solidFill>
                <a:latin typeface="+mn-lt"/>
                <a:ea typeface="+mn-ea"/>
                <a:cs typeface="+mn-cs"/>
              </a:rPr>
              <a:t>and</a:t>
            </a:r>
            <a:r>
              <a:rPr lang="tr-TR" sz="2200" dirty="0">
                <a:solidFill>
                  <a:schemeClr val="tx1"/>
                </a:solidFill>
                <a:latin typeface="+mn-lt"/>
                <a:ea typeface="+mn-ea"/>
                <a:cs typeface="+mn-cs"/>
              </a:rPr>
              <a:t> 255 (FF</a:t>
            </a:r>
            <a:r>
              <a:rPr lang="tr-TR" sz="2200" baseline="-25000" dirty="0">
                <a:solidFill>
                  <a:schemeClr val="tx1"/>
                </a:solidFill>
                <a:latin typeface="+mn-lt"/>
                <a:ea typeface="+mn-ea"/>
                <a:cs typeface="+mn-cs"/>
              </a:rPr>
              <a:t>16</a:t>
            </a:r>
            <a:r>
              <a:rPr lang="tr-TR" sz="2200" dirty="0">
                <a:solidFill>
                  <a:schemeClr val="tx1"/>
                </a:solidFill>
                <a:latin typeface="+mn-lt"/>
                <a:ea typeface="+mn-ea"/>
                <a:cs typeface="+mn-cs"/>
              </a:rPr>
              <a:t>)</a:t>
            </a:r>
            <a:r>
              <a:rPr lang="en-US" sz="2200" dirty="0">
                <a:solidFill>
                  <a:schemeClr val="tx1"/>
                </a:solidFill>
                <a:latin typeface="+mn-lt"/>
                <a:ea typeface="+mn-ea"/>
                <a:cs typeface="+mn-cs"/>
              </a:rPr>
              <a:t>.</a:t>
            </a:r>
            <a:endParaRPr lang="tr-TR" sz="2200" dirty="0">
              <a:solidFill>
                <a:schemeClr val="tx1"/>
              </a:solidFill>
              <a:latin typeface="+mn-lt"/>
              <a:ea typeface="+mn-ea"/>
              <a:cs typeface="+mn-cs"/>
            </a:endParaRPr>
          </a:p>
          <a:p>
            <a:pPr marL="0" indent="0" algn="just">
              <a:buNone/>
            </a:pPr>
            <a:endParaRPr lang="tr-TR" sz="2200" dirty="0"/>
          </a:p>
          <a:p>
            <a:pPr marL="0" indent="0" algn="just">
              <a:buFont typeface="Wingdings" pitchFamily="2" charset="2"/>
              <a:buChar char="Ø"/>
            </a:pPr>
            <a:r>
              <a:rPr lang="tr-TR" sz="2200" dirty="0">
                <a:solidFill>
                  <a:schemeClr val="tx1"/>
                </a:solidFill>
                <a:latin typeface="+mn-lt"/>
                <a:ea typeface="+mn-ea"/>
                <a:cs typeface="+mn-cs"/>
              </a:rPr>
              <a:t> </a:t>
            </a:r>
            <a:r>
              <a:rPr lang="en-US" sz="2200" dirty="0">
                <a:solidFill>
                  <a:schemeClr val="tx1"/>
                </a:solidFill>
                <a:latin typeface="+mn-lt"/>
                <a:ea typeface="+mn-ea"/>
                <a:cs typeface="+mn-cs"/>
              </a:rPr>
              <a:t>To convert a binary number to hexadecimal, we divide the binary number into groups of four. We start grouping from the right side of the whole part, and from the left side of the fractional part. Remember that we can add 0’s to the left side of the whole part, and to the right side of the fractional part.</a:t>
            </a:r>
            <a:endParaRPr lang="tr-TR" sz="2200" dirty="0">
              <a:solidFill>
                <a:schemeClr val="tx1"/>
              </a:solidFill>
              <a:latin typeface="+mn-lt"/>
              <a:ea typeface="+mn-ea"/>
              <a:cs typeface="+mn-cs"/>
            </a:endParaRPr>
          </a:p>
          <a:p>
            <a:pPr marL="0" indent="0" algn="just">
              <a:buNone/>
            </a:pPr>
            <a:endParaRPr lang="tr-TR" sz="2200" dirty="0"/>
          </a:p>
        </p:txBody>
      </p:sp>
      <p:sp>
        <p:nvSpPr>
          <p:cNvPr id="4" name="3 Altbilgi Yer Tutucusu"/>
          <p:cNvSpPr>
            <a:spLocks noGrp="1"/>
          </p:cNvSpPr>
          <p:nvPr>
            <p:ph type="ftr" sz="quarter" idx="10"/>
          </p:nvPr>
        </p:nvSpPr>
        <p:spPr/>
        <p:txBody>
          <a:bodyPr/>
          <a:lstStyle/>
          <a:p>
            <a:r>
              <a:rPr lang="en-US" dirty="0"/>
              <a:t>Logic Circuits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387197" y="174676"/>
            <a:ext cx="7772400" cy="790575"/>
          </a:xfrm>
        </p:spPr>
        <p:txBody>
          <a:bodyPr/>
          <a:lstStyle/>
          <a:p>
            <a:r>
              <a:rPr lang="en-US" sz="2400" b="1" dirty="0"/>
              <a:t>Example</a:t>
            </a:r>
            <a:endParaRPr lang="tr-TR" sz="2400" b="1" dirty="0">
              <a:solidFill>
                <a:schemeClr val="tx1"/>
              </a:solidFill>
            </a:endParaRPr>
          </a:p>
        </p:txBody>
      </p:sp>
      <p:sp>
        <p:nvSpPr>
          <p:cNvPr id="3" name="2 İçerik Yer Tutucusu"/>
          <p:cNvSpPr>
            <a:spLocks noGrp="1"/>
          </p:cNvSpPr>
          <p:nvPr>
            <p:ph idx="1"/>
          </p:nvPr>
        </p:nvSpPr>
        <p:spPr>
          <a:xfrm>
            <a:off x="346514" y="930393"/>
            <a:ext cx="8375650" cy="5078412"/>
          </a:xfrm>
        </p:spPr>
        <p:txBody>
          <a:bodyPr/>
          <a:lstStyle/>
          <a:p>
            <a:pPr marL="0" indent="0" algn="just">
              <a:buFont typeface="Wingdings" pitchFamily="2" charset="2"/>
              <a:buChar char="v"/>
            </a:pPr>
            <a:r>
              <a:rPr lang="tr-TR" sz="2200" dirty="0">
                <a:solidFill>
                  <a:schemeClr val="tx1"/>
                </a:solidFill>
                <a:latin typeface="+mn-lt"/>
                <a:ea typeface="+mn-ea"/>
                <a:cs typeface="+mn-cs"/>
              </a:rPr>
              <a:t>  </a:t>
            </a:r>
            <a:r>
              <a:rPr lang="en-US" sz="2200" dirty="0">
                <a:solidFill>
                  <a:schemeClr val="tx1"/>
                </a:solidFill>
                <a:latin typeface="+mn-lt"/>
                <a:ea typeface="+mn-ea"/>
                <a:cs typeface="+mn-cs"/>
              </a:rPr>
              <a:t>Let’s convert </a:t>
            </a:r>
            <a:r>
              <a:rPr lang="tr-TR" sz="2200" dirty="0">
                <a:solidFill>
                  <a:schemeClr val="tx1"/>
                </a:solidFill>
                <a:latin typeface="+mn-lt"/>
                <a:ea typeface="+mn-ea"/>
                <a:cs typeface="+mn-cs"/>
              </a:rPr>
              <a:t>010001111110001</a:t>
            </a:r>
            <a:r>
              <a:rPr lang="tr-TR" sz="2200" baseline="-25000" dirty="0">
                <a:solidFill>
                  <a:schemeClr val="tx1"/>
                </a:solidFill>
                <a:latin typeface="+mn-lt"/>
                <a:ea typeface="+mn-ea"/>
                <a:cs typeface="+mn-cs"/>
              </a:rPr>
              <a:t>2</a:t>
            </a:r>
            <a:r>
              <a:rPr lang="tr-TR" sz="2200" dirty="0">
                <a:solidFill>
                  <a:schemeClr val="tx1"/>
                </a:solidFill>
                <a:latin typeface="+mn-lt"/>
                <a:ea typeface="+mn-ea"/>
                <a:cs typeface="+mn-cs"/>
              </a:rPr>
              <a:t> </a:t>
            </a:r>
            <a:r>
              <a:rPr lang="en-US" sz="2200" dirty="0">
                <a:solidFill>
                  <a:schemeClr val="tx1"/>
                </a:solidFill>
                <a:latin typeface="+mn-lt"/>
                <a:ea typeface="+mn-ea"/>
                <a:cs typeface="+mn-cs"/>
              </a:rPr>
              <a:t>to hexadecimal. First, we need to divide this number into groups of four.</a:t>
            </a:r>
            <a:endParaRPr lang="tr-TR" sz="2200" dirty="0">
              <a:solidFill>
                <a:schemeClr val="tx1"/>
              </a:solidFill>
              <a:latin typeface="+mn-lt"/>
              <a:ea typeface="+mn-ea"/>
              <a:cs typeface="+mn-cs"/>
            </a:endParaRPr>
          </a:p>
          <a:p>
            <a:pPr marL="0" indent="0" algn="just">
              <a:buNone/>
            </a:pPr>
            <a:endParaRPr lang="tr-TR" sz="1000" b="1" dirty="0">
              <a:solidFill>
                <a:schemeClr val="tx1"/>
              </a:solidFill>
              <a:latin typeface="+mn-lt"/>
              <a:ea typeface="+mn-ea"/>
              <a:cs typeface="+mn-cs"/>
            </a:endParaRPr>
          </a:p>
          <a:p>
            <a:pPr marL="0" indent="0" algn="just">
              <a:buNone/>
            </a:pPr>
            <a:r>
              <a:rPr lang="tr-TR" sz="2400" b="1" dirty="0">
                <a:solidFill>
                  <a:srgbClr val="FF0000"/>
                </a:solidFill>
                <a:latin typeface="+mn-lt"/>
                <a:ea typeface="+mn-ea"/>
                <a:cs typeface="+mn-cs"/>
              </a:rPr>
              <a:t>0</a:t>
            </a:r>
            <a:r>
              <a:rPr lang="tr-TR" sz="2400" dirty="0">
                <a:solidFill>
                  <a:schemeClr val="tx1"/>
                </a:solidFill>
                <a:latin typeface="+mn-lt"/>
                <a:ea typeface="+mn-ea"/>
                <a:cs typeface="+mn-cs"/>
              </a:rPr>
              <a:t>010  0011  1111  0001  </a:t>
            </a:r>
            <a:r>
              <a:rPr lang="en-US" sz="2400" dirty="0"/>
              <a:t>(Notice that, we add an extra </a:t>
            </a:r>
            <a:r>
              <a:rPr lang="en-US" sz="2400" b="1" dirty="0">
                <a:solidFill>
                  <a:srgbClr val="FF0000"/>
                </a:solidFill>
              </a:rPr>
              <a:t>0</a:t>
            </a:r>
            <a:r>
              <a:rPr lang="en-US" sz="2400" dirty="0"/>
              <a:t> to the left)</a:t>
            </a:r>
            <a:endParaRPr lang="tr-TR" sz="2400" dirty="0">
              <a:solidFill>
                <a:schemeClr val="tx1"/>
              </a:solidFill>
              <a:latin typeface="+mn-lt"/>
              <a:ea typeface="+mn-ea"/>
              <a:cs typeface="+mn-cs"/>
            </a:endParaRPr>
          </a:p>
          <a:p>
            <a:pPr marL="0" indent="0" algn="just">
              <a:buNone/>
            </a:pPr>
            <a:r>
              <a:rPr lang="tr-TR" sz="2400" dirty="0">
                <a:solidFill>
                  <a:schemeClr val="tx1"/>
                </a:solidFill>
                <a:latin typeface="+mn-lt"/>
                <a:ea typeface="+mn-ea"/>
                <a:cs typeface="+mn-cs"/>
              </a:rPr>
              <a:t>    2       3        F       1</a:t>
            </a:r>
          </a:p>
          <a:p>
            <a:pPr marL="0" indent="0" algn="just">
              <a:buNone/>
            </a:pPr>
            <a:r>
              <a:rPr lang="en-US" sz="2200" dirty="0">
                <a:solidFill>
                  <a:schemeClr val="tx1"/>
                </a:solidFill>
                <a:latin typeface="+mn-lt"/>
                <a:ea typeface="+mn-ea"/>
                <a:cs typeface="+mn-cs"/>
              </a:rPr>
              <a:t>Then, </a:t>
            </a:r>
            <a:r>
              <a:rPr lang="tr-TR" sz="2200" dirty="0">
                <a:solidFill>
                  <a:schemeClr val="tx1"/>
                </a:solidFill>
                <a:latin typeface="+mn-lt"/>
                <a:ea typeface="+mn-ea"/>
                <a:cs typeface="+mn-cs"/>
              </a:rPr>
              <a:t>(010001111110001)</a:t>
            </a:r>
            <a:r>
              <a:rPr lang="tr-TR" sz="2200" baseline="-25000" dirty="0">
                <a:solidFill>
                  <a:schemeClr val="tx1"/>
                </a:solidFill>
                <a:latin typeface="+mn-lt"/>
                <a:ea typeface="+mn-ea"/>
                <a:cs typeface="+mn-cs"/>
              </a:rPr>
              <a:t>2 </a:t>
            </a:r>
            <a:r>
              <a:rPr lang="tr-TR" sz="2200" dirty="0">
                <a:solidFill>
                  <a:schemeClr val="tx1"/>
                </a:solidFill>
                <a:latin typeface="+mn-lt"/>
                <a:ea typeface="+mn-ea"/>
                <a:cs typeface="+mn-cs"/>
              </a:rPr>
              <a:t>= (23F1)</a:t>
            </a:r>
            <a:r>
              <a:rPr lang="tr-TR" sz="2200" baseline="-25000" dirty="0">
                <a:solidFill>
                  <a:schemeClr val="tx1"/>
                </a:solidFill>
                <a:latin typeface="+mn-lt"/>
                <a:ea typeface="+mn-ea"/>
                <a:cs typeface="+mn-cs"/>
              </a:rPr>
              <a:t>16</a:t>
            </a:r>
          </a:p>
          <a:p>
            <a:pPr marL="0" indent="0" algn="just">
              <a:buNone/>
            </a:pPr>
            <a:endParaRPr lang="tr-TR" sz="2200" baseline="-25000" dirty="0"/>
          </a:p>
          <a:p>
            <a:pPr marL="0" indent="0" algn="just">
              <a:buNone/>
            </a:pPr>
            <a:endParaRPr lang="tr-TR" sz="2200" baseline="-25000" dirty="0"/>
          </a:p>
          <a:p>
            <a:pPr marL="0" indent="0" algn="just">
              <a:buFont typeface="Wingdings" pitchFamily="2" charset="2"/>
              <a:buChar char="v"/>
            </a:pPr>
            <a:r>
              <a:rPr lang="tr-TR" sz="2400" dirty="0">
                <a:solidFill>
                  <a:schemeClr val="tx1"/>
                </a:solidFill>
                <a:latin typeface="+mn-lt"/>
                <a:ea typeface="+mn-ea"/>
                <a:cs typeface="+mn-cs"/>
              </a:rPr>
              <a:t> </a:t>
            </a:r>
            <a:r>
              <a:rPr lang="en-US" sz="2400" dirty="0">
                <a:solidFill>
                  <a:schemeClr val="tx1"/>
                </a:solidFill>
                <a:latin typeface="+mn-lt"/>
                <a:ea typeface="+mn-ea"/>
                <a:cs typeface="+mn-cs"/>
              </a:rPr>
              <a:t>Let’s convert </a:t>
            </a:r>
            <a:r>
              <a:rPr lang="tr-TR" sz="2200" dirty="0">
                <a:solidFill>
                  <a:schemeClr val="tx1"/>
                </a:solidFill>
                <a:latin typeface="+mn-lt"/>
                <a:ea typeface="+mn-ea"/>
                <a:cs typeface="+mn-cs"/>
              </a:rPr>
              <a:t>1011001101.110010</a:t>
            </a:r>
            <a:r>
              <a:rPr lang="tr-TR" sz="2200" baseline="-25000" dirty="0">
                <a:solidFill>
                  <a:schemeClr val="tx1"/>
                </a:solidFill>
                <a:latin typeface="+mn-lt"/>
                <a:ea typeface="+mn-ea"/>
                <a:cs typeface="+mn-cs"/>
              </a:rPr>
              <a:t>2</a:t>
            </a:r>
            <a:r>
              <a:rPr lang="tr-TR" sz="2200" dirty="0">
                <a:solidFill>
                  <a:schemeClr val="tx1"/>
                </a:solidFill>
                <a:latin typeface="+mn-lt"/>
                <a:ea typeface="+mn-ea"/>
                <a:cs typeface="+mn-cs"/>
              </a:rPr>
              <a:t> </a:t>
            </a:r>
            <a:r>
              <a:rPr lang="en-US" sz="2200" dirty="0">
                <a:solidFill>
                  <a:schemeClr val="tx1"/>
                </a:solidFill>
                <a:latin typeface="+mn-lt"/>
                <a:ea typeface="+mn-ea"/>
                <a:cs typeface="+mn-cs"/>
              </a:rPr>
              <a:t>to hexadecimal.</a:t>
            </a:r>
            <a:endParaRPr lang="tr-TR" sz="2200" dirty="0">
              <a:solidFill>
                <a:schemeClr val="tx1"/>
              </a:solidFill>
              <a:latin typeface="+mn-lt"/>
              <a:ea typeface="+mn-ea"/>
              <a:cs typeface="+mn-cs"/>
            </a:endParaRPr>
          </a:p>
          <a:p>
            <a:pPr marL="0" indent="0" algn="just">
              <a:buNone/>
            </a:pPr>
            <a:endParaRPr lang="tr-TR" sz="1000" dirty="0">
              <a:solidFill>
                <a:schemeClr val="tx1"/>
              </a:solidFill>
              <a:latin typeface="+mn-lt"/>
              <a:ea typeface="+mn-ea"/>
              <a:cs typeface="+mn-cs"/>
            </a:endParaRPr>
          </a:p>
          <a:p>
            <a:pPr marL="0" indent="0" algn="just">
              <a:buNone/>
            </a:pPr>
            <a:r>
              <a:rPr lang="tr-TR" sz="2200" b="1" dirty="0">
                <a:solidFill>
                  <a:srgbClr val="FF0000"/>
                </a:solidFill>
                <a:latin typeface="+mn-lt"/>
                <a:ea typeface="+mn-ea"/>
                <a:cs typeface="+mn-cs"/>
              </a:rPr>
              <a:t>00</a:t>
            </a:r>
            <a:r>
              <a:rPr lang="tr-TR" sz="2200" dirty="0">
                <a:solidFill>
                  <a:schemeClr val="tx1"/>
                </a:solidFill>
                <a:latin typeface="+mn-lt"/>
                <a:ea typeface="+mn-ea"/>
                <a:cs typeface="+mn-cs"/>
              </a:rPr>
              <a:t>10 1100 1101 . 1100 10</a:t>
            </a:r>
            <a:r>
              <a:rPr lang="tr-TR" sz="2200" b="1" dirty="0">
                <a:solidFill>
                  <a:srgbClr val="FF0000"/>
                </a:solidFill>
                <a:latin typeface="+mn-lt"/>
                <a:ea typeface="+mn-ea"/>
                <a:cs typeface="+mn-cs"/>
              </a:rPr>
              <a:t>00</a:t>
            </a:r>
            <a:r>
              <a:rPr lang="tr-TR" sz="2200" b="1" baseline="-25000" dirty="0">
                <a:solidFill>
                  <a:schemeClr val="tx1"/>
                </a:solidFill>
                <a:latin typeface="+mn-lt"/>
                <a:ea typeface="+mn-ea"/>
                <a:cs typeface="+mn-cs"/>
              </a:rPr>
              <a:t>2 </a:t>
            </a:r>
            <a:r>
              <a:rPr lang="tr-TR" sz="2200" b="1" dirty="0">
                <a:solidFill>
                  <a:schemeClr val="tx1"/>
                </a:solidFill>
                <a:latin typeface="+mn-lt"/>
                <a:ea typeface="+mn-ea"/>
                <a:cs typeface="+mn-cs"/>
              </a:rPr>
              <a:t>= </a:t>
            </a:r>
            <a:r>
              <a:rPr lang="tr-TR" sz="2200" dirty="0">
                <a:solidFill>
                  <a:schemeClr val="tx1"/>
                </a:solidFill>
                <a:latin typeface="+mn-lt"/>
                <a:ea typeface="+mn-ea"/>
                <a:cs typeface="+mn-cs"/>
              </a:rPr>
              <a:t>2CD.C8</a:t>
            </a:r>
            <a:r>
              <a:rPr lang="tr-TR" sz="2200" baseline="-25000" dirty="0">
                <a:solidFill>
                  <a:schemeClr val="tx1"/>
                </a:solidFill>
                <a:latin typeface="+mn-lt"/>
                <a:ea typeface="+mn-ea"/>
                <a:cs typeface="+mn-cs"/>
              </a:rPr>
              <a:t>16</a:t>
            </a:r>
            <a:r>
              <a:rPr lang="tr-TR" sz="2200" dirty="0">
                <a:solidFill>
                  <a:schemeClr val="tx1"/>
                </a:solidFill>
                <a:latin typeface="+mn-lt"/>
                <a:ea typeface="+mn-ea"/>
                <a:cs typeface="+mn-cs"/>
              </a:rPr>
              <a:t>.</a:t>
            </a:r>
          </a:p>
          <a:p>
            <a:pPr marL="0" indent="0" algn="just">
              <a:buNone/>
            </a:pPr>
            <a:r>
              <a:rPr lang="en-US" sz="2200" dirty="0"/>
              <a:t>Notice that we add extra 0’s to the left side of the whole part and to the right side of the fractional part.</a:t>
            </a:r>
            <a:endParaRPr lang="tr-TR" sz="2200" dirty="0">
              <a:solidFill>
                <a:schemeClr val="tx1"/>
              </a:solidFill>
              <a:latin typeface="+mn-lt"/>
              <a:ea typeface="+mn-ea"/>
              <a:cs typeface="+mn-cs"/>
            </a:endParaRPr>
          </a:p>
          <a:p>
            <a:pPr marL="0" indent="0" algn="just">
              <a:buNone/>
            </a:pPr>
            <a:endParaRPr lang="tr-TR" sz="2200" dirty="0"/>
          </a:p>
        </p:txBody>
      </p:sp>
      <p:sp>
        <p:nvSpPr>
          <p:cNvPr id="4" name="3 Altbilgi Yer Tutucusu"/>
          <p:cNvSpPr>
            <a:spLocks noGrp="1"/>
          </p:cNvSpPr>
          <p:nvPr>
            <p:ph type="ftr" sz="quarter" idx="10"/>
          </p:nvPr>
        </p:nvSpPr>
        <p:spPr>
          <a:xfrm>
            <a:off x="2803085" y="6400800"/>
            <a:ext cx="3276600" cy="457200"/>
          </a:xfrm>
        </p:spPr>
        <p:txBody>
          <a:bodyPr/>
          <a:lstStyle/>
          <a:p>
            <a:r>
              <a:rPr lang="en-US" dirty="0"/>
              <a:t>Logic Circuits</a:t>
            </a:r>
          </a:p>
        </p:txBody>
      </p:sp>
      <p:sp>
        <p:nvSpPr>
          <p:cNvPr id="463874" name="AutoShape 2"/>
          <p:cNvSpPr>
            <a:spLocks/>
          </p:cNvSpPr>
          <p:nvPr/>
        </p:nvSpPr>
        <p:spPr bwMode="auto">
          <a:xfrm rot="5400000">
            <a:off x="697962" y="2048456"/>
            <a:ext cx="93883" cy="507804"/>
          </a:xfrm>
          <a:prstGeom prst="rightBrace">
            <a:avLst>
              <a:gd name="adj1" fmla="val 16667"/>
              <a:gd name="adj2" fmla="val 50000"/>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tr-TR"/>
          </a:p>
        </p:txBody>
      </p:sp>
      <p:sp>
        <p:nvSpPr>
          <p:cNvPr id="6" name="AutoShape 2"/>
          <p:cNvSpPr>
            <a:spLocks/>
          </p:cNvSpPr>
          <p:nvPr/>
        </p:nvSpPr>
        <p:spPr bwMode="auto">
          <a:xfrm rot="5400000">
            <a:off x="1443550" y="2048457"/>
            <a:ext cx="93883" cy="507804"/>
          </a:xfrm>
          <a:prstGeom prst="rightBrace">
            <a:avLst>
              <a:gd name="adj1" fmla="val 16667"/>
              <a:gd name="adj2" fmla="val 50000"/>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tr-TR"/>
          </a:p>
        </p:txBody>
      </p:sp>
      <p:sp>
        <p:nvSpPr>
          <p:cNvPr id="7" name="AutoShape 2"/>
          <p:cNvSpPr>
            <a:spLocks/>
          </p:cNvSpPr>
          <p:nvPr/>
        </p:nvSpPr>
        <p:spPr bwMode="auto">
          <a:xfrm rot="5400000">
            <a:off x="2203207" y="2048458"/>
            <a:ext cx="93883" cy="507804"/>
          </a:xfrm>
          <a:prstGeom prst="rightBrace">
            <a:avLst>
              <a:gd name="adj1" fmla="val 16667"/>
              <a:gd name="adj2" fmla="val 50000"/>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tr-TR"/>
          </a:p>
        </p:txBody>
      </p:sp>
      <p:sp>
        <p:nvSpPr>
          <p:cNvPr id="8" name="AutoShape 2"/>
          <p:cNvSpPr>
            <a:spLocks/>
          </p:cNvSpPr>
          <p:nvPr/>
        </p:nvSpPr>
        <p:spPr bwMode="auto">
          <a:xfrm rot="5400000">
            <a:off x="2934727" y="2048459"/>
            <a:ext cx="93883" cy="507804"/>
          </a:xfrm>
          <a:prstGeom prst="rightBrace">
            <a:avLst>
              <a:gd name="adj1" fmla="val 16667"/>
              <a:gd name="adj2" fmla="val 50000"/>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tr-T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en-US" sz="2400" b="1" dirty="0"/>
              <a:t>Conversion</a:t>
            </a:r>
            <a:endParaRPr lang="tr-TR" sz="2400" b="1" dirty="0"/>
          </a:p>
        </p:txBody>
      </p:sp>
      <p:sp>
        <p:nvSpPr>
          <p:cNvPr id="3" name="2 İçerik Yer Tutucusu"/>
          <p:cNvSpPr>
            <a:spLocks noGrp="1"/>
          </p:cNvSpPr>
          <p:nvPr>
            <p:ph idx="1"/>
          </p:nvPr>
        </p:nvSpPr>
        <p:spPr>
          <a:xfrm>
            <a:off x="346514" y="874121"/>
            <a:ext cx="8375650" cy="5078412"/>
          </a:xfrm>
        </p:spPr>
        <p:txBody>
          <a:bodyPr/>
          <a:lstStyle/>
          <a:p>
            <a:pPr marL="0" indent="0" algn="just">
              <a:buFont typeface="Wingdings" pitchFamily="2" charset="2"/>
              <a:buChar char="Ø"/>
            </a:pPr>
            <a:r>
              <a:rPr lang="tr-TR" sz="2200" dirty="0">
                <a:solidFill>
                  <a:schemeClr val="tx1"/>
                </a:solidFill>
                <a:latin typeface="+mn-lt"/>
                <a:ea typeface="+mn-ea"/>
                <a:cs typeface="+mn-cs"/>
              </a:rPr>
              <a:t> </a:t>
            </a:r>
            <a:r>
              <a:rPr lang="en-US" sz="2200" dirty="0">
                <a:solidFill>
                  <a:schemeClr val="tx1"/>
                </a:solidFill>
                <a:latin typeface="+mn-lt"/>
                <a:ea typeface="+mn-ea"/>
                <a:cs typeface="+mn-cs"/>
              </a:rPr>
              <a:t>To convert a hexadecimal number to binary, we convert each digit in</a:t>
            </a:r>
            <a:r>
              <a:rPr lang="en-US" sz="2200" dirty="0"/>
              <a:t>dependently, and then concatenate the result.</a:t>
            </a:r>
            <a:endParaRPr lang="tr-TR" sz="2200" dirty="0">
              <a:solidFill>
                <a:schemeClr val="tx1"/>
              </a:solidFill>
              <a:latin typeface="+mn-lt"/>
              <a:ea typeface="+mn-ea"/>
              <a:cs typeface="+mn-cs"/>
            </a:endParaRPr>
          </a:p>
          <a:p>
            <a:pPr marL="0" indent="0" algn="just">
              <a:buNone/>
            </a:pPr>
            <a:endParaRPr lang="tr-TR" sz="1000" dirty="0"/>
          </a:p>
          <a:p>
            <a:pPr marL="0" indent="0" algn="just">
              <a:buNone/>
            </a:pPr>
            <a:r>
              <a:rPr lang="en-US" sz="2200" b="1" dirty="0">
                <a:solidFill>
                  <a:schemeClr val="tx1"/>
                </a:solidFill>
                <a:latin typeface="+mn-lt"/>
                <a:ea typeface="+mn-ea"/>
                <a:cs typeface="+mn-cs"/>
              </a:rPr>
              <a:t>Example</a:t>
            </a:r>
            <a:r>
              <a:rPr lang="tr-TR" sz="2200" b="1" dirty="0">
                <a:solidFill>
                  <a:schemeClr val="tx1"/>
                </a:solidFill>
                <a:latin typeface="+mn-lt"/>
                <a:ea typeface="+mn-ea"/>
                <a:cs typeface="+mn-cs"/>
              </a:rPr>
              <a:t>: </a:t>
            </a:r>
            <a:r>
              <a:rPr lang="en-US" sz="2200" dirty="0"/>
              <a:t>Let’s convert </a:t>
            </a:r>
            <a:r>
              <a:rPr lang="tr-TR" sz="2200" dirty="0">
                <a:solidFill>
                  <a:schemeClr val="tx1"/>
                </a:solidFill>
                <a:latin typeface="+mn-lt"/>
                <a:ea typeface="+mn-ea"/>
                <a:cs typeface="+mn-cs"/>
              </a:rPr>
              <a:t>4A3F</a:t>
            </a:r>
            <a:r>
              <a:rPr lang="tr-TR" sz="2200" baseline="-25000" dirty="0">
                <a:solidFill>
                  <a:schemeClr val="tx1"/>
                </a:solidFill>
                <a:latin typeface="+mn-lt"/>
                <a:ea typeface="+mn-ea"/>
                <a:cs typeface="+mn-cs"/>
              </a:rPr>
              <a:t>16</a:t>
            </a:r>
            <a:r>
              <a:rPr lang="tr-TR" sz="2200" dirty="0">
                <a:solidFill>
                  <a:schemeClr val="tx1"/>
                </a:solidFill>
                <a:latin typeface="+mn-lt"/>
                <a:ea typeface="+mn-ea"/>
                <a:cs typeface="+mn-cs"/>
              </a:rPr>
              <a:t> </a:t>
            </a:r>
            <a:r>
              <a:rPr lang="en-US" sz="2200" dirty="0">
                <a:solidFill>
                  <a:schemeClr val="tx1"/>
                </a:solidFill>
                <a:latin typeface="+mn-lt"/>
                <a:ea typeface="+mn-ea"/>
                <a:cs typeface="+mn-cs"/>
              </a:rPr>
              <a:t>to binary.</a:t>
            </a:r>
            <a:endParaRPr lang="tr-TR" sz="2200" dirty="0">
              <a:solidFill>
                <a:schemeClr val="tx1"/>
              </a:solidFill>
              <a:latin typeface="+mn-lt"/>
              <a:ea typeface="+mn-ea"/>
              <a:cs typeface="+mn-cs"/>
            </a:endParaRPr>
          </a:p>
          <a:p>
            <a:pPr>
              <a:buNone/>
            </a:pPr>
            <a:endParaRPr lang="tr-TR" sz="1000" dirty="0">
              <a:solidFill>
                <a:schemeClr val="tx1"/>
              </a:solidFill>
              <a:latin typeface="+mn-lt"/>
              <a:ea typeface="+mn-ea"/>
              <a:cs typeface="+mn-cs"/>
            </a:endParaRPr>
          </a:p>
          <a:p>
            <a:pPr>
              <a:buNone/>
            </a:pPr>
            <a:r>
              <a:rPr lang="tr-TR" sz="2200" dirty="0">
                <a:solidFill>
                  <a:schemeClr val="tx1"/>
                </a:solidFill>
                <a:latin typeface="+mn-lt"/>
                <a:ea typeface="+mn-ea"/>
                <a:cs typeface="+mn-cs"/>
              </a:rPr>
              <a:t>    4       A       3        F</a:t>
            </a:r>
          </a:p>
          <a:p>
            <a:pPr>
              <a:buNone/>
            </a:pPr>
            <a:r>
              <a:rPr lang="tr-TR" sz="2200" dirty="0">
                <a:solidFill>
                  <a:schemeClr val="tx1"/>
                </a:solidFill>
                <a:latin typeface="+mn-lt"/>
                <a:ea typeface="+mn-ea"/>
                <a:cs typeface="+mn-cs"/>
              </a:rPr>
              <a:t>0100  1010  0011  1111 </a:t>
            </a:r>
          </a:p>
          <a:p>
            <a:pPr>
              <a:buNone/>
            </a:pPr>
            <a:endParaRPr lang="tr-TR" sz="1000" dirty="0">
              <a:solidFill>
                <a:schemeClr val="tx1"/>
              </a:solidFill>
              <a:latin typeface="+mn-lt"/>
              <a:ea typeface="+mn-ea"/>
              <a:cs typeface="+mn-cs"/>
            </a:endParaRPr>
          </a:p>
          <a:p>
            <a:pPr>
              <a:buNone/>
            </a:pPr>
            <a:r>
              <a:rPr lang="tr-TR" sz="2200" dirty="0">
                <a:solidFill>
                  <a:schemeClr val="tx1"/>
                </a:solidFill>
                <a:latin typeface="+mn-lt"/>
                <a:ea typeface="+mn-ea"/>
                <a:cs typeface="+mn-cs"/>
              </a:rPr>
              <a:t>4A3F</a:t>
            </a:r>
            <a:r>
              <a:rPr lang="tr-TR" sz="2200" baseline="-25000" dirty="0">
                <a:solidFill>
                  <a:schemeClr val="tx1"/>
                </a:solidFill>
                <a:latin typeface="+mn-lt"/>
                <a:ea typeface="+mn-ea"/>
                <a:cs typeface="+mn-cs"/>
              </a:rPr>
              <a:t>16</a:t>
            </a:r>
            <a:r>
              <a:rPr lang="tr-TR" sz="2200" dirty="0">
                <a:solidFill>
                  <a:schemeClr val="tx1"/>
                </a:solidFill>
                <a:latin typeface="+mn-lt"/>
                <a:ea typeface="+mn-ea"/>
                <a:cs typeface="+mn-cs"/>
              </a:rPr>
              <a:t> = 0100101000111111</a:t>
            </a:r>
            <a:r>
              <a:rPr lang="tr-TR" sz="2200" baseline="-25000" dirty="0">
                <a:solidFill>
                  <a:schemeClr val="tx1"/>
                </a:solidFill>
                <a:latin typeface="+mn-lt"/>
                <a:ea typeface="+mn-ea"/>
                <a:cs typeface="+mn-cs"/>
              </a:rPr>
              <a:t>2</a:t>
            </a:r>
            <a:endParaRPr lang="tr-TR" sz="2200" dirty="0">
              <a:solidFill>
                <a:schemeClr val="tx1"/>
              </a:solidFill>
              <a:latin typeface="+mn-lt"/>
              <a:ea typeface="+mn-ea"/>
              <a:cs typeface="+mn-cs"/>
            </a:endParaRPr>
          </a:p>
          <a:p>
            <a:pPr>
              <a:buNone/>
            </a:pPr>
            <a:endParaRPr lang="tr-TR" sz="1000" dirty="0">
              <a:solidFill>
                <a:schemeClr val="tx1"/>
              </a:solidFill>
              <a:latin typeface="+mn-lt"/>
              <a:ea typeface="+mn-ea"/>
              <a:cs typeface="+mn-cs"/>
            </a:endParaRPr>
          </a:p>
          <a:p>
            <a:pPr algn="just">
              <a:buNone/>
            </a:pPr>
            <a:r>
              <a:rPr lang="en-US" sz="2200" b="1" dirty="0">
                <a:solidFill>
                  <a:schemeClr val="tx1"/>
                </a:solidFill>
                <a:latin typeface="+mn-lt"/>
                <a:ea typeface="+mn-ea"/>
                <a:cs typeface="+mn-cs"/>
              </a:rPr>
              <a:t>Example</a:t>
            </a:r>
            <a:r>
              <a:rPr lang="tr-TR" sz="2200" b="1" dirty="0">
                <a:solidFill>
                  <a:schemeClr val="tx1"/>
                </a:solidFill>
                <a:latin typeface="+mn-lt"/>
                <a:ea typeface="+mn-ea"/>
                <a:cs typeface="+mn-cs"/>
              </a:rPr>
              <a:t>: </a:t>
            </a:r>
            <a:r>
              <a:rPr lang="en-US" sz="2200" dirty="0"/>
              <a:t>Let’s convert </a:t>
            </a:r>
            <a:r>
              <a:rPr lang="tr-TR" sz="2200" dirty="0">
                <a:solidFill>
                  <a:schemeClr val="tx1"/>
                </a:solidFill>
                <a:latin typeface="+mn-lt"/>
                <a:ea typeface="+mn-ea"/>
                <a:cs typeface="+mn-cs"/>
              </a:rPr>
              <a:t>ABC.DE</a:t>
            </a:r>
            <a:r>
              <a:rPr lang="tr-TR" sz="2200" baseline="-25000" dirty="0">
                <a:solidFill>
                  <a:schemeClr val="tx1"/>
                </a:solidFill>
                <a:latin typeface="+mn-lt"/>
                <a:ea typeface="+mn-ea"/>
                <a:cs typeface="+mn-cs"/>
              </a:rPr>
              <a:t>16 </a:t>
            </a:r>
            <a:r>
              <a:rPr lang="en-US" sz="2200" dirty="0">
                <a:solidFill>
                  <a:schemeClr val="tx1"/>
                </a:solidFill>
                <a:latin typeface="+mn-lt"/>
                <a:ea typeface="+mn-ea"/>
                <a:cs typeface="+mn-cs"/>
              </a:rPr>
              <a:t>to binary.</a:t>
            </a:r>
            <a:endParaRPr lang="tr-TR" sz="2200" dirty="0">
              <a:solidFill>
                <a:schemeClr val="tx1"/>
              </a:solidFill>
              <a:latin typeface="+mn-lt"/>
              <a:ea typeface="+mn-ea"/>
              <a:cs typeface="+mn-cs"/>
            </a:endParaRPr>
          </a:p>
          <a:p>
            <a:pPr>
              <a:buNone/>
            </a:pPr>
            <a:endParaRPr lang="tr-TR" sz="1000" dirty="0">
              <a:solidFill>
                <a:schemeClr val="tx1"/>
              </a:solidFill>
              <a:latin typeface="+mn-lt"/>
              <a:ea typeface="+mn-ea"/>
              <a:cs typeface="+mn-cs"/>
            </a:endParaRPr>
          </a:p>
          <a:p>
            <a:pPr>
              <a:buNone/>
            </a:pPr>
            <a:r>
              <a:rPr lang="tr-TR" sz="2200" dirty="0">
                <a:solidFill>
                  <a:srgbClr val="FF0000"/>
                </a:solidFill>
                <a:latin typeface="+mn-lt"/>
                <a:ea typeface="+mn-ea"/>
                <a:cs typeface="+mn-cs"/>
              </a:rPr>
              <a:t>A</a:t>
            </a:r>
            <a:r>
              <a:rPr lang="tr-TR" sz="2200" dirty="0">
                <a:solidFill>
                  <a:srgbClr val="0070C0"/>
                </a:solidFill>
                <a:latin typeface="+mn-lt"/>
                <a:ea typeface="+mn-ea"/>
                <a:cs typeface="+mn-cs"/>
              </a:rPr>
              <a:t>B</a:t>
            </a:r>
            <a:r>
              <a:rPr lang="tr-TR" sz="2200" dirty="0">
                <a:solidFill>
                  <a:schemeClr val="accent5">
                    <a:lumMod val="50000"/>
                  </a:schemeClr>
                </a:solidFill>
                <a:latin typeface="+mn-lt"/>
                <a:ea typeface="+mn-ea"/>
                <a:cs typeface="+mn-cs"/>
              </a:rPr>
              <a:t>C</a:t>
            </a:r>
            <a:r>
              <a:rPr lang="tr-TR" sz="2200" dirty="0">
                <a:solidFill>
                  <a:schemeClr val="tx1"/>
                </a:solidFill>
                <a:latin typeface="+mn-lt"/>
                <a:ea typeface="+mn-ea"/>
                <a:cs typeface="+mn-cs"/>
              </a:rPr>
              <a:t>.</a:t>
            </a:r>
            <a:r>
              <a:rPr lang="tr-TR" sz="2200" dirty="0">
                <a:solidFill>
                  <a:srgbClr val="FF66FF"/>
                </a:solidFill>
                <a:latin typeface="+mn-lt"/>
                <a:ea typeface="+mn-ea"/>
                <a:cs typeface="+mn-cs"/>
              </a:rPr>
              <a:t>D</a:t>
            </a:r>
            <a:r>
              <a:rPr lang="tr-TR" sz="2200" dirty="0">
                <a:solidFill>
                  <a:srgbClr val="FF9900"/>
                </a:solidFill>
                <a:latin typeface="+mn-lt"/>
                <a:ea typeface="+mn-ea"/>
                <a:cs typeface="+mn-cs"/>
              </a:rPr>
              <a:t>E</a:t>
            </a:r>
            <a:r>
              <a:rPr lang="tr-TR" sz="2200" baseline="-25000" dirty="0">
                <a:solidFill>
                  <a:schemeClr val="tx1"/>
                </a:solidFill>
                <a:latin typeface="+mn-lt"/>
                <a:ea typeface="+mn-ea"/>
                <a:cs typeface="+mn-cs"/>
              </a:rPr>
              <a:t>16</a:t>
            </a:r>
            <a:r>
              <a:rPr lang="tr-TR" sz="2200" dirty="0">
                <a:solidFill>
                  <a:schemeClr val="tx1"/>
                </a:solidFill>
                <a:latin typeface="+mn-lt"/>
                <a:ea typeface="+mn-ea"/>
                <a:cs typeface="+mn-cs"/>
              </a:rPr>
              <a:t> = </a:t>
            </a:r>
            <a:r>
              <a:rPr lang="tr-TR" sz="2200" dirty="0">
                <a:solidFill>
                  <a:srgbClr val="FF0000"/>
                </a:solidFill>
                <a:latin typeface="+mn-lt"/>
                <a:ea typeface="+mn-ea"/>
                <a:cs typeface="+mn-cs"/>
              </a:rPr>
              <a:t>1010</a:t>
            </a:r>
            <a:r>
              <a:rPr lang="tr-TR" sz="2200" dirty="0">
                <a:solidFill>
                  <a:srgbClr val="0070C0"/>
                </a:solidFill>
                <a:latin typeface="+mn-lt"/>
                <a:ea typeface="+mn-ea"/>
                <a:cs typeface="+mn-cs"/>
              </a:rPr>
              <a:t>1011</a:t>
            </a:r>
            <a:r>
              <a:rPr lang="tr-TR" sz="2200" dirty="0">
                <a:solidFill>
                  <a:schemeClr val="accent5">
                    <a:lumMod val="50000"/>
                  </a:schemeClr>
                </a:solidFill>
                <a:latin typeface="+mn-lt"/>
                <a:ea typeface="+mn-ea"/>
                <a:cs typeface="+mn-cs"/>
              </a:rPr>
              <a:t>1100</a:t>
            </a:r>
            <a:r>
              <a:rPr lang="tr-TR" sz="2200" dirty="0">
                <a:solidFill>
                  <a:schemeClr val="tx1"/>
                </a:solidFill>
                <a:latin typeface="+mn-lt"/>
                <a:ea typeface="+mn-ea"/>
                <a:cs typeface="+mn-cs"/>
              </a:rPr>
              <a:t>.</a:t>
            </a:r>
            <a:r>
              <a:rPr lang="tr-TR" sz="2200" dirty="0">
                <a:solidFill>
                  <a:srgbClr val="FF66FF"/>
                </a:solidFill>
                <a:latin typeface="+mn-lt"/>
                <a:ea typeface="+mn-ea"/>
                <a:cs typeface="+mn-cs"/>
              </a:rPr>
              <a:t>1101</a:t>
            </a:r>
            <a:r>
              <a:rPr lang="tr-TR" sz="2200" dirty="0">
                <a:solidFill>
                  <a:srgbClr val="FF9900"/>
                </a:solidFill>
                <a:latin typeface="+mn-lt"/>
                <a:ea typeface="+mn-ea"/>
                <a:cs typeface="+mn-cs"/>
              </a:rPr>
              <a:t>1110</a:t>
            </a:r>
            <a:r>
              <a:rPr lang="tr-TR" sz="2200" baseline="-25000" dirty="0">
                <a:solidFill>
                  <a:schemeClr val="tx1"/>
                </a:solidFill>
                <a:latin typeface="+mn-lt"/>
                <a:ea typeface="+mn-ea"/>
                <a:cs typeface="+mn-cs"/>
              </a:rPr>
              <a:t>2</a:t>
            </a:r>
            <a:endParaRPr lang="tr-TR" sz="2200" dirty="0">
              <a:solidFill>
                <a:schemeClr val="tx1"/>
              </a:solidFill>
              <a:latin typeface="+mn-lt"/>
              <a:ea typeface="+mn-ea"/>
              <a:cs typeface="+mn-cs"/>
            </a:endParaRPr>
          </a:p>
          <a:p>
            <a:pPr marL="0" indent="0" algn="just">
              <a:buNone/>
            </a:pPr>
            <a:endParaRPr lang="tr-TR" sz="2200" dirty="0">
              <a:solidFill>
                <a:schemeClr val="tx1"/>
              </a:solidFill>
              <a:latin typeface="+mn-lt"/>
              <a:ea typeface="+mn-ea"/>
              <a:cs typeface="+mn-cs"/>
            </a:endParaRPr>
          </a:p>
          <a:p>
            <a:pPr>
              <a:buNone/>
            </a:pPr>
            <a:endParaRPr lang="tr-TR" dirty="0"/>
          </a:p>
        </p:txBody>
      </p:sp>
      <p:sp>
        <p:nvSpPr>
          <p:cNvPr id="4" name="3 Altbilgi Yer Tutucusu"/>
          <p:cNvSpPr>
            <a:spLocks noGrp="1"/>
          </p:cNvSpPr>
          <p:nvPr>
            <p:ph type="ftr" sz="quarter" idx="10"/>
          </p:nvPr>
        </p:nvSpPr>
        <p:spPr/>
        <p:txBody>
          <a:bodyPr/>
          <a:lstStyle/>
          <a:p>
            <a:r>
              <a:rPr lang="en-US" dirty="0"/>
              <a:t>Logic Circuits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en-US" sz="2400" b="1" dirty="0"/>
              <a:t>Conversion</a:t>
            </a:r>
            <a:endParaRPr lang="tr-TR" sz="2400" dirty="0"/>
          </a:p>
        </p:txBody>
      </p:sp>
      <p:sp>
        <p:nvSpPr>
          <p:cNvPr id="3" name="2 İçerik Yer Tutucusu"/>
          <p:cNvSpPr>
            <a:spLocks noGrp="1"/>
          </p:cNvSpPr>
          <p:nvPr>
            <p:ph idx="1"/>
          </p:nvPr>
        </p:nvSpPr>
        <p:spPr>
          <a:xfrm>
            <a:off x="346514" y="860053"/>
            <a:ext cx="8375650" cy="5078412"/>
          </a:xfrm>
        </p:spPr>
        <p:txBody>
          <a:bodyPr/>
          <a:lstStyle/>
          <a:p>
            <a:pPr marL="0" indent="0" algn="just">
              <a:buFont typeface="Wingdings" pitchFamily="2" charset="2"/>
              <a:buChar char="Ø"/>
            </a:pPr>
            <a:r>
              <a:rPr lang="tr-TR" sz="2200" dirty="0">
                <a:solidFill>
                  <a:schemeClr val="tx1"/>
                </a:solidFill>
                <a:latin typeface="+mn-lt"/>
                <a:ea typeface="+mn-ea"/>
                <a:cs typeface="+mn-cs"/>
              </a:rPr>
              <a:t> </a:t>
            </a:r>
            <a:r>
              <a:rPr lang="en-US" sz="2200" dirty="0">
                <a:solidFill>
                  <a:schemeClr val="tx1"/>
                </a:solidFill>
                <a:latin typeface="+mn-lt"/>
                <a:ea typeface="+mn-ea"/>
                <a:cs typeface="+mn-cs"/>
              </a:rPr>
              <a:t>There are two ways to convert hexadecimal numbers to decimal.</a:t>
            </a:r>
          </a:p>
          <a:p>
            <a:pPr marL="0" indent="0" algn="just">
              <a:buNone/>
            </a:pPr>
            <a:r>
              <a:rPr lang="en-US" sz="2000" b="1" i="1" dirty="0">
                <a:solidFill>
                  <a:srgbClr val="FF0000"/>
                </a:solidFill>
              </a:rPr>
              <a:t>1</a:t>
            </a:r>
            <a:r>
              <a:rPr lang="en-US" sz="2000" b="1" i="1" baseline="30000" dirty="0">
                <a:solidFill>
                  <a:srgbClr val="FF0000"/>
                </a:solidFill>
              </a:rPr>
              <a:t>st</a:t>
            </a:r>
            <a:r>
              <a:rPr lang="en-US" sz="2000" b="1" i="1" dirty="0">
                <a:solidFill>
                  <a:srgbClr val="FF0000"/>
                </a:solidFill>
              </a:rPr>
              <a:t> Way</a:t>
            </a:r>
          </a:p>
          <a:p>
            <a:pPr marL="0" indent="0" algn="just">
              <a:buNone/>
            </a:pPr>
            <a:r>
              <a:rPr lang="en-US" sz="2000" dirty="0"/>
              <a:t>We convert the number to binary, then convert to decimal.</a:t>
            </a:r>
            <a:endParaRPr lang="tr-TR" sz="2000" dirty="0"/>
          </a:p>
          <a:p>
            <a:pPr>
              <a:buNone/>
            </a:pPr>
            <a:r>
              <a:rPr lang="en-US" sz="2200" b="1" dirty="0">
                <a:solidFill>
                  <a:schemeClr val="tx1"/>
                </a:solidFill>
                <a:latin typeface="+mn-lt"/>
                <a:ea typeface="+mn-ea"/>
                <a:cs typeface="+mn-cs"/>
              </a:rPr>
              <a:t>Example</a:t>
            </a:r>
            <a:r>
              <a:rPr lang="tr-TR" sz="2200" b="1" dirty="0">
                <a:solidFill>
                  <a:schemeClr val="tx1"/>
                </a:solidFill>
                <a:latin typeface="+mn-lt"/>
                <a:ea typeface="+mn-ea"/>
                <a:cs typeface="+mn-cs"/>
              </a:rPr>
              <a:t>:</a:t>
            </a:r>
            <a:r>
              <a:rPr lang="tr-TR" sz="2200" dirty="0">
                <a:solidFill>
                  <a:schemeClr val="tx1"/>
                </a:solidFill>
                <a:latin typeface="+mn-lt"/>
                <a:ea typeface="+mn-ea"/>
                <a:cs typeface="+mn-cs"/>
              </a:rPr>
              <a:t> 2A</a:t>
            </a:r>
            <a:r>
              <a:rPr lang="tr-TR" sz="2200" baseline="-25000" dirty="0">
                <a:solidFill>
                  <a:schemeClr val="tx1"/>
                </a:solidFill>
                <a:latin typeface="+mn-lt"/>
                <a:ea typeface="+mn-ea"/>
                <a:cs typeface="+mn-cs"/>
              </a:rPr>
              <a:t>16 </a:t>
            </a:r>
            <a:r>
              <a:rPr lang="tr-TR" sz="2200" dirty="0">
                <a:solidFill>
                  <a:schemeClr val="tx1"/>
                </a:solidFill>
                <a:latin typeface="+mn-lt"/>
                <a:ea typeface="+mn-ea"/>
                <a:cs typeface="+mn-cs"/>
              </a:rPr>
              <a:t>= 00101010</a:t>
            </a:r>
            <a:r>
              <a:rPr lang="tr-TR" sz="2200" baseline="-25000" dirty="0">
                <a:solidFill>
                  <a:schemeClr val="tx1"/>
                </a:solidFill>
                <a:latin typeface="+mn-lt"/>
                <a:ea typeface="+mn-ea"/>
                <a:cs typeface="+mn-cs"/>
              </a:rPr>
              <a:t>2</a:t>
            </a:r>
            <a:r>
              <a:rPr lang="tr-TR" sz="2200" dirty="0">
                <a:solidFill>
                  <a:schemeClr val="tx1"/>
                </a:solidFill>
                <a:latin typeface="+mn-lt"/>
                <a:ea typeface="+mn-ea"/>
                <a:cs typeface="+mn-cs"/>
              </a:rPr>
              <a:t>= 2</a:t>
            </a:r>
            <a:r>
              <a:rPr lang="tr-TR" sz="2200" baseline="30000" dirty="0">
                <a:solidFill>
                  <a:schemeClr val="tx1"/>
                </a:solidFill>
                <a:latin typeface="+mn-lt"/>
                <a:ea typeface="+mn-ea"/>
                <a:cs typeface="+mn-cs"/>
              </a:rPr>
              <a:t>5</a:t>
            </a:r>
            <a:r>
              <a:rPr lang="tr-TR" sz="2200" dirty="0">
                <a:solidFill>
                  <a:schemeClr val="tx1"/>
                </a:solidFill>
                <a:latin typeface="+mn-lt"/>
                <a:ea typeface="+mn-ea"/>
                <a:cs typeface="+mn-cs"/>
              </a:rPr>
              <a:t>+2</a:t>
            </a:r>
            <a:r>
              <a:rPr lang="tr-TR" sz="2200" baseline="30000" dirty="0">
                <a:solidFill>
                  <a:schemeClr val="tx1"/>
                </a:solidFill>
                <a:latin typeface="+mn-lt"/>
                <a:ea typeface="+mn-ea"/>
                <a:cs typeface="+mn-cs"/>
              </a:rPr>
              <a:t>3</a:t>
            </a:r>
            <a:r>
              <a:rPr lang="tr-TR" sz="2200" dirty="0">
                <a:solidFill>
                  <a:schemeClr val="tx1"/>
                </a:solidFill>
                <a:latin typeface="+mn-lt"/>
                <a:ea typeface="+mn-ea"/>
                <a:cs typeface="+mn-cs"/>
              </a:rPr>
              <a:t>+2</a:t>
            </a:r>
            <a:r>
              <a:rPr lang="tr-TR" sz="2200" baseline="30000" dirty="0">
                <a:solidFill>
                  <a:schemeClr val="tx1"/>
                </a:solidFill>
                <a:latin typeface="+mn-lt"/>
                <a:ea typeface="+mn-ea"/>
                <a:cs typeface="+mn-cs"/>
              </a:rPr>
              <a:t>1</a:t>
            </a:r>
            <a:r>
              <a:rPr lang="tr-TR" sz="2200" dirty="0">
                <a:solidFill>
                  <a:schemeClr val="tx1"/>
                </a:solidFill>
                <a:latin typeface="+mn-lt"/>
                <a:ea typeface="+mn-ea"/>
                <a:cs typeface="+mn-cs"/>
              </a:rPr>
              <a:t>= 42</a:t>
            </a:r>
            <a:r>
              <a:rPr lang="tr-TR" sz="2200" baseline="-25000" dirty="0">
                <a:solidFill>
                  <a:schemeClr val="tx1"/>
                </a:solidFill>
                <a:latin typeface="+mn-lt"/>
                <a:ea typeface="+mn-ea"/>
                <a:cs typeface="+mn-cs"/>
              </a:rPr>
              <a:t>10</a:t>
            </a:r>
            <a:endParaRPr lang="tr-TR" sz="2200" dirty="0">
              <a:solidFill>
                <a:schemeClr val="tx1"/>
              </a:solidFill>
              <a:latin typeface="+mn-lt"/>
              <a:ea typeface="+mn-ea"/>
              <a:cs typeface="+mn-cs"/>
            </a:endParaRPr>
          </a:p>
          <a:p>
            <a:pPr>
              <a:buNone/>
            </a:pPr>
            <a:r>
              <a:rPr lang="en-US" sz="2000" b="1" i="1" dirty="0">
                <a:solidFill>
                  <a:srgbClr val="FF0000"/>
                </a:solidFill>
              </a:rPr>
              <a:t>2nd Way</a:t>
            </a:r>
            <a:endParaRPr lang="tr-TR" sz="2000" b="1" i="1" dirty="0">
              <a:solidFill>
                <a:srgbClr val="FF0000"/>
              </a:solidFill>
            </a:endParaRPr>
          </a:p>
          <a:p>
            <a:pPr marL="0" indent="0" algn="just">
              <a:buNone/>
            </a:pPr>
            <a:r>
              <a:rPr lang="en-US" sz="2200" dirty="0">
                <a:solidFill>
                  <a:schemeClr val="tx1"/>
                </a:solidFill>
                <a:latin typeface="+mn-lt"/>
                <a:ea typeface="+mn-ea"/>
                <a:cs typeface="+mn-cs"/>
              </a:rPr>
              <a:t>We convert the number to binary using sum of weights method.</a:t>
            </a:r>
            <a:endParaRPr lang="tr-TR" sz="2200" dirty="0">
              <a:solidFill>
                <a:schemeClr val="tx1"/>
              </a:solidFill>
              <a:latin typeface="+mn-lt"/>
              <a:ea typeface="+mn-ea"/>
              <a:cs typeface="+mn-cs"/>
            </a:endParaRPr>
          </a:p>
          <a:p>
            <a:pPr>
              <a:buNone/>
            </a:pPr>
            <a:r>
              <a:rPr lang="en-US" sz="2200" b="1" dirty="0"/>
              <a:t>Example</a:t>
            </a:r>
            <a:r>
              <a:rPr lang="tr-TR" sz="2200" b="1" dirty="0">
                <a:solidFill>
                  <a:schemeClr val="tx1"/>
                </a:solidFill>
              </a:rPr>
              <a:t>:</a:t>
            </a:r>
            <a:r>
              <a:rPr lang="tr-TR" sz="2200" b="1" dirty="0">
                <a:solidFill>
                  <a:schemeClr val="tx1"/>
                </a:solidFill>
                <a:latin typeface="+mn-lt"/>
                <a:ea typeface="+mn-ea"/>
                <a:cs typeface="+mn-cs"/>
              </a:rPr>
              <a:t> </a:t>
            </a:r>
            <a:r>
              <a:rPr lang="en-US" sz="2200" dirty="0">
                <a:solidFill>
                  <a:schemeClr val="tx1"/>
                </a:solidFill>
                <a:latin typeface="+mn-lt"/>
                <a:ea typeface="+mn-ea"/>
                <a:cs typeface="+mn-cs"/>
              </a:rPr>
              <a:t>Let’s convert </a:t>
            </a:r>
            <a:r>
              <a:rPr lang="tr-TR" sz="2200" dirty="0">
                <a:solidFill>
                  <a:schemeClr val="tx1"/>
                </a:solidFill>
                <a:latin typeface="+mn-lt"/>
                <a:ea typeface="+mn-ea"/>
                <a:cs typeface="+mn-cs"/>
              </a:rPr>
              <a:t>(1B.1A)</a:t>
            </a:r>
            <a:r>
              <a:rPr lang="tr-TR" sz="2200" baseline="-25000" dirty="0">
                <a:solidFill>
                  <a:schemeClr val="tx1"/>
                </a:solidFill>
                <a:latin typeface="+mn-lt"/>
                <a:ea typeface="+mn-ea"/>
                <a:cs typeface="+mn-cs"/>
              </a:rPr>
              <a:t>16</a:t>
            </a:r>
            <a:r>
              <a:rPr lang="tr-TR" sz="2200" dirty="0">
                <a:solidFill>
                  <a:schemeClr val="tx1"/>
                </a:solidFill>
                <a:latin typeface="+mn-lt"/>
                <a:ea typeface="+mn-ea"/>
                <a:cs typeface="+mn-cs"/>
              </a:rPr>
              <a:t> </a:t>
            </a:r>
            <a:r>
              <a:rPr lang="en-US" sz="2200" dirty="0">
                <a:solidFill>
                  <a:schemeClr val="tx1"/>
                </a:solidFill>
                <a:latin typeface="+mn-lt"/>
                <a:ea typeface="+mn-ea"/>
                <a:cs typeface="+mn-cs"/>
              </a:rPr>
              <a:t>to decimal.</a:t>
            </a:r>
            <a:endParaRPr lang="tr-TR" sz="2200" dirty="0">
              <a:solidFill>
                <a:schemeClr val="tx1"/>
              </a:solidFill>
              <a:latin typeface="+mn-lt"/>
              <a:ea typeface="+mn-ea"/>
              <a:cs typeface="+mn-cs"/>
            </a:endParaRPr>
          </a:p>
          <a:p>
            <a:pPr>
              <a:buNone/>
            </a:pPr>
            <a:r>
              <a:rPr lang="tr-TR" sz="2200" dirty="0">
                <a:solidFill>
                  <a:schemeClr val="tx1"/>
                </a:solidFill>
                <a:latin typeface="+mn-lt"/>
                <a:ea typeface="+mn-ea"/>
                <a:cs typeface="+mn-cs"/>
              </a:rPr>
              <a:t>(1B.1A)</a:t>
            </a:r>
            <a:r>
              <a:rPr lang="tr-TR" sz="2200" baseline="-25000" dirty="0">
                <a:solidFill>
                  <a:schemeClr val="tx1"/>
                </a:solidFill>
                <a:latin typeface="+mn-lt"/>
                <a:ea typeface="+mn-ea"/>
                <a:cs typeface="+mn-cs"/>
              </a:rPr>
              <a:t>16 </a:t>
            </a:r>
            <a:r>
              <a:rPr lang="tr-TR" sz="2200" dirty="0">
                <a:solidFill>
                  <a:schemeClr val="tx1"/>
                </a:solidFill>
                <a:latin typeface="+mn-lt"/>
                <a:ea typeface="+mn-ea"/>
                <a:cs typeface="+mn-cs"/>
              </a:rPr>
              <a:t>= 1×16</a:t>
            </a:r>
            <a:r>
              <a:rPr lang="tr-TR" sz="2200" baseline="30000" dirty="0">
                <a:solidFill>
                  <a:schemeClr val="tx1"/>
                </a:solidFill>
                <a:latin typeface="+mn-lt"/>
                <a:ea typeface="+mn-ea"/>
                <a:cs typeface="+mn-cs"/>
              </a:rPr>
              <a:t>1</a:t>
            </a:r>
            <a:r>
              <a:rPr lang="tr-TR" sz="2200" dirty="0">
                <a:solidFill>
                  <a:schemeClr val="tx1"/>
                </a:solidFill>
                <a:latin typeface="+mn-lt"/>
                <a:ea typeface="+mn-ea"/>
                <a:cs typeface="+mn-cs"/>
              </a:rPr>
              <a:t>+11×16</a:t>
            </a:r>
            <a:r>
              <a:rPr lang="tr-TR" sz="2200" baseline="30000" dirty="0">
                <a:solidFill>
                  <a:schemeClr val="tx1"/>
                </a:solidFill>
                <a:latin typeface="+mn-lt"/>
                <a:ea typeface="+mn-ea"/>
                <a:cs typeface="+mn-cs"/>
              </a:rPr>
              <a:t>0</a:t>
            </a:r>
            <a:r>
              <a:rPr lang="tr-TR" sz="2200" dirty="0">
                <a:solidFill>
                  <a:schemeClr val="tx1"/>
                </a:solidFill>
                <a:latin typeface="+mn-lt"/>
                <a:ea typeface="+mn-ea"/>
                <a:cs typeface="+mn-cs"/>
              </a:rPr>
              <a:t>+1×16</a:t>
            </a:r>
            <a:r>
              <a:rPr lang="tr-TR" sz="2200" baseline="30000" dirty="0">
                <a:solidFill>
                  <a:schemeClr val="tx1"/>
                </a:solidFill>
                <a:latin typeface="+mn-lt"/>
                <a:ea typeface="+mn-ea"/>
                <a:cs typeface="+mn-cs"/>
              </a:rPr>
              <a:t>-1</a:t>
            </a:r>
            <a:r>
              <a:rPr lang="tr-TR" sz="2200" dirty="0">
                <a:solidFill>
                  <a:schemeClr val="tx1"/>
                </a:solidFill>
                <a:latin typeface="+mn-lt"/>
                <a:ea typeface="+mn-ea"/>
                <a:cs typeface="+mn-cs"/>
              </a:rPr>
              <a:t>+10×16</a:t>
            </a:r>
            <a:r>
              <a:rPr lang="tr-TR" sz="2200" baseline="30000" dirty="0">
                <a:solidFill>
                  <a:schemeClr val="tx1"/>
                </a:solidFill>
                <a:latin typeface="+mn-lt"/>
                <a:ea typeface="+mn-ea"/>
                <a:cs typeface="+mn-cs"/>
              </a:rPr>
              <a:t>-2</a:t>
            </a:r>
            <a:r>
              <a:rPr lang="tr-TR" sz="2200" dirty="0">
                <a:solidFill>
                  <a:schemeClr val="tx1"/>
                </a:solidFill>
                <a:latin typeface="+mn-lt"/>
                <a:ea typeface="+mn-ea"/>
                <a:cs typeface="+mn-cs"/>
              </a:rPr>
              <a:t> =16+11+1/16+10/256 </a:t>
            </a:r>
            <a:r>
              <a:rPr lang="tr-TR" sz="2200" dirty="0">
                <a:solidFill>
                  <a:schemeClr val="tx1"/>
                </a:solidFill>
                <a:latin typeface="+mn-lt"/>
                <a:ea typeface="+mn-ea"/>
                <a:cs typeface="+mn-cs"/>
                <a:sym typeface="Symbol"/>
              </a:rPr>
              <a:t></a:t>
            </a:r>
            <a:r>
              <a:rPr lang="tr-TR" sz="2200" dirty="0">
                <a:solidFill>
                  <a:schemeClr val="tx1"/>
                </a:solidFill>
                <a:latin typeface="+mn-lt"/>
                <a:ea typeface="+mn-ea"/>
                <a:cs typeface="+mn-cs"/>
              </a:rPr>
              <a:t>27.1</a:t>
            </a:r>
          </a:p>
          <a:p>
            <a:pPr marL="0" indent="0" algn="just">
              <a:buNone/>
            </a:pPr>
            <a:endParaRPr lang="tr-TR" sz="2200" dirty="0">
              <a:solidFill>
                <a:schemeClr val="tx1"/>
              </a:solidFill>
              <a:latin typeface="+mn-lt"/>
              <a:ea typeface="+mn-ea"/>
              <a:cs typeface="+mn-cs"/>
            </a:endParaRPr>
          </a:p>
          <a:p>
            <a:pPr>
              <a:buNone/>
            </a:pPr>
            <a:endParaRPr lang="tr-TR" dirty="0"/>
          </a:p>
        </p:txBody>
      </p:sp>
      <p:sp>
        <p:nvSpPr>
          <p:cNvPr id="4" name="3 Altbilgi Yer Tutucusu"/>
          <p:cNvSpPr>
            <a:spLocks noGrp="1"/>
          </p:cNvSpPr>
          <p:nvPr>
            <p:ph type="ftr" sz="quarter" idx="10"/>
          </p:nvPr>
        </p:nvSpPr>
        <p:spPr/>
        <p:txBody>
          <a:bodyPr/>
          <a:lstStyle/>
          <a:p>
            <a:r>
              <a:rPr lang="en-US" dirty="0"/>
              <a:t>Logic Circuits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en-US" sz="2400" b="1" dirty="0"/>
              <a:t>Conversion</a:t>
            </a:r>
            <a:endParaRPr lang="tr-TR" sz="2400" dirty="0"/>
          </a:p>
        </p:txBody>
      </p:sp>
      <p:sp>
        <p:nvSpPr>
          <p:cNvPr id="3" name="2 İçerik Yer Tutucusu"/>
          <p:cNvSpPr>
            <a:spLocks noGrp="1"/>
          </p:cNvSpPr>
          <p:nvPr>
            <p:ph idx="1"/>
          </p:nvPr>
        </p:nvSpPr>
        <p:spPr>
          <a:xfrm>
            <a:off x="360582" y="845985"/>
            <a:ext cx="8375650" cy="5078412"/>
          </a:xfrm>
        </p:spPr>
        <p:txBody>
          <a:bodyPr/>
          <a:lstStyle/>
          <a:p>
            <a:pPr marL="0" indent="0" algn="just">
              <a:buNone/>
            </a:pPr>
            <a:r>
              <a:rPr lang="en-US" sz="2200" dirty="0">
                <a:solidFill>
                  <a:schemeClr val="tx1"/>
                </a:solidFill>
                <a:latin typeface="+mn-lt"/>
                <a:ea typeface="+mn-ea"/>
                <a:cs typeface="+mn-cs"/>
              </a:rPr>
              <a:t>To convert from decimal to hexadecimal, we divide the number to 16 repeatedly and take the remainders.</a:t>
            </a:r>
          </a:p>
          <a:p>
            <a:pPr marL="0" indent="0" algn="just">
              <a:buNone/>
            </a:pPr>
            <a:endParaRPr lang="en-US" sz="1000" dirty="0"/>
          </a:p>
          <a:p>
            <a:pPr marL="0" indent="0" algn="just">
              <a:buNone/>
            </a:pPr>
            <a:endParaRPr lang="en-US" sz="1000" dirty="0"/>
          </a:p>
          <a:p>
            <a:pPr marL="0" indent="0" algn="just">
              <a:buNone/>
            </a:pPr>
            <a:endParaRPr lang="tr-TR" sz="1000" dirty="0"/>
          </a:p>
          <a:p>
            <a:pPr>
              <a:buNone/>
            </a:pPr>
            <a:r>
              <a:rPr lang="en-US" sz="2200" b="1" dirty="0">
                <a:solidFill>
                  <a:schemeClr val="tx1"/>
                </a:solidFill>
                <a:latin typeface="+mn-lt"/>
                <a:ea typeface="+mn-ea"/>
                <a:cs typeface="+mn-cs"/>
              </a:rPr>
              <a:t>Example</a:t>
            </a:r>
            <a:r>
              <a:rPr lang="tr-TR" sz="2200" b="1" dirty="0">
                <a:solidFill>
                  <a:schemeClr val="tx1"/>
                </a:solidFill>
                <a:latin typeface="+mn-lt"/>
                <a:ea typeface="+mn-ea"/>
                <a:cs typeface="+mn-cs"/>
              </a:rPr>
              <a:t>: </a:t>
            </a:r>
            <a:r>
              <a:rPr lang="en-US" sz="2200" dirty="0">
                <a:solidFill>
                  <a:schemeClr val="tx1"/>
                </a:solidFill>
                <a:latin typeface="+mn-lt"/>
                <a:ea typeface="+mn-ea"/>
                <a:cs typeface="+mn-cs"/>
              </a:rPr>
              <a:t>Let’s convert </a:t>
            </a:r>
            <a:r>
              <a:rPr lang="tr-TR" sz="2200" dirty="0">
                <a:solidFill>
                  <a:schemeClr val="tx1"/>
                </a:solidFill>
                <a:latin typeface="+mn-lt"/>
                <a:ea typeface="+mn-ea"/>
                <a:cs typeface="+mn-cs"/>
              </a:rPr>
              <a:t>2577</a:t>
            </a:r>
            <a:r>
              <a:rPr lang="tr-TR" sz="2200" baseline="-25000" dirty="0">
                <a:solidFill>
                  <a:schemeClr val="tx1"/>
                </a:solidFill>
                <a:latin typeface="+mn-lt"/>
                <a:ea typeface="+mn-ea"/>
                <a:cs typeface="+mn-cs"/>
              </a:rPr>
              <a:t>10</a:t>
            </a:r>
            <a:r>
              <a:rPr lang="tr-TR" sz="2200" dirty="0">
                <a:solidFill>
                  <a:schemeClr val="tx1"/>
                </a:solidFill>
                <a:latin typeface="+mn-lt"/>
                <a:ea typeface="+mn-ea"/>
                <a:cs typeface="+mn-cs"/>
              </a:rPr>
              <a:t> </a:t>
            </a:r>
            <a:r>
              <a:rPr lang="en-US" sz="2200" dirty="0">
                <a:solidFill>
                  <a:schemeClr val="tx1"/>
                </a:solidFill>
                <a:latin typeface="+mn-lt"/>
                <a:ea typeface="+mn-ea"/>
                <a:cs typeface="+mn-cs"/>
              </a:rPr>
              <a:t>to hexadecimal.</a:t>
            </a:r>
            <a:endParaRPr lang="tr-TR" sz="2200" dirty="0">
              <a:solidFill>
                <a:schemeClr val="tx1"/>
              </a:solidFill>
              <a:latin typeface="+mn-lt"/>
              <a:ea typeface="+mn-ea"/>
              <a:cs typeface="+mn-cs"/>
            </a:endParaRPr>
          </a:p>
          <a:p>
            <a:pPr>
              <a:buNone/>
            </a:pPr>
            <a:endParaRPr lang="tr-TR" sz="1000" dirty="0">
              <a:solidFill>
                <a:schemeClr val="tx1"/>
              </a:solidFill>
              <a:latin typeface="+mn-lt"/>
              <a:ea typeface="+mn-ea"/>
              <a:cs typeface="+mn-cs"/>
            </a:endParaRPr>
          </a:p>
          <a:p>
            <a:pPr>
              <a:buNone/>
            </a:pPr>
            <a:r>
              <a:rPr lang="tr-TR" sz="2400" dirty="0">
                <a:solidFill>
                  <a:schemeClr val="tx1"/>
                </a:solidFill>
                <a:latin typeface="+mn-lt"/>
                <a:ea typeface="+mn-ea"/>
                <a:cs typeface="+mn-cs"/>
              </a:rPr>
              <a:t>  </a:t>
            </a:r>
            <a:r>
              <a:rPr lang="tr-TR" sz="2200" dirty="0">
                <a:solidFill>
                  <a:schemeClr val="tx1"/>
                </a:solidFill>
                <a:latin typeface="+mn-lt"/>
                <a:ea typeface="+mn-ea"/>
                <a:cs typeface="+mn-cs"/>
              </a:rPr>
              <a:t>2577  16	</a:t>
            </a:r>
          </a:p>
          <a:p>
            <a:pPr>
              <a:buNone/>
            </a:pPr>
            <a:r>
              <a:rPr lang="tr-TR" sz="2200" dirty="0">
                <a:solidFill>
                  <a:schemeClr val="tx1"/>
                </a:solidFill>
                <a:latin typeface="+mn-lt"/>
                <a:ea typeface="+mn-ea"/>
                <a:cs typeface="+mn-cs"/>
              </a:rPr>
              <a:t>-16      161 16 </a:t>
            </a:r>
          </a:p>
          <a:p>
            <a:pPr>
              <a:buNone/>
            </a:pPr>
            <a:r>
              <a:rPr lang="tr-TR" sz="2200" dirty="0">
                <a:solidFill>
                  <a:schemeClr val="tx1"/>
                </a:solidFill>
                <a:latin typeface="+mn-lt"/>
                <a:ea typeface="+mn-ea"/>
                <a:cs typeface="+mn-cs"/>
              </a:rPr>
              <a:t>    97  -160  </a:t>
            </a:r>
            <a:r>
              <a:rPr lang="tr-TR" sz="2200" b="1" dirty="0">
                <a:solidFill>
                  <a:schemeClr val="tx1"/>
                </a:solidFill>
                <a:latin typeface="+mn-lt"/>
                <a:ea typeface="+mn-ea"/>
                <a:cs typeface="+mn-cs"/>
              </a:rPr>
              <a:t>10      A</a:t>
            </a:r>
            <a:r>
              <a:rPr lang="tr-TR" sz="2200" b="1" baseline="-25000" dirty="0">
                <a:solidFill>
                  <a:schemeClr val="tx1"/>
                </a:solidFill>
                <a:latin typeface="+mn-lt"/>
                <a:ea typeface="+mn-ea"/>
                <a:cs typeface="+mn-cs"/>
              </a:rPr>
              <a:t>16</a:t>
            </a:r>
            <a:endParaRPr lang="tr-TR" sz="2200" dirty="0">
              <a:solidFill>
                <a:schemeClr val="tx1"/>
              </a:solidFill>
              <a:latin typeface="+mn-lt"/>
              <a:ea typeface="+mn-ea"/>
              <a:cs typeface="+mn-cs"/>
            </a:endParaRPr>
          </a:p>
          <a:p>
            <a:pPr>
              <a:buNone/>
            </a:pPr>
            <a:r>
              <a:rPr lang="tr-TR" sz="2200" dirty="0">
                <a:solidFill>
                  <a:schemeClr val="tx1"/>
                </a:solidFill>
                <a:latin typeface="+mn-lt"/>
                <a:ea typeface="+mn-ea"/>
                <a:cs typeface="+mn-cs"/>
              </a:rPr>
              <a:t>  - 96       </a:t>
            </a:r>
            <a:r>
              <a:rPr lang="tr-TR" sz="2200" b="1" dirty="0">
                <a:solidFill>
                  <a:schemeClr val="tx1"/>
                </a:solidFill>
                <a:latin typeface="+mn-lt"/>
                <a:ea typeface="+mn-ea"/>
                <a:cs typeface="+mn-cs"/>
              </a:rPr>
              <a:t>1</a:t>
            </a:r>
            <a:endParaRPr lang="tr-TR" sz="2200" dirty="0">
              <a:solidFill>
                <a:schemeClr val="tx1"/>
              </a:solidFill>
              <a:latin typeface="+mn-lt"/>
              <a:ea typeface="+mn-ea"/>
              <a:cs typeface="+mn-cs"/>
            </a:endParaRPr>
          </a:p>
          <a:p>
            <a:pPr>
              <a:buNone/>
            </a:pPr>
            <a:r>
              <a:rPr lang="tr-TR" sz="2200" dirty="0">
                <a:solidFill>
                  <a:schemeClr val="tx1"/>
                </a:solidFill>
                <a:latin typeface="+mn-lt"/>
                <a:ea typeface="+mn-ea"/>
                <a:cs typeface="+mn-cs"/>
              </a:rPr>
              <a:t>       17	</a:t>
            </a:r>
          </a:p>
          <a:p>
            <a:pPr>
              <a:buNone/>
            </a:pPr>
            <a:r>
              <a:rPr lang="tr-TR" sz="2200" dirty="0">
                <a:solidFill>
                  <a:schemeClr val="tx1"/>
                </a:solidFill>
                <a:latin typeface="+mn-lt"/>
                <a:ea typeface="+mn-ea"/>
                <a:cs typeface="+mn-cs"/>
              </a:rPr>
              <a:t>     - 16                             </a:t>
            </a:r>
            <a:r>
              <a:rPr lang="en-US" sz="2200" dirty="0">
                <a:solidFill>
                  <a:schemeClr val="tx1"/>
                </a:solidFill>
                <a:latin typeface="+mn-lt"/>
                <a:ea typeface="+mn-ea"/>
                <a:cs typeface="+mn-cs"/>
              </a:rPr>
              <a:t>Then, </a:t>
            </a:r>
            <a:r>
              <a:rPr lang="tr-TR" sz="2200" dirty="0">
                <a:solidFill>
                  <a:schemeClr val="tx1"/>
                </a:solidFill>
                <a:latin typeface="+mn-lt"/>
                <a:ea typeface="+mn-ea"/>
                <a:cs typeface="+mn-cs"/>
              </a:rPr>
              <a:t>2577</a:t>
            </a:r>
            <a:r>
              <a:rPr lang="tr-TR" sz="2200" baseline="-25000" dirty="0">
                <a:solidFill>
                  <a:schemeClr val="tx1"/>
                </a:solidFill>
                <a:latin typeface="+mn-lt"/>
                <a:ea typeface="+mn-ea"/>
                <a:cs typeface="+mn-cs"/>
              </a:rPr>
              <a:t>10</a:t>
            </a:r>
            <a:r>
              <a:rPr lang="tr-TR" sz="2200" dirty="0">
                <a:solidFill>
                  <a:schemeClr val="tx1"/>
                </a:solidFill>
                <a:latin typeface="+mn-lt"/>
                <a:ea typeface="+mn-ea"/>
                <a:cs typeface="+mn-cs"/>
              </a:rPr>
              <a:t> = A11</a:t>
            </a:r>
            <a:r>
              <a:rPr lang="tr-TR" sz="2200" baseline="-25000" dirty="0">
                <a:solidFill>
                  <a:schemeClr val="tx1"/>
                </a:solidFill>
                <a:latin typeface="+mn-lt"/>
                <a:ea typeface="+mn-ea"/>
                <a:cs typeface="+mn-cs"/>
              </a:rPr>
              <a:t>16</a:t>
            </a:r>
            <a:endParaRPr lang="tr-TR" sz="2200" dirty="0">
              <a:solidFill>
                <a:schemeClr val="tx1"/>
              </a:solidFill>
              <a:latin typeface="+mn-lt"/>
              <a:ea typeface="+mn-ea"/>
              <a:cs typeface="+mn-cs"/>
            </a:endParaRPr>
          </a:p>
          <a:p>
            <a:pPr>
              <a:buNone/>
            </a:pPr>
            <a:r>
              <a:rPr lang="tr-TR" sz="2200" dirty="0">
                <a:solidFill>
                  <a:schemeClr val="tx1"/>
                </a:solidFill>
                <a:latin typeface="+mn-lt"/>
                <a:ea typeface="+mn-ea"/>
                <a:cs typeface="+mn-cs"/>
              </a:rPr>
              <a:t>         </a:t>
            </a:r>
            <a:r>
              <a:rPr lang="tr-TR" sz="2200" b="1" dirty="0">
                <a:solidFill>
                  <a:schemeClr val="tx1"/>
                </a:solidFill>
                <a:latin typeface="+mn-lt"/>
                <a:ea typeface="+mn-ea"/>
                <a:cs typeface="+mn-cs"/>
              </a:rPr>
              <a:t>1 </a:t>
            </a:r>
            <a:endParaRPr lang="tr-TR" sz="2200" dirty="0">
              <a:solidFill>
                <a:schemeClr val="tx1"/>
              </a:solidFill>
              <a:latin typeface="+mn-lt"/>
              <a:ea typeface="+mn-ea"/>
              <a:cs typeface="+mn-cs"/>
            </a:endParaRPr>
          </a:p>
          <a:p>
            <a:pPr marL="0" indent="0" algn="just">
              <a:buNone/>
            </a:pPr>
            <a:endParaRPr lang="tr-TR" sz="2200" dirty="0">
              <a:solidFill>
                <a:schemeClr val="tx1"/>
              </a:solidFill>
              <a:latin typeface="+mn-lt"/>
              <a:ea typeface="+mn-ea"/>
              <a:cs typeface="+mn-cs"/>
            </a:endParaRPr>
          </a:p>
          <a:p>
            <a:pPr>
              <a:buNone/>
            </a:pPr>
            <a:endParaRPr lang="tr-TR" dirty="0"/>
          </a:p>
        </p:txBody>
      </p:sp>
      <p:sp>
        <p:nvSpPr>
          <p:cNvPr id="4" name="3 Altbilgi Yer Tutucusu"/>
          <p:cNvSpPr>
            <a:spLocks noGrp="1"/>
          </p:cNvSpPr>
          <p:nvPr>
            <p:ph type="ftr" sz="quarter" idx="10"/>
          </p:nvPr>
        </p:nvSpPr>
        <p:spPr/>
        <p:txBody>
          <a:bodyPr/>
          <a:lstStyle/>
          <a:p>
            <a:r>
              <a:rPr lang="en-US" dirty="0"/>
              <a:t>Logic Circuits</a:t>
            </a:r>
          </a:p>
        </p:txBody>
      </p:sp>
      <p:cxnSp>
        <p:nvCxnSpPr>
          <p:cNvPr id="6" name="5 Düz Bağlayıcı"/>
          <p:cNvCxnSpPr/>
          <p:nvPr/>
        </p:nvCxnSpPr>
        <p:spPr bwMode="auto">
          <a:xfrm rot="5400000">
            <a:off x="893299" y="3172265"/>
            <a:ext cx="633046" cy="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 name="7 Düz Bağlayıcı"/>
          <p:cNvCxnSpPr/>
          <p:nvPr/>
        </p:nvCxnSpPr>
        <p:spPr bwMode="auto">
          <a:xfrm>
            <a:off x="1209822" y="3151163"/>
            <a:ext cx="478301"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0" name="9 Düz Bağlayıcı"/>
          <p:cNvCxnSpPr/>
          <p:nvPr/>
        </p:nvCxnSpPr>
        <p:spPr bwMode="auto">
          <a:xfrm rot="5400000">
            <a:off x="1402358" y="3580227"/>
            <a:ext cx="604911"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2" name="11 Düz Bağlayıcı"/>
          <p:cNvCxnSpPr/>
          <p:nvPr/>
        </p:nvCxnSpPr>
        <p:spPr bwMode="auto">
          <a:xfrm>
            <a:off x="1704813" y="3573194"/>
            <a:ext cx="436098"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3" name="12 Düz Bağlayıcı"/>
          <p:cNvCxnSpPr/>
          <p:nvPr/>
        </p:nvCxnSpPr>
        <p:spPr bwMode="auto">
          <a:xfrm>
            <a:off x="534573" y="3516923"/>
            <a:ext cx="436098"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4" name="13 Düz Bağlayıcı"/>
          <p:cNvCxnSpPr/>
          <p:nvPr/>
        </p:nvCxnSpPr>
        <p:spPr bwMode="auto">
          <a:xfrm>
            <a:off x="618979" y="4318782"/>
            <a:ext cx="436098"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5" name="14 Düz Bağlayıcı"/>
          <p:cNvCxnSpPr/>
          <p:nvPr/>
        </p:nvCxnSpPr>
        <p:spPr bwMode="auto">
          <a:xfrm>
            <a:off x="1139484" y="3938954"/>
            <a:ext cx="436098"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6" name="15 Düz Bağlayıcı"/>
          <p:cNvCxnSpPr/>
          <p:nvPr/>
        </p:nvCxnSpPr>
        <p:spPr bwMode="auto">
          <a:xfrm>
            <a:off x="773724" y="5134708"/>
            <a:ext cx="436098"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0" name="19 Düz Ok Bağlayıcısı"/>
          <p:cNvCxnSpPr/>
          <p:nvPr/>
        </p:nvCxnSpPr>
        <p:spPr bwMode="auto">
          <a:xfrm>
            <a:off x="2138289" y="3713869"/>
            <a:ext cx="323557"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359061" y="160608"/>
            <a:ext cx="7772400" cy="790575"/>
          </a:xfrm>
        </p:spPr>
        <p:txBody>
          <a:bodyPr/>
          <a:lstStyle/>
          <a:p>
            <a:r>
              <a:rPr lang="en-US" sz="2400" b="1" dirty="0"/>
              <a:t>Example</a:t>
            </a:r>
            <a:endParaRPr lang="tr-TR" sz="2400" b="1" dirty="0"/>
          </a:p>
        </p:txBody>
      </p:sp>
      <p:sp>
        <p:nvSpPr>
          <p:cNvPr id="3" name="2 İçerik Yer Tutucusu"/>
          <p:cNvSpPr>
            <a:spLocks noGrp="1"/>
          </p:cNvSpPr>
          <p:nvPr>
            <p:ph idx="1"/>
          </p:nvPr>
        </p:nvSpPr>
        <p:spPr/>
        <p:txBody>
          <a:bodyPr/>
          <a:lstStyle/>
          <a:p>
            <a:pPr marL="0" indent="0">
              <a:buNone/>
            </a:pPr>
            <a:r>
              <a:rPr lang="en-US" sz="2200" b="1" dirty="0">
                <a:solidFill>
                  <a:schemeClr val="tx1"/>
                </a:solidFill>
                <a:latin typeface="+mn-lt"/>
                <a:ea typeface="+mn-ea"/>
                <a:cs typeface="+mn-cs"/>
              </a:rPr>
              <a:t>Example</a:t>
            </a:r>
            <a:r>
              <a:rPr lang="tr-TR" sz="2200" b="1" dirty="0">
                <a:solidFill>
                  <a:schemeClr val="tx1"/>
                </a:solidFill>
                <a:latin typeface="+mn-lt"/>
                <a:ea typeface="+mn-ea"/>
                <a:cs typeface="+mn-cs"/>
              </a:rPr>
              <a:t>: </a:t>
            </a:r>
            <a:r>
              <a:rPr lang="en-US" sz="2200" dirty="0">
                <a:solidFill>
                  <a:schemeClr val="tx1"/>
                </a:solidFill>
                <a:latin typeface="+mn-lt"/>
                <a:ea typeface="+mn-ea"/>
                <a:cs typeface="+mn-cs"/>
              </a:rPr>
              <a:t>Let’s convert </a:t>
            </a:r>
            <a:r>
              <a:rPr lang="tr-TR" sz="2200" dirty="0">
                <a:solidFill>
                  <a:schemeClr val="tx1"/>
                </a:solidFill>
                <a:latin typeface="+mn-lt"/>
                <a:ea typeface="+mn-ea"/>
                <a:cs typeface="+mn-cs"/>
              </a:rPr>
              <a:t>123.256 </a:t>
            </a:r>
            <a:r>
              <a:rPr lang="en-US" sz="2200" dirty="0"/>
              <a:t>to hexadecimal</a:t>
            </a:r>
            <a:r>
              <a:rPr lang="tr-TR" sz="2200" dirty="0">
                <a:solidFill>
                  <a:schemeClr val="tx1"/>
                </a:solidFill>
                <a:latin typeface="+mn-lt"/>
                <a:ea typeface="+mn-ea"/>
                <a:cs typeface="+mn-cs"/>
              </a:rPr>
              <a:t>.</a:t>
            </a:r>
          </a:p>
          <a:p>
            <a:pPr marL="0" indent="0" algn="just">
              <a:buNone/>
            </a:pPr>
            <a:endParaRPr lang="tr-TR" sz="1000" dirty="0">
              <a:solidFill>
                <a:schemeClr val="tx1"/>
              </a:solidFill>
              <a:latin typeface="+mn-lt"/>
              <a:ea typeface="+mn-ea"/>
              <a:cs typeface="+mn-cs"/>
            </a:endParaRPr>
          </a:p>
          <a:p>
            <a:pPr marL="0" indent="0" algn="just">
              <a:buNone/>
            </a:pPr>
            <a:r>
              <a:rPr lang="en-US" sz="2200" dirty="0"/>
              <a:t>We need to convert the whole part and the fractional part separately.</a:t>
            </a:r>
            <a:endParaRPr lang="tr-TR" sz="2200" dirty="0"/>
          </a:p>
          <a:p>
            <a:pPr marL="0" indent="0" algn="just">
              <a:buNone/>
            </a:pPr>
            <a:endParaRPr lang="tr-TR" sz="2200" dirty="0">
              <a:solidFill>
                <a:schemeClr val="tx1"/>
              </a:solidFill>
              <a:latin typeface="+mn-lt"/>
              <a:ea typeface="+mn-ea"/>
              <a:cs typeface="+mn-cs"/>
            </a:endParaRPr>
          </a:p>
          <a:p>
            <a:pPr marL="0" indent="0" algn="just">
              <a:buNone/>
            </a:pPr>
            <a:endParaRPr lang="tr-TR" sz="2200" dirty="0"/>
          </a:p>
          <a:p>
            <a:pPr marL="0" indent="0" algn="just">
              <a:buNone/>
            </a:pPr>
            <a:endParaRPr lang="tr-TR" sz="2200" dirty="0">
              <a:solidFill>
                <a:schemeClr val="tx1"/>
              </a:solidFill>
              <a:latin typeface="+mn-lt"/>
              <a:ea typeface="+mn-ea"/>
              <a:cs typeface="+mn-cs"/>
            </a:endParaRPr>
          </a:p>
          <a:p>
            <a:pPr marL="0" indent="0" algn="just">
              <a:buNone/>
            </a:pPr>
            <a:endParaRPr lang="tr-TR" sz="2200" dirty="0"/>
          </a:p>
          <a:p>
            <a:pPr marL="0" indent="0" algn="just">
              <a:buNone/>
            </a:pPr>
            <a:r>
              <a:rPr lang="tr-TR" sz="2400" dirty="0">
                <a:solidFill>
                  <a:schemeClr val="tx1"/>
                </a:solidFill>
                <a:latin typeface="+mn-lt"/>
                <a:ea typeface="+mn-ea"/>
                <a:cs typeface="+mn-cs"/>
              </a:rPr>
              <a:t>123.536 </a:t>
            </a:r>
            <a:r>
              <a:rPr lang="tr-TR" sz="2400" dirty="0">
                <a:solidFill>
                  <a:schemeClr val="tx1"/>
                </a:solidFill>
                <a:latin typeface="+mn-lt"/>
                <a:ea typeface="+mn-ea"/>
                <a:cs typeface="+mn-cs"/>
                <a:sym typeface="Symbol"/>
              </a:rPr>
              <a:t></a:t>
            </a:r>
            <a:r>
              <a:rPr lang="tr-TR" sz="2400" dirty="0">
                <a:solidFill>
                  <a:schemeClr val="tx1"/>
                </a:solidFill>
                <a:latin typeface="+mn-lt"/>
                <a:ea typeface="+mn-ea"/>
                <a:cs typeface="+mn-cs"/>
              </a:rPr>
              <a:t> 7B.418</a:t>
            </a:r>
            <a:r>
              <a:rPr lang="tr-TR" sz="2400" baseline="-25000" dirty="0">
                <a:solidFill>
                  <a:schemeClr val="tx1"/>
                </a:solidFill>
                <a:latin typeface="+mn-lt"/>
                <a:ea typeface="+mn-ea"/>
                <a:cs typeface="+mn-cs"/>
              </a:rPr>
              <a:t>16</a:t>
            </a:r>
            <a:endParaRPr lang="tr-TR" sz="2400" dirty="0">
              <a:solidFill>
                <a:schemeClr val="tx1"/>
              </a:solidFill>
              <a:latin typeface="+mn-lt"/>
              <a:ea typeface="+mn-ea"/>
              <a:cs typeface="+mn-cs"/>
            </a:endParaRPr>
          </a:p>
          <a:p>
            <a:pPr marL="0" indent="0" algn="just">
              <a:buNone/>
            </a:pPr>
            <a:endParaRPr lang="tr-TR" sz="2200" dirty="0">
              <a:solidFill>
                <a:schemeClr val="tx1"/>
              </a:solidFill>
              <a:latin typeface="+mn-lt"/>
              <a:ea typeface="+mn-ea"/>
              <a:cs typeface="+mn-cs"/>
            </a:endParaRPr>
          </a:p>
          <a:p>
            <a:pPr>
              <a:buNone/>
            </a:pPr>
            <a:endParaRPr lang="tr-TR" dirty="0"/>
          </a:p>
        </p:txBody>
      </p:sp>
      <p:sp>
        <p:nvSpPr>
          <p:cNvPr id="4" name="3 Altbilgi Yer Tutucusu"/>
          <p:cNvSpPr>
            <a:spLocks noGrp="1"/>
          </p:cNvSpPr>
          <p:nvPr>
            <p:ph type="ftr" sz="quarter" idx="10"/>
          </p:nvPr>
        </p:nvSpPr>
        <p:spPr/>
        <p:txBody>
          <a:bodyPr/>
          <a:lstStyle/>
          <a:p>
            <a:r>
              <a:rPr lang="en-US" dirty="0"/>
              <a:t>Logic Circuits</a:t>
            </a:r>
          </a:p>
        </p:txBody>
      </p:sp>
      <p:graphicFrame>
        <p:nvGraphicFramePr>
          <p:cNvPr id="5" name="4 Tablo"/>
          <p:cNvGraphicFramePr>
            <a:graphicFrameLocks noGrp="1"/>
          </p:cNvGraphicFramePr>
          <p:nvPr>
            <p:extLst>
              <p:ext uri="{D42A27DB-BD31-4B8C-83A1-F6EECF244321}">
                <p14:modId xmlns:p14="http://schemas.microsoft.com/office/powerpoint/2010/main" val="207393833"/>
              </p:ext>
            </p:extLst>
          </p:nvPr>
        </p:nvGraphicFramePr>
        <p:xfrm>
          <a:off x="1034485" y="2410850"/>
          <a:ext cx="3797491" cy="1219200"/>
        </p:xfrm>
        <a:graphic>
          <a:graphicData uri="http://schemas.openxmlformats.org/drawingml/2006/table">
            <a:tbl>
              <a:tblPr/>
              <a:tblGrid>
                <a:gridCol w="884642">
                  <a:extLst>
                    <a:ext uri="{9D8B030D-6E8A-4147-A177-3AD203B41FA5}">
                      <a16:colId xmlns:a16="http://schemas.microsoft.com/office/drawing/2014/main" val="20000"/>
                    </a:ext>
                  </a:extLst>
                </a:gridCol>
                <a:gridCol w="1200591">
                  <a:extLst>
                    <a:ext uri="{9D8B030D-6E8A-4147-A177-3AD203B41FA5}">
                      <a16:colId xmlns:a16="http://schemas.microsoft.com/office/drawing/2014/main" val="20001"/>
                    </a:ext>
                  </a:extLst>
                </a:gridCol>
                <a:gridCol w="1712258">
                  <a:extLst>
                    <a:ext uri="{9D8B030D-6E8A-4147-A177-3AD203B41FA5}">
                      <a16:colId xmlns:a16="http://schemas.microsoft.com/office/drawing/2014/main" val="20002"/>
                    </a:ext>
                  </a:extLst>
                </a:gridCol>
              </a:tblGrid>
              <a:tr h="0">
                <a:tc gridSpan="3">
                  <a:txBody>
                    <a:bodyPr/>
                    <a:lstStyle/>
                    <a:p>
                      <a:pPr algn="ctr">
                        <a:spcAft>
                          <a:spcPts val="0"/>
                        </a:spcAft>
                      </a:pPr>
                      <a:r>
                        <a:rPr lang="en-US" sz="2000" b="1" dirty="0">
                          <a:latin typeface="Times New Roman"/>
                          <a:ea typeface="Times New Roman"/>
                        </a:rPr>
                        <a:t>Whole Part</a:t>
                      </a:r>
                      <a:endParaRPr lang="tr-TR" sz="2000" b="1" dirty="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tr-TR"/>
                    </a:p>
                  </a:txBody>
                  <a:tcPr/>
                </a:tc>
                <a:tc hMerge="1">
                  <a:txBody>
                    <a:bodyPr/>
                    <a:lstStyle/>
                    <a:p>
                      <a:endParaRPr lang="tr-TR"/>
                    </a:p>
                  </a:txBody>
                  <a:tcPr/>
                </a:tc>
                <a:extLst>
                  <a:ext uri="{0D108BD9-81ED-4DB2-BD59-A6C34878D82A}">
                    <a16:rowId xmlns:a16="http://schemas.microsoft.com/office/drawing/2014/main" val="10000"/>
                  </a:ext>
                </a:extLst>
              </a:tr>
              <a:tr h="0">
                <a:tc>
                  <a:txBody>
                    <a:bodyPr/>
                    <a:lstStyle/>
                    <a:p>
                      <a:pPr algn="l">
                        <a:spcAft>
                          <a:spcPts val="0"/>
                        </a:spcAft>
                      </a:pPr>
                      <a:endParaRPr lang="tr-TR" sz="200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2000" b="1" dirty="0">
                          <a:latin typeface="Times New Roman"/>
                          <a:ea typeface="Times New Roman"/>
                        </a:rPr>
                        <a:t>Quotient</a:t>
                      </a:r>
                      <a:endParaRPr lang="tr-TR" sz="2000" dirty="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2000" b="1" dirty="0">
                          <a:latin typeface="Times New Roman"/>
                          <a:ea typeface="Times New Roman"/>
                        </a:rPr>
                        <a:t>Remainder</a:t>
                      </a:r>
                      <a:endParaRPr lang="tr-TR" sz="2000" dirty="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algn="ctr">
                        <a:spcAft>
                          <a:spcPts val="0"/>
                        </a:spcAft>
                      </a:pPr>
                      <a:r>
                        <a:rPr lang="tr-TR" sz="2000">
                          <a:latin typeface="Times New Roman"/>
                          <a:ea typeface="Times New Roman"/>
                        </a:rPr>
                        <a:t>123/16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tr-TR" sz="2000">
                          <a:latin typeface="Times New Roman"/>
                          <a:ea typeface="Times New Roman"/>
                        </a:rPr>
                        <a:t>7</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tr-TR" sz="2000" b="1">
                          <a:latin typeface="Times New Roman"/>
                          <a:ea typeface="Times New Roman"/>
                        </a:rPr>
                        <a:t>11 (B)</a:t>
                      </a:r>
                      <a:endParaRPr lang="tr-TR" sz="200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algn="ctr">
                        <a:spcAft>
                          <a:spcPts val="0"/>
                        </a:spcAft>
                      </a:pPr>
                      <a:r>
                        <a:rPr lang="tr-TR" sz="2000">
                          <a:latin typeface="Times New Roman"/>
                          <a:ea typeface="Times New Roman"/>
                        </a:rPr>
                        <a:t>7/16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tr-TR" sz="2000">
                          <a:latin typeface="Times New Roman"/>
                          <a:ea typeface="Times New Roman"/>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tr-TR" sz="2000" b="1" dirty="0">
                          <a:latin typeface="Times New Roman"/>
                          <a:ea typeface="Times New Roman"/>
                        </a:rPr>
                        <a:t>7</a:t>
                      </a:r>
                      <a:endParaRPr lang="tr-TR" sz="2000" dirty="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graphicFrame>
        <p:nvGraphicFramePr>
          <p:cNvPr id="7" name="6 Tablo"/>
          <p:cNvGraphicFramePr>
            <a:graphicFrameLocks noGrp="1"/>
          </p:cNvGraphicFramePr>
          <p:nvPr>
            <p:extLst>
              <p:ext uri="{D42A27DB-BD31-4B8C-83A1-F6EECF244321}">
                <p14:modId xmlns:p14="http://schemas.microsoft.com/office/powerpoint/2010/main" val="1529993653"/>
              </p:ext>
            </p:extLst>
          </p:nvPr>
        </p:nvGraphicFramePr>
        <p:xfrm>
          <a:off x="5528329" y="2410850"/>
          <a:ext cx="2282825" cy="1219200"/>
        </p:xfrm>
        <a:graphic>
          <a:graphicData uri="http://schemas.openxmlformats.org/drawingml/2006/table">
            <a:tbl>
              <a:tblPr/>
              <a:tblGrid>
                <a:gridCol w="1201726">
                  <a:extLst>
                    <a:ext uri="{9D8B030D-6E8A-4147-A177-3AD203B41FA5}">
                      <a16:colId xmlns:a16="http://schemas.microsoft.com/office/drawing/2014/main" val="20000"/>
                    </a:ext>
                  </a:extLst>
                </a:gridCol>
                <a:gridCol w="1081099">
                  <a:extLst>
                    <a:ext uri="{9D8B030D-6E8A-4147-A177-3AD203B41FA5}">
                      <a16:colId xmlns:a16="http://schemas.microsoft.com/office/drawing/2014/main" val="20001"/>
                    </a:ext>
                  </a:extLst>
                </a:gridCol>
              </a:tblGrid>
              <a:tr h="0">
                <a:tc gridSpan="2">
                  <a:txBody>
                    <a:bodyPr/>
                    <a:lstStyle/>
                    <a:p>
                      <a:pPr algn="ctr">
                        <a:spcAft>
                          <a:spcPts val="0"/>
                        </a:spcAft>
                      </a:pPr>
                      <a:r>
                        <a:rPr lang="en-US" sz="2000" b="1" dirty="0">
                          <a:latin typeface="Times New Roman"/>
                          <a:ea typeface="Times New Roman"/>
                        </a:rPr>
                        <a:t>Fractional</a:t>
                      </a:r>
                      <a:r>
                        <a:rPr lang="en-US" sz="2000" b="1" baseline="0" dirty="0">
                          <a:latin typeface="Times New Roman"/>
                          <a:ea typeface="Times New Roman"/>
                        </a:rPr>
                        <a:t> Part</a:t>
                      </a:r>
                      <a:endParaRPr lang="tr-TR" sz="2000" dirty="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tr-TR"/>
                    </a:p>
                  </a:txBody>
                  <a:tcPr/>
                </a:tc>
                <a:extLst>
                  <a:ext uri="{0D108BD9-81ED-4DB2-BD59-A6C34878D82A}">
                    <a16:rowId xmlns:a16="http://schemas.microsoft.com/office/drawing/2014/main" val="10000"/>
                  </a:ext>
                </a:extLst>
              </a:tr>
              <a:tr h="0">
                <a:tc>
                  <a:txBody>
                    <a:bodyPr/>
                    <a:lstStyle/>
                    <a:p>
                      <a:pPr algn="ctr">
                        <a:spcAft>
                          <a:spcPts val="0"/>
                        </a:spcAft>
                      </a:pPr>
                      <a:r>
                        <a:rPr lang="tr-TR" sz="2000">
                          <a:latin typeface="Times New Roman"/>
                          <a:ea typeface="Times New Roman"/>
                        </a:rPr>
                        <a:t>0.256×16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tr-TR" sz="2000" b="1">
                          <a:latin typeface="Times New Roman"/>
                          <a:ea typeface="Times New Roman"/>
                        </a:rPr>
                        <a:t>4</a:t>
                      </a:r>
                      <a:r>
                        <a:rPr lang="tr-TR" sz="2000">
                          <a:latin typeface="Times New Roman"/>
                          <a:ea typeface="Times New Roman"/>
                        </a:rPr>
                        <a:t>.096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algn="ctr">
                        <a:spcAft>
                          <a:spcPts val="0"/>
                        </a:spcAft>
                      </a:pPr>
                      <a:r>
                        <a:rPr lang="tr-TR" sz="2000">
                          <a:latin typeface="Times New Roman"/>
                          <a:ea typeface="Times New Roman"/>
                        </a:rPr>
                        <a:t>0.096×16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tr-TR" sz="2000" b="1">
                          <a:latin typeface="Times New Roman"/>
                          <a:ea typeface="Times New Roman"/>
                        </a:rPr>
                        <a:t>1</a:t>
                      </a:r>
                      <a:r>
                        <a:rPr lang="tr-TR" sz="2000">
                          <a:latin typeface="Times New Roman"/>
                          <a:ea typeface="Times New Roman"/>
                        </a:rPr>
                        <a:t>.536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algn="ctr">
                        <a:spcAft>
                          <a:spcPts val="0"/>
                        </a:spcAft>
                      </a:pPr>
                      <a:r>
                        <a:rPr lang="tr-TR" sz="2000">
                          <a:latin typeface="Times New Roman"/>
                          <a:ea typeface="Times New Roman"/>
                        </a:rPr>
                        <a:t>0.536×16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tr-TR" sz="2000" b="1" dirty="0">
                          <a:latin typeface="Times New Roman"/>
                          <a:ea typeface="Times New Roman"/>
                        </a:rPr>
                        <a:t>8</a:t>
                      </a:r>
                      <a:r>
                        <a:rPr lang="tr-TR" sz="2000" dirty="0">
                          <a:latin typeface="Times New Roman"/>
                          <a:ea typeface="Times New Roman"/>
                        </a:rPr>
                        <a:t>.576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en-US" sz="2400" b="1" dirty="0"/>
              <a:t>Addition on Hexadecimal Numbers</a:t>
            </a:r>
            <a:endParaRPr lang="tr-TR" sz="2400" dirty="0"/>
          </a:p>
        </p:txBody>
      </p:sp>
      <p:sp>
        <p:nvSpPr>
          <p:cNvPr id="3" name="2 İçerik Yer Tutucusu"/>
          <p:cNvSpPr>
            <a:spLocks noGrp="1"/>
          </p:cNvSpPr>
          <p:nvPr>
            <p:ph idx="1"/>
          </p:nvPr>
        </p:nvSpPr>
        <p:spPr>
          <a:xfrm>
            <a:off x="360582" y="902257"/>
            <a:ext cx="8375650" cy="5343798"/>
          </a:xfrm>
        </p:spPr>
        <p:txBody>
          <a:bodyPr/>
          <a:lstStyle/>
          <a:p>
            <a:pPr marL="0" indent="0" algn="just">
              <a:buNone/>
            </a:pPr>
            <a:r>
              <a:rPr lang="en-US" sz="2200" dirty="0">
                <a:solidFill>
                  <a:schemeClr val="tx1"/>
                </a:solidFill>
                <a:latin typeface="+mn-lt"/>
                <a:ea typeface="+mn-ea"/>
                <a:cs typeface="+mn-cs"/>
              </a:rPr>
              <a:t>In hexadecimal addition, we add up </a:t>
            </a:r>
            <a:r>
              <a:rPr lang="en-US" sz="2200">
                <a:solidFill>
                  <a:schemeClr val="tx1"/>
                </a:solidFill>
                <a:latin typeface="+mn-lt"/>
                <a:ea typeface="+mn-ea"/>
                <a:cs typeface="+mn-cs"/>
              </a:rPr>
              <a:t>each digit’s </a:t>
            </a:r>
            <a:r>
              <a:rPr lang="en-US" sz="2200" dirty="0">
                <a:solidFill>
                  <a:schemeClr val="tx1"/>
                </a:solidFill>
                <a:latin typeface="+mn-lt"/>
                <a:ea typeface="+mn-ea"/>
                <a:cs typeface="+mn-cs"/>
              </a:rPr>
              <a:t>decimal values. If the sum is less than or equal to 15, we write the corresponding hexadecimal digit to the result. If the sum is greater than 15, than we subtract 16 from the sum and write the difference to the sum and carry 1 to the next digit.</a:t>
            </a:r>
          </a:p>
          <a:p>
            <a:pPr marL="0" indent="0" algn="just">
              <a:buNone/>
            </a:pPr>
            <a:endParaRPr lang="en-US" sz="2200" dirty="0">
              <a:solidFill>
                <a:schemeClr val="tx1"/>
              </a:solidFill>
              <a:latin typeface="+mn-lt"/>
              <a:ea typeface="+mn-ea"/>
              <a:cs typeface="+mn-cs"/>
            </a:endParaRPr>
          </a:p>
          <a:p>
            <a:pPr marL="0" indent="0" algn="just">
              <a:buNone/>
            </a:pPr>
            <a:endParaRPr lang="tr-TR" sz="1000" dirty="0"/>
          </a:p>
          <a:p>
            <a:pPr>
              <a:buNone/>
            </a:pPr>
            <a:r>
              <a:rPr lang="en-US" sz="2000" b="1" dirty="0"/>
              <a:t>Example</a:t>
            </a:r>
            <a:r>
              <a:rPr lang="tr-TR" sz="2000" b="1" dirty="0">
                <a:solidFill>
                  <a:schemeClr val="tx1"/>
                </a:solidFill>
                <a:latin typeface="+mn-lt"/>
                <a:ea typeface="+mn-ea"/>
                <a:cs typeface="+mn-cs"/>
              </a:rPr>
              <a:t>:   </a:t>
            </a:r>
            <a:r>
              <a:rPr lang="tr-TR" sz="2000" dirty="0">
                <a:solidFill>
                  <a:schemeClr val="tx1"/>
                </a:solidFill>
                <a:latin typeface="+mn-lt"/>
                <a:ea typeface="+mn-ea"/>
                <a:cs typeface="+mn-cs"/>
              </a:rPr>
              <a:t>29</a:t>
            </a:r>
            <a:r>
              <a:rPr lang="tr-TR" sz="2000" baseline="-25000" dirty="0">
                <a:solidFill>
                  <a:schemeClr val="tx1"/>
                </a:solidFill>
                <a:latin typeface="+mn-lt"/>
                <a:ea typeface="+mn-ea"/>
                <a:cs typeface="+mn-cs"/>
              </a:rPr>
              <a:t>16     </a:t>
            </a:r>
            <a:r>
              <a:rPr lang="tr-TR" sz="2000" dirty="0">
                <a:solidFill>
                  <a:schemeClr val="tx1"/>
                </a:solidFill>
                <a:latin typeface="+mn-lt"/>
                <a:ea typeface="+mn-ea"/>
                <a:cs typeface="+mn-cs"/>
              </a:rPr>
              <a:t>    	9</a:t>
            </a:r>
            <a:r>
              <a:rPr lang="tr-TR" sz="2000" baseline="-25000" dirty="0">
                <a:solidFill>
                  <a:schemeClr val="tx1"/>
                </a:solidFill>
                <a:latin typeface="+mn-lt"/>
                <a:ea typeface="+mn-ea"/>
                <a:cs typeface="+mn-cs"/>
              </a:rPr>
              <a:t>16</a:t>
            </a:r>
            <a:r>
              <a:rPr lang="tr-TR" sz="2000" dirty="0">
                <a:solidFill>
                  <a:schemeClr val="tx1"/>
                </a:solidFill>
                <a:latin typeface="+mn-lt"/>
                <a:ea typeface="+mn-ea"/>
                <a:cs typeface="+mn-cs"/>
              </a:rPr>
              <a:t>+A</a:t>
            </a:r>
            <a:r>
              <a:rPr lang="tr-TR" sz="2000" baseline="-25000" dirty="0">
                <a:solidFill>
                  <a:schemeClr val="tx1"/>
                </a:solidFill>
                <a:latin typeface="+mn-lt"/>
                <a:ea typeface="+mn-ea"/>
                <a:cs typeface="+mn-cs"/>
              </a:rPr>
              <a:t>16 </a:t>
            </a:r>
            <a:r>
              <a:rPr lang="tr-TR" sz="2000" dirty="0">
                <a:solidFill>
                  <a:schemeClr val="tx1"/>
                </a:solidFill>
                <a:latin typeface="+mn-lt"/>
                <a:ea typeface="+mn-ea"/>
                <a:cs typeface="+mn-cs"/>
              </a:rPr>
              <a:t>= 9</a:t>
            </a:r>
            <a:r>
              <a:rPr lang="tr-TR" sz="2000" baseline="-25000" dirty="0">
                <a:solidFill>
                  <a:schemeClr val="tx1"/>
                </a:solidFill>
                <a:latin typeface="+mn-lt"/>
                <a:ea typeface="+mn-ea"/>
                <a:cs typeface="+mn-cs"/>
              </a:rPr>
              <a:t>10</a:t>
            </a:r>
            <a:r>
              <a:rPr lang="tr-TR" sz="2000" dirty="0">
                <a:solidFill>
                  <a:schemeClr val="tx1"/>
                </a:solidFill>
                <a:latin typeface="+mn-lt"/>
                <a:ea typeface="+mn-ea"/>
                <a:cs typeface="+mn-cs"/>
              </a:rPr>
              <a:t>+10</a:t>
            </a:r>
            <a:r>
              <a:rPr lang="tr-TR" sz="2000" baseline="-25000" dirty="0">
                <a:solidFill>
                  <a:schemeClr val="tx1"/>
                </a:solidFill>
                <a:latin typeface="+mn-lt"/>
                <a:ea typeface="+mn-ea"/>
                <a:cs typeface="+mn-cs"/>
              </a:rPr>
              <a:t>10 </a:t>
            </a:r>
            <a:r>
              <a:rPr lang="tr-TR" sz="2000" dirty="0">
                <a:solidFill>
                  <a:schemeClr val="tx1"/>
                </a:solidFill>
                <a:latin typeface="+mn-lt"/>
                <a:ea typeface="+mn-ea"/>
                <a:cs typeface="+mn-cs"/>
              </a:rPr>
              <a:t>= 19</a:t>
            </a:r>
            <a:r>
              <a:rPr lang="tr-TR" sz="2000" baseline="-25000" dirty="0">
                <a:solidFill>
                  <a:schemeClr val="tx1"/>
                </a:solidFill>
                <a:latin typeface="+mn-lt"/>
                <a:ea typeface="+mn-ea"/>
                <a:cs typeface="+mn-cs"/>
              </a:rPr>
              <a:t>10</a:t>
            </a:r>
            <a:endParaRPr lang="tr-TR" sz="2000" dirty="0">
              <a:solidFill>
                <a:schemeClr val="tx1"/>
              </a:solidFill>
              <a:latin typeface="+mn-lt"/>
              <a:ea typeface="+mn-ea"/>
              <a:cs typeface="+mn-cs"/>
            </a:endParaRPr>
          </a:p>
          <a:p>
            <a:pPr>
              <a:buNone/>
            </a:pPr>
            <a:r>
              <a:rPr lang="tr-TR" sz="2000" dirty="0">
                <a:solidFill>
                  <a:schemeClr val="tx1"/>
                </a:solidFill>
                <a:latin typeface="+mn-lt"/>
                <a:ea typeface="+mn-ea"/>
                <a:cs typeface="+mn-cs"/>
              </a:rPr>
              <a:t>            </a:t>
            </a:r>
            <a:r>
              <a:rPr lang="en-US" sz="2000" dirty="0">
                <a:solidFill>
                  <a:schemeClr val="tx1"/>
                </a:solidFill>
                <a:latin typeface="+mn-lt"/>
                <a:ea typeface="+mn-ea"/>
                <a:cs typeface="+mn-cs"/>
              </a:rPr>
              <a:t>    </a:t>
            </a:r>
            <a:r>
              <a:rPr lang="tr-TR" sz="2000" dirty="0">
                <a:solidFill>
                  <a:schemeClr val="tx1"/>
                </a:solidFill>
                <a:latin typeface="+mn-lt"/>
                <a:ea typeface="+mn-ea"/>
                <a:cs typeface="+mn-cs"/>
              </a:rPr>
              <a:t>+</a:t>
            </a:r>
            <a:r>
              <a:rPr lang="en-US" sz="2000" dirty="0">
                <a:solidFill>
                  <a:schemeClr val="tx1"/>
                </a:solidFill>
                <a:latin typeface="+mn-lt"/>
                <a:ea typeface="+mn-ea"/>
                <a:cs typeface="+mn-cs"/>
              </a:rPr>
              <a:t> </a:t>
            </a:r>
            <a:r>
              <a:rPr lang="tr-TR" sz="2000" dirty="0">
                <a:solidFill>
                  <a:schemeClr val="tx1"/>
                </a:solidFill>
                <a:latin typeface="+mn-lt"/>
                <a:ea typeface="+mn-ea"/>
                <a:cs typeface="+mn-cs"/>
              </a:rPr>
              <a:t>1A</a:t>
            </a:r>
            <a:r>
              <a:rPr lang="tr-TR" sz="2000" baseline="-25000" dirty="0">
                <a:solidFill>
                  <a:schemeClr val="tx1"/>
                </a:solidFill>
                <a:latin typeface="+mn-lt"/>
                <a:ea typeface="+mn-ea"/>
                <a:cs typeface="+mn-cs"/>
              </a:rPr>
              <a:t>16		</a:t>
            </a:r>
            <a:r>
              <a:rPr lang="tr-TR" sz="2000" dirty="0">
                <a:solidFill>
                  <a:schemeClr val="tx1"/>
                </a:solidFill>
                <a:latin typeface="+mn-lt"/>
                <a:ea typeface="+mn-ea"/>
                <a:cs typeface="+mn-cs"/>
              </a:rPr>
              <a:t>19-16 = 3 </a:t>
            </a:r>
            <a:r>
              <a:rPr lang="en-US" sz="2000" dirty="0">
                <a:solidFill>
                  <a:schemeClr val="tx1"/>
                </a:solidFill>
                <a:latin typeface="+mn-lt"/>
                <a:ea typeface="+mn-ea"/>
                <a:cs typeface="+mn-cs"/>
              </a:rPr>
              <a:t>carry</a:t>
            </a:r>
            <a:r>
              <a:rPr lang="tr-TR" sz="2000" dirty="0">
                <a:solidFill>
                  <a:schemeClr val="tx1"/>
                </a:solidFill>
                <a:latin typeface="+mn-lt"/>
                <a:ea typeface="+mn-ea"/>
                <a:cs typeface="+mn-cs"/>
              </a:rPr>
              <a:t> 1</a:t>
            </a:r>
          </a:p>
          <a:p>
            <a:pPr>
              <a:buNone/>
            </a:pPr>
            <a:r>
              <a:rPr lang="tr-TR" sz="2000" b="1" dirty="0">
                <a:solidFill>
                  <a:schemeClr val="tx1"/>
                </a:solidFill>
                <a:latin typeface="+mn-lt"/>
                <a:ea typeface="+mn-ea"/>
                <a:cs typeface="+mn-cs"/>
              </a:rPr>
              <a:t>               </a:t>
            </a:r>
            <a:r>
              <a:rPr lang="en-US" sz="2000" b="1" dirty="0">
                <a:solidFill>
                  <a:schemeClr val="tx1"/>
                </a:solidFill>
                <a:latin typeface="+mn-lt"/>
                <a:ea typeface="+mn-ea"/>
                <a:cs typeface="+mn-cs"/>
              </a:rPr>
              <a:t>    </a:t>
            </a:r>
            <a:r>
              <a:rPr lang="tr-TR" sz="2000" dirty="0">
                <a:solidFill>
                  <a:schemeClr val="tx1"/>
                </a:solidFill>
                <a:latin typeface="+mn-lt"/>
                <a:ea typeface="+mn-ea"/>
                <a:cs typeface="+mn-cs"/>
              </a:rPr>
              <a:t>43</a:t>
            </a:r>
            <a:r>
              <a:rPr lang="tr-TR" sz="2000" baseline="-25000" dirty="0">
                <a:solidFill>
                  <a:schemeClr val="tx1"/>
                </a:solidFill>
                <a:latin typeface="+mn-lt"/>
                <a:ea typeface="+mn-ea"/>
                <a:cs typeface="+mn-cs"/>
              </a:rPr>
              <a:t>16</a:t>
            </a:r>
            <a:r>
              <a:rPr lang="tr-TR" sz="2000" dirty="0">
                <a:solidFill>
                  <a:schemeClr val="tx1"/>
                </a:solidFill>
                <a:latin typeface="+mn-lt"/>
                <a:ea typeface="+mn-ea"/>
                <a:cs typeface="+mn-cs"/>
              </a:rPr>
              <a:t>		2+1+1(</a:t>
            </a:r>
            <a:r>
              <a:rPr lang="en-US" sz="2000" dirty="0">
                <a:solidFill>
                  <a:schemeClr val="tx1"/>
                </a:solidFill>
                <a:latin typeface="+mn-lt"/>
                <a:ea typeface="+mn-ea"/>
                <a:cs typeface="+mn-cs"/>
              </a:rPr>
              <a:t>carry</a:t>
            </a:r>
            <a:r>
              <a:rPr lang="tr-TR" sz="2000" dirty="0">
                <a:solidFill>
                  <a:schemeClr val="tx1"/>
                </a:solidFill>
                <a:latin typeface="+mn-lt"/>
                <a:ea typeface="+mn-ea"/>
                <a:cs typeface="+mn-cs"/>
              </a:rPr>
              <a:t>) = 4</a:t>
            </a:r>
          </a:p>
          <a:p>
            <a:pPr>
              <a:buNone/>
            </a:pPr>
            <a:r>
              <a:rPr lang="tr-TR" sz="2000" dirty="0">
                <a:solidFill>
                  <a:schemeClr val="tx1"/>
                </a:solidFill>
                <a:latin typeface="+mn-lt"/>
                <a:ea typeface="+mn-ea"/>
                <a:cs typeface="+mn-cs"/>
              </a:rPr>
              <a:t> </a:t>
            </a:r>
          </a:p>
          <a:p>
            <a:pPr>
              <a:buNone/>
            </a:pPr>
            <a:r>
              <a:rPr lang="en-US" sz="2000" b="1" dirty="0">
                <a:solidFill>
                  <a:schemeClr val="tx1"/>
                </a:solidFill>
                <a:latin typeface="+mn-lt"/>
                <a:ea typeface="+mn-ea"/>
                <a:cs typeface="+mn-cs"/>
              </a:rPr>
              <a:t>Example</a:t>
            </a:r>
            <a:r>
              <a:rPr lang="tr-TR" sz="2000" b="1" dirty="0">
                <a:solidFill>
                  <a:schemeClr val="tx1"/>
                </a:solidFill>
                <a:latin typeface="+mn-lt"/>
                <a:ea typeface="+mn-ea"/>
                <a:cs typeface="+mn-cs"/>
              </a:rPr>
              <a:t>:   </a:t>
            </a:r>
            <a:r>
              <a:rPr lang="tr-TR" sz="2000" dirty="0">
                <a:solidFill>
                  <a:schemeClr val="tx1"/>
                </a:solidFill>
                <a:latin typeface="+mn-lt"/>
                <a:ea typeface="+mn-ea"/>
                <a:cs typeface="+mn-cs"/>
              </a:rPr>
              <a:t>EF</a:t>
            </a:r>
            <a:r>
              <a:rPr lang="tr-TR" sz="2000" baseline="-25000" dirty="0">
                <a:solidFill>
                  <a:schemeClr val="tx1"/>
                </a:solidFill>
                <a:latin typeface="+mn-lt"/>
                <a:ea typeface="+mn-ea"/>
                <a:cs typeface="+mn-cs"/>
              </a:rPr>
              <a:t>16     </a:t>
            </a:r>
            <a:r>
              <a:rPr lang="tr-TR" sz="2000" dirty="0">
                <a:solidFill>
                  <a:schemeClr val="tx1"/>
                </a:solidFill>
                <a:latin typeface="+mn-lt"/>
                <a:ea typeface="+mn-ea"/>
                <a:cs typeface="+mn-cs"/>
              </a:rPr>
              <a:t>    	F</a:t>
            </a:r>
            <a:r>
              <a:rPr lang="tr-TR" sz="2000" baseline="-25000" dirty="0">
                <a:solidFill>
                  <a:schemeClr val="tx1"/>
                </a:solidFill>
                <a:latin typeface="+mn-lt"/>
                <a:ea typeface="+mn-ea"/>
                <a:cs typeface="+mn-cs"/>
              </a:rPr>
              <a:t>16</a:t>
            </a:r>
            <a:r>
              <a:rPr lang="tr-TR" sz="2000" dirty="0">
                <a:solidFill>
                  <a:schemeClr val="tx1"/>
                </a:solidFill>
                <a:latin typeface="+mn-lt"/>
                <a:ea typeface="+mn-ea"/>
                <a:cs typeface="+mn-cs"/>
              </a:rPr>
              <a:t>+B</a:t>
            </a:r>
            <a:r>
              <a:rPr lang="tr-TR" sz="2000" baseline="-25000" dirty="0">
                <a:solidFill>
                  <a:schemeClr val="tx1"/>
                </a:solidFill>
                <a:latin typeface="+mn-lt"/>
                <a:ea typeface="+mn-ea"/>
                <a:cs typeface="+mn-cs"/>
              </a:rPr>
              <a:t>16 </a:t>
            </a:r>
            <a:r>
              <a:rPr lang="tr-TR" sz="2000" dirty="0">
                <a:solidFill>
                  <a:schemeClr val="tx1"/>
                </a:solidFill>
                <a:latin typeface="+mn-lt"/>
                <a:ea typeface="+mn-ea"/>
                <a:cs typeface="+mn-cs"/>
              </a:rPr>
              <a:t>= 15</a:t>
            </a:r>
            <a:r>
              <a:rPr lang="tr-TR" sz="2000" baseline="-25000" dirty="0">
                <a:solidFill>
                  <a:schemeClr val="tx1"/>
                </a:solidFill>
                <a:latin typeface="+mn-lt"/>
                <a:ea typeface="+mn-ea"/>
                <a:cs typeface="+mn-cs"/>
              </a:rPr>
              <a:t>10</a:t>
            </a:r>
            <a:r>
              <a:rPr lang="tr-TR" sz="2000" dirty="0">
                <a:solidFill>
                  <a:schemeClr val="tx1"/>
                </a:solidFill>
                <a:latin typeface="+mn-lt"/>
                <a:ea typeface="+mn-ea"/>
                <a:cs typeface="+mn-cs"/>
              </a:rPr>
              <a:t>+11</a:t>
            </a:r>
            <a:r>
              <a:rPr lang="tr-TR" sz="2000" baseline="-25000" dirty="0">
                <a:solidFill>
                  <a:schemeClr val="tx1"/>
                </a:solidFill>
                <a:latin typeface="+mn-lt"/>
                <a:ea typeface="+mn-ea"/>
                <a:cs typeface="+mn-cs"/>
              </a:rPr>
              <a:t>10 </a:t>
            </a:r>
            <a:r>
              <a:rPr lang="tr-TR" sz="2000" dirty="0">
                <a:solidFill>
                  <a:schemeClr val="tx1"/>
                </a:solidFill>
                <a:latin typeface="+mn-lt"/>
                <a:ea typeface="+mn-ea"/>
                <a:cs typeface="+mn-cs"/>
              </a:rPr>
              <a:t>= 26</a:t>
            </a:r>
            <a:r>
              <a:rPr lang="tr-TR" sz="2000" baseline="-25000" dirty="0">
                <a:solidFill>
                  <a:schemeClr val="tx1"/>
                </a:solidFill>
                <a:latin typeface="+mn-lt"/>
                <a:ea typeface="+mn-ea"/>
                <a:cs typeface="+mn-cs"/>
              </a:rPr>
              <a:t>10</a:t>
            </a:r>
            <a:endParaRPr lang="tr-TR" sz="2000" dirty="0">
              <a:solidFill>
                <a:schemeClr val="tx1"/>
              </a:solidFill>
              <a:latin typeface="+mn-lt"/>
              <a:ea typeface="+mn-ea"/>
              <a:cs typeface="+mn-cs"/>
            </a:endParaRPr>
          </a:p>
          <a:p>
            <a:pPr>
              <a:buNone/>
            </a:pPr>
            <a:r>
              <a:rPr lang="tr-TR" sz="2000" dirty="0">
                <a:solidFill>
                  <a:schemeClr val="tx1"/>
                </a:solidFill>
                <a:latin typeface="+mn-lt"/>
                <a:ea typeface="+mn-ea"/>
                <a:cs typeface="+mn-cs"/>
              </a:rPr>
              <a:t>            </a:t>
            </a:r>
            <a:r>
              <a:rPr lang="en-US" sz="2000" dirty="0">
                <a:solidFill>
                  <a:schemeClr val="tx1"/>
                </a:solidFill>
                <a:latin typeface="+mn-lt"/>
                <a:ea typeface="+mn-ea"/>
                <a:cs typeface="+mn-cs"/>
              </a:rPr>
              <a:t>    </a:t>
            </a:r>
            <a:r>
              <a:rPr lang="tr-TR" sz="2000" dirty="0">
                <a:solidFill>
                  <a:schemeClr val="tx1"/>
                </a:solidFill>
                <a:latin typeface="+mn-lt"/>
                <a:ea typeface="+mn-ea"/>
                <a:cs typeface="+mn-cs"/>
              </a:rPr>
              <a:t>+</a:t>
            </a:r>
            <a:r>
              <a:rPr lang="en-US" sz="2000" dirty="0">
                <a:solidFill>
                  <a:schemeClr val="tx1"/>
                </a:solidFill>
                <a:latin typeface="+mn-lt"/>
                <a:ea typeface="+mn-ea"/>
                <a:cs typeface="+mn-cs"/>
              </a:rPr>
              <a:t> </a:t>
            </a:r>
            <a:r>
              <a:rPr lang="tr-TR" sz="2000" dirty="0">
                <a:solidFill>
                  <a:schemeClr val="tx1"/>
                </a:solidFill>
                <a:latin typeface="+mn-lt"/>
                <a:ea typeface="+mn-ea"/>
                <a:cs typeface="+mn-cs"/>
              </a:rPr>
              <a:t>9B</a:t>
            </a:r>
            <a:r>
              <a:rPr lang="tr-TR" sz="2000" baseline="-25000" dirty="0">
                <a:solidFill>
                  <a:schemeClr val="tx1"/>
                </a:solidFill>
                <a:latin typeface="+mn-lt"/>
                <a:ea typeface="+mn-ea"/>
                <a:cs typeface="+mn-cs"/>
              </a:rPr>
              <a:t>16		</a:t>
            </a:r>
            <a:r>
              <a:rPr lang="tr-TR" sz="2000" dirty="0">
                <a:solidFill>
                  <a:schemeClr val="tx1"/>
                </a:solidFill>
                <a:latin typeface="+mn-lt"/>
                <a:ea typeface="+mn-ea"/>
                <a:cs typeface="+mn-cs"/>
              </a:rPr>
              <a:t>26-16 = 10 = A</a:t>
            </a:r>
            <a:r>
              <a:rPr lang="tr-TR" sz="2000" baseline="-25000" dirty="0">
                <a:solidFill>
                  <a:schemeClr val="tx1"/>
                </a:solidFill>
                <a:latin typeface="+mn-lt"/>
                <a:ea typeface="+mn-ea"/>
                <a:cs typeface="+mn-cs"/>
              </a:rPr>
              <a:t>16</a:t>
            </a:r>
            <a:r>
              <a:rPr lang="tr-TR" sz="2000" dirty="0">
                <a:solidFill>
                  <a:schemeClr val="tx1"/>
                </a:solidFill>
                <a:latin typeface="+mn-lt"/>
                <a:ea typeface="+mn-ea"/>
                <a:cs typeface="+mn-cs"/>
              </a:rPr>
              <a:t> </a:t>
            </a:r>
            <a:r>
              <a:rPr lang="en-US" sz="2000" dirty="0">
                <a:solidFill>
                  <a:schemeClr val="tx1"/>
                </a:solidFill>
                <a:latin typeface="+mn-lt"/>
                <a:ea typeface="+mn-ea"/>
                <a:cs typeface="+mn-cs"/>
              </a:rPr>
              <a:t>carry</a:t>
            </a:r>
            <a:r>
              <a:rPr lang="tr-TR" sz="2000" dirty="0">
                <a:solidFill>
                  <a:schemeClr val="tx1"/>
                </a:solidFill>
                <a:latin typeface="+mn-lt"/>
                <a:ea typeface="+mn-ea"/>
                <a:cs typeface="+mn-cs"/>
              </a:rPr>
              <a:t> 1</a:t>
            </a:r>
          </a:p>
          <a:p>
            <a:pPr>
              <a:buNone/>
            </a:pPr>
            <a:r>
              <a:rPr lang="tr-TR" sz="2000" b="1" dirty="0">
                <a:solidFill>
                  <a:schemeClr val="tx1"/>
                </a:solidFill>
                <a:latin typeface="+mn-lt"/>
                <a:ea typeface="+mn-ea"/>
                <a:cs typeface="+mn-cs"/>
              </a:rPr>
              <a:t>              </a:t>
            </a:r>
            <a:r>
              <a:rPr lang="en-US" sz="2000" b="1" dirty="0">
                <a:solidFill>
                  <a:schemeClr val="tx1"/>
                </a:solidFill>
                <a:latin typeface="+mn-lt"/>
                <a:ea typeface="+mn-ea"/>
                <a:cs typeface="+mn-cs"/>
              </a:rPr>
              <a:t>    </a:t>
            </a:r>
            <a:r>
              <a:rPr lang="tr-TR" sz="2000" dirty="0">
                <a:solidFill>
                  <a:schemeClr val="tx1"/>
                </a:solidFill>
                <a:latin typeface="+mn-lt"/>
                <a:ea typeface="+mn-ea"/>
                <a:cs typeface="+mn-cs"/>
              </a:rPr>
              <a:t>18A</a:t>
            </a:r>
            <a:r>
              <a:rPr lang="tr-TR" sz="2000" baseline="-25000" dirty="0">
                <a:solidFill>
                  <a:schemeClr val="tx1"/>
                </a:solidFill>
                <a:latin typeface="+mn-lt"/>
                <a:ea typeface="+mn-ea"/>
                <a:cs typeface="+mn-cs"/>
              </a:rPr>
              <a:t>16</a:t>
            </a:r>
            <a:r>
              <a:rPr lang="tr-TR" sz="2000" dirty="0">
                <a:solidFill>
                  <a:schemeClr val="tx1"/>
                </a:solidFill>
                <a:latin typeface="+mn-lt"/>
                <a:ea typeface="+mn-ea"/>
                <a:cs typeface="+mn-cs"/>
              </a:rPr>
              <a:t>		</a:t>
            </a:r>
          </a:p>
          <a:p>
            <a:pPr>
              <a:buNone/>
            </a:pPr>
            <a:r>
              <a:rPr lang="tr-TR" sz="2000" dirty="0">
                <a:solidFill>
                  <a:schemeClr val="tx1"/>
                </a:solidFill>
                <a:latin typeface="+mn-lt"/>
                <a:ea typeface="+mn-ea"/>
                <a:cs typeface="+mn-cs"/>
              </a:rPr>
              <a:t>				E</a:t>
            </a:r>
            <a:r>
              <a:rPr lang="tr-TR" sz="2000" baseline="-25000" dirty="0">
                <a:solidFill>
                  <a:schemeClr val="tx1"/>
                </a:solidFill>
                <a:latin typeface="+mn-lt"/>
                <a:ea typeface="+mn-ea"/>
                <a:cs typeface="+mn-cs"/>
              </a:rPr>
              <a:t>16</a:t>
            </a:r>
            <a:r>
              <a:rPr lang="tr-TR" sz="2000" dirty="0">
                <a:solidFill>
                  <a:schemeClr val="tx1"/>
                </a:solidFill>
                <a:latin typeface="+mn-lt"/>
                <a:ea typeface="+mn-ea"/>
                <a:cs typeface="+mn-cs"/>
              </a:rPr>
              <a:t>+9</a:t>
            </a:r>
            <a:r>
              <a:rPr lang="tr-TR" sz="2000" baseline="-25000" dirty="0">
                <a:solidFill>
                  <a:schemeClr val="tx1"/>
                </a:solidFill>
                <a:latin typeface="+mn-lt"/>
                <a:ea typeface="+mn-ea"/>
                <a:cs typeface="+mn-cs"/>
              </a:rPr>
              <a:t>16</a:t>
            </a:r>
            <a:r>
              <a:rPr lang="tr-TR" sz="2000" dirty="0">
                <a:solidFill>
                  <a:schemeClr val="tx1"/>
                </a:solidFill>
                <a:latin typeface="+mn-lt"/>
                <a:ea typeface="+mn-ea"/>
                <a:cs typeface="+mn-cs"/>
              </a:rPr>
              <a:t>+1(</a:t>
            </a:r>
            <a:r>
              <a:rPr lang="en-US" sz="2000" dirty="0">
                <a:solidFill>
                  <a:schemeClr val="tx1"/>
                </a:solidFill>
                <a:latin typeface="+mn-lt"/>
                <a:ea typeface="+mn-ea"/>
                <a:cs typeface="+mn-cs"/>
              </a:rPr>
              <a:t>carry</a:t>
            </a:r>
            <a:r>
              <a:rPr lang="tr-TR" sz="2000" dirty="0">
                <a:solidFill>
                  <a:schemeClr val="tx1"/>
                </a:solidFill>
                <a:latin typeface="+mn-lt"/>
                <a:ea typeface="+mn-ea"/>
                <a:cs typeface="+mn-cs"/>
              </a:rPr>
              <a:t>) = 14</a:t>
            </a:r>
            <a:r>
              <a:rPr lang="tr-TR" sz="2000" baseline="-25000" dirty="0">
                <a:solidFill>
                  <a:schemeClr val="tx1"/>
                </a:solidFill>
                <a:latin typeface="+mn-lt"/>
                <a:ea typeface="+mn-ea"/>
                <a:cs typeface="+mn-cs"/>
              </a:rPr>
              <a:t>10</a:t>
            </a:r>
            <a:r>
              <a:rPr lang="tr-TR" sz="2000" dirty="0">
                <a:solidFill>
                  <a:schemeClr val="tx1"/>
                </a:solidFill>
                <a:latin typeface="+mn-lt"/>
                <a:ea typeface="+mn-ea"/>
                <a:cs typeface="+mn-cs"/>
              </a:rPr>
              <a:t>+9</a:t>
            </a:r>
            <a:r>
              <a:rPr lang="tr-TR" sz="2000" baseline="-25000" dirty="0">
                <a:solidFill>
                  <a:schemeClr val="tx1"/>
                </a:solidFill>
                <a:latin typeface="+mn-lt"/>
                <a:ea typeface="+mn-ea"/>
                <a:cs typeface="+mn-cs"/>
              </a:rPr>
              <a:t>10</a:t>
            </a:r>
            <a:r>
              <a:rPr lang="tr-TR" sz="2000" dirty="0">
                <a:solidFill>
                  <a:schemeClr val="tx1"/>
                </a:solidFill>
                <a:latin typeface="+mn-lt"/>
                <a:ea typeface="+mn-ea"/>
                <a:cs typeface="+mn-cs"/>
              </a:rPr>
              <a:t>+1=24</a:t>
            </a:r>
            <a:r>
              <a:rPr lang="tr-TR" sz="2000" baseline="-25000" dirty="0">
                <a:solidFill>
                  <a:schemeClr val="tx1"/>
                </a:solidFill>
                <a:latin typeface="+mn-lt"/>
                <a:ea typeface="+mn-ea"/>
                <a:cs typeface="+mn-cs"/>
              </a:rPr>
              <a:t>10</a:t>
            </a:r>
            <a:endParaRPr lang="tr-TR" sz="2000" dirty="0">
              <a:solidFill>
                <a:schemeClr val="tx1"/>
              </a:solidFill>
              <a:latin typeface="+mn-lt"/>
              <a:ea typeface="+mn-ea"/>
              <a:cs typeface="+mn-cs"/>
            </a:endParaRPr>
          </a:p>
          <a:p>
            <a:pPr>
              <a:buNone/>
            </a:pPr>
            <a:r>
              <a:rPr lang="tr-TR" sz="2000" dirty="0">
                <a:solidFill>
                  <a:schemeClr val="tx1"/>
                </a:solidFill>
                <a:latin typeface="+mn-lt"/>
                <a:ea typeface="+mn-ea"/>
                <a:cs typeface="+mn-cs"/>
              </a:rPr>
              <a:t>				24-16 = 8 </a:t>
            </a:r>
            <a:r>
              <a:rPr lang="en-US" sz="2000" dirty="0">
                <a:solidFill>
                  <a:schemeClr val="tx1"/>
                </a:solidFill>
                <a:latin typeface="+mn-lt"/>
                <a:ea typeface="+mn-ea"/>
                <a:cs typeface="+mn-cs"/>
              </a:rPr>
              <a:t>carry</a:t>
            </a:r>
            <a:r>
              <a:rPr lang="tr-TR" sz="2000" dirty="0">
                <a:solidFill>
                  <a:schemeClr val="tx1"/>
                </a:solidFill>
                <a:latin typeface="+mn-lt"/>
                <a:ea typeface="+mn-ea"/>
                <a:cs typeface="+mn-cs"/>
              </a:rPr>
              <a:t> 1</a:t>
            </a:r>
          </a:p>
          <a:p>
            <a:pPr marL="0" indent="0" algn="just">
              <a:buNone/>
            </a:pPr>
            <a:endParaRPr lang="tr-TR" sz="2000" dirty="0">
              <a:solidFill>
                <a:schemeClr val="tx1"/>
              </a:solidFill>
              <a:latin typeface="+mn-lt"/>
              <a:ea typeface="+mn-ea"/>
              <a:cs typeface="+mn-cs"/>
            </a:endParaRPr>
          </a:p>
          <a:p>
            <a:pPr>
              <a:buNone/>
            </a:pPr>
            <a:endParaRPr lang="tr-TR" dirty="0"/>
          </a:p>
        </p:txBody>
      </p:sp>
      <p:sp>
        <p:nvSpPr>
          <p:cNvPr id="4" name="3 Altbilgi Yer Tutucusu"/>
          <p:cNvSpPr>
            <a:spLocks noGrp="1"/>
          </p:cNvSpPr>
          <p:nvPr>
            <p:ph type="ftr" sz="quarter" idx="10"/>
          </p:nvPr>
        </p:nvSpPr>
        <p:spPr/>
        <p:txBody>
          <a:bodyPr/>
          <a:lstStyle/>
          <a:p>
            <a:r>
              <a:rPr lang="en-US" dirty="0"/>
              <a:t>Logic Circuits</a:t>
            </a:r>
          </a:p>
        </p:txBody>
      </p:sp>
      <p:cxnSp>
        <p:nvCxnSpPr>
          <p:cNvPr id="5" name="4 Düz Bağlayıcı"/>
          <p:cNvCxnSpPr/>
          <p:nvPr/>
        </p:nvCxnSpPr>
        <p:spPr bwMode="auto">
          <a:xfrm>
            <a:off x="1544023" y="3573195"/>
            <a:ext cx="436098"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6" name="5 Düz Bağlayıcı"/>
          <p:cNvCxnSpPr/>
          <p:nvPr/>
        </p:nvCxnSpPr>
        <p:spPr bwMode="auto">
          <a:xfrm>
            <a:off x="1515872" y="5064376"/>
            <a:ext cx="436098"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en-US" sz="2400" b="1" dirty="0"/>
              <a:t>Subtraction on Hexadecimal Numbers</a:t>
            </a:r>
            <a:endParaRPr lang="tr-TR" sz="2400" dirty="0"/>
          </a:p>
        </p:txBody>
      </p:sp>
      <p:sp>
        <p:nvSpPr>
          <p:cNvPr id="3" name="2 İçerik Yer Tutucusu"/>
          <p:cNvSpPr>
            <a:spLocks noGrp="1"/>
          </p:cNvSpPr>
          <p:nvPr>
            <p:ph idx="1"/>
          </p:nvPr>
        </p:nvSpPr>
        <p:spPr>
          <a:xfrm>
            <a:off x="374650" y="874121"/>
            <a:ext cx="8375650" cy="5078412"/>
          </a:xfrm>
        </p:spPr>
        <p:txBody>
          <a:bodyPr/>
          <a:lstStyle/>
          <a:p>
            <a:pPr marL="0" indent="0" algn="just">
              <a:buNone/>
            </a:pPr>
            <a:r>
              <a:rPr lang="en-US" sz="2200" dirty="0"/>
              <a:t>As you remember, we do binary subtraction by converting the second number to two’s complement and then adding up these two numbers.</a:t>
            </a:r>
            <a:endParaRPr lang="en-US" sz="2200" dirty="0">
              <a:solidFill>
                <a:schemeClr val="tx1"/>
              </a:solidFill>
              <a:latin typeface="+mn-lt"/>
              <a:ea typeface="+mn-ea"/>
              <a:cs typeface="+mn-cs"/>
            </a:endParaRPr>
          </a:p>
          <a:p>
            <a:pPr marL="0" indent="0" algn="just">
              <a:buNone/>
            </a:pPr>
            <a:r>
              <a:rPr lang="en-US" sz="2200" dirty="0">
                <a:solidFill>
                  <a:schemeClr val="tx1"/>
                </a:solidFill>
                <a:latin typeface="+mn-lt"/>
                <a:ea typeface="+mn-ea"/>
                <a:cs typeface="+mn-cs"/>
              </a:rPr>
              <a:t>We can use the same method </a:t>
            </a:r>
            <a:r>
              <a:rPr lang="en-US" sz="2200" dirty="0"/>
              <a:t>to do hexadecimal subtraction. </a:t>
            </a:r>
            <a:r>
              <a:rPr lang="en-US" sz="2200" dirty="0">
                <a:solidFill>
                  <a:schemeClr val="tx1"/>
                </a:solidFill>
                <a:latin typeface="+mn-lt"/>
                <a:ea typeface="+mn-ea"/>
                <a:cs typeface="+mn-cs"/>
              </a:rPr>
              <a:t>To do this, we first convert the second number to binary, calculate two’s complement, and convert back to hexadecimal. Then add the numbers.</a:t>
            </a:r>
            <a:endParaRPr lang="tr-TR" sz="2200" dirty="0">
              <a:solidFill>
                <a:schemeClr val="tx1"/>
              </a:solidFill>
              <a:latin typeface="+mn-lt"/>
              <a:ea typeface="+mn-ea"/>
              <a:cs typeface="+mn-cs"/>
            </a:endParaRPr>
          </a:p>
          <a:p>
            <a:pPr>
              <a:buNone/>
            </a:pPr>
            <a:endParaRPr lang="tr-TR" sz="1000" dirty="0">
              <a:solidFill>
                <a:schemeClr val="tx1"/>
              </a:solidFill>
              <a:latin typeface="+mn-lt"/>
              <a:ea typeface="+mn-ea"/>
              <a:cs typeface="+mn-cs"/>
            </a:endParaRPr>
          </a:p>
          <a:p>
            <a:pPr>
              <a:buNone/>
            </a:pPr>
            <a:r>
              <a:rPr lang="en-US" sz="2200" b="1" dirty="0">
                <a:solidFill>
                  <a:schemeClr val="tx1"/>
                </a:solidFill>
                <a:latin typeface="+mn-lt"/>
                <a:ea typeface="+mn-ea"/>
                <a:cs typeface="+mn-cs"/>
              </a:rPr>
              <a:t>Example</a:t>
            </a:r>
            <a:r>
              <a:rPr lang="tr-TR" sz="2200" b="1" dirty="0">
                <a:solidFill>
                  <a:schemeClr val="tx1"/>
                </a:solidFill>
                <a:latin typeface="+mn-lt"/>
                <a:ea typeface="+mn-ea"/>
                <a:cs typeface="+mn-cs"/>
              </a:rPr>
              <a:t>:   </a:t>
            </a:r>
            <a:r>
              <a:rPr lang="en-US" sz="2200" dirty="0">
                <a:solidFill>
                  <a:schemeClr val="tx1"/>
                </a:solidFill>
                <a:latin typeface="+mn-lt"/>
                <a:ea typeface="+mn-ea"/>
                <a:cs typeface="+mn-cs"/>
              </a:rPr>
              <a:t>Let’s calculate </a:t>
            </a:r>
            <a:r>
              <a:rPr lang="tr-TR" sz="2200" dirty="0">
                <a:solidFill>
                  <a:schemeClr val="tx1"/>
                </a:solidFill>
                <a:latin typeface="+mn-lt"/>
                <a:ea typeface="+mn-ea"/>
                <a:cs typeface="+mn-cs"/>
              </a:rPr>
              <a:t>25</a:t>
            </a:r>
            <a:r>
              <a:rPr lang="tr-TR" sz="2200" baseline="-25000" dirty="0">
                <a:solidFill>
                  <a:schemeClr val="tx1"/>
                </a:solidFill>
                <a:latin typeface="+mn-lt"/>
                <a:ea typeface="+mn-ea"/>
                <a:cs typeface="+mn-cs"/>
              </a:rPr>
              <a:t>16</a:t>
            </a:r>
            <a:r>
              <a:rPr lang="tr-TR" sz="2200" dirty="0">
                <a:solidFill>
                  <a:schemeClr val="tx1"/>
                </a:solidFill>
                <a:latin typeface="+mn-lt"/>
                <a:ea typeface="+mn-ea"/>
                <a:cs typeface="+mn-cs"/>
              </a:rPr>
              <a:t> - 1B</a:t>
            </a:r>
            <a:r>
              <a:rPr lang="tr-TR" sz="2200" baseline="-25000" dirty="0">
                <a:solidFill>
                  <a:schemeClr val="tx1"/>
                </a:solidFill>
                <a:latin typeface="+mn-lt"/>
                <a:ea typeface="+mn-ea"/>
                <a:cs typeface="+mn-cs"/>
              </a:rPr>
              <a:t>16</a:t>
            </a:r>
            <a:endParaRPr lang="tr-TR" sz="2200" dirty="0">
              <a:solidFill>
                <a:schemeClr val="tx1"/>
              </a:solidFill>
              <a:latin typeface="+mn-lt"/>
              <a:ea typeface="+mn-ea"/>
              <a:cs typeface="+mn-cs"/>
            </a:endParaRPr>
          </a:p>
          <a:p>
            <a:pPr marL="0" indent="0" algn="just">
              <a:buNone/>
            </a:pPr>
            <a:r>
              <a:rPr lang="tr-TR" sz="2200" dirty="0">
                <a:solidFill>
                  <a:schemeClr val="tx1"/>
                </a:solidFill>
                <a:latin typeface="+mn-lt"/>
                <a:ea typeface="+mn-ea"/>
                <a:cs typeface="+mn-cs"/>
              </a:rPr>
              <a:t>1B</a:t>
            </a:r>
            <a:r>
              <a:rPr lang="tr-TR" sz="2200" baseline="-25000" dirty="0">
                <a:solidFill>
                  <a:schemeClr val="tx1"/>
                </a:solidFill>
                <a:latin typeface="+mn-lt"/>
                <a:ea typeface="+mn-ea"/>
                <a:cs typeface="+mn-cs"/>
              </a:rPr>
              <a:t>16</a:t>
            </a:r>
            <a:r>
              <a:rPr lang="tr-TR" sz="2200" dirty="0">
                <a:solidFill>
                  <a:schemeClr val="tx1"/>
                </a:solidFill>
                <a:latin typeface="+mn-lt"/>
                <a:ea typeface="+mn-ea"/>
                <a:cs typeface="+mn-cs"/>
              </a:rPr>
              <a:t> = 00011011</a:t>
            </a:r>
            <a:r>
              <a:rPr lang="tr-TR" sz="2200" baseline="-25000" dirty="0">
                <a:solidFill>
                  <a:schemeClr val="tx1"/>
                </a:solidFill>
                <a:latin typeface="+mn-lt"/>
                <a:ea typeface="+mn-ea"/>
                <a:cs typeface="+mn-cs"/>
              </a:rPr>
              <a:t>2</a:t>
            </a:r>
            <a:r>
              <a:rPr lang="en-US" sz="2200" dirty="0"/>
              <a:t>. Two’s complement of </a:t>
            </a:r>
            <a:r>
              <a:rPr lang="tr-TR" sz="2200" dirty="0"/>
              <a:t>00011011</a:t>
            </a:r>
            <a:r>
              <a:rPr lang="en-US" sz="2200" dirty="0"/>
              <a:t> is </a:t>
            </a:r>
            <a:r>
              <a:rPr lang="tr-TR" sz="2200" dirty="0">
                <a:solidFill>
                  <a:schemeClr val="tx1"/>
                </a:solidFill>
                <a:latin typeface="+mn-lt"/>
                <a:ea typeface="+mn-ea"/>
                <a:cs typeface="+mn-cs"/>
              </a:rPr>
              <a:t>11100101</a:t>
            </a:r>
            <a:r>
              <a:rPr lang="tr-TR" sz="2200" baseline="-25000" dirty="0">
                <a:solidFill>
                  <a:schemeClr val="tx1"/>
                </a:solidFill>
                <a:latin typeface="+mn-lt"/>
                <a:ea typeface="+mn-ea"/>
                <a:cs typeface="+mn-cs"/>
              </a:rPr>
              <a:t>2</a:t>
            </a:r>
            <a:r>
              <a:rPr lang="en-US" sz="2200" dirty="0">
                <a:solidFill>
                  <a:schemeClr val="tx1"/>
                </a:solidFill>
                <a:latin typeface="+mn-lt"/>
                <a:ea typeface="+mn-ea"/>
                <a:cs typeface="+mn-cs"/>
              </a:rPr>
              <a:t> which is </a:t>
            </a:r>
            <a:r>
              <a:rPr lang="tr-TR" sz="2200" dirty="0">
                <a:solidFill>
                  <a:schemeClr val="tx1"/>
                </a:solidFill>
                <a:latin typeface="+mn-lt"/>
                <a:ea typeface="+mn-ea"/>
                <a:cs typeface="+mn-cs"/>
              </a:rPr>
              <a:t>E5</a:t>
            </a:r>
            <a:r>
              <a:rPr lang="tr-TR" sz="2200" baseline="-25000" dirty="0">
                <a:solidFill>
                  <a:schemeClr val="tx1"/>
                </a:solidFill>
                <a:latin typeface="+mn-lt"/>
                <a:ea typeface="+mn-ea"/>
                <a:cs typeface="+mn-cs"/>
              </a:rPr>
              <a:t>16</a:t>
            </a:r>
            <a:r>
              <a:rPr lang="en-US" sz="2200" dirty="0"/>
              <a:t>.</a:t>
            </a:r>
            <a:endParaRPr lang="tr-TR" sz="2200" dirty="0">
              <a:solidFill>
                <a:schemeClr val="tx1"/>
              </a:solidFill>
              <a:latin typeface="+mn-lt"/>
              <a:ea typeface="+mn-ea"/>
              <a:cs typeface="+mn-cs"/>
            </a:endParaRPr>
          </a:p>
          <a:p>
            <a:pPr>
              <a:buNone/>
            </a:pPr>
            <a:endParaRPr lang="tr-TR" sz="1000" dirty="0">
              <a:solidFill>
                <a:schemeClr val="tx1"/>
              </a:solidFill>
              <a:latin typeface="+mn-lt"/>
              <a:ea typeface="+mn-ea"/>
              <a:cs typeface="+mn-cs"/>
            </a:endParaRPr>
          </a:p>
          <a:p>
            <a:pPr>
              <a:buNone/>
            </a:pPr>
            <a:r>
              <a:rPr lang="tr-TR" sz="2200" dirty="0">
                <a:solidFill>
                  <a:schemeClr val="tx1"/>
                </a:solidFill>
                <a:latin typeface="+mn-lt"/>
                <a:ea typeface="+mn-ea"/>
                <a:cs typeface="+mn-cs"/>
              </a:rPr>
              <a:t>   25</a:t>
            </a:r>
            <a:r>
              <a:rPr lang="tr-TR" sz="2200" baseline="-25000" dirty="0">
                <a:solidFill>
                  <a:schemeClr val="tx1"/>
                </a:solidFill>
                <a:latin typeface="+mn-lt"/>
                <a:ea typeface="+mn-ea"/>
                <a:cs typeface="+mn-cs"/>
              </a:rPr>
              <a:t>16</a:t>
            </a:r>
            <a:endParaRPr lang="tr-TR" sz="2200" dirty="0">
              <a:solidFill>
                <a:schemeClr val="tx1"/>
              </a:solidFill>
              <a:latin typeface="+mn-lt"/>
              <a:ea typeface="+mn-ea"/>
              <a:cs typeface="+mn-cs"/>
            </a:endParaRPr>
          </a:p>
          <a:p>
            <a:pPr>
              <a:buNone/>
            </a:pPr>
            <a:r>
              <a:rPr lang="tr-TR" sz="2200" dirty="0">
                <a:solidFill>
                  <a:schemeClr val="tx1"/>
                </a:solidFill>
                <a:latin typeface="+mn-lt"/>
                <a:ea typeface="+mn-ea"/>
                <a:cs typeface="+mn-cs"/>
              </a:rPr>
              <a:t>+ E5</a:t>
            </a:r>
            <a:r>
              <a:rPr lang="tr-TR" sz="2200" baseline="-25000" dirty="0">
                <a:solidFill>
                  <a:schemeClr val="tx1"/>
                </a:solidFill>
                <a:latin typeface="+mn-lt"/>
                <a:ea typeface="+mn-ea"/>
                <a:cs typeface="+mn-cs"/>
              </a:rPr>
              <a:t>16</a:t>
            </a:r>
            <a:endParaRPr lang="tr-TR" sz="2200" dirty="0">
              <a:solidFill>
                <a:schemeClr val="tx1"/>
              </a:solidFill>
              <a:latin typeface="+mn-lt"/>
              <a:ea typeface="+mn-ea"/>
              <a:cs typeface="+mn-cs"/>
            </a:endParaRPr>
          </a:p>
          <a:p>
            <a:pPr>
              <a:buNone/>
            </a:pPr>
            <a:r>
              <a:rPr lang="tr-TR" sz="2200" dirty="0">
                <a:solidFill>
                  <a:schemeClr val="tx1"/>
                </a:solidFill>
                <a:latin typeface="+mn-lt"/>
                <a:ea typeface="+mn-ea"/>
                <a:cs typeface="+mn-cs"/>
              </a:rPr>
              <a:t> </a:t>
            </a:r>
            <a:r>
              <a:rPr lang="tr-TR" sz="2200" b="1" dirty="0">
                <a:solidFill>
                  <a:srgbClr val="FF0000"/>
                </a:solidFill>
                <a:latin typeface="+mn-lt"/>
                <a:ea typeface="+mn-ea"/>
                <a:cs typeface="+mn-cs"/>
              </a:rPr>
              <a:t>1</a:t>
            </a:r>
            <a:r>
              <a:rPr lang="tr-TR" sz="2200" dirty="0">
                <a:solidFill>
                  <a:schemeClr val="tx1"/>
                </a:solidFill>
                <a:latin typeface="+mn-lt"/>
                <a:ea typeface="+mn-ea"/>
                <a:cs typeface="+mn-cs"/>
              </a:rPr>
              <a:t>0A</a:t>
            </a:r>
            <a:r>
              <a:rPr lang="tr-TR" sz="2200" baseline="-25000" dirty="0">
                <a:solidFill>
                  <a:schemeClr val="tx1"/>
                </a:solidFill>
                <a:latin typeface="+mn-lt"/>
                <a:ea typeface="+mn-ea"/>
                <a:cs typeface="+mn-cs"/>
              </a:rPr>
              <a:t>16	</a:t>
            </a:r>
            <a:r>
              <a:rPr lang="tr-TR" sz="2200" b="1" dirty="0">
                <a:solidFill>
                  <a:schemeClr val="tx1"/>
                </a:solidFill>
                <a:latin typeface="+mn-lt"/>
                <a:ea typeface="+mn-ea"/>
                <a:cs typeface="+mn-cs"/>
              </a:rPr>
              <a:t>  </a:t>
            </a:r>
            <a:r>
              <a:rPr lang="en-US" sz="2200" dirty="0">
                <a:solidFill>
                  <a:schemeClr val="tx1"/>
                </a:solidFill>
                <a:latin typeface="+mn-lt"/>
                <a:ea typeface="+mn-ea"/>
                <a:cs typeface="+mn-cs"/>
              </a:rPr>
              <a:t>The result is 0A</a:t>
            </a:r>
            <a:r>
              <a:rPr lang="en-US" sz="2200" b="1" dirty="0">
                <a:solidFill>
                  <a:schemeClr val="tx1"/>
                </a:solidFill>
                <a:latin typeface="+mn-lt"/>
                <a:ea typeface="+mn-ea"/>
                <a:cs typeface="+mn-cs"/>
              </a:rPr>
              <a:t> </a:t>
            </a:r>
            <a:r>
              <a:rPr lang="en-US" sz="2200" dirty="0">
                <a:solidFill>
                  <a:schemeClr val="tx1"/>
                </a:solidFill>
                <a:latin typeface="+mn-lt"/>
                <a:ea typeface="+mn-ea"/>
                <a:cs typeface="+mn-cs"/>
              </a:rPr>
              <a:t>(</a:t>
            </a:r>
            <a:r>
              <a:rPr lang="en-US" sz="2200" dirty="0"/>
              <a:t>w</a:t>
            </a:r>
            <a:r>
              <a:rPr lang="en-US" sz="2200" dirty="0">
                <a:solidFill>
                  <a:schemeClr val="tx1"/>
                </a:solidFill>
                <a:latin typeface="+mn-lt"/>
                <a:ea typeface="+mn-ea"/>
                <a:cs typeface="+mn-cs"/>
              </a:rPr>
              <a:t>e ignore the carry bit)</a:t>
            </a:r>
            <a:endParaRPr lang="tr-TR" sz="2200" dirty="0">
              <a:solidFill>
                <a:schemeClr val="tx1"/>
              </a:solidFill>
              <a:latin typeface="+mn-lt"/>
              <a:ea typeface="+mn-ea"/>
              <a:cs typeface="+mn-cs"/>
            </a:endParaRPr>
          </a:p>
          <a:p>
            <a:pPr>
              <a:buNone/>
            </a:pPr>
            <a:r>
              <a:rPr lang="tr-TR" sz="2200" dirty="0">
                <a:solidFill>
                  <a:schemeClr val="tx1"/>
                </a:solidFill>
                <a:latin typeface="+mn-lt"/>
                <a:ea typeface="+mn-ea"/>
                <a:cs typeface="+mn-cs"/>
              </a:rPr>
              <a:t> </a:t>
            </a:r>
          </a:p>
          <a:p>
            <a:pPr>
              <a:buNone/>
            </a:pPr>
            <a:endParaRPr lang="tr-TR" sz="2200" dirty="0"/>
          </a:p>
        </p:txBody>
      </p:sp>
      <p:sp>
        <p:nvSpPr>
          <p:cNvPr id="4" name="3 Altbilgi Yer Tutucusu"/>
          <p:cNvSpPr>
            <a:spLocks noGrp="1"/>
          </p:cNvSpPr>
          <p:nvPr>
            <p:ph type="ftr" sz="quarter" idx="10"/>
          </p:nvPr>
        </p:nvSpPr>
        <p:spPr/>
        <p:txBody>
          <a:bodyPr/>
          <a:lstStyle/>
          <a:p>
            <a:r>
              <a:rPr lang="en-US" dirty="0"/>
              <a:t>Logic Circuits</a:t>
            </a:r>
          </a:p>
        </p:txBody>
      </p:sp>
      <p:cxnSp>
        <p:nvCxnSpPr>
          <p:cNvPr id="5" name="4 Düz Bağlayıcı"/>
          <p:cNvCxnSpPr/>
          <p:nvPr/>
        </p:nvCxnSpPr>
        <p:spPr bwMode="auto">
          <a:xfrm>
            <a:off x="520490" y="4937764"/>
            <a:ext cx="436098"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en-US" sz="2400" b="1" dirty="0"/>
              <a:t>Octal Number System</a:t>
            </a:r>
            <a:endParaRPr lang="tr-TR" sz="2400" dirty="0"/>
          </a:p>
        </p:txBody>
      </p:sp>
      <p:sp>
        <p:nvSpPr>
          <p:cNvPr id="3" name="2 İçerik Yer Tutucusu"/>
          <p:cNvSpPr>
            <a:spLocks noGrp="1"/>
          </p:cNvSpPr>
          <p:nvPr>
            <p:ph idx="1"/>
          </p:nvPr>
        </p:nvSpPr>
        <p:spPr>
          <a:xfrm>
            <a:off x="360582" y="860053"/>
            <a:ext cx="8375650" cy="5078412"/>
          </a:xfrm>
        </p:spPr>
        <p:txBody>
          <a:bodyPr/>
          <a:lstStyle/>
          <a:p>
            <a:pPr marL="0" indent="0" algn="just">
              <a:buNone/>
            </a:pPr>
            <a:r>
              <a:rPr lang="en-US" sz="2200" dirty="0">
                <a:solidFill>
                  <a:schemeClr val="tx1"/>
                </a:solidFill>
                <a:latin typeface="+mn-lt"/>
                <a:ea typeface="+mn-ea"/>
                <a:cs typeface="+mn-cs"/>
              </a:rPr>
              <a:t>Octal system is not as widely used as hexadecimal system</a:t>
            </a:r>
            <a:r>
              <a:rPr lang="tr-TR" sz="2200" dirty="0">
                <a:solidFill>
                  <a:schemeClr val="tx1"/>
                </a:solidFill>
                <a:latin typeface="+mn-lt"/>
                <a:ea typeface="+mn-ea"/>
                <a:cs typeface="+mn-cs"/>
              </a:rPr>
              <a:t>. </a:t>
            </a:r>
            <a:r>
              <a:rPr lang="en-US" sz="2200" dirty="0">
                <a:solidFill>
                  <a:schemeClr val="tx1"/>
                </a:solidFill>
                <a:latin typeface="+mn-lt"/>
                <a:ea typeface="+mn-ea"/>
                <a:cs typeface="+mn-cs"/>
              </a:rPr>
              <a:t>In octal system, numbers from 0 to 7 are used.</a:t>
            </a:r>
            <a:r>
              <a:rPr lang="tr-TR" sz="2200" dirty="0">
                <a:solidFill>
                  <a:schemeClr val="tx1"/>
                </a:solidFill>
                <a:latin typeface="+mn-lt"/>
                <a:ea typeface="+mn-ea"/>
                <a:cs typeface="+mn-cs"/>
              </a:rPr>
              <a:t> </a:t>
            </a:r>
            <a:r>
              <a:rPr lang="en-US" sz="2200" dirty="0">
                <a:solidFill>
                  <a:schemeClr val="tx1"/>
                </a:solidFill>
                <a:latin typeface="+mn-lt"/>
                <a:ea typeface="+mn-ea"/>
                <a:cs typeface="+mn-cs"/>
              </a:rPr>
              <a:t>7 is followed by 10.</a:t>
            </a:r>
          </a:p>
          <a:p>
            <a:pPr marL="0" indent="0" algn="just">
              <a:buNone/>
            </a:pPr>
            <a:r>
              <a:rPr lang="en-US" sz="2200" dirty="0"/>
              <a:t>0,1,…,6,7,10,11,…,16,17,20,21,…</a:t>
            </a:r>
            <a:endParaRPr lang="tr-TR" sz="2200" dirty="0">
              <a:solidFill>
                <a:schemeClr val="tx1"/>
              </a:solidFill>
              <a:latin typeface="+mn-lt"/>
              <a:ea typeface="+mn-ea"/>
              <a:cs typeface="+mn-cs"/>
            </a:endParaRPr>
          </a:p>
          <a:p>
            <a:pPr algn="just">
              <a:buNone/>
            </a:pPr>
            <a:endParaRPr lang="tr-TR" sz="1000" dirty="0">
              <a:solidFill>
                <a:schemeClr val="tx1"/>
              </a:solidFill>
              <a:latin typeface="+mn-lt"/>
              <a:ea typeface="+mn-ea"/>
              <a:cs typeface="+mn-cs"/>
            </a:endParaRPr>
          </a:p>
          <a:p>
            <a:pPr marL="0" indent="0" algn="just">
              <a:buNone/>
            </a:pPr>
            <a:r>
              <a:rPr lang="en-US" sz="2200" dirty="0"/>
              <a:t>We convert octal numbers to decimal using sum of weights method.</a:t>
            </a:r>
            <a:endParaRPr lang="tr-TR" sz="1000" dirty="0">
              <a:solidFill>
                <a:schemeClr val="tx1"/>
              </a:solidFill>
              <a:latin typeface="+mn-lt"/>
              <a:ea typeface="+mn-ea"/>
              <a:cs typeface="+mn-cs"/>
            </a:endParaRPr>
          </a:p>
          <a:p>
            <a:pPr algn="just">
              <a:buNone/>
            </a:pPr>
            <a:r>
              <a:rPr lang="en-US" sz="2200" b="1" dirty="0">
                <a:solidFill>
                  <a:schemeClr val="tx1"/>
                </a:solidFill>
                <a:latin typeface="+mn-lt"/>
                <a:ea typeface="+mn-ea"/>
                <a:cs typeface="+mn-cs"/>
              </a:rPr>
              <a:t>Example</a:t>
            </a:r>
            <a:r>
              <a:rPr lang="tr-TR" sz="2200" b="1" dirty="0">
                <a:solidFill>
                  <a:schemeClr val="tx1"/>
                </a:solidFill>
                <a:latin typeface="+mn-lt"/>
                <a:ea typeface="+mn-ea"/>
                <a:cs typeface="+mn-cs"/>
              </a:rPr>
              <a:t>: </a:t>
            </a:r>
            <a:r>
              <a:rPr lang="en-US" sz="2200" dirty="0">
                <a:solidFill>
                  <a:schemeClr val="tx1"/>
                </a:solidFill>
                <a:latin typeface="+mn-lt"/>
                <a:ea typeface="+mn-ea"/>
                <a:cs typeface="+mn-cs"/>
              </a:rPr>
              <a:t>Let’s convert </a:t>
            </a:r>
            <a:r>
              <a:rPr lang="tr-TR" sz="2200" dirty="0">
                <a:solidFill>
                  <a:schemeClr val="tx1"/>
                </a:solidFill>
                <a:latin typeface="+mn-lt"/>
                <a:ea typeface="+mn-ea"/>
                <a:cs typeface="+mn-cs"/>
              </a:rPr>
              <a:t>1234</a:t>
            </a:r>
            <a:r>
              <a:rPr lang="tr-TR" sz="2200" baseline="-25000" dirty="0">
                <a:solidFill>
                  <a:schemeClr val="tx1"/>
                </a:solidFill>
                <a:latin typeface="+mn-lt"/>
                <a:ea typeface="+mn-ea"/>
                <a:cs typeface="+mn-cs"/>
              </a:rPr>
              <a:t>8</a:t>
            </a:r>
            <a:r>
              <a:rPr lang="tr-TR" sz="2200" dirty="0">
                <a:solidFill>
                  <a:schemeClr val="tx1"/>
                </a:solidFill>
                <a:latin typeface="+mn-lt"/>
                <a:ea typeface="+mn-ea"/>
                <a:cs typeface="+mn-cs"/>
              </a:rPr>
              <a:t> </a:t>
            </a:r>
            <a:r>
              <a:rPr lang="en-US" sz="2200" dirty="0">
                <a:solidFill>
                  <a:schemeClr val="tx1"/>
                </a:solidFill>
                <a:latin typeface="+mn-lt"/>
                <a:ea typeface="+mn-ea"/>
                <a:cs typeface="+mn-cs"/>
              </a:rPr>
              <a:t>to decimal.</a:t>
            </a:r>
            <a:endParaRPr lang="tr-TR" sz="2200" dirty="0">
              <a:solidFill>
                <a:schemeClr val="tx1"/>
              </a:solidFill>
              <a:latin typeface="+mn-lt"/>
              <a:ea typeface="+mn-ea"/>
              <a:cs typeface="+mn-cs"/>
            </a:endParaRPr>
          </a:p>
          <a:p>
            <a:pPr algn="just">
              <a:buNone/>
            </a:pPr>
            <a:r>
              <a:rPr lang="tr-TR" sz="2200" dirty="0">
                <a:solidFill>
                  <a:schemeClr val="tx1"/>
                </a:solidFill>
                <a:latin typeface="+mn-lt"/>
                <a:ea typeface="+mn-ea"/>
                <a:cs typeface="+mn-cs"/>
              </a:rPr>
              <a:t>1234</a:t>
            </a:r>
            <a:r>
              <a:rPr lang="tr-TR" sz="2200" baseline="-25000" dirty="0">
                <a:solidFill>
                  <a:schemeClr val="tx1"/>
                </a:solidFill>
                <a:latin typeface="+mn-lt"/>
                <a:ea typeface="+mn-ea"/>
                <a:cs typeface="+mn-cs"/>
              </a:rPr>
              <a:t>8</a:t>
            </a:r>
            <a:r>
              <a:rPr lang="tr-TR" sz="2200" dirty="0">
                <a:solidFill>
                  <a:schemeClr val="tx1"/>
                </a:solidFill>
                <a:latin typeface="+mn-lt"/>
                <a:ea typeface="+mn-ea"/>
                <a:cs typeface="+mn-cs"/>
              </a:rPr>
              <a:t> = 1×8</a:t>
            </a:r>
            <a:r>
              <a:rPr lang="tr-TR" sz="2200" baseline="30000" dirty="0">
                <a:solidFill>
                  <a:schemeClr val="tx1"/>
                </a:solidFill>
                <a:latin typeface="+mn-lt"/>
                <a:ea typeface="+mn-ea"/>
                <a:cs typeface="+mn-cs"/>
              </a:rPr>
              <a:t>3 </a:t>
            </a:r>
            <a:r>
              <a:rPr lang="tr-TR" sz="2200" dirty="0">
                <a:solidFill>
                  <a:schemeClr val="tx1"/>
                </a:solidFill>
                <a:latin typeface="+mn-lt"/>
                <a:ea typeface="+mn-ea"/>
                <a:cs typeface="+mn-cs"/>
              </a:rPr>
              <a:t>+</a:t>
            </a:r>
            <a:r>
              <a:rPr lang="tr-TR" sz="2200" b="1" dirty="0">
                <a:solidFill>
                  <a:schemeClr val="tx1"/>
                </a:solidFill>
                <a:latin typeface="+mn-lt"/>
                <a:ea typeface="+mn-ea"/>
                <a:cs typeface="+mn-cs"/>
              </a:rPr>
              <a:t> </a:t>
            </a:r>
            <a:r>
              <a:rPr lang="tr-TR" sz="2200" dirty="0">
                <a:solidFill>
                  <a:schemeClr val="tx1"/>
                </a:solidFill>
                <a:latin typeface="+mn-lt"/>
                <a:ea typeface="+mn-ea"/>
                <a:cs typeface="+mn-cs"/>
              </a:rPr>
              <a:t>2×8</a:t>
            </a:r>
            <a:r>
              <a:rPr lang="tr-TR" sz="2200" baseline="30000" dirty="0">
                <a:solidFill>
                  <a:schemeClr val="tx1"/>
                </a:solidFill>
                <a:latin typeface="+mn-lt"/>
                <a:ea typeface="+mn-ea"/>
                <a:cs typeface="+mn-cs"/>
              </a:rPr>
              <a:t>2</a:t>
            </a:r>
            <a:r>
              <a:rPr lang="tr-TR" sz="2200" dirty="0">
                <a:solidFill>
                  <a:schemeClr val="tx1"/>
                </a:solidFill>
                <a:latin typeface="+mn-lt"/>
                <a:ea typeface="+mn-ea"/>
                <a:cs typeface="+mn-cs"/>
              </a:rPr>
              <a:t> + 3×8</a:t>
            </a:r>
            <a:r>
              <a:rPr lang="tr-TR" sz="2200" baseline="30000" dirty="0">
                <a:solidFill>
                  <a:schemeClr val="tx1"/>
                </a:solidFill>
                <a:latin typeface="+mn-lt"/>
                <a:ea typeface="+mn-ea"/>
                <a:cs typeface="+mn-cs"/>
              </a:rPr>
              <a:t>1</a:t>
            </a:r>
            <a:r>
              <a:rPr lang="tr-TR" sz="2200" dirty="0">
                <a:solidFill>
                  <a:schemeClr val="tx1"/>
                </a:solidFill>
                <a:latin typeface="+mn-lt"/>
                <a:ea typeface="+mn-ea"/>
                <a:cs typeface="+mn-cs"/>
              </a:rPr>
              <a:t> + 4×8</a:t>
            </a:r>
            <a:r>
              <a:rPr lang="tr-TR" sz="2200" baseline="30000" dirty="0">
                <a:solidFill>
                  <a:schemeClr val="tx1"/>
                </a:solidFill>
                <a:latin typeface="+mn-lt"/>
                <a:ea typeface="+mn-ea"/>
                <a:cs typeface="+mn-cs"/>
              </a:rPr>
              <a:t>0</a:t>
            </a:r>
            <a:r>
              <a:rPr lang="tr-TR" sz="2200" baseline="-25000" dirty="0">
                <a:solidFill>
                  <a:schemeClr val="tx1"/>
                </a:solidFill>
                <a:latin typeface="+mn-lt"/>
                <a:ea typeface="+mn-ea"/>
                <a:cs typeface="+mn-cs"/>
              </a:rPr>
              <a:t> </a:t>
            </a:r>
            <a:r>
              <a:rPr lang="tr-TR" sz="2200" dirty="0">
                <a:solidFill>
                  <a:schemeClr val="tx1"/>
                </a:solidFill>
                <a:latin typeface="+mn-lt"/>
                <a:ea typeface="+mn-ea"/>
                <a:cs typeface="+mn-cs"/>
              </a:rPr>
              <a:t>= 668</a:t>
            </a:r>
            <a:r>
              <a:rPr lang="tr-TR" sz="2200" baseline="-25000" dirty="0">
                <a:solidFill>
                  <a:schemeClr val="tx1"/>
                </a:solidFill>
                <a:latin typeface="+mn-lt"/>
                <a:ea typeface="+mn-ea"/>
                <a:cs typeface="+mn-cs"/>
              </a:rPr>
              <a:t>10</a:t>
            </a:r>
            <a:endParaRPr lang="tr-TR" sz="2200" dirty="0">
              <a:solidFill>
                <a:schemeClr val="tx1"/>
              </a:solidFill>
              <a:latin typeface="+mn-lt"/>
              <a:ea typeface="+mn-ea"/>
              <a:cs typeface="+mn-cs"/>
            </a:endParaRPr>
          </a:p>
          <a:p>
            <a:pPr algn="just">
              <a:buNone/>
            </a:pPr>
            <a:endParaRPr lang="tr-TR" sz="1000" dirty="0">
              <a:solidFill>
                <a:schemeClr val="tx1"/>
              </a:solidFill>
              <a:latin typeface="+mn-lt"/>
              <a:ea typeface="+mn-ea"/>
              <a:cs typeface="+mn-cs"/>
            </a:endParaRPr>
          </a:p>
          <a:p>
            <a:pPr algn="just">
              <a:buNone/>
            </a:pPr>
            <a:r>
              <a:rPr lang="en-US" sz="2200" b="1" dirty="0">
                <a:solidFill>
                  <a:schemeClr val="tx1"/>
                </a:solidFill>
                <a:latin typeface="+mn-lt"/>
                <a:ea typeface="+mn-ea"/>
                <a:cs typeface="+mn-cs"/>
              </a:rPr>
              <a:t>Example</a:t>
            </a:r>
            <a:r>
              <a:rPr lang="tr-TR" sz="2200" b="1" dirty="0">
                <a:solidFill>
                  <a:schemeClr val="tx1"/>
                </a:solidFill>
                <a:latin typeface="+mn-lt"/>
                <a:ea typeface="+mn-ea"/>
                <a:cs typeface="+mn-cs"/>
              </a:rPr>
              <a:t>:</a:t>
            </a:r>
            <a:r>
              <a:rPr lang="tr-TR" sz="2200" dirty="0">
                <a:solidFill>
                  <a:schemeClr val="tx1"/>
                </a:solidFill>
                <a:latin typeface="+mn-lt"/>
                <a:ea typeface="+mn-ea"/>
                <a:cs typeface="+mn-cs"/>
              </a:rPr>
              <a:t> </a:t>
            </a:r>
            <a:r>
              <a:rPr lang="en-US" sz="2200" dirty="0"/>
              <a:t>Let’s convert </a:t>
            </a:r>
            <a:r>
              <a:rPr lang="tr-TR" sz="2200" dirty="0">
                <a:solidFill>
                  <a:schemeClr val="tx1"/>
                </a:solidFill>
                <a:latin typeface="+mn-lt"/>
                <a:ea typeface="+mn-ea"/>
                <a:cs typeface="+mn-cs"/>
              </a:rPr>
              <a:t>12.34</a:t>
            </a:r>
            <a:r>
              <a:rPr lang="tr-TR" sz="2200" baseline="-25000" dirty="0">
                <a:solidFill>
                  <a:schemeClr val="tx1"/>
                </a:solidFill>
                <a:latin typeface="+mn-lt"/>
                <a:ea typeface="+mn-ea"/>
                <a:cs typeface="+mn-cs"/>
              </a:rPr>
              <a:t>8 </a:t>
            </a:r>
            <a:r>
              <a:rPr lang="en-US" sz="2200" dirty="0"/>
              <a:t>to decimal.</a:t>
            </a:r>
            <a:endParaRPr lang="tr-TR" sz="2200" dirty="0">
              <a:solidFill>
                <a:schemeClr val="tx1"/>
              </a:solidFill>
              <a:latin typeface="+mn-lt"/>
              <a:ea typeface="+mn-ea"/>
              <a:cs typeface="+mn-cs"/>
            </a:endParaRPr>
          </a:p>
          <a:p>
            <a:pPr algn="just">
              <a:buNone/>
            </a:pPr>
            <a:r>
              <a:rPr lang="tr-TR" sz="2200" dirty="0">
                <a:solidFill>
                  <a:schemeClr val="tx1"/>
                </a:solidFill>
                <a:latin typeface="+mn-lt"/>
                <a:ea typeface="+mn-ea"/>
                <a:cs typeface="+mn-cs"/>
              </a:rPr>
              <a:t>12.34</a:t>
            </a:r>
            <a:r>
              <a:rPr lang="tr-TR" sz="2200" baseline="-25000" dirty="0">
                <a:solidFill>
                  <a:schemeClr val="tx1"/>
                </a:solidFill>
                <a:latin typeface="+mn-lt"/>
                <a:ea typeface="+mn-ea"/>
                <a:cs typeface="+mn-cs"/>
              </a:rPr>
              <a:t>8</a:t>
            </a:r>
            <a:r>
              <a:rPr lang="tr-TR" sz="2200" dirty="0">
                <a:solidFill>
                  <a:schemeClr val="tx1"/>
                </a:solidFill>
                <a:latin typeface="+mn-lt"/>
                <a:ea typeface="+mn-ea"/>
                <a:cs typeface="+mn-cs"/>
              </a:rPr>
              <a:t> = 1×8</a:t>
            </a:r>
            <a:r>
              <a:rPr lang="tr-TR" sz="2200" baseline="30000" dirty="0">
                <a:solidFill>
                  <a:schemeClr val="tx1"/>
                </a:solidFill>
                <a:latin typeface="+mn-lt"/>
                <a:ea typeface="+mn-ea"/>
                <a:cs typeface="+mn-cs"/>
              </a:rPr>
              <a:t>1 </a:t>
            </a:r>
            <a:r>
              <a:rPr lang="tr-TR" sz="2200" dirty="0">
                <a:solidFill>
                  <a:schemeClr val="tx1"/>
                </a:solidFill>
                <a:latin typeface="+mn-lt"/>
                <a:ea typeface="+mn-ea"/>
                <a:cs typeface="+mn-cs"/>
              </a:rPr>
              <a:t>+</a:t>
            </a:r>
            <a:r>
              <a:rPr lang="tr-TR" sz="2200" b="1" dirty="0">
                <a:solidFill>
                  <a:schemeClr val="tx1"/>
                </a:solidFill>
                <a:latin typeface="+mn-lt"/>
                <a:ea typeface="+mn-ea"/>
                <a:cs typeface="+mn-cs"/>
              </a:rPr>
              <a:t> </a:t>
            </a:r>
            <a:r>
              <a:rPr lang="tr-TR" sz="2200" dirty="0">
                <a:solidFill>
                  <a:schemeClr val="tx1"/>
                </a:solidFill>
                <a:latin typeface="+mn-lt"/>
                <a:ea typeface="+mn-ea"/>
                <a:cs typeface="+mn-cs"/>
              </a:rPr>
              <a:t>2×8</a:t>
            </a:r>
            <a:r>
              <a:rPr lang="tr-TR" sz="2200" baseline="30000" dirty="0">
                <a:solidFill>
                  <a:schemeClr val="tx1"/>
                </a:solidFill>
                <a:latin typeface="+mn-lt"/>
                <a:ea typeface="+mn-ea"/>
                <a:cs typeface="+mn-cs"/>
              </a:rPr>
              <a:t>0</a:t>
            </a:r>
            <a:r>
              <a:rPr lang="tr-TR" sz="2200" dirty="0">
                <a:solidFill>
                  <a:schemeClr val="tx1"/>
                </a:solidFill>
                <a:latin typeface="+mn-lt"/>
                <a:ea typeface="+mn-ea"/>
                <a:cs typeface="+mn-cs"/>
              </a:rPr>
              <a:t> + 3×8</a:t>
            </a:r>
            <a:r>
              <a:rPr lang="tr-TR" sz="2200" baseline="30000" dirty="0">
                <a:solidFill>
                  <a:schemeClr val="tx1"/>
                </a:solidFill>
                <a:latin typeface="+mn-lt"/>
                <a:ea typeface="+mn-ea"/>
                <a:cs typeface="+mn-cs"/>
              </a:rPr>
              <a:t>-1</a:t>
            </a:r>
            <a:r>
              <a:rPr lang="tr-TR" sz="2200" dirty="0">
                <a:solidFill>
                  <a:schemeClr val="tx1"/>
                </a:solidFill>
                <a:latin typeface="+mn-lt"/>
                <a:ea typeface="+mn-ea"/>
                <a:cs typeface="+mn-cs"/>
              </a:rPr>
              <a:t> + 4×8</a:t>
            </a:r>
            <a:r>
              <a:rPr lang="tr-TR" sz="2200" baseline="30000" dirty="0">
                <a:solidFill>
                  <a:schemeClr val="tx1"/>
                </a:solidFill>
                <a:latin typeface="+mn-lt"/>
                <a:ea typeface="+mn-ea"/>
                <a:cs typeface="+mn-cs"/>
              </a:rPr>
              <a:t>-2</a:t>
            </a:r>
            <a:r>
              <a:rPr lang="tr-TR" sz="2200" baseline="-25000" dirty="0">
                <a:solidFill>
                  <a:schemeClr val="tx1"/>
                </a:solidFill>
                <a:latin typeface="+mn-lt"/>
                <a:ea typeface="+mn-ea"/>
                <a:cs typeface="+mn-cs"/>
              </a:rPr>
              <a:t> </a:t>
            </a:r>
            <a:r>
              <a:rPr lang="tr-TR" sz="2200" dirty="0">
                <a:solidFill>
                  <a:schemeClr val="tx1"/>
                </a:solidFill>
                <a:latin typeface="+mn-lt"/>
                <a:ea typeface="+mn-ea"/>
                <a:cs typeface="+mn-cs"/>
              </a:rPr>
              <a:t>= 8+2+3/8+4/64 </a:t>
            </a:r>
            <a:r>
              <a:rPr lang="tr-TR" sz="2200" dirty="0">
                <a:solidFill>
                  <a:schemeClr val="tx1"/>
                </a:solidFill>
                <a:latin typeface="+mn-lt"/>
                <a:ea typeface="+mn-ea"/>
                <a:cs typeface="+mn-cs"/>
                <a:sym typeface="Symbol"/>
              </a:rPr>
              <a:t></a:t>
            </a:r>
            <a:r>
              <a:rPr lang="tr-TR" sz="2200" dirty="0">
                <a:solidFill>
                  <a:schemeClr val="tx1"/>
                </a:solidFill>
                <a:latin typeface="+mn-lt"/>
                <a:ea typeface="+mn-ea"/>
                <a:cs typeface="+mn-cs"/>
              </a:rPr>
              <a:t> 10.44</a:t>
            </a:r>
          </a:p>
          <a:p>
            <a:pPr algn="just">
              <a:buNone/>
            </a:pPr>
            <a:endParaRPr lang="tr-TR" sz="2200" dirty="0"/>
          </a:p>
        </p:txBody>
      </p:sp>
      <p:sp>
        <p:nvSpPr>
          <p:cNvPr id="4" name="3 Altbilgi Yer Tutucusu"/>
          <p:cNvSpPr>
            <a:spLocks noGrp="1"/>
          </p:cNvSpPr>
          <p:nvPr>
            <p:ph type="ftr" sz="quarter" idx="10"/>
          </p:nvPr>
        </p:nvSpPr>
        <p:spPr/>
        <p:txBody>
          <a:bodyPr/>
          <a:lstStyle/>
          <a:p>
            <a:r>
              <a:rPr lang="en-US" dirty="0"/>
              <a:t>Logic Circuits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en-US" sz="2400" b="1" dirty="0"/>
              <a:t>Conversion</a:t>
            </a:r>
            <a:endParaRPr lang="tr-TR" sz="2400" dirty="0"/>
          </a:p>
        </p:txBody>
      </p:sp>
      <p:sp>
        <p:nvSpPr>
          <p:cNvPr id="3" name="2 İçerik Yer Tutucusu"/>
          <p:cNvSpPr>
            <a:spLocks noGrp="1"/>
          </p:cNvSpPr>
          <p:nvPr>
            <p:ph idx="1"/>
          </p:nvPr>
        </p:nvSpPr>
        <p:spPr>
          <a:xfrm>
            <a:off x="360582" y="860053"/>
            <a:ext cx="8375650" cy="5078412"/>
          </a:xfrm>
        </p:spPr>
        <p:txBody>
          <a:bodyPr/>
          <a:lstStyle/>
          <a:p>
            <a:pPr marL="0" indent="0" algn="just">
              <a:buFont typeface="Wingdings" pitchFamily="2" charset="2"/>
              <a:buChar char="Ø"/>
            </a:pPr>
            <a:r>
              <a:rPr lang="tr-TR" sz="2200" dirty="0">
                <a:solidFill>
                  <a:schemeClr val="tx1"/>
                </a:solidFill>
                <a:latin typeface="+mn-lt"/>
                <a:ea typeface="+mn-ea"/>
                <a:cs typeface="+mn-cs"/>
              </a:rPr>
              <a:t> </a:t>
            </a:r>
            <a:r>
              <a:rPr lang="en-US" sz="2200" dirty="0">
                <a:solidFill>
                  <a:schemeClr val="tx1"/>
                </a:solidFill>
                <a:latin typeface="+mn-lt"/>
                <a:ea typeface="+mn-ea"/>
                <a:cs typeface="+mn-cs"/>
              </a:rPr>
              <a:t>To convert a decimal number to octal, we divide the number by 8 repeatedly. Then, we concatenate the remainders and form the octal number.</a:t>
            </a:r>
          </a:p>
          <a:p>
            <a:pPr marL="0" indent="0" algn="just">
              <a:buFont typeface="Wingdings" pitchFamily="2" charset="2"/>
              <a:buChar char="Ø"/>
            </a:pPr>
            <a:endParaRPr lang="tr-TR" sz="1000" dirty="0">
              <a:solidFill>
                <a:schemeClr val="tx1"/>
              </a:solidFill>
              <a:latin typeface="+mn-lt"/>
              <a:ea typeface="+mn-ea"/>
              <a:cs typeface="+mn-cs"/>
            </a:endParaRPr>
          </a:p>
          <a:p>
            <a:pPr>
              <a:buNone/>
            </a:pPr>
            <a:r>
              <a:rPr lang="en-US" sz="2200" b="1" dirty="0">
                <a:solidFill>
                  <a:schemeClr val="tx1"/>
                </a:solidFill>
                <a:latin typeface="+mn-lt"/>
                <a:ea typeface="+mn-ea"/>
                <a:cs typeface="+mn-cs"/>
              </a:rPr>
              <a:t>Example</a:t>
            </a:r>
            <a:r>
              <a:rPr lang="tr-TR" sz="2200" b="1" dirty="0">
                <a:solidFill>
                  <a:schemeClr val="tx1"/>
                </a:solidFill>
                <a:latin typeface="+mn-lt"/>
                <a:ea typeface="+mn-ea"/>
                <a:cs typeface="+mn-cs"/>
              </a:rPr>
              <a:t>: </a:t>
            </a:r>
            <a:r>
              <a:rPr lang="en-US" sz="2200" dirty="0">
                <a:solidFill>
                  <a:schemeClr val="tx1"/>
                </a:solidFill>
                <a:latin typeface="+mn-lt"/>
                <a:ea typeface="+mn-ea"/>
                <a:cs typeface="+mn-cs"/>
              </a:rPr>
              <a:t>Let’s convert </a:t>
            </a:r>
            <a:r>
              <a:rPr lang="tr-TR" sz="2200" dirty="0">
                <a:solidFill>
                  <a:schemeClr val="tx1"/>
                </a:solidFill>
                <a:latin typeface="+mn-lt"/>
                <a:ea typeface="+mn-ea"/>
                <a:cs typeface="+mn-cs"/>
              </a:rPr>
              <a:t>123</a:t>
            </a:r>
            <a:r>
              <a:rPr lang="tr-TR" sz="2200" baseline="-25000" dirty="0">
                <a:solidFill>
                  <a:schemeClr val="tx1"/>
                </a:solidFill>
                <a:latin typeface="+mn-lt"/>
                <a:ea typeface="+mn-ea"/>
                <a:cs typeface="+mn-cs"/>
              </a:rPr>
              <a:t>10</a:t>
            </a:r>
            <a:r>
              <a:rPr lang="tr-TR" sz="2200" dirty="0">
                <a:solidFill>
                  <a:schemeClr val="tx1"/>
                </a:solidFill>
                <a:latin typeface="+mn-lt"/>
                <a:ea typeface="+mn-ea"/>
                <a:cs typeface="+mn-cs"/>
              </a:rPr>
              <a:t> </a:t>
            </a:r>
            <a:r>
              <a:rPr lang="en-US" sz="2200" dirty="0">
                <a:solidFill>
                  <a:schemeClr val="tx1"/>
                </a:solidFill>
                <a:latin typeface="+mn-lt"/>
                <a:ea typeface="+mn-ea"/>
                <a:cs typeface="+mn-cs"/>
              </a:rPr>
              <a:t>to octal.</a:t>
            </a:r>
            <a:endParaRPr lang="tr-TR" sz="2200" dirty="0">
              <a:solidFill>
                <a:schemeClr val="tx1"/>
              </a:solidFill>
              <a:latin typeface="+mn-lt"/>
              <a:ea typeface="+mn-ea"/>
              <a:cs typeface="+mn-cs"/>
            </a:endParaRPr>
          </a:p>
          <a:p>
            <a:pPr>
              <a:buNone/>
            </a:pPr>
            <a:endParaRPr lang="tr-TR" sz="1000" dirty="0"/>
          </a:p>
          <a:p>
            <a:pPr>
              <a:buNone/>
            </a:pPr>
            <a:r>
              <a:rPr lang="tr-TR" sz="2200" dirty="0">
                <a:solidFill>
                  <a:schemeClr val="tx1"/>
                </a:solidFill>
                <a:latin typeface="+mn-lt"/>
                <a:ea typeface="+mn-ea"/>
                <a:cs typeface="+mn-cs"/>
              </a:rPr>
              <a:t>123   8</a:t>
            </a:r>
          </a:p>
          <a:p>
            <a:pPr>
              <a:buNone/>
            </a:pPr>
            <a:r>
              <a:rPr lang="tr-TR" sz="2200" dirty="0">
                <a:solidFill>
                  <a:schemeClr val="tx1"/>
                </a:solidFill>
                <a:latin typeface="+mn-lt"/>
                <a:ea typeface="+mn-ea"/>
                <a:cs typeface="+mn-cs"/>
              </a:rPr>
              <a:t>-</a:t>
            </a:r>
            <a:r>
              <a:rPr lang="tr-TR" sz="2200" b="1" dirty="0">
                <a:solidFill>
                  <a:schemeClr val="tx1"/>
                </a:solidFill>
                <a:latin typeface="+mn-lt"/>
                <a:ea typeface="+mn-ea"/>
                <a:cs typeface="+mn-cs"/>
              </a:rPr>
              <a:t> </a:t>
            </a:r>
            <a:r>
              <a:rPr lang="tr-TR" sz="2200" dirty="0">
                <a:solidFill>
                  <a:schemeClr val="tx1"/>
                </a:solidFill>
                <a:latin typeface="+mn-lt"/>
                <a:ea typeface="+mn-ea"/>
                <a:cs typeface="+mn-cs"/>
              </a:rPr>
              <a:t>8    15  8</a:t>
            </a:r>
          </a:p>
          <a:p>
            <a:pPr>
              <a:buNone/>
            </a:pPr>
            <a:r>
              <a:rPr lang="tr-TR" sz="2200" dirty="0">
                <a:solidFill>
                  <a:schemeClr val="tx1"/>
                </a:solidFill>
                <a:latin typeface="+mn-lt"/>
                <a:ea typeface="+mn-ea"/>
                <a:cs typeface="+mn-cs"/>
              </a:rPr>
              <a:t>  43 -  8  </a:t>
            </a:r>
            <a:r>
              <a:rPr lang="tr-TR" sz="2200" b="1" dirty="0">
                <a:solidFill>
                  <a:schemeClr val="tx1"/>
                </a:solidFill>
                <a:latin typeface="+mn-lt"/>
                <a:ea typeface="+mn-ea"/>
                <a:cs typeface="+mn-cs"/>
              </a:rPr>
              <a:t>1</a:t>
            </a:r>
            <a:endParaRPr lang="tr-TR" sz="2200" dirty="0">
              <a:solidFill>
                <a:schemeClr val="tx1"/>
              </a:solidFill>
              <a:latin typeface="+mn-lt"/>
              <a:ea typeface="+mn-ea"/>
              <a:cs typeface="+mn-cs"/>
            </a:endParaRPr>
          </a:p>
          <a:p>
            <a:pPr>
              <a:buNone/>
            </a:pPr>
            <a:r>
              <a:rPr lang="tr-TR" sz="2200" dirty="0">
                <a:solidFill>
                  <a:schemeClr val="tx1"/>
                </a:solidFill>
                <a:latin typeface="+mn-lt"/>
                <a:ea typeface="+mn-ea"/>
                <a:cs typeface="+mn-cs"/>
              </a:rPr>
              <a:t>- 40    </a:t>
            </a:r>
            <a:r>
              <a:rPr lang="tr-TR" sz="2200" b="1" dirty="0">
                <a:solidFill>
                  <a:schemeClr val="tx1"/>
                </a:solidFill>
                <a:latin typeface="+mn-lt"/>
                <a:ea typeface="+mn-ea"/>
                <a:cs typeface="+mn-cs"/>
              </a:rPr>
              <a:t>7</a:t>
            </a:r>
            <a:endParaRPr lang="tr-TR" sz="2200" dirty="0">
              <a:solidFill>
                <a:schemeClr val="tx1"/>
              </a:solidFill>
              <a:latin typeface="+mn-lt"/>
              <a:ea typeface="+mn-ea"/>
              <a:cs typeface="+mn-cs"/>
            </a:endParaRPr>
          </a:p>
          <a:p>
            <a:pPr>
              <a:buNone/>
            </a:pPr>
            <a:r>
              <a:rPr lang="tr-TR" sz="2200" b="1" dirty="0">
                <a:solidFill>
                  <a:schemeClr val="tx1"/>
                </a:solidFill>
                <a:latin typeface="+mn-lt"/>
                <a:ea typeface="+mn-ea"/>
                <a:cs typeface="+mn-cs"/>
              </a:rPr>
              <a:t>    </a:t>
            </a:r>
            <a:r>
              <a:rPr lang="tr-TR" sz="2200" dirty="0">
                <a:solidFill>
                  <a:schemeClr val="tx1"/>
                </a:solidFill>
                <a:latin typeface="+mn-lt"/>
                <a:ea typeface="+mn-ea"/>
                <a:cs typeface="+mn-cs"/>
              </a:rPr>
              <a:t> </a:t>
            </a:r>
            <a:r>
              <a:rPr lang="tr-TR" sz="2200" b="1" dirty="0">
                <a:solidFill>
                  <a:schemeClr val="tx1"/>
                </a:solidFill>
                <a:latin typeface="+mn-lt"/>
                <a:ea typeface="+mn-ea"/>
                <a:cs typeface="+mn-cs"/>
              </a:rPr>
              <a:t>3</a:t>
            </a:r>
            <a:endParaRPr lang="tr-TR" sz="2200" dirty="0">
              <a:solidFill>
                <a:schemeClr val="tx1"/>
              </a:solidFill>
              <a:latin typeface="+mn-lt"/>
              <a:ea typeface="+mn-ea"/>
              <a:cs typeface="+mn-cs"/>
            </a:endParaRPr>
          </a:p>
          <a:p>
            <a:pPr>
              <a:buNone/>
            </a:pPr>
            <a:endParaRPr lang="tr-TR" sz="2200" dirty="0">
              <a:solidFill>
                <a:schemeClr val="tx1"/>
              </a:solidFill>
              <a:latin typeface="+mn-lt"/>
              <a:ea typeface="+mn-ea"/>
              <a:cs typeface="+mn-cs"/>
            </a:endParaRPr>
          </a:p>
          <a:p>
            <a:pPr>
              <a:buNone/>
            </a:pPr>
            <a:r>
              <a:rPr lang="en-US" sz="2200" dirty="0">
                <a:solidFill>
                  <a:schemeClr val="tx1"/>
                </a:solidFill>
                <a:latin typeface="+mn-lt"/>
                <a:ea typeface="+mn-ea"/>
                <a:cs typeface="+mn-cs"/>
              </a:rPr>
              <a:t>Then, </a:t>
            </a:r>
            <a:r>
              <a:rPr lang="tr-TR" sz="2200" dirty="0">
                <a:solidFill>
                  <a:schemeClr val="tx1"/>
                </a:solidFill>
                <a:latin typeface="+mn-lt"/>
                <a:ea typeface="+mn-ea"/>
                <a:cs typeface="+mn-cs"/>
              </a:rPr>
              <a:t>123</a:t>
            </a:r>
            <a:r>
              <a:rPr lang="tr-TR" sz="2200" baseline="-25000" dirty="0">
                <a:solidFill>
                  <a:schemeClr val="tx1"/>
                </a:solidFill>
                <a:latin typeface="+mn-lt"/>
                <a:ea typeface="+mn-ea"/>
                <a:cs typeface="+mn-cs"/>
              </a:rPr>
              <a:t>10 </a:t>
            </a:r>
            <a:r>
              <a:rPr lang="tr-TR" sz="2200" dirty="0">
                <a:solidFill>
                  <a:schemeClr val="tx1"/>
                </a:solidFill>
                <a:latin typeface="+mn-lt"/>
                <a:ea typeface="+mn-ea"/>
                <a:cs typeface="+mn-cs"/>
              </a:rPr>
              <a:t>= 173</a:t>
            </a:r>
            <a:r>
              <a:rPr lang="tr-TR" sz="2200" baseline="-25000" dirty="0">
                <a:solidFill>
                  <a:schemeClr val="tx1"/>
                </a:solidFill>
                <a:latin typeface="+mn-lt"/>
                <a:ea typeface="+mn-ea"/>
                <a:cs typeface="+mn-cs"/>
              </a:rPr>
              <a:t>8</a:t>
            </a:r>
            <a:endParaRPr lang="tr-TR" sz="2200" dirty="0"/>
          </a:p>
        </p:txBody>
      </p:sp>
      <p:sp>
        <p:nvSpPr>
          <p:cNvPr id="4" name="3 Altbilgi Yer Tutucusu"/>
          <p:cNvSpPr>
            <a:spLocks noGrp="1"/>
          </p:cNvSpPr>
          <p:nvPr>
            <p:ph type="ftr" sz="quarter" idx="10"/>
          </p:nvPr>
        </p:nvSpPr>
        <p:spPr/>
        <p:txBody>
          <a:bodyPr/>
          <a:lstStyle/>
          <a:p>
            <a:r>
              <a:rPr lang="en-US" dirty="0"/>
              <a:t>Logic Circuits</a:t>
            </a:r>
          </a:p>
        </p:txBody>
      </p:sp>
      <p:cxnSp>
        <p:nvCxnSpPr>
          <p:cNvPr id="5" name="4 Düz Bağlayıcı"/>
          <p:cNvCxnSpPr/>
          <p:nvPr/>
        </p:nvCxnSpPr>
        <p:spPr bwMode="auto">
          <a:xfrm rot="5400000">
            <a:off x="668211" y="3172265"/>
            <a:ext cx="633046" cy="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 name="5 Düz Bağlayıcı"/>
          <p:cNvCxnSpPr/>
          <p:nvPr/>
        </p:nvCxnSpPr>
        <p:spPr bwMode="auto">
          <a:xfrm>
            <a:off x="984734" y="3151163"/>
            <a:ext cx="478301"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7" name="6 Düz Bağlayıcı"/>
          <p:cNvCxnSpPr/>
          <p:nvPr/>
        </p:nvCxnSpPr>
        <p:spPr bwMode="auto">
          <a:xfrm>
            <a:off x="450165" y="4304711"/>
            <a:ext cx="436098"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8" name="7 Düz Bağlayıcı"/>
          <p:cNvCxnSpPr/>
          <p:nvPr/>
        </p:nvCxnSpPr>
        <p:spPr bwMode="auto">
          <a:xfrm>
            <a:off x="464232" y="3488787"/>
            <a:ext cx="436098"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9" name="8 Düz Bağlayıcı"/>
          <p:cNvCxnSpPr/>
          <p:nvPr/>
        </p:nvCxnSpPr>
        <p:spPr bwMode="auto">
          <a:xfrm rot="5400000">
            <a:off x="1005835" y="3509890"/>
            <a:ext cx="633046" cy="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 name="9 Düz Bağlayıcı"/>
          <p:cNvCxnSpPr/>
          <p:nvPr/>
        </p:nvCxnSpPr>
        <p:spPr bwMode="auto">
          <a:xfrm>
            <a:off x="1322358" y="3488788"/>
            <a:ext cx="309494"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2" name="11 Düz Bağlayıcı"/>
          <p:cNvCxnSpPr/>
          <p:nvPr/>
        </p:nvCxnSpPr>
        <p:spPr bwMode="auto">
          <a:xfrm>
            <a:off x="914399" y="3882683"/>
            <a:ext cx="365761"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en-US" sz="2400" b="1" dirty="0"/>
              <a:t>Conversion</a:t>
            </a:r>
            <a:endParaRPr lang="tr-TR" sz="2400" dirty="0"/>
          </a:p>
        </p:txBody>
      </p:sp>
      <p:sp>
        <p:nvSpPr>
          <p:cNvPr id="3" name="2 İçerik Yer Tutucusu"/>
          <p:cNvSpPr>
            <a:spLocks noGrp="1"/>
          </p:cNvSpPr>
          <p:nvPr>
            <p:ph idx="1"/>
          </p:nvPr>
        </p:nvSpPr>
        <p:spPr>
          <a:xfrm>
            <a:off x="346514" y="930393"/>
            <a:ext cx="8375650" cy="5343798"/>
          </a:xfrm>
        </p:spPr>
        <p:txBody>
          <a:bodyPr/>
          <a:lstStyle/>
          <a:p>
            <a:pPr>
              <a:buNone/>
            </a:pPr>
            <a:r>
              <a:rPr lang="en-US" sz="2200" b="1" dirty="0">
                <a:solidFill>
                  <a:schemeClr val="tx1"/>
                </a:solidFill>
                <a:latin typeface="+mn-lt"/>
                <a:ea typeface="+mn-ea"/>
                <a:cs typeface="+mn-cs"/>
              </a:rPr>
              <a:t>Example</a:t>
            </a:r>
            <a:r>
              <a:rPr lang="tr-TR" sz="2200" b="1" dirty="0">
                <a:solidFill>
                  <a:schemeClr val="tx1"/>
                </a:solidFill>
                <a:latin typeface="+mn-lt"/>
                <a:ea typeface="+mn-ea"/>
                <a:cs typeface="+mn-cs"/>
              </a:rPr>
              <a:t>: </a:t>
            </a:r>
            <a:r>
              <a:rPr lang="en-US" sz="2200" dirty="0">
                <a:solidFill>
                  <a:schemeClr val="tx1"/>
                </a:solidFill>
                <a:latin typeface="+mn-lt"/>
                <a:ea typeface="+mn-ea"/>
                <a:cs typeface="+mn-cs"/>
              </a:rPr>
              <a:t>Let’s convert </a:t>
            </a:r>
            <a:r>
              <a:rPr lang="tr-TR" sz="2200" dirty="0">
                <a:solidFill>
                  <a:schemeClr val="tx1"/>
                </a:solidFill>
                <a:latin typeface="+mn-lt"/>
                <a:ea typeface="+mn-ea"/>
                <a:cs typeface="+mn-cs"/>
              </a:rPr>
              <a:t>34.45</a:t>
            </a:r>
            <a:r>
              <a:rPr lang="en-US" sz="2200" baseline="-25000" dirty="0">
                <a:solidFill>
                  <a:schemeClr val="tx1"/>
                </a:solidFill>
                <a:latin typeface="+mn-lt"/>
                <a:ea typeface="+mn-ea"/>
                <a:cs typeface="+mn-cs"/>
              </a:rPr>
              <a:t>10</a:t>
            </a:r>
            <a:r>
              <a:rPr lang="en-US" sz="2200" dirty="0">
                <a:solidFill>
                  <a:schemeClr val="tx1"/>
                </a:solidFill>
                <a:latin typeface="+mn-lt"/>
                <a:ea typeface="+mn-ea"/>
                <a:cs typeface="+mn-cs"/>
              </a:rPr>
              <a:t> to octal.</a:t>
            </a:r>
            <a:endParaRPr lang="tr-TR" sz="2200" dirty="0">
              <a:solidFill>
                <a:schemeClr val="tx1"/>
              </a:solidFill>
              <a:latin typeface="+mn-lt"/>
              <a:ea typeface="+mn-ea"/>
              <a:cs typeface="+mn-cs"/>
            </a:endParaRPr>
          </a:p>
          <a:p>
            <a:pPr>
              <a:buNone/>
            </a:pPr>
            <a:endParaRPr lang="tr-TR" sz="2200" dirty="0"/>
          </a:p>
          <a:p>
            <a:pPr>
              <a:buNone/>
            </a:pPr>
            <a:endParaRPr lang="tr-TR" sz="2200" dirty="0"/>
          </a:p>
          <a:p>
            <a:pPr>
              <a:buNone/>
            </a:pPr>
            <a:r>
              <a:rPr lang="tr-TR" sz="2200" dirty="0">
                <a:solidFill>
                  <a:schemeClr val="tx1"/>
                </a:solidFill>
                <a:latin typeface="+mn-lt"/>
                <a:ea typeface="+mn-ea"/>
                <a:cs typeface="+mn-cs"/>
              </a:rPr>
              <a:t>							</a:t>
            </a:r>
            <a:r>
              <a:rPr lang="en-US" sz="2200" dirty="0">
                <a:solidFill>
                  <a:schemeClr val="tx1"/>
                </a:solidFill>
                <a:latin typeface="+mn-lt"/>
                <a:ea typeface="+mn-ea"/>
                <a:cs typeface="+mn-cs"/>
              </a:rPr>
              <a:t>         </a:t>
            </a:r>
            <a:r>
              <a:rPr lang="tr-TR" sz="2200" dirty="0">
                <a:solidFill>
                  <a:schemeClr val="tx1"/>
                </a:solidFill>
                <a:latin typeface="+mn-lt"/>
                <a:ea typeface="+mn-ea"/>
                <a:cs typeface="+mn-cs"/>
              </a:rPr>
              <a:t>34.45 </a:t>
            </a:r>
            <a:r>
              <a:rPr lang="tr-TR" sz="2200" dirty="0">
                <a:solidFill>
                  <a:schemeClr val="tx1"/>
                </a:solidFill>
                <a:latin typeface="+mn-lt"/>
                <a:ea typeface="+mn-ea"/>
                <a:cs typeface="+mn-cs"/>
                <a:sym typeface="Symbol"/>
              </a:rPr>
              <a:t></a:t>
            </a:r>
            <a:r>
              <a:rPr lang="tr-TR" sz="2200" dirty="0">
                <a:solidFill>
                  <a:schemeClr val="tx1"/>
                </a:solidFill>
                <a:latin typeface="+mn-lt"/>
                <a:ea typeface="+mn-ea"/>
                <a:cs typeface="+mn-cs"/>
              </a:rPr>
              <a:t> 42.346</a:t>
            </a:r>
            <a:r>
              <a:rPr lang="tr-TR" sz="2200" baseline="-25000" dirty="0">
                <a:solidFill>
                  <a:schemeClr val="tx1"/>
                </a:solidFill>
                <a:latin typeface="+mn-lt"/>
                <a:ea typeface="+mn-ea"/>
                <a:cs typeface="+mn-cs"/>
              </a:rPr>
              <a:t>8</a:t>
            </a:r>
            <a:endParaRPr lang="tr-TR" sz="2200" dirty="0">
              <a:solidFill>
                <a:schemeClr val="tx1"/>
              </a:solidFill>
              <a:latin typeface="+mn-lt"/>
              <a:ea typeface="+mn-ea"/>
              <a:cs typeface="+mn-cs"/>
            </a:endParaRPr>
          </a:p>
          <a:p>
            <a:pPr>
              <a:buNone/>
            </a:pPr>
            <a:endParaRPr lang="tr-TR" sz="2200" dirty="0">
              <a:solidFill>
                <a:schemeClr val="tx1"/>
              </a:solidFill>
              <a:latin typeface="+mn-lt"/>
              <a:ea typeface="+mn-ea"/>
              <a:cs typeface="+mn-cs"/>
            </a:endParaRPr>
          </a:p>
          <a:p>
            <a:pPr>
              <a:buNone/>
            </a:pPr>
            <a:endParaRPr lang="tr-TR" sz="1000" dirty="0">
              <a:solidFill>
                <a:schemeClr val="tx1"/>
              </a:solidFill>
              <a:latin typeface="+mn-lt"/>
              <a:ea typeface="+mn-ea"/>
              <a:cs typeface="+mn-cs"/>
            </a:endParaRPr>
          </a:p>
          <a:p>
            <a:pPr marL="0" indent="0" algn="just">
              <a:buFont typeface="Wingdings" pitchFamily="2" charset="2"/>
              <a:buChar char="Ø"/>
            </a:pPr>
            <a:r>
              <a:rPr lang="en-US" sz="2200" dirty="0">
                <a:solidFill>
                  <a:schemeClr val="tx1"/>
                </a:solidFill>
                <a:latin typeface="+mn-lt"/>
                <a:ea typeface="+mn-ea"/>
                <a:cs typeface="+mn-cs"/>
              </a:rPr>
              <a:t>Conversion from octal to binary is just like hexadecimal system. </a:t>
            </a:r>
            <a:r>
              <a:rPr lang="en-US" sz="2200" dirty="0"/>
              <a:t>We convert each digit to 3-bit binary numbers and concatenate these numbers.</a:t>
            </a:r>
            <a:endParaRPr lang="tr-TR" sz="2200" dirty="0">
              <a:solidFill>
                <a:schemeClr val="tx1"/>
              </a:solidFill>
              <a:latin typeface="+mn-lt"/>
              <a:ea typeface="+mn-ea"/>
              <a:cs typeface="+mn-cs"/>
            </a:endParaRPr>
          </a:p>
          <a:p>
            <a:pPr>
              <a:buNone/>
            </a:pPr>
            <a:endParaRPr lang="tr-TR" sz="1000" dirty="0">
              <a:solidFill>
                <a:schemeClr val="tx1"/>
              </a:solidFill>
              <a:latin typeface="+mn-lt"/>
              <a:ea typeface="+mn-ea"/>
              <a:cs typeface="+mn-cs"/>
            </a:endParaRPr>
          </a:p>
          <a:p>
            <a:pPr>
              <a:buNone/>
            </a:pPr>
            <a:r>
              <a:rPr lang="en-US" sz="2000" b="1" dirty="0">
                <a:solidFill>
                  <a:schemeClr val="tx1"/>
                </a:solidFill>
                <a:latin typeface="+mn-lt"/>
                <a:ea typeface="+mn-ea"/>
                <a:cs typeface="+mn-cs"/>
              </a:rPr>
              <a:t>Example</a:t>
            </a:r>
            <a:r>
              <a:rPr lang="tr-TR" sz="2000" b="1" dirty="0">
                <a:solidFill>
                  <a:schemeClr val="tx1"/>
                </a:solidFill>
                <a:latin typeface="+mn-lt"/>
                <a:ea typeface="+mn-ea"/>
                <a:cs typeface="+mn-cs"/>
              </a:rPr>
              <a:t>: </a:t>
            </a:r>
            <a:r>
              <a:rPr lang="en-US" sz="2000" dirty="0">
                <a:solidFill>
                  <a:schemeClr val="tx1"/>
                </a:solidFill>
                <a:latin typeface="+mn-lt"/>
                <a:ea typeface="+mn-ea"/>
                <a:cs typeface="+mn-cs"/>
              </a:rPr>
              <a:t>Let’s convert </a:t>
            </a:r>
            <a:r>
              <a:rPr lang="tr-TR" sz="2000" dirty="0">
                <a:solidFill>
                  <a:schemeClr val="tx1"/>
                </a:solidFill>
                <a:latin typeface="+mn-lt"/>
                <a:ea typeface="+mn-ea"/>
                <a:cs typeface="+mn-cs"/>
              </a:rPr>
              <a:t>456</a:t>
            </a:r>
            <a:r>
              <a:rPr lang="tr-TR" sz="2000" baseline="-25000" dirty="0">
                <a:solidFill>
                  <a:schemeClr val="tx1"/>
                </a:solidFill>
                <a:latin typeface="+mn-lt"/>
                <a:ea typeface="+mn-ea"/>
                <a:cs typeface="+mn-cs"/>
              </a:rPr>
              <a:t>8</a:t>
            </a:r>
            <a:r>
              <a:rPr lang="tr-TR" sz="2000" dirty="0">
                <a:solidFill>
                  <a:schemeClr val="tx1"/>
                </a:solidFill>
                <a:latin typeface="+mn-lt"/>
                <a:ea typeface="+mn-ea"/>
                <a:cs typeface="+mn-cs"/>
              </a:rPr>
              <a:t> </a:t>
            </a:r>
            <a:r>
              <a:rPr lang="en-US" sz="2000" dirty="0">
                <a:solidFill>
                  <a:schemeClr val="tx1"/>
                </a:solidFill>
                <a:latin typeface="+mn-lt"/>
                <a:ea typeface="+mn-ea"/>
                <a:cs typeface="+mn-cs"/>
              </a:rPr>
              <a:t>to binary.</a:t>
            </a:r>
            <a:endParaRPr lang="tr-TR" sz="2000" dirty="0">
              <a:solidFill>
                <a:schemeClr val="tx1"/>
              </a:solidFill>
              <a:latin typeface="+mn-lt"/>
              <a:ea typeface="+mn-ea"/>
              <a:cs typeface="+mn-cs"/>
            </a:endParaRPr>
          </a:p>
          <a:p>
            <a:pPr>
              <a:buNone/>
            </a:pPr>
            <a:r>
              <a:rPr lang="tr-TR" sz="2000" dirty="0">
                <a:solidFill>
                  <a:schemeClr val="tx1"/>
                </a:solidFill>
                <a:latin typeface="+mn-lt"/>
                <a:ea typeface="+mn-ea"/>
                <a:cs typeface="+mn-cs"/>
              </a:rPr>
              <a:t>4</a:t>
            </a:r>
            <a:r>
              <a:rPr lang="tr-TR" sz="2000" b="1" dirty="0">
                <a:solidFill>
                  <a:srgbClr val="FF0000"/>
                </a:solidFill>
                <a:latin typeface="+mn-lt"/>
                <a:ea typeface="+mn-ea"/>
                <a:cs typeface="+mn-cs"/>
              </a:rPr>
              <a:t>5</a:t>
            </a:r>
            <a:r>
              <a:rPr lang="tr-TR" sz="2000" dirty="0">
                <a:solidFill>
                  <a:schemeClr val="tx1"/>
                </a:solidFill>
                <a:latin typeface="+mn-lt"/>
                <a:ea typeface="+mn-ea"/>
                <a:cs typeface="+mn-cs"/>
              </a:rPr>
              <a:t>6</a:t>
            </a:r>
            <a:r>
              <a:rPr lang="tr-TR" sz="2000" baseline="-25000" dirty="0">
                <a:solidFill>
                  <a:schemeClr val="tx1"/>
                </a:solidFill>
                <a:latin typeface="+mn-lt"/>
                <a:ea typeface="+mn-ea"/>
                <a:cs typeface="+mn-cs"/>
              </a:rPr>
              <a:t>8</a:t>
            </a:r>
            <a:r>
              <a:rPr lang="tr-TR" sz="2000" dirty="0">
                <a:solidFill>
                  <a:schemeClr val="tx1"/>
                </a:solidFill>
                <a:latin typeface="+mn-lt"/>
                <a:ea typeface="+mn-ea"/>
                <a:cs typeface="+mn-cs"/>
              </a:rPr>
              <a:t> = 100</a:t>
            </a:r>
            <a:r>
              <a:rPr lang="tr-TR" sz="2000" b="1" dirty="0">
                <a:solidFill>
                  <a:srgbClr val="FF0000"/>
                </a:solidFill>
                <a:latin typeface="+mn-lt"/>
                <a:ea typeface="+mn-ea"/>
                <a:cs typeface="+mn-cs"/>
              </a:rPr>
              <a:t>101</a:t>
            </a:r>
            <a:r>
              <a:rPr lang="tr-TR" sz="2000" dirty="0">
                <a:solidFill>
                  <a:schemeClr val="tx1"/>
                </a:solidFill>
                <a:latin typeface="+mn-lt"/>
                <a:ea typeface="+mn-ea"/>
                <a:cs typeface="+mn-cs"/>
              </a:rPr>
              <a:t>110</a:t>
            </a:r>
            <a:r>
              <a:rPr lang="tr-TR" sz="2000" baseline="-25000" dirty="0">
                <a:solidFill>
                  <a:schemeClr val="tx1"/>
                </a:solidFill>
                <a:latin typeface="+mn-lt"/>
                <a:ea typeface="+mn-ea"/>
                <a:cs typeface="+mn-cs"/>
              </a:rPr>
              <a:t>2</a:t>
            </a:r>
            <a:endParaRPr lang="tr-TR" sz="2000" dirty="0">
              <a:solidFill>
                <a:schemeClr val="tx1"/>
              </a:solidFill>
              <a:latin typeface="+mn-lt"/>
              <a:ea typeface="+mn-ea"/>
              <a:cs typeface="+mn-cs"/>
            </a:endParaRPr>
          </a:p>
          <a:p>
            <a:pPr>
              <a:buNone/>
            </a:pPr>
            <a:endParaRPr lang="tr-TR" sz="1000" dirty="0">
              <a:solidFill>
                <a:schemeClr val="tx1"/>
              </a:solidFill>
              <a:latin typeface="+mn-lt"/>
              <a:ea typeface="+mn-ea"/>
              <a:cs typeface="+mn-cs"/>
            </a:endParaRPr>
          </a:p>
          <a:p>
            <a:pPr>
              <a:buNone/>
            </a:pPr>
            <a:r>
              <a:rPr lang="en-US" sz="2000" b="1" dirty="0">
                <a:solidFill>
                  <a:schemeClr val="tx1"/>
                </a:solidFill>
                <a:latin typeface="+mn-lt"/>
                <a:ea typeface="+mn-ea"/>
                <a:cs typeface="+mn-cs"/>
              </a:rPr>
              <a:t>Example</a:t>
            </a:r>
            <a:r>
              <a:rPr lang="tr-TR" sz="2000" b="1" dirty="0">
                <a:solidFill>
                  <a:schemeClr val="tx1"/>
                </a:solidFill>
                <a:latin typeface="+mn-lt"/>
                <a:ea typeface="+mn-ea"/>
                <a:cs typeface="+mn-cs"/>
              </a:rPr>
              <a:t>: </a:t>
            </a:r>
            <a:r>
              <a:rPr lang="en-US" sz="2000" dirty="0"/>
              <a:t>Let’s convert </a:t>
            </a:r>
            <a:r>
              <a:rPr lang="tr-TR" sz="2000" dirty="0">
                <a:solidFill>
                  <a:schemeClr val="tx1"/>
                </a:solidFill>
                <a:latin typeface="+mn-lt"/>
                <a:ea typeface="+mn-ea"/>
                <a:cs typeface="+mn-cs"/>
              </a:rPr>
              <a:t>56.34</a:t>
            </a:r>
            <a:r>
              <a:rPr lang="tr-TR" sz="2000" baseline="-25000" dirty="0">
                <a:solidFill>
                  <a:schemeClr val="tx1"/>
                </a:solidFill>
                <a:latin typeface="+mn-lt"/>
                <a:ea typeface="+mn-ea"/>
                <a:cs typeface="+mn-cs"/>
              </a:rPr>
              <a:t>8</a:t>
            </a:r>
            <a:r>
              <a:rPr lang="tr-TR" sz="2000" dirty="0">
                <a:solidFill>
                  <a:schemeClr val="tx1"/>
                </a:solidFill>
                <a:latin typeface="+mn-lt"/>
                <a:ea typeface="+mn-ea"/>
                <a:cs typeface="+mn-cs"/>
              </a:rPr>
              <a:t> </a:t>
            </a:r>
            <a:r>
              <a:rPr lang="en-US" sz="2000" dirty="0">
                <a:solidFill>
                  <a:schemeClr val="tx1"/>
                </a:solidFill>
                <a:latin typeface="+mn-lt"/>
                <a:ea typeface="+mn-ea"/>
                <a:cs typeface="+mn-cs"/>
              </a:rPr>
              <a:t>to binary.</a:t>
            </a:r>
            <a:endParaRPr lang="tr-TR" sz="2000" dirty="0">
              <a:solidFill>
                <a:schemeClr val="tx1"/>
              </a:solidFill>
              <a:latin typeface="+mn-lt"/>
              <a:ea typeface="+mn-ea"/>
              <a:cs typeface="+mn-cs"/>
            </a:endParaRPr>
          </a:p>
          <a:p>
            <a:pPr>
              <a:buNone/>
            </a:pPr>
            <a:r>
              <a:rPr lang="tr-TR" sz="2000" b="1" dirty="0">
                <a:solidFill>
                  <a:srgbClr val="FF0000"/>
                </a:solidFill>
                <a:latin typeface="+mn-lt"/>
                <a:ea typeface="+mn-ea"/>
                <a:cs typeface="+mn-cs"/>
              </a:rPr>
              <a:t>5</a:t>
            </a:r>
            <a:r>
              <a:rPr lang="tr-TR" sz="2000" dirty="0">
                <a:solidFill>
                  <a:schemeClr val="tx1"/>
                </a:solidFill>
                <a:latin typeface="+mn-lt"/>
                <a:ea typeface="+mn-ea"/>
                <a:cs typeface="+mn-cs"/>
              </a:rPr>
              <a:t>6.</a:t>
            </a:r>
            <a:r>
              <a:rPr lang="tr-TR" sz="2000" b="1" dirty="0">
                <a:solidFill>
                  <a:srgbClr val="FF0000"/>
                </a:solidFill>
                <a:latin typeface="+mn-lt"/>
                <a:ea typeface="+mn-ea"/>
                <a:cs typeface="+mn-cs"/>
              </a:rPr>
              <a:t>3</a:t>
            </a:r>
            <a:r>
              <a:rPr lang="tr-TR" sz="2000" dirty="0">
                <a:solidFill>
                  <a:schemeClr val="tx1"/>
                </a:solidFill>
                <a:latin typeface="+mn-lt"/>
                <a:ea typeface="+mn-ea"/>
                <a:cs typeface="+mn-cs"/>
              </a:rPr>
              <a:t>4</a:t>
            </a:r>
            <a:r>
              <a:rPr lang="tr-TR" sz="2000" baseline="-25000" dirty="0">
                <a:solidFill>
                  <a:schemeClr val="tx1"/>
                </a:solidFill>
                <a:latin typeface="+mn-lt"/>
                <a:ea typeface="+mn-ea"/>
                <a:cs typeface="+mn-cs"/>
              </a:rPr>
              <a:t>8</a:t>
            </a:r>
            <a:r>
              <a:rPr lang="tr-TR" sz="2000" dirty="0">
                <a:solidFill>
                  <a:schemeClr val="tx1"/>
                </a:solidFill>
                <a:latin typeface="+mn-lt"/>
                <a:ea typeface="+mn-ea"/>
                <a:cs typeface="+mn-cs"/>
              </a:rPr>
              <a:t> = </a:t>
            </a:r>
            <a:r>
              <a:rPr lang="tr-TR" sz="2000" b="1" dirty="0">
                <a:solidFill>
                  <a:srgbClr val="FF0000"/>
                </a:solidFill>
                <a:latin typeface="+mn-lt"/>
                <a:ea typeface="+mn-ea"/>
                <a:cs typeface="+mn-cs"/>
              </a:rPr>
              <a:t>101</a:t>
            </a:r>
            <a:r>
              <a:rPr lang="tr-TR" sz="2000" dirty="0">
                <a:solidFill>
                  <a:schemeClr val="tx1"/>
                </a:solidFill>
                <a:latin typeface="+mn-lt"/>
                <a:ea typeface="+mn-ea"/>
                <a:cs typeface="+mn-cs"/>
              </a:rPr>
              <a:t>110.</a:t>
            </a:r>
            <a:r>
              <a:rPr lang="tr-TR" sz="2000" b="1" dirty="0">
                <a:solidFill>
                  <a:srgbClr val="FF0000"/>
                </a:solidFill>
                <a:latin typeface="+mn-lt"/>
                <a:ea typeface="+mn-ea"/>
                <a:cs typeface="+mn-cs"/>
              </a:rPr>
              <a:t>011</a:t>
            </a:r>
            <a:r>
              <a:rPr lang="tr-TR" sz="2000" dirty="0">
                <a:solidFill>
                  <a:schemeClr val="tx1"/>
                </a:solidFill>
                <a:latin typeface="+mn-lt"/>
                <a:ea typeface="+mn-ea"/>
                <a:cs typeface="+mn-cs"/>
              </a:rPr>
              <a:t>100</a:t>
            </a:r>
            <a:r>
              <a:rPr lang="tr-TR" sz="2000" baseline="-25000" dirty="0">
                <a:solidFill>
                  <a:schemeClr val="tx1"/>
                </a:solidFill>
                <a:latin typeface="+mn-lt"/>
                <a:ea typeface="+mn-ea"/>
                <a:cs typeface="+mn-cs"/>
              </a:rPr>
              <a:t>2</a:t>
            </a:r>
            <a:endParaRPr lang="tr-TR" sz="2000" dirty="0">
              <a:solidFill>
                <a:schemeClr val="tx1"/>
              </a:solidFill>
              <a:latin typeface="+mn-lt"/>
              <a:ea typeface="+mn-ea"/>
              <a:cs typeface="+mn-cs"/>
            </a:endParaRPr>
          </a:p>
          <a:p>
            <a:pPr>
              <a:buNone/>
            </a:pPr>
            <a:endParaRPr lang="tr-TR" dirty="0"/>
          </a:p>
        </p:txBody>
      </p:sp>
      <p:sp>
        <p:nvSpPr>
          <p:cNvPr id="4" name="3 Altbilgi Yer Tutucusu"/>
          <p:cNvSpPr>
            <a:spLocks noGrp="1"/>
          </p:cNvSpPr>
          <p:nvPr>
            <p:ph type="ftr" sz="quarter" idx="10"/>
          </p:nvPr>
        </p:nvSpPr>
        <p:spPr/>
        <p:txBody>
          <a:bodyPr/>
          <a:lstStyle/>
          <a:p>
            <a:r>
              <a:rPr lang="en-US" dirty="0"/>
              <a:t>Logic Circuits</a:t>
            </a:r>
          </a:p>
        </p:txBody>
      </p:sp>
      <p:graphicFrame>
        <p:nvGraphicFramePr>
          <p:cNvPr id="5" name="4 Tablo"/>
          <p:cNvGraphicFramePr>
            <a:graphicFrameLocks noGrp="1"/>
          </p:cNvGraphicFramePr>
          <p:nvPr>
            <p:extLst>
              <p:ext uri="{D42A27DB-BD31-4B8C-83A1-F6EECF244321}">
                <p14:modId xmlns:p14="http://schemas.microsoft.com/office/powerpoint/2010/main" val="229533908"/>
              </p:ext>
            </p:extLst>
          </p:nvPr>
        </p:nvGraphicFramePr>
        <p:xfrm>
          <a:off x="499916" y="1580856"/>
          <a:ext cx="3363872" cy="1219200"/>
        </p:xfrm>
        <a:graphic>
          <a:graphicData uri="http://schemas.openxmlformats.org/drawingml/2006/table">
            <a:tbl>
              <a:tblPr/>
              <a:tblGrid>
                <a:gridCol w="802031">
                  <a:extLst>
                    <a:ext uri="{9D8B030D-6E8A-4147-A177-3AD203B41FA5}">
                      <a16:colId xmlns:a16="http://schemas.microsoft.com/office/drawing/2014/main" val="20000"/>
                    </a:ext>
                  </a:extLst>
                </a:gridCol>
                <a:gridCol w="1127488">
                  <a:extLst>
                    <a:ext uri="{9D8B030D-6E8A-4147-A177-3AD203B41FA5}">
                      <a16:colId xmlns:a16="http://schemas.microsoft.com/office/drawing/2014/main" val="20001"/>
                    </a:ext>
                  </a:extLst>
                </a:gridCol>
                <a:gridCol w="1434353">
                  <a:extLst>
                    <a:ext uri="{9D8B030D-6E8A-4147-A177-3AD203B41FA5}">
                      <a16:colId xmlns:a16="http://schemas.microsoft.com/office/drawing/2014/main" val="20002"/>
                    </a:ext>
                  </a:extLst>
                </a:gridCol>
              </a:tblGrid>
              <a:tr h="0">
                <a:tc gridSpan="3">
                  <a:txBody>
                    <a:bodyPr/>
                    <a:lstStyle/>
                    <a:p>
                      <a:pPr algn="ctr">
                        <a:spcAft>
                          <a:spcPts val="0"/>
                        </a:spcAft>
                      </a:pPr>
                      <a:r>
                        <a:rPr lang="en-US" sz="2000" b="1" dirty="0">
                          <a:latin typeface="Times New Roman"/>
                          <a:ea typeface="Times New Roman"/>
                        </a:rPr>
                        <a:t>Whole Part</a:t>
                      </a:r>
                      <a:endParaRPr lang="tr-TR" sz="2000" b="1" dirty="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tr-TR"/>
                    </a:p>
                  </a:txBody>
                  <a:tcPr/>
                </a:tc>
                <a:tc hMerge="1">
                  <a:txBody>
                    <a:bodyPr/>
                    <a:lstStyle/>
                    <a:p>
                      <a:endParaRPr lang="tr-TR"/>
                    </a:p>
                  </a:txBody>
                  <a:tcPr/>
                </a:tc>
                <a:extLst>
                  <a:ext uri="{0D108BD9-81ED-4DB2-BD59-A6C34878D82A}">
                    <a16:rowId xmlns:a16="http://schemas.microsoft.com/office/drawing/2014/main" val="10000"/>
                  </a:ext>
                </a:extLst>
              </a:tr>
              <a:tr h="0">
                <a:tc>
                  <a:txBody>
                    <a:bodyPr/>
                    <a:lstStyle/>
                    <a:p>
                      <a:pPr algn="l">
                        <a:spcAft>
                          <a:spcPts val="0"/>
                        </a:spcAft>
                      </a:pPr>
                      <a:endParaRPr lang="tr-TR" sz="200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2000" b="1" dirty="0">
                          <a:latin typeface="Times New Roman"/>
                          <a:ea typeface="Times New Roman"/>
                        </a:rPr>
                        <a:t>Quotient</a:t>
                      </a:r>
                      <a:endParaRPr lang="tr-TR" sz="2000" dirty="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2000" b="1" dirty="0">
                          <a:latin typeface="Times New Roman"/>
                          <a:ea typeface="Times New Roman"/>
                        </a:rPr>
                        <a:t>Remainder</a:t>
                      </a:r>
                      <a:endParaRPr lang="tr-TR" sz="2000" dirty="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algn="ctr">
                        <a:spcAft>
                          <a:spcPts val="0"/>
                        </a:spcAft>
                      </a:pPr>
                      <a:r>
                        <a:rPr lang="tr-TR" sz="2000" dirty="0">
                          <a:latin typeface="Times New Roman"/>
                          <a:ea typeface="Times New Roman"/>
                        </a:rPr>
                        <a:t>34/8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tr-TR" sz="2000">
                          <a:latin typeface="Times New Roman"/>
                          <a:ea typeface="Times New Roman"/>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tr-TR" sz="2000" b="1">
                          <a:latin typeface="Times New Roman"/>
                          <a:ea typeface="Times New Roman"/>
                        </a:rPr>
                        <a:t>2</a:t>
                      </a:r>
                      <a:endParaRPr lang="tr-TR" sz="200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algn="ctr">
                        <a:spcAft>
                          <a:spcPts val="0"/>
                        </a:spcAft>
                      </a:pPr>
                      <a:r>
                        <a:rPr lang="tr-TR" sz="2000">
                          <a:latin typeface="Times New Roman"/>
                          <a:ea typeface="Times New Roman"/>
                        </a:rPr>
                        <a:t>4/8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tr-TR" sz="2000">
                          <a:latin typeface="Times New Roman"/>
                          <a:ea typeface="Times New Roman"/>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tr-TR" sz="2000" b="1" dirty="0">
                          <a:latin typeface="Times New Roman"/>
                          <a:ea typeface="Times New Roman"/>
                        </a:rPr>
                        <a:t>4</a:t>
                      </a:r>
                      <a:endParaRPr lang="tr-TR" sz="2000" dirty="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graphicFrame>
        <p:nvGraphicFramePr>
          <p:cNvPr id="6" name="5 Tablo"/>
          <p:cNvGraphicFramePr>
            <a:graphicFrameLocks noGrp="1"/>
          </p:cNvGraphicFramePr>
          <p:nvPr>
            <p:extLst>
              <p:ext uri="{D42A27DB-BD31-4B8C-83A1-F6EECF244321}">
                <p14:modId xmlns:p14="http://schemas.microsoft.com/office/powerpoint/2010/main" val="38583140"/>
              </p:ext>
            </p:extLst>
          </p:nvPr>
        </p:nvGraphicFramePr>
        <p:xfrm>
          <a:off x="4146801" y="1602544"/>
          <a:ext cx="2043674" cy="1219200"/>
        </p:xfrm>
        <a:graphic>
          <a:graphicData uri="http://schemas.openxmlformats.org/drawingml/2006/table">
            <a:tbl>
              <a:tblPr/>
              <a:tblGrid>
                <a:gridCol w="1075832">
                  <a:extLst>
                    <a:ext uri="{9D8B030D-6E8A-4147-A177-3AD203B41FA5}">
                      <a16:colId xmlns:a16="http://schemas.microsoft.com/office/drawing/2014/main" val="20000"/>
                    </a:ext>
                  </a:extLst>
                </a:gridCol>
                <a:gridCol w="967842">
                  <a:extLst>
                    <a:ext uri="{9D8B030D-6E8A-4147-A177-3AD203B41FA5}">
                      <a16:colId xmlns:a16="http://schemas.microsoft.com/office/drawing/2014/main" val="20001"/>
                    </a:ext>
                  </a:extLst>
                </a:gridCol>
              </a:tblGrid>
              <a:tr h="0">
                <a:tc gridSpan="2">
                  <a:txBody>
                    <a:bodyPr/>
                    <a:lstStyle/>
                    <a:p>
                      <a:pPr algn="ctr">
                        <a:spcAft>
                          <a:spcPts val="0"/>
                        </a:spcAft>
                      </a:pPr>
                      <a:r>
                        <a:rPr lang="en-US" sz="2000" b="1" dirty="0">
                          <a:latin typeface="Times New Roman"/>
                          <a:ea typeface="Times New Roman"/>
                        </a:rPr>
                        <a:t>Fractional Part</a:t>
                      </a:r>
                      <a:endParaRPr lang="tr-TR" sz="2000" b="1" dirty="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tr-TR"/>
                    </a:p>
                  </a:txBody>
                  <a:tcPr/>
                </a:tc>
                <a:extLst>
                  <a:ext uri="{0D108BD9-81ED-4DB2-BD59-A6C34878D82A}">
                    <a16:rowId xmlns:a16="http://schemas.microsoft.com/office/drawing/2014/main" val="10000"/>
                  </a:ext>
                </a:extLst>
              </a:tr>
              <a:tr h="0">
                <a:tc>
                  <a:txBody>
                    <a:bodyPr/>
                    <a:lstStyle/>
                    <a:p>
                      <a:pPr algn="ctr">
                        <a:spcAft>
                          <a:spcPts val="0"/>
                        </a:spcAft>
                      </a:pPr>
                      <a:r>
                        <a:rPr lang="tr-TR" sz="2000">
                          <a:latin typeface="Times New Roman"/>
                          <a:ea typeface="Times New Roman"/>
                        </a:rPr>
                        <a:t>0.45×8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tr-TR" sz="2000" b="1">
                          <a:latin typeface="Times New Roman"/>
                          <a:ea typeface="Times New Roman"/>
                        </a:rPr>
                        <a:t>3</a:t>
                      </a:r>
                      <a:r>
                        <a:rPr lang="tr-TR" sz="2000">
                          <a:latin typeface="Times New Roman"/>
                          <a:ea typeface="Times New Roman"/>
                        </a:rPr>
                        <a:t>.6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algn="ctr">
                        <a:spcAft>
                          <a:spcPts val="0"/>
                        </a:spcAft>
                      </a:pPr>
                      <a:r>
                        <a:rPr lang="tr-TR" sz="2000">
                          <a:latin typeface="Times New Roman"/>
                          <a:ea typeface="Times New Roman"/>
                        </a:rPr>
                        <a:t>0.6×8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tr-TR" sz="2000" b="1">
                          <a:latin typeface="Times New Roman"/>
                          <a:ea typeface="Times New Roman"/>
                        </a:rPr>
                        <a:t>4</a:t>
                      </a:r>
                      <a:r>
                        <a:rPr lang="tr-TR" sz="2000">
                          <a:latin typeface="Times New Roman"/>
                          <a:ea typeface="Times New Roman"/>
                        </a:rPr>
                        <a:t>.8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algn="ctr">
                        <a:spcAft>
                          <a:spcPts val="0"/>
                        </a:spcAft>
                      </a:pPr>
                      <a:r>
                        <a:rPr lang="tr-TR" sz="2000">
                          <a:latin typeface="Times New Roman"/>
                          <a:ea typeface="Times New Roman"/>
                        </a:rPr>
                        <a:t>0.8×8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tr-TR" sz="2000" b="1" dirty="0">
                          <a:latin typeface="Times New Roman"/>
                          <a:ea typeface="Times New Roman"/>
                        </a:rPr>
                        <a:t>6</a:t>
                      </a:r>
                      <a:r>
                        <a:rPr lang="tr-TR" sz="2000" dirty="0">
                          <a:latin typeface="Times New Roman"/>
                          <a:ea typeface="Times New Roman"/>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cxnSp>
        <p:nvCxnSpPr>
          <p:cNvPr id="8" name="7 Düz Bağlayıcı"/>
          <p:cNvCxnSpPr/>
          <p:nvPr/>
        </p:nvCxnSpPr>
        <p:spPr bwMode="auto">
          <a:xfrm>
            <a:off x="1208303" y="5067402"/>
            <a:ext cx="32400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0" name="9 Düz Bağlayıcı"/>
          <p:cNvCxnSpPr/>
          <p:nvPr/>
        </p:nvCxnSpPr>
        <p:spPr bwMode="auto">
          <a:xfrm>
            <a:off x="1584269" y="5067402"/>
            <a:ext cx="32400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1" name="10 Düz Bağlayıcı"/>
          <p:cNvCxnSpPr/>
          <p:nvPr/>
        </p:nvCxnSpPr>
        <p:spPr bwMode="auto">
          <a:xfrm>
            <a:off x="1955131" y="5067401"/>
            <a:ext cx="32400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en-US" sz="2400" b="1" dirty="0"/>
              <a:t>Conversion</a:t>
            </a:r>
            <a:endParaRPr lang="tr-TR" sz="2400" dirty="0"/>
          </a:p>
        </p:txBody>
      </p:sp>
      <p:sp>
        <p:nvSpPr>
          <p:cNvPr id="3" name="2 İçerik Yer Tutucusu"/>
          <p:cNvSpPr>
            <a:spLocks noGrp="1"/>
          </p:cNvSpPr>
          <p:nvPr>
            <p:ph idx="1"/>
          </p:nvPr>
        </p:nvSpPr>
        <p:spPr>
          <a:xfrm>
            <a:off x="360582" y="902257"/>
            <a:ext cx="8375650" cy="5078412"/>
          </a:xfrm>
        </p:spPr>
        <p:txBody>
          <a:bodyPr/>
          <a:lstStyle/>
          <a:p>
            <a:pPr marL="0" indent="0" algn="just">
              <a:buFont typeface="Wingdings" pitchFamily="2" charset="2"/>
              <a:buChar char="Ø"/>
            </a:pPr>
            <a:r>
              <a:rPr lang="tr-TR" sz="2200" dirty="0">
                <a:solidFill>
                  <a:schemeClr val="tx1"/>
                </a:solidFill>
                <a:latin typeface="+mn-lt"/>
                <a:ea typeface="+mn-ea"/>
                <a:cs typeface="+mn-cs"/>
              </a:rPr>
              <a:t> </a:t>
            </a:r>
            <a:r>
              <a:rPr lang="en-US" sz="2200" dirty="0">
                <a:solidFill>
                  <a:schemeClr val="tx1"/>
                </a:solidFill>
                <a:latin typeface="+mn-lt"/>
                <a:ea typeface="+mn-ea"/>
                <a:cs typeface="+mn-cs"/>
              </a:rPr>
              <a:t>Conversion of binary numbers to octal is just like hexadecimal numbers</a:t>
            </a:r>
            <a:r>
              <a:rPr lang="tr-TR" sz="2200" dirty="0">
                <a:solidFill>
                  <a:schemeClr val="tx1"/>
                </a:solidFill>
                <a:latin typeface="+mn-lt"/>
                <a:ea typeface="+mn-ea"/>
                <a:cs typeface="+mn-cs"/>
              </a:rPr>
              <a:t>. </a:t>
            </a:r>
            <a:r>
              <a:rPr lang="en-US" sz="2200" dirty="0">
                <a:solidFill>
                  <a:schemeClr val="tx1"/>
                </a:solidFill>
                <a:latin typeface="+mn-lt"/>
                <a:ea typeface="+mn-ea"/>
                <a:cs typeface="+mn-cs"/>
              </a:rPr>
              <a:t>The only difference is that we divide the binary number into groups of four</a:t>
            </a:r>
            <a:r>
              <a:rPr lang="tr-TR" sz="2200" dirty="0">
                <a:solidFill>
                  <a:schemeClr val="tx1"/>
                </a:solidFill>
                <a:latin typeface="+mn-lt"/>
                <a:ea typeface="+mn-ea"/>
                <a:cs typeface="+mn-cs"/>
              </a:rPr>
              <a:t>.</a:t>
            </a:r>
            <a:r>
              <a:rPr lang="en-US" sz="2200" dirty="0">
                <a:solidFill>
                  <a:schemeClr val="tx1"/>
                </a:solidFill>
                <a:latin typeface="+mn-lt"/>
                <a:ea typeface="+mn-ea"/>
                <a:cs typeface="+mn-cs"/>
              </a:rPr>
              <a:t> We start grouping of the whole part from right to left, and the fractional part from left to right. Remember that we can add extra 0’s to the left of the whole part, and to the right of the fractional part.</a:t>
            </a:r>
            <a:endParaRPr lang="tr-TR" sz="2200" dirty="0"/>
          </a:p>
          <a:p>
            <a:pPr marL="0" indent="0" algn="just">
              <a:buNone/>
            </a:pPr>
            <a:endParaRPr lang="tr-TR" sz="1000" dirty="0"/>
          </a:p>
          <a:p>
            <a:pPr>
              <a:buNone/>
            </a:pPr>
            <a:r>
              <a:rPr lang="en-US" sz="2200" b="1" dirty="0">
                <a:solidFill>
                  <a:schemeClr val="tx1"/>
                </a:solidFill>
                <a:latin typeface="+mn-lt"/>
                <a:ea typeface="+mn-ea"/>
                <a:cs typeface="+mn-cs"/>
              </a:rPr>
              <a:t>Example</a:t>
            </a:r>
            <a:r>
              <a:rPr lang="tr-TR" sz="2200" b="1" dirty="0">
                <a:solidFill>
                  <a:schemeClr val="tx1"/>
                </a:solidFill>
                <a:latin typeface="+mn-lt"/>
                <a:ea typeface="+mn-ea"/>
                <a:cs typeface="+mn-cs"/>
              </a:rPr>
              <a:t>: </a:t>
            </a:r>
            <a:r>
              <a:rPr lang="en-US" sz="2200" dirty="0">
                <a:solidFill>
                  <a:schemeClr val="tx1"/>
                </a:solidFill>
                <a:latin typeface="+mn-lt"/>
                <a:ea typeface="+mn-ea"/>
                <a:cs typeface="+mn-cs"/>
              </a:rPr>
              <a:t>Let’s convert </a:t>
            </a:r>
            <a:r>
              <a:rPr lang="tr-TR" sz="2200" dirty="0">
                <a:solidFill>
                  <a:schemeClr val="tx1"/>
                </a:solidFill>
                <a:latin typeface="+mn-lt"/>
                <a:ea typeface="+mn-ea"/>
                <a:cs typeface="+mn-cs"/>
              </a:rPr>
              <a:t>101110001</a:t>
            </a:r>
            <a:r>
              <a:rPr lang="tr-TR" sz="2200" baseline="-25000" dirty="0">
                <a:solidFill>
                  <a:schemeClr val="tx1"/>
                </a:solidFill>
                <a:latin typeface="+mn-lt"/>
                <a:ea typeface="+mn-ea"/>
                <a:cs typeface="+mn-cs"/>
              </a:rPr>
              <a:t>2</a:t>
            </a:r>
            <a:r>
              <a:rPr lang="tr-TR" sz="2200" dirty="0">
                <a:solidFill>
                  <a:schemeClr val="tx1"/>
                </a:solidFill>
                <a:latin typeface="+mn-lt"/>
                <a:ea typeface="+mn-ea"/>
                <a:cs typeface="+mn-cs"/>
              </a:rPr>
              <a:t> </a:t>
            </a:r>
            <a:r>
              <a:rPr lang="en-US" sz="2200" dirty="0">
                <a:solidFill>
                  <a:schemeClr val="tx1"/>
                </a:solidFill>
                <a:latin typeface="+mn-lt"/>
                <a:ea typeface="+mn-ea"/>
                <a:cs typeface="+mn-cs"/>
              </a:rPr>
              <a:t>to octal</a:t>
            </a:r>
            <a:r>
              <a:rPr lang="en-US" sz="2200" dirty="0"/>
              <a:t>.</a:t>
            </a:r>
            <a:endParaRPr lang="tr-TR" sz="2200" dirty="0">
              <a:solidFill>
                <a:schemeClr val="tx1"/>
              </a:solidFill>
              <a:latin typeface="+mn-lt"/>
              <a:ea typeface="+mn-ea"/>
              <a:cs typeface="+mn-cs"/>
            </a:endParaRPr>
          </a:p>
          <a:p>
            <a:pPr>
              <a:buNone/>
            </a:pPr>
            <a:r>
              <a:rPr lang="tr-TR" sz="2200" dirty="0">
                <a:solidFill>
                  <a:schemeClr val="tx1"/>
                </a:solidFill>
                <a:latin typeface="+mn-lt"/>
                <a:ea typeface="+mn-ea"/>
                <a:cs typeface="+mn-cs"/>
              </a:rPr>
              <a:t>101110001</a:t>
            </a:r>
            <a:r>
              <a:rPr lang="tr-TR" sz="2200" baseline="-25000" dirty="0">
                <a:solidFill>
                  <a:schemeClr val="tx1"/>
                </a:solidFill>
                <a:latin typeface="+mn-lt"/>
                <a:ea typeface="+mn-ea"/>
                <a:cs typeface="+mn-cs"/>
              </a:rPr>
              <a:t>2</a:t>
            </a:r>
            <a:r>
              <a:rPr lang="tr-TR" sz="2200" dirty="0">
                <a:solidFill>
                  <a:schemeClr val="tx1"/>
                </a:solidFill>
                <a:latin typeface="+mn-lt"/>
                <a:ea typeface="+mn-ea"/>
                <a:cs typeface="+mn-cs"/>
              </a:rPr>
              <a:t> = 561</a:t>
            </a:r>
            <a:r>
              <a:rPr lang="tr-TR" sz="2200" baseline="-25000" dirty="0">
                <a:solidFill>
                  <a:schemeClr val="tx1"/>
                </a:solidFill>
                <a:latin typeface="+mn-lt"/>
                <a:ea typeface="+mn-ea"/>
                <a:cs typeface="+mn-cs"/>
              </a:rPr>
              <a:t>8</a:t>
            </a:r>
            <a:endParaRPr lang="tr-TR" sz="2200" dirty="0">
              <a:solidFill>
                <a:schemeClr val="tx1"/>
              </a:solidFill>
              <a:latin typeface="+mn-lt"/>
              <a:ea typeface="+mn-ea"/>
              <a:cs typeface="+mn-cs"/>
            </a:endParaRPr>
          </a:p>
          <a:p>
            <a:pPr>
              <a:buNone/>
            </a:pPr>
            <a:endParaRPr lang="tr-TR" sz="1000" dirty="0">
              <a:solidFill>
                <a:schemeClr val="tx1"/>
              </a:solidFill>
              <a:latin typeface="+mn-lt"/>
              <a:ea typeface="+mn-ea"/>
              <a:cs typeface="+mn-cs"/>
            </a:endParaRPr>
          </a:p>
          <a:p>
            <a:pPr>
              <a:buNone/>
            </a:pPr>
            <a:r>
              <a:rPr lang="en-US" sz="2200" b="1" dirty="0">
                <a:solidFill>
                  <a:schemeClr val="tx1"/>
                </a:solidFill>
                <a:latin typeface="+mn-lt"/>
                <a:ea typeface="+mn-ea"/>
                <a:cs typeface="+mn-cs"/>
              </a:rPr>
              <a:t>Example</a:t>
            </a:r>
            <a:r>
              <a:rPr lang="tr-TR" sz="2200" b="1" dirty="0">
                <a:solidFill>
                  <a:schemeClr val="tx1"/>
                </a:solidFill>
                <a:latin typeface="+mn-lt"/>
                <a:ea typeface="+mn-ea"/>
                <a:cs typeface="+mn-cs"/>
              </a:rPr>
              <a:t>: </a:t>
            </a:r>
            <a:r>
              <a:rPr lang="en-US" sz="2200" dirty="0">
                <a:solidFill>
                  <a:schemeClr val="tx1"/>
                </a:solidFill>
                <a:latin typeface="+mn-lt"/>
                <a:ea typeface="+mn-ea"/>
                <a:cs typeface="+mn-cs"/>
              </a:rPr>
              <a:t>Let’s convert </a:t>
            </a:r>
            <a:r>
              <a:rPr lang="tr-TR" sz="2200" dirty="0">
                <a:solidFill>
                  <a:schemeClr val="tx1"/>
                </a:solidFill>
                <a:latin typeface="+mn-lt"/>
                <a:ea typeface="+mn-ea"/>
                <a:cs typeface="+mn-cs"/>
              </a:rPr>
              <a:t>10011.11010</a:t>
            </a:r>
            <a:r>
              <a:rPr lang="tr-TR" sz="2200" baseline="-25000" dirty="0">
                <a:solidFill>
                  <a:schemeClr val="tx1"/>
                </a:solidFill>
                <a:latin typeface="+mn-lt"/>
                <a:ea typeface="+mn-ea"/>
                <a:cs typeface="+mn-cs"/>
              </a:rPr>
              <a:t>2</a:t>
            </a:r>
            <a:r>
              <a:rPr lang="tr-TR" sz="2200" dirty="0">
                <a:solidFill>
                  <a:schemeClr val="tx1"/>
                </a:solidFill>
                <a:latin typeface="+mn-lt"/>
                <a:ea typeface="+mn-ea"/>
                <a:cs typeface="+mn-cs"/>
              </a:rPr>
              <a:t> </a:t>
            </a:r>
            <a:r>
              <a:rPr lang="en-US" sz="2200" dirty="0">
                <a:solidFill>
                  <a:schemeClr val="tx1"/>
                </a:solidFill>
                <a:latin typeface="+mn-lt"/>
                <a:ea typeface="+mn-ea"/>
                <a:cs typeface="+mn-cs"/>
              </a:rPr>
              <a:t>to octal.</a:t>
            </a:r>
            <a:endParaRPr lang="tr-TR" sz="2200" dirty="0">
              <a:solidFill>
                <a:schemeClr val="tx1"/>
              </a:solidFill>
              <a:latin typeface="+mn-lt"/>
              <a:ea typeface="+mn-ea"/>
              <a:cs typeface="+mn-cs"/>
            </a:endParaRPr>
          </a:p>
          <a:p>
            <a:pPr>
              <a:buNone/>
            </a:pPr>
            <a:r>
              <a:rPr lang="tr-TR" sz="2200" b="1" dirty="0">
                <a:solidFill>
                  <a:srgbClr val="FF0000"/>
                </a:solidFill>
                <a:latin typeface="+mn-lt"/>
                <a:ea typeface="+mn-ea"/>
                <a:cs typeface="+mn-cs"/>
              </a:rPr>
              <a:t>0</a:t>
            </a:r>
            <a:r>
              <a:rPr lang="tr-TR" sz="2200" dirty="0">
                <a:solidFill>
                  <a:schemeClr val="tx1"/>
                </a:solidFill>
                <a:latin typeface="+mn-lt"/>
                <a:ea typeface="+mn-ea"/>
                <a:cs typeface="+mn-cs"/>
              </a:rPr>
              <a:t>10  011  .  110  10</a:t>
            </a:r>
            <a:r>
              <a:rPr lang="tr-TR" sz="2200" b="1" dirty="0">
                <a:solidFill>
                  <a:srgbClr val="FF0000"/>
                </a:solidFill>
                <a:latin typeface="+mn-lt"/>
                <a:ea typeface="+mn-ea"/>
                <a:cs typeface="+mn-cs"/>
              </a:rPr>
              <a:t>0   </a:t>
            </a:r>
            <a:r>
              <a:rPr lang="en-US" sz="2200" dirty="0">
                <a:latin typeface="+mn-lt"/>
                <a:ea typeface="+mn-ea"/>
                <a:cs typeface="+mn-cs"/>
              </a:rPr>
              <a:t>(Divided into groups of three and added extra 0’s.)</a:t>
            </a:r>
            <a:endParaRPr lang="tr-TR" sz="2200" dirty="0">
              <a:latin typeface="+mn-lt"/>
              <a:ea typeface="+mn-ea"/>
              <a:cs typeface="+mn-cs"/>
            </a:endParaRPr>
          </a:p>
          <a:p>
            <a:pPr>
              <a:buNone/>
            </a:pPr>
            <a:endParaRPr lang="tr-TR" sz="1000" dirty="0">
              <a:solidFill>
                <a:schemeClr val="tx1"/>
              </a:solidFill>
              <a:latin typeface="+mn-lt"/>
              <a:ea typeface="+mn-ea"/>
              <a:cs typeface="+mn-cs"/>
            </a:endParaRPr>
          </a:p>
          <a:p>
            <a:pPr>
              <a:buNone/>
            </a:pPr>
            <a:r>
              <a:rPr lang="en-US" sz="2200" dirty="0">
                <a:solidFill>
                  <a:schemeClr val="tx1"/>
                </a:solidFill>
                <a:latin typeface="+mn-lt"/>
                <a:ea typeface="+mn-ea"/>
                <a:cs typeface="+mn-cs"/>
              </a:rPr>
              <a:t>Then, </a:t>
            </a:r>
            <a:r>
              <a:rPr lang="tr-TR" sz="2200" dirty="0">
                <a:solidFill>
                  <a:schemeClr val="tx1"/>
                </a:solidFill>
                <a:latin typeface="+mn-lt"/>
                <a:ea typeface="+mn-ea"/>
                <a:cs typeface="+mn-cs"/>
              </a:rPr>
              <a:t>10011.11010</a:t>
            </a:r>
            <a:r>
              <a:rPr lang="tr-TR" sz="2200" baseline="-25000" dirty="0">
                <a:solidFill>
                  <a:schemeClr val="tx1"/>
                </a:solidFill>
                <a:latin typeface="+mn-lt"/>
                <a:ea typeface="+mn-ea"/>
                <a:cs typeface="+mn-cs"/>
              </a:rPr>
              <a:t>2</a:t>
            </a:r>
            <a:r>
              <a:rPr lang="tr-TR" sz="2200" dirty="0">
                <a:solidFill>
                  <a:schemeClr val="tx1"/>
                </a:solidFill>
                <a:latin typeface="+mn-lt"/>
                <a:ea typeface="+mn-ea"/>
                <a:cs typeface="+mn-cs"/>
              </a:rPr>
              <a:t> = 23.64</a:t>
            </a:r>
            <a:r>
              <a:rPr lang="tr-TR" sz="2200" baseline="-25000" dirty="0">
                <a:solidFill>
                  <a:schemeClr val="tx1"/>
                </a:solidFill>
                <a:latin typeface="+mn-lt"/>
                <a:ea typeface="+mn-ea"/>
                <a:cs typeface="+mn-cs"/>
              </a:rPr>
              <a:t>8</a:t>
            </a:r>
            <a:endParaRPr lang="tr-TR" sz="2200" dirty="0">
              <a:solidFill>
                <a:schemeClr val="tx1"/>
              </a:solidFill>
              <a:latin typeface="+mn-lt"/>
              <a:ea typeface="+mn-ea"/>
              <a:cs typeface="+mn-cs"/>
            </a:endParaRPr>
          </a:p>
          <a:p>
            <a:pPr marL="0" indent="0" algn="just">
              <a:buNone/>
            </a:pPr>
            <a:endParaRPr lang="tr-TR" sz="2200" dirty="0">
              <a:solidFill>
                <a:schemeClr val="tx1"/>
              </a:solidFill>
              <a:latin typeface="+mn-lt"/>
              <a:ea typeface="+mn-ea"/>
              <a:cs typeface="+mn-cs"/>
            </a:endParaRPr>
          </a:p>
          <a:p>
            <a:pPr>
              <a:buNone/>
            </a:pPr>
            <a:endParaRPr lang="tr-TR" sz="2200" dirty="0"/>
          </a:p>
        </p:txBody>
      </p:sp>
      <p:sp>
        <p:nvSpPr>
          <p:cNvPr id="4" name="3 Altbilgi Yer Tutucusu"/>
          <p:cNvSpPr>
            <a:spLocks noGrp="1"/>
          </p:cNvSpPr>
          <p:nvPr>
            <p:ph type="ftr" sz="quarter" idx="10"/>
          </p:nvPr>
        </p:nvSpPr>
        <p:spPr/>
        <p:txBody>
          <a:bodyPr/>
          <a:lstStyle/>
          <a:p>
            <a:r>
              <a:rPr lang="en-US" dirty="0"/>
              <a:t>Logic Circuits</a:t>
            </a:r>
          </a:p>
        </p:txBody>
      </p:sp>
      <p:cxnSp>
        <p:nvCxnSpPr>
          <p:cNvPr id="5" name="4 Düz Bağlayıcı"/>
          <p:cNvCxnSpPr/>
          <p:nvPr/>
        </p:nvCxnSpPr>
        <p:spPr bwMode="auto">
          <a:xfrm>
            <a:off x="492368" y="3938954"/>
            <a:ext cx="32400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6" name="5 Düz Bağlayıcı"/>
          <p:cNvCxnSpPr/>
          <p:nvPr/>
        </p:nvCxnSpPr>
        <p:spPr bwMode="auto">
          <a:xfrm>
            <a:off x="900330" y="3938954"/>
            <a:ext cx="32400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7" name="6 Düz Bağlayıcı"/>
          <p:cNvCxnSpPr/>
          <p:nvPr/>
        </p:nvCxnSpPr>
        <p:spPr bwMode="auto">
          <a:xfrm>
            <a:off x="1322361" y="3938954"/>
            <a:ext cx="32400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en-US" sz="2400" b="1" dirty="0"/>
              <a:t>Conversion</a:t>
            </a:r>
            <a:endParaRPr lang="tr-TR" sz="2400" dirty="0"/>
          </a:p>
        </p:txBody>
      </p:sp>
      <p:sp>
        <p:nvSpPr>
          <p:cNvPr id="3" name="2 İçerik Yer Tutucusu"/>
          <p:cNvSpPr>
            <a:spLocks noGrp="1"/>
          </p:cNvSpPr>
          <p:nvPr>
            <p:ph idx="1"/>
          </p:nvPr>
        </p:nvSpPr>
        <p:spPr>
          <a:xfrm>
            <a:off x="360582" y="874120"/>
            <a:ext cx="8375650" cy="5983880"/>
          </a:xfrm>
        </p:spPr>
        <p:txBody>
          <a:bodyPr/>
          <a:lstStyle/>
          <a:p>
            <a:pPr marL="0" indent="0" algn="just">
              <a:buFont typeface="Wingdings" pitchFamily="2" charset="2"/>
              <a:buChar char="Ø"/>
            </a:pPr>
            <a:r>
              <a:rPr lang="tr-TR" sz="2000" dirty="0">
                <a:solidFill>
                  <a:schemeClr val="tx1"/>
                </a:solidFill>
                <a:latin typeface="+mn-lt"/>
                <a:ea typeface="+mn-ea"/>
                <a:cs typeface="+mn-cs"/>
              </a:rPr>
              <a:t> </a:t>
            </a:r>
            <a:r>
              <a:rPr lang="en-US" sz="2000" dirty="0">
                <a:solidFill>
                  <a:schemeClr val="tx1"/>
                </a:solidFill>
                <a:latin typeface="+mn-lt"/>
                <a:ea typeface="+mn-ea"/>
                <a:cs typeface="+mn-cs"/>
              </a:rPr>
              <a:t>To convert from octal to hexadecimal, we first convert from octal to binary, then to hexadecimal.</a:t>
            </a:r>
            <a:r>
              <a:rPr lang="tr-TR" sz="2000" dirty="0">
                <a:solidFill>
                  <a:schemeClr val="tx1"/>
                </a:solidFill>
                <a:latin typeface="+mn-lt"/>
                <a:ea typeface="+mn-ea"/>
                <a:cs typeface="+mn-cs"/>
              </a:rPr>
              <a:t> </a:t>
            </a:r>
            <a:r>
              <a:rPr lang="en-US" sz="2000" dirty="0">
                <a:solidFill>
                  <a:schemeClr val="tx1"/>
                </a:solidFill>
                <a:latin typeface="+mn-lt"/>
                <a:ea typeface="+mn-ea"/>
                <a:cs typeface="+mn-cs"/>
              </a:rPr>
              <a:t>Likewise, to convert from hexadecimal to octal, we first convert from hexadecimal to binary, then to octal.</a:t>
            </a:r>
            <a:endParaRPr lang="tr-TR" sz="2000" dirty="0">
              <a:solidFill>
                <a:schemeClr val="tx1"/>
              </a:solidFill>
              <a:latin typeface="+mn-lt"/>
              <a:ea typeface="+mn-ea"/>
              <a:cs typeface="+mn-cs"/>
            </a:endParaRPr>
          </a:p>
          <a:p>
            <a:pPr>
              <a:buNone/>
            </a:pPr>
            <a:endParaRPr lang="tr-TR" sz="1000" b="1" dirty="0">
              <a:solidFill>
                <a:schemeClr val="tx1"/>
              </a:solidFill>
              <a:latin typeface="+mn-lt"/>
              <a:ea typeface="+mn-ea"/>
              <a:cs typeface="+mn-cs"/>
            </a:endParaRPr>
          </a:p>
          <a:p>
            <a:pPr>
              <a:buNone/>
            </a:pPr>
            <a:r>
              <a:rPr lang="en-US" sz="2000" b="1" dirty="0">
                <a:solidFill>
                  <a:schemeClr val="tx1"/>
                </a:solidFill>
                <a:latin typeface="+mn-lt"/>
                <a:ea typeface="+mn-ea"/>
                <a:cs typeface="+mn-cs"/>
              </a:rPr>
              <a:t>Example</a:t>
            </a:r>
            <a:r>
              <a:rPr lang="tr-TR" sz="2000" b="1" dirty="0">
                <a:solidFill>
                  <a:schemeClr val="tx1"/>
                </a:solidFill>
                <a:latin typeface="+mn-lt"/>
                <a:ea typeface="+mn-ea"/>
                <a:cs typeface="+mn-cs"/>
              </a:rPr>
              <a:t>: </a:t>
            </a:r>
            <a:r>
              <a:rPr lang="en-US" sz="2000" dirty="0">
                <a:solidFill>
                  <a:schemeClr val="tx1"/>
                </a:solidFill>
                <a:latin typeface="+mn-lt"/>
                <a:ea typeface="+mn-ea"/>
                <a:cs typeface="+mn-cs"/>
              </a:rPr>
              <a:t>Let’s convert </a:t>
            </a:r>
            <a:r>
              <a:rPr lang="tr-TR" sz="2000" dirty="0">
                <a:solidFill>
                  <a:schemeClr val="tx1"/>
                </a:solidFill>
                <a:latin typeface="+mn-lt"/>
                <a:ea typeface="+mn-ea"/>
                <a:cs typeface="+mn-cs"/>
              </a:rPr>
              <a:t>45.63</a:t>
            </a:r>
            <a:r>
              <a:rPr lang="tr-TR" sz="2000" baseline="-25000" dirty="0">
                <a:solidFill>
                  <a:schemeClr val="tx1"/>
                </a:solidFill>
                <a:latin typeface="+mn-lt"/>
                <a:ea typeface="+mn-ea"/>
                <a:cs typeface="+mn-cs"/>
              </a:rPr>
              <a:t>8 </a:t>
            </a:r>
            <a:r>
              <a:rPr lang="en-US" sz="2000" dirty="0">
                <a:solidFill>
                  <a:schemeClr val="tx1"/>
                </a:solidFill>
                <a:latin typeface="+mn-lt"/>
                <a:ea typeface="+mn-ea"/>
                <a:cs typeface="+mn-cs"/>
              </a:rPr>
              <a:t>to hexadecimal.</a:t>
            </a:r>
          </a:p>
          <a:p>
            <a:pPr>
              <a:buNone/>
            </a:pPr>
            <a:endParaRPr lang="tr-TR" sz="2000" dirty="0">
              <a:solidFill>
                <a:schemeClr val="tx1"/>
              </a:solidFill>
              <a:latin typeface="+mn-lt"/>
              <a:ea typeface="+mn-ea"/>
              <a:cs typeface="+mn-cs"/>
            </a:endParaRPr>
          </a:p>
          <a:p>
            <a:pPr>
              <a:buNone/>
            </a:pPr>
            <a:r>
              <a:rPr lang="tr-TR" sz="2000" b="1" dirty="0">
                <a:solidFill>
                  <a:schemeClr val="tx1"/>
                </a:solidFill>
                <a:latin typeface="+mn-lt"/>
                <a:ea typeface="+mn-ea"/>
                <a:cs typeface="+mn-cs"/>
              </a:rPr>
              <a:t>4</a:t>
            </a:r>
            <a:r>
              <a:rPr lang="tr-TR" sz="2000" dirty="0">
                <a:solidFill>
                  <a:schemeClr val="tx1"/>
                </a:solidFill>
                <a:latin typeface="+mn-lt"/>
                <a:ea typeface="+mn-ea"/>
                <a:cs typeface="+mn-cs"/>
              </a:rPr>
              <a:t>5.</a:t>
            </a:r>
            <a:r>
              <a:rPr lang="tr-TR" sz="2000" b="1" dirty="0">
                <a:solidFill>
                  <a:schemeClr val="tx1"/>
                </a:solidFill>
                <a:latin typeface="+mn-lt"/>
                <a:ea typeface="+mn-ea"/>
                <a:cs typeface="+mn-cs"/>
              </a:rPr>
              <a:t>6</a:t>
            </a:r>
            <a:r>
              <a:rPr lang="tr-TR" sz="2000" dirty="0">
                <a:solidFill>
                  <a:schemeClr val="tx1"/>
                </a:solidFill>
                <a:latin typeface="+mn-lt"/>
                <a:ea typeface="+mn-ea"/>
                <a:cs typeface="+mn-cs"/>
              </a:rPr>
              <a:t>3</a:t>
            </a:r>
            <a:r>
              <a:rPr lang="tr-TR" sz="2000" baseline="-25000" dirty="0">
                <a:solidFill>
                  <a:schemeClr val="tx1"/>
                </a:solidFill>
                <a:latin typeface="+mn-lt"/>
                <a:ea typeface="+mn-ea"/>
                <a:cs typeface="+mn-cs"/>
              </a:rPr>
              <a:t>8 </a:t>
            </a:r>
            <a:r>
              <a:rPr lang="tr-TR" sz="2000" dirty="0">
                <a:solidFill>
                  <a:schemeClr val="tx1"/>
                </a:solidFill>
                <a:latin typeface="+mn-lt"/>
                <a:ea typeface="+mn-ea"/>
                <a:cs typeface="+mn-cs"/>
              </a:rPr>
              <a:t>= </a:t>
            </a:r>
            <a:r>
              <a:rPr lang="tr-TR" sz="2000" b="1" dirty="0">
                <a:solidFill>
                  <a:schemeClr val="tx1"/>
                </a:solidFill>
                <a:latin typeface="+mn-lt"/>
                <a:ea typeface="+mn-ea"/>
                <a:cs typeface="+mn-cs"/>
              </a:rPr>
              <a:t>100</a:t>
            </a:r>
            <a:r>
              <a:rPr lang="tr-TR" sz="2000" dirty="0">
                <a:solidFill>
                  <a:schemeClr val="tx1"/>
                </a:solidFill>
                <a:latin typeface="+mn-lt"/>
                <a:ea typeface="+mn-ea"/>
                <a:cs typeface="+mn-cs"/>
              </a:rPr>
              <a:t>101.</a:t>
            </a:r>
            <a:r>
              <a:rPr lang="tr-TR" sz="2000" b="1" dirty="0">
                <a:solidFill>
                  <a:schemeClr val="tx1"/>
                </a:solidFill>
                <a:latin typeface="+mn-lt"/>
                <a:ea typeface="+mn-ea"/>
                <a:cs typeface="+mn-cs"/>
              </a:rPr>
              <a:t>110</a:t>
            </a:r>
            <a:r>
              <a:rPr lang="tr-TR" sz="2000" dirty="0">
                <a:solidFill>
                  <a:schemeClr val="tx1"/>
                </a:solidFill>
                <a:latin typeface="+mn-lt"/>
                <a:ea typeface="+mn-ea"/>
                <a:cs typeface="+mn-cs"/>
              </a:rPr>
              <a:t>011</a:t>
            </a:r>
            <a:r>
              <a:rPr lang="tr-TR" sz="2000" baseline="-25000" dirty="0">
                <a:solidFill>
                  <a:schemeClr val="tx1"/>
                </a:solidFill>
                <a:latin typeface="+mn-lt"/>
                <a:ea typeface="+mn-ea"/>
                <a:cs typeface="+mn-cs"/>
              </a:rPr>
              <a:t>2 </a:t>
            </a:r>
            <a:r>
              <a:rPr lang="tr-TR" sz="2000" dirty="0">
                <a:solidFill>
                  <a:schemeClr val="tx1"/>
                </a:solidFill>
                <a:latin typeface="+mn-lt"/>
                <a:ea typeface="+mn-ea"/>
                <a:cs typeface="+mn-cs"/>
              </a:rPr>
              <a:t> </a:t>
            </a:r>
          </a:p>
          <a:p>
            <a:pPr>
              <a:buNone/>
            </a:pPr>
            <a:r>
              <a:rPr lang="tr-TR" sz="2000" b="1" dirty="0">
                <a:solidFill>
                  <a:srgbClr val="FF0000"/>
                </a:solidFill>
                <a:latin typeface="+mn-lt"/>
                <a:ea typeface="+mn-ea"/>
                <a:cs typeface="+mn-cs"/>
              </a:rPr>
              <a:t>00</a:t>
            </a:r>
            <a:r>
              <a:rPr lang="tr-TR" sz="2000" dirty="0">
                <a:solidFill>
                  <a:schemeClr val="tx1"/>
                </a:solidFill>
                <a:latin typeface="+mn-lt"/>
                <a:ea typeface="+mn-ea"/>
                <a:cs typeface="+mn-cs"/>
              </a:rPr>
              <a:t>10  0101  .  1100  11</a:t>
            </a:r>
            <a:r>
              <a:rPr lang="tr-TR" sz="2000" b="1" dirty="0">
                <a:solidFill>
                  <a:srgbClr val="FF0000"/>
                </a:solidFill>
                <a:latin typeface="+mn-lt"/>
                <a:ea typeface="+mn-ea"/>
                <a:cs typeface="+mn-cs"/>
              </a:rPr>
              <a:t>00    </a:t>
            </a:r>
            <a:r>
              <a:rPr lang="tr-TR" sz="2000" dirty="0">
                <a:latin typeface="+mn-lt"/>
                <a:ea typeface="+mn-ea"/>
                <a:cs typeface="+mn-cs"/>
              </a:rPr>
              <a:t>(</a:t>
            </a:r>
            <a:r>
              <a:rPr lang="en-US" sz="2000" dirty="0"/>
              <a:t>Divide the binary number to groups of four</a:t>
            </a:r>
            <a:r>
              <a:rPr lang="tr-TR" sz="2000" dirty="0">
                <a:latin typeface="+mn-lt"/>
                <a:ea typeface="+mn-ea"/>
                <a:cs typeface="+mn-cs"/>
              </a:rPr>
              <a:t>)</a:t>
            </a:r>
            <a:endParaRPr lang="tr-TR" sz="1000" dirty="0">
              <a:solidFill>
                <a:schemeClr val="tx1"/>
              </a:solidFill>
              <a:latin typeface="+mn-lt"/>
              <a:ea typeface="+mn-ea"/>
              <a:cs typeface="+mn-cs"/>
            </a:endParaRPr>
          </a:p>
          <a:p>
            <a:pPr>
              <a:buNone/>
            </a:pPr>
            <a:r>
              <a:rPr lang="en-US" sz="2000" dirty="0">
                <a:solidFill>
                  <a:schemeClr val="tx1"/>
                </a:solidFill>
                <a:latin typeface="+mn-lt"/>
                <a:ea typeface="+mn-ea"/>
                <a:cs typeface="+mn-cs"/>
              </a:rPr>
              <a:t>Then,</a:t>
            </a:r>
            <a:r>
              <a:rPr lang="tr-TR" sz="2000" b="1" dirty="0">
                <a:solidFill>
                  <a:schemeClr val="tx1"/>
                </a:solidFill>
                <a:latin typeface="+mn-lt"/>
                <a:ea typeface="+mn-ea"/>
                <a:cs typeface="+mn-cs"/>
              </a:rPr>
              <a:t> </a:t>
            </a:r>
            <a:r>
              <a:rPr lang="tr-TR" sz="2000" dirty="0">
                <a:solidFill>
                  <a:schemeClr val="tx1"/>
                </a:solidFill>
                <a:latin typeface="+mn-lt"/>
                <a:ea typeface="+mn-ea"/>
                <a:cs typeface="+mn-cs"/>
              </a:rPr>
              <a:t>45.63</a:t>
            </a:r>
            <a:r>
              <a:rPr lang="tr-TR" sz="2000" baseline="-25000" dirty="0">
                <a:solidFill>
                  <a:schemeClr val="tx1"/>
                </a:solidFill>
                <a:latin typeface="+mn-lt"/>
                <a:ea typeface="+mn-ea"/>
                <a:cs typeface="+mn-cs"/>
              </a:rPr>
              <a:t>8 </a:t>
            </a:r>
            <a:r>
              <a:rPr lang="tr-TR" sz="2000" dirty="0">
                <a:solidFill>
                  <a:schemeClr val="tx1"/>
                </a:solidFill>
                <a:latin typeface="+mn-lt"/>
                <a:ea typeface="+mn-ea"/>
                <a:cs typeface="+mn-cs"/>
              </a:rPr>
              <a:t> = 25.CC</a:t>
            </a:r>
            <a:r>
              <a:rPr lang="tr-TR" sz="2000" baseline="-25000" dirty="0">
                <a:solidFill>
                  <a:schemeClr val="tx1"/>
                </a:solidFill>
                <a:latin typeface="+mn-lt"/>
                <a:ea typeface="+mn-ea"/>
                <a:cs typeface="+mn-cs"/>
              </a:rPr>
              <a:t>16</a:t>
            </a:r>
            <a:endParaRPr lang="en-US" sz="2000" baseline="-25000" dirty="0">
              <a:solidFill>
                <a:schemeClr val="tx1"/>
              </a:solidFill>
              <a:latin typeface="+mn-lt"/>
              <a:ea typeface="+mn-ea"/>
              <a:cs typeface="+mn-cs"/>
            </a:endParaRPr>
          </a:p>
          <a:p>
            <a:pPr>
              <a:buNone/>
            </a:pPr>
            <a:endParaRPr lang="tr-TR" sz="1000" dirty="0">
              <a:solidFill>
                <a:schemeClr val="tx1"/>
              </a:solidFill>
              <a:latin typeface="+mn-lt"/>
              <a:ea typeface="+mn-ea"/>
              <a:cs typeface="+mn-cs"/>
            </a:endParaRPr>
          </a:p>
          <a:p>
            <a:pPr>
              <a:buNone/>
            </a:pPr>
            <a:r>
              <a:rPr lang="en-US" sz="2000" b="1" dirty="0">
                <a:solidFill>
                  <a:schemeClr val="tx1"/>
                </a:solidFill>
                <a:latin typeface="+mn-lt"/>
                <a:ea typeface="+mn-ea"/>
                <a:cs typeface="+mn-cs"/>
              </a:rPr>
              <a:t>Example</a:t>
            </a:r>
            <a:r>
              <a:rPr lang="tr-TR" sz="2000" b="1" dirty="0">
                <a:solidFill>
                  <a:schemeClr val="tx1"/>
                </a:solidFill>
                <a:latin typeface="+mn-lt"/>
                <a:ea typeface="+mn-ea"/>
                <a:cs typeface="+mn-cs"/>
              </a:rPr>
              <a:t>: </a:t>
            </a:r>
            <a:r>
              <a:rPr lang="en-US" sz="2000" dirty="0"/>
              <a:t>Let’s convert </a:t>
            </a:r>
            <a:r>
              <a:rPr lang="tr-TR" sz="2000" dirty="0">
                <a:solidFill>
                  <a:schemeClr val="tx1"/>
                </a:solidFill>
                <a:latin typeface="+mn-lt"/>
                <a:ea typeface="+mn-ea"/>
                <a:cs typeface="+mn-cs"/>
              </a:rPr>
              <a:t>A2.B3</a:t>
            </a:r>
            <a:r>
              <a:rPr lang="tr-TR" sz="2000" baseline="-25000" dirty="0">
                <a:solidFill>
                  <a:schemeClr val="tx1"/>
                </a:solidFill>
                <a:latin typeface="+mn-lt"/>
                <a:ea typeface="+mn-ea"/>
                <a:cs typeface="+mn-cs"/>
              </a:rPr>
              <a:t>16</a:t>
            </a:r>
            <a:r>
              <a:rPr lang="tr-TR" sz="2000" dirty="0">
                <a:solidFill>
                  <a:schemeClr val="tx1"/>
                </a:solidFill>
                <a:latin typeface="+mn-lt"/>
                <a:ea typeface="+mn-ea"/>
                <a:cs typeface="+mn-cs"/>
              </a:rPr>
              <a:t> </a:t>
            </a:r>
            <a:r>
              <a:rPr lang="en-US" sz="2000" dirty="0">
                <a:solidFill>
                  <a:schemeClr val="tx1"/>
                </a:solidFill>
                <a:latin typeface="+mn-lt"/>
                <a:ea typeface="+mn-ea"/>
                <a:cs typeface="+mn-cs"/>
              </a:rPr>
              <a:t>to octal.</a:t>
            </a:r>
            <a:endParaRPr lang="tr-TR" sz="2000" dirty="0">
              <a:solidFill>
                <a:schemeClr val="tx1"/>
              </a:solidFill>
              <a:latin typeface="+mn-lt"/>
              <a:ea typeface="+mn-ea"/>
              <a:cs typeface="+mn-cs"/>
            </a:endParaRPr>
          </a:p>
          <a:p>
            <a:pPr>
              <a:buNone/>
            </a:pPr>
            <a:endParaRPr lang="tr-TR" sz="1000" dirty="0">
              <a:solidFill>
                <a:schemeClr val="tx1"/>
              </a:solidFill>
              <a:latin typeface="+mn-lt"/>
              <a:ea typeface="+mn-ea"/>
              <a:cs typeface="+mn-cs"/>
            </a:endParaRPr>
          </a:p>
          <a:p>
            <a:pPr>
              <a:buNone/>
            </a:pPr>
            <a:r>
              <a:rPr lang="tr-TR" sz="2000" b="1" dirty="0">
                <a:solidFill>
                  <a:schemeClr val="tx1"/>
                </a:solidFill>
                <a:latin typeface="+mn-lt"/>
                <a:ea typeface="+mn-ea"/>
                <a:cs typeface="+mn-cs"/>
              </a:rPr>
              <a:t>A</a:t>
            </a:r>
            <a:r>
              <a:rPr lang="tr-TR" sz="2000" dirty="0">
                <a:solidFill>
                  <a:schemeClr val="tx1"/>
                </a:solidFill>
                <a:latin typeface="+mn-lt"/>
                <a:ea typeface="+mn-ea"/>
                <a:cs typeface="+mn-cs"/>
              </a:rPr>
              <a:t>2.</a:t>
            </a:r>
            <a:r>
              <a:rPr lang="tr-TR" sz="2000" b="1" dirty="0">
                <a:solidFill>
                  <a:schemeClr val="tx1"/>
                </a:solidFill>
                <a:latin typeface="+mn-lt"/>
                <a:ea typeface="+mn-ea"/>
                <a:cs typeface="+mn-cs"/>
              </a:rPr>
              <a:t>B</a:t>
            </a:r>
            <a:r>
              <a:rPr lang="tr-TR" sz="2000" dirty="0">
                <a:solidFill>
                  <a:schemeClr val="tx1"/>
                </a:solidFill>
                <a:latin typeface="+mn-lt"/>
                <a:ea typeface="+mn-ea"/>
                <a:cs typeface="+mn-cs"/>
              </a:rPr>
              <a:t>3</a:t>
            </a:r>
            <a:r>
              <a:rPr lang="tr-TR" sz="2000" baseline="-25000" dirty="0">
                <a:solidFill>
                  <a:schemeClr val="tx1"/>
                </a:solidFill>
                <a:latin typeface="+mn-lt"/>
                <a:ea typeface="+mn-ea"/>
                <a:cs typeface="+mn-cs"/>
              </a:rPr>
              <a:t>16 </a:t>
            </a:r>
            <a:r>
              <a:rPr lang="tr-TR" sz="2000" dirty="0">
                <a:solidFill>
                  <a:schemeClr val="tx1"/>
                </a:solidFill>
                <a:latin typeface="+mn-lt"/>
                <a:ea typeface="+mn-ea"/>
                <a:cs typeface="+mn-cs"/>
              </a:rPr>
              <a:t>=</a:t>
            </a:r>
            <a:r>
              <a:rPr lang="tr-TR" sz="2000" b="1" dirty="0">
                <a:solidFill>
                  <a:schemeClr val="tx1"/>
                </a:solidFill>
                <a:latin typeface="+mn-lt"/>
                <a:ea typeface="+mn-ea"/>
                <a:cs typeface="+mn-cs"/>
              </a:rPr>
              <a:t>1010</a:t>
            </a:r>
            <a:r>
              <a:rPr lang="tr-TR" sz="2000" dirty="0">
                <a:solidFill>
                  <a:schemeClr val="tx1"/>
                </a:solidFill>
                <a:latin typeface="+mn-lt"/>
                <a:ea typeface="+mn-ea"/>
                <a:cs typeface="+mn-cs"/>
              </a:rPr>
              <a:t>0010.</a:t>
            </a:r>
            <a:r>
              <a:rPr lang="tr-TR" sz="2000" b="1" dirty="0">
                <a:solidFill>
                  <a:schemeClr val="tx1"/>
                </a:solidFill>
                <a:latin typeface="+mn-lt"/>
                <a:ea typeface="+mn-ea"/>
                <a:cs typeface="+mn-cs"/>
              </a:rPr>
              <a:t>1011</a:t>
            </a:r>
            <a:r>
              <a:rPr lang="tr-TR" sz="2000" dirty="0">
                <a:solidFill>
                  <a:schemeClr val="tx1"/>
                </a:solidFill>
                <a:latin typeface="+mn-lt"/>
                <a:ea typeface="+mn-ea"/>
                <a:cs typeface="+mn-cs"/>
              </a:rPr>
              <a:t>0011</a:t>
            </a:r>
            <a:r>
              <a:rPr lang="tr-TR" sz="2000" baseline="-25000" dirty="0">
                <a:solidFill>
                  <a:schemeClr val="tx1"/>
                </a:solidFill>
                <a:latin typeface="+mn-lt"/>
                <a:ea typeface="+mn-ea"/>
                <a:cs typeface="+mn-cs"/>
              </a:rPr>
              <a:t>2</a:t>
            </a:r>
            <a:endParaRPr lang="tr-TR" sz="2000" dirty="0">
              <a:solidFill>
                <a:schemeClr val="tx1"/>
              </a:solidFill>
              <a:latin typeface="+mn-lt"/>
              <a:ea typeface="+mn-ea"/>
              <a:cs typeface="+mn-cs"/>
            </a:endParaRPr>
          </a:p>
          <a:p>
            <a:pPr>
              <a:buNone/>
            </a:pPr>
            <a:r>
              <a:rPr lang="tr-TR" sz="2000" b="1" dirty="0">
                <a:solidFill>
                  <a:srgbClr val="FF0000"/>
                </a:solidFill>
                <a:latin typeface="+mn-lt"/>
                <a:ea typeface="+mn-ea"/>
                <a:cs typeface="+mn-cs"/>
              </a:rPr>
              <a:t>0</a:t>
            </a:r>
            <a:r>
              <a:rPr lang="tr-TR" sz="2000" dirty="0">
                <a:solidFill>
                  <a:schemeClr val="tx1"/>
                </a:solidFill>
                <a:latin typeface="+mn-lt"/>
                <a:ea typeface="+mn-ea"/>
                <a:cs typeface="+mn-cs"/>
              </a:rPr>
              <a:t>10  100  010  .  101  100  11</a:t>
            </a:r>
            <a:r>
              <a:rPr lang="tr-TR" sz="2000" b="1" dirty="0">
                <a:solidFill>
                  <a:srgbClr val="FF0000"/>
                </a:solidFill>
                <a:latin typeface="+mn-lt"/>
                <a:ea typeface="+mn-ea"/>
                <a:cs typeface="+mn-cs"/>
              </a:rPr>
              <a:t>0</a:t>
            </a:r>
            <a:r>
              <a:rPr lang="tr-TR" sz="2000" b="1" dirty="0">
                <a:solidFill>
                  <a:schemeClr val="tx1"/>
                </a:solidFill>
                <a:latin typeface="+mn-lt"/>
                <a:ea typeface="+mn-ea"/>
                <a:cs typeface="+mn-cs"/>
              </a:rPr>
              <a:t>    </a:t>
            </a:r>
            <a:r>
              <a:rPr lang="tr-TR" sz="2000" dirty="0">
                <a:latin typeface="+mn-lt"/>
                <a:ea typeface="+mn-ea"/>
                <a:cs typeface="+mn-cs"/>
              </a:rPr>
              <a:t>(</a:t>
            </a:r>
            <a:r>
              <a:rPr lang="en-US" sz="2000" dirty="0"/>
              <a:t>Divide the binary number to groups of three</a:t>
            </a:r>
            <a:r>
              <a:rPr lang="tr-TR" sz="2000" dirty="0">
                <a:latin typeface="+mn-lt"/>
                <a:ea typeface="+mn-ea"/>
                <a:cs typeface="+mn-cs"/>
              </a:rPr>
              <a:t>)</a:t>
            </a:r>
            <a:endParaRPr lang="tr-TR" sz="2000" dirty="0">
              <a:solidFill>
                <a:schemeClr val="tx1"/>
              </a:solidFill>
              <a:latin typeface="+mn-lt"/>
              <a:ea typeface="+mn-ea"/>
              <a:cs typeface="+mn-cs"/>
            </a:endParaRPr>
          </a:p>
          <a:p>
            <a:pPr>
              <a:buNone/>
            </a:pPr>
            <a:r>
              <a:rPr lang="en-US" sz="2000" dirty="0">
                <a:solidFill>
                  <a:schemeClr val="tx1"/>
                </a:solidFill>
                <a:latin typeface="+mn-lt"/>
                <a:ea typeface="+mn-ea"/>
                <a:cs typeface="+mn-cs"/>
              </a:rPr>
              <a:t>Then,</a:t>
            </a:r>
            <a:r>
              <a:rPr lang="tr-TR" sz="2000" dirty="0">
                <a:solidFill>
                  <a:schemeClr val="tx1"/>
                </a:solidFill>
                <a:latin typeface="+mn-lt"/>
                <a:ea typeface="+mn-ea"/>
                <a:cs typeface="+mn-cs"/>
              </a:rPr>
              <a:t> A2.B3</a:t>
            </a:r>
            <a:r>
              <a:rPr lang="tr-TR" sz="2000" baseline="-25000" dirty="0">
                <a:solidFill>
                  <a:schemeClr val="tx1"/>
                </a:solidFill>
                <a:latin typeface="+mn-lt"/>
                <a:ea typeface="+mn-ea"/>
                <a:cs typeface="+mn-cs"/>
              </a:rPr>
              <a:t>16  </a:t>
            </a:r>
            <a:r>
              <a:rPr lang="tr-TR" sz="2000" dirty="0">
                <a:solidFill>
                  <a:schemeClr val="tx1"/>
                </a:solidFill>
                <a:latin typeface="+mn-lt"/>
                <a:ea typeface="+mn-ea"/>
                <a:cs typeface="+mn-cs"/>
              </a:rPr>
              <a:t>= 242.546</a:t>
            </a:r>
            <a:r>
              <a:rPr lang="tr-TR" sz="2000" baseline="-25000" dirty="0">
                <a:solidFill>
                  <a:schemeClr val="tx1"/>
                </a:solidFill>
                <a:latin typeface="+mn-lt"/>
                <a:ea typeface="+mn-ea"/>
                <a:cs typeface="+mn-cs"/>
              </a:rPr>
              <a:t>8</a:t>
            </a:r>
            <a:endParaRPr lang="tr-TR" sz="2000" dirty="0">
              <a:solidFill>
                <a:schemeClr val="tx1"/>
              </a:solidFill>
              <a:latin typeface="+mn-lt"/>
              <a:ea typeface="+mn-ea"/>
              <a:cs typeface="+mn-cs"/>
            </a:endParaRPr>
          </a:p>
          <a:p>
            <a:pPr algn="just">
              <a:buNone/>
            </a:pPr>
            <a:endParaRPr lang="tr-TR" dirty="0"/>
          </a:p>
        </p:txBody>
      </p:sp>
      <p:sp>
        <p:nvSpPr>
          <p:cNvPr id="4" name="3 Altbilgi Yer Tutucusu"/>
          <p:cNvSpPr>
            <a:spLocks noGrp="1"/>
          </p:cNvSpPr>
          <p:nvPr>
            <p:ph type="ftr" sz="quarter" idx="10"/>
          </p:nvPr>
        </p:nvSpPr>
        <p:spPr/>
        <p:txBody>
          <a:bodyPr/>
          <a:lstStyle/>
          <a:p>
            <a:r>
              <a:rPr lang="en-US" dirty="0"/>
              <a:t>Logic Circuits</a:t>
            </a:r>
          </a:p>
        </p:txBody>
      </p:sp>
    </p:spTree>
  </p:cSld>
  <p:clrMapOvr>
    <a:masterClrMapping/>
  </p:clrMapOvr>
</p:sld>
</file>

<file path=ppt/theme/theme1.xml><?xml version="1.0" encoding="utf-8"?>
<a:theme xmlns:a="http://schemas.openxmlformats.org/drawingml/2006/main" name="overview">
  <a:themeElements>
    <a:clrScheme name="overview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verview">
      <a:majorFont>
        <a:latin typeface="Times New Roman"/>
        <a:ea typeface=""/>
        <a:cs typeface=""/>
      </a:majorFont>
      <a:minorFont>
        <a:latin typeface="Times New Roman"/>
        <a:ea typeface=""/>
        <a:cs typeface=""/>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triangle" w="med" len="med"/>
        </a:ln>
        <a:effectLst/>
      </a:spPr>
      <a:bodyPr vert="horz" wrap="square" lIns="36000" tIns="36000" rIns="36000" bIns="3600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600" b="1"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triangle" w="med" len="med"/>
        </a:ln>
        <a:effectLst/>
      </a:spPr>
      <a:bodyPr vert="horz" wrap="square" lIns="36000" tIns="36000" rIns="36000" bIns="3600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600" b="1"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overview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verview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verview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verview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verview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verview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verview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is Teması">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is Teması">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class_new</Template>
  <TotalTime>14199</TotalTime>
  <Words>1373</Words>
  <Application>Microsoft Office PowerPoint</Application>
  <PresentationFormat>On-screen Show (4:3)</PresentationFormat>
  <Paragraphs>258</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Calibri</vt:lpstr>
      <vt:lpstr>Comic Sans MS</vt:lpstr>
      <vt:lpstr>Helvetica</vt:lpstr>
      <vt:lpstr>Times New Roman</vt:lpstr>
      <vt:lpstr>Wingdings</vt:lpstr>
      <vt:lpstr>overview</vt:lpstr>
      <vt:lpstr>Number Systems</vt:lpstr>
      <vt:lpstr>Hexadecimal Number System</vt:lpstr>
      <vt:lpstr>Hexadecimal Number System</vt:lpstr>
      <vt:lpstr>Example</vt:lpstr>
      <vt:lpstr>Conversion</vt:lpstr>
      <vt:lpstr>Conversion</vt:lpstr>
      <vt:lpstr>Conversion</vt:lpstr>
      <vt:lpstr>Example</vt:lpstr>
      <vt:lpstr>Addition on Hexadecimal Numbers</vt:lpstr>
      <vt:lpstr>Subtraction on Hexadecimal Numbers</vt:lpstr>
      <vt:lpstr>Octal Number System</vt:lpstr>
      <vt:lpstr>Conversion</vt:lpstr>
      <vt:lpstr>Conversion</vt:lpstr>
      <vt:lpstr>Conversion</vt:lpstr>
      <vt:lpstr>Conversion</vt:lpstr>
    </vt:vector>
  </TitlesOfParts>
  <Company>Washington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IPC</dc:title>
  <dc:creator>Fred Kuhns</dc:creator>
  <cp:lastModifiedBy>Sinan İLYAS</cp:lastModifiedBy>
  <cp:revision>244</cp:revision>
  <cp:lastPrinted>2001-01-30T20:22:47Z</cp:lastPrinted>
  <dcterms:created xsi:type="dcterms:W3CDTF">1999-07-07T12:46:17Z</dcterms:created>
  <dcterms:modified xsi:type="dcterms:W3CDTF">2024-10-08T11:41:30Z</dcterms:modified>
</cp:coreProperties>
</file>