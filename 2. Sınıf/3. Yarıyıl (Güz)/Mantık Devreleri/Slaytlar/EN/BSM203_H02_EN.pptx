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17"/>
  </p:notesMasterIdLst>
  <p:handoutMasterIdLst>
    <p:handoutMasterId r:id="rId18"/>
  </p:handoutMasterIdLst>
  <p:sldIdLst>
    <p:sldId id="367" r:id="rId2"/>
    <p:sldId id="348" r:id="rId3"/>
    <p:sldId id="349" r:id="rId4"/>
    <p:sldId id="370" r:id="rId5"/>
    <p:sldId id="350" r:id="rId6"/>
    <p:sldId id="351" r:id="rId7"/>
    <p:sldId id="352" r:id="rId8"/>
    <p:sldId id="353" r:id="rId9"/>
    <p:sldId id="354" r:id="rId10"/>
    <p:sldId id="355" r:id="rId11"/>
    <p:sldId id="356" r:id="rId12"/>
    <p:sldId id="369" r:id="rId13"/>
    <p:sldId id="357" r:id="rId14"/>
    <p:sldId id="358" r:id="rId15"/>
    <p:sldId id="359" r:id="rId16"/>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61" autoAdjust="0"/>
    <p:restoredTop sz="94660"/>
  </p:normalViewPr>
  <p:slideViewPr>
    <p:cSldViewPr snapToGrid="0">
      <p:cViewPr>
        <p:scale>
          <a:sx n="100" d="100"/>
          <a:sy n="100" d="100"/>
        </p:scale>
        <p:origin x="3636" y="2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3189288"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smtClean="0">
                <a:latin typeface="Helvetica" pitchFamily="34" charset="0"/>
              </a:defRPr>
            </a:lvl1pPr>
          </a:lstStyle>
          <a:p>
            <a:pPr>
              <a:defRPr/>
            </a:pPr>
            <a:endParaRPr lang="en-US"/>
          </a:p>
        </p:txBody>
      </p:sp>
      <p:sp>
        <p:nvSpPr>
          <p:cNvPr id="62467" name="Rectangle 3"/>
          <p:cNvSpPr>
            <a:spLocks noGrp="1" noChangeArrowheads="1"/>
          </p:cNvSpPr>
          <p:nvPr>
            <p:ph type="dt" sz="quarter" idx="1"/>
          </p:nvPr>
        </p:nvSpPr>
        <p:spPr bwMode="auto">
          <a:xfrm>
            <a:off x="4148138" y="0"/>
            <a:ext cx="3186112"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smtClean="0">
                <a:latin typeface="Helvetica" pitchFamily="34" charset="0"/>
              </a:defRPr>
            </a:lvl1pPr>
          </a:lstStyle>
          <a:p>
            <a:pPr>
              <a:defRPr/>
            </a:pPr>
            <a:endParaRPr lang="en-US"/>
          </a:p>
        </p:txBody>
      </p:sp>
      <p:sp>
        <p:nvSpPr>
          <p:cNvPr id="62468" name="Rectangle 4"/>
          <p:cNvSpPr>
            <a:spLocks noGrp="1" noChangeArrowheads="1"/>
          </p:cNvSpPr>
          <p:nvPr>
            <p:ph type="ftr" sz="quarter" idx="2"/>
          </p:nvPr>
        </p:nvSpPr>
        <p:spPr bwMode="auto">
          <a:xfrm>
            <a:off x="0" y="9145588"/>
            <a:ext cx="3189288"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smtClean="0">
                <a:latin typeface="Helvetica" pitchFamily="34" charset="0"/>
              </a:defRPr>
            </a:lvl1pPr>
          </a:lstStyle>
          <a:p>
            <a:pPr>
              <a:defRPr/>
            </a:pPr>
            <a:endParaRPr lang="en-US"/>
          </a:p>
        </p:txBody>
      </p:sp>
      <p:sp>
        <p:nvSpPr>
          <p:cNvPr id="62469" name="Rectangle 5"/>
          <p:cNvSpPr>
            <a:spLocks noGrp="1" noChangeArrowheads="1"/>
          </p:cNvSpPr>
          <p:nvPr>
            <p:ph type="sldNum" sz="quarter" idx="3"/>
          </p:nvPr>
        </p:nvSpPr>
        <p:spPr bwMode="auto">
          <a:xfrm>
            <a:off x="4148138" y="9145588"/>
            <a:ext cx="3186112"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smtClean="0">
                <a:latin typeface="Helvetica" pitchFamily="34" charset="0"/>
              </a:defRPr>
            </a:lvl1pPr>
          </a:lstStyle>
          <a:p>
            <a:pPr>
              <a:defRPr/>
            </a:pPr>
            <a:fld id="{C428B982-F433-4B18-A9FC-229B5868CDE7}"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7063"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smtClean="0"/>
            </a:lvl1pPr>
          </a:lstStyle>
          <a:p>
            <a:pPr>
              <a:defRPr/>
            </a:pPr>
            <a:endParaRPr lang="en-US"/>
          </a:p>
        </p:txBody>
      </p:sp>
      <p:sp>
        <p:nvSpPr>
          <p:cNvPr id="6147" name="Rectangle 3"/>
          <p:cNvSpPr>
            <a:spLocks noGrp="1" noChangeArrowheads="1"/>
          </p:cNvSpPr>
          <p:nvPr>
            <p:ph type="dt" idx="1"/>
          </p:nvPr>
        </p:nvSpPr>
        <p:spPr bwMode="auto">
          <a:xfrm>
            <a:off x="4148138" y="0"/>
            <a:ext cx="3167062"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smtClean="0"/>
            </a:lvl1pPr>
          </a:lstStyle>
          <a:p>
            <a:pPr>
              <a:defRPr/>
            </a:pPr>
            <a:endParaRPr lang="en-US"/>
          </a:p>
        </p:txBody>
      </p:sp>
      <p:sp>
        <p:nvSpPr>
          <p:cNvPr id="24580" name="Rectangle 4"/>
          <p:cNvSpPr>
            <a:spLocks noGrp="1" noRot="1" noChangeAspect="1" noChangeArrowheads="1" noTextEdit="1"/>
          </p:cNvSpPr>
          <p:nvPr>
            <p:ph type="sldImg" idx="2"/>
          </p:nvPr>
        </p:nvSpPr>
        <p:spPr bwMode="auto">
          <a:xfrm>
            <a:off x="1257300" y="720725"/>
            <a:ext cx="4802188" cy="3602038"/>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3363"/>
            <a:ext cx="3167063"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smtClean="0"/>
            </a:lvl1pPr>
          </a:lstStyle>
          <a:p>
            <a:pPr>
              <a:defRPr/>
            </a:pPr>
            <a:endParaRPr lang="en-US"/>
          </a:p>
        </p:txBody>
      </p:sp>
      <p:sp>
        <p:nvSpPr>
          <p:cNvPr id="6151" name="Rectangle 7"/>
          <p:cNvSpPr>
            <a:spLocks noGrp="1" noChangeArrowheads="1"/>
          </p:cNvSpPr>
          <p:nvPr>
            <p:ph type="sldNum" sz="quarter" idx="5"/>
          </p:nvPr>
        </p:nvSpPr>
        <p:spPr bwMode="auto">
          <a:xfrm>
            <a:off x="4148138" y="9123363"/>
            <a:ext cx="3167062"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smtClean="0"/>
            </a:lvl1pPr>
          </a:lstStyle>
          <a:p>
            <a:pPr>
              <a:defRPr/>
            </a:pPr>
            <a:fld id="{1B1E8E88-BA6D-4F8D-9975-73911C03A56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Logic Circuits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2625" y="76200"/>
            <a:ext cx="7772400" cy="790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smtClean="0">
                <a:latin typeface="Comic Sans MS" pitchFamily="66" charset="0"/>
              </a:defRPr>
            </a:lvl1pPr>
          </a:lstStyle>
          <a:p>
            <a:pPr>
              <a:defRPr/>
            </a:pPr>
            <a:r>
              <a:rPr lang="tr-TR"/>
              <a:t>Mantık Devreleri </a:t>
            </a:r>
            <a:endParaRPr lang="en-US"/>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pPr>
              <a:defRPr/>
            </a:pPr>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pPr>
              <a:defRPr/>
            </a:pPr>
            <a:fld id="{759DE41D-4C89-42DD-95C0-94EACD3FA7B6}" type="slidenum">
              <a:rPr lang="en-US" sz="1200" b="0">
                <a:latin typeface="Comic Sans MS" pitchFamily="66" charset="0"/>
              </a:rPr>
              <a:pPr>
                <a:defRPr/>
              </a:pPr>
              <a:t>‹#›</a:t>
            </a:fld>
            <a:endParaRPr lang="en-US" sz="1200" b="0">
              <a:latin typeface="Comic Sans MS" pitchFamily="66" charset="0"/>
            </a:endParaRPr>
          </a:p>
        </p:txBody>
      </p:sp>
      <p:sp>
        <p:nvSpPr>
          <p:cNvPr id="149512" name="Rectangle 8"/>
          <p:cNvSpPr>
            <a:spLocks noChangeArrowheads="1"/>
          </p:cNvSpPr>
          <p:nvPr/>
        </p:nvSpPr>
        <p:spPr bwMode="auto">
          <a:xfrm>
            <a:off x="70441" y="6400800"/>
            <a:ext cx="3276600" cy="457200"/>
          </a:xfrm>
          <a:prstGeom prst="rect">
            <a:avLst/>
          </a:prstGeom>
          <a:noFill/>
          <a:ln w="9525">
            <a:noFill/>
            <a:miter lim="800000"/>
            <a:headEnd/>
            <a:tailEnd/>
          </a:ln>
          <a:effectLst/>
        </p:spPr>
        <p:txBody>
          <a:bodyPr lIns="45720" rIns="45720" anchor="ctr" anchorCtr="1"/>
          <a:lstStyle/>
          <a:p>
            <a:pPr algn="ctr"/>
            <a:r>
              <a:rPr lang="tr-TR" sz="1200" b="0" i="1" dirty="0">
                <a:latin typeface="Comic Sans MS" pitchFamily="66" charset="0"/>
              </a:rPr>
              <a:t>Ali </a:t>
            </a:r>
            <a:r>
              <a:rPr lang="tr-TR" sz="1200" b="0" i="1" dirty="0" err="1">
                <a:latin typeface="Comic Sans MS" pitchFamily="66" charset="0"/>
              </a:rPr>
              <a:t>Gülbağ</a:t>
            </a:r>
            <a:r>
              <a:rPr lang="en-US" sz="1200" b="0" i="1" dirty="0">
                <a:latin typeface="Comic Sans MS" pitchFamily="66" charset="0"/>
              </a:rPr>
              <a:t> (Translated by Sinan </a:t>
            </a:r>
            <a:r>
              <a:rPr lang="en-US" sz="1200" b="0" i="1" dirty="0" err="1">
                <a:latin typeface="Comic Sans MS" pitchFamily="66" charset="0"/>
              </a:rPr>
              <a:t>İlyas</a:t>
            </a:r>
            <a:r>
              <a:rPr lang="en-US" sz="1200" b="0" i="1" dirty="0">
                <a:latin typeface="Comic Sans MS" pitchFamily="66" charset="0"/>
              </a:rPr>
              <a:t>)</a:t>
            </a:r>
          </a:p>
        </p:txBody>
      </p:sp>
    </p:spTree>
  </p:cSld>
  <p:clrMap bg1="lt1" tx1="dk1" bg2="lt2" tx2="dk2" accent1="accent1" accent2="accent2" accent3="accent3" accent4="accent4" accent5="accent5" accent6="accent6" hlink="hlink" folHlink="folHlink"/>
  <p:sldLayoutIdLst>
    <p:sldLayoutId id="2147483680"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Altbilgi Yer Tutucusu"/>
          <p:cNvSpPr>
            <a:spLocks noGrp="1"/>
          </p:cNvSpPr>
          <p:nvPr>
            <p:ph type="ftr" sz="quarter" idx="10"/>
          </p:nvPr>
        </p:nvSpPr>
        <p:spPr>
          <a:noFill/>
        </p:spPr>
        <p:txBody>
          <a:bodyPr/>
          <a:lstStyle/>
          <a:p>
            <a:r>
              <a:rPr lang="tr-TR"/>
              <a:t>Mantık Devreleri </a:t>
            </a:r>
            <a:endParaRPr lang="en-US"/>
          </a:p>
        </p:txBody>
      </p:sp>
      <p:sp>
        <p:nvSpPr>
          <p:cNvPr id="3075" name="Rectangle 2"/>
          <p:cNvSpPr>
            <a:spLocks noGrp="1" noChangeArrowheads="1"/>
          </p:cNvSpPr>
          <p:nvPr>
            <p:ph type="title"/>
          </p:nvPr>
        </p:nvSpPr>
        <p:spPr/>
        <p:txBody>
          <a:bodyPr/>
          <a:lstStyle/>
          <a:p>
            <a:r>
              <a:rPr lang="en-US" sz="3600" b="1" dirty="0"/>
              <a:t>Number Systems</a:t>
            </a:r>
            <a:endParaRPr lang="tr-TR" sz="3600" b="1" dirty="0"/>
          </a:p>
        </p:txBody>
      </p:sp>
      <p:sp>
        <p:nvSpPr>
          <p:cNvPr id="3076" name="Rectangle 3"/>
          <p:cNvSpPr>
            <a:spLocks noGrp="1" noChangeArrowheads="1"/>
          </p:cNvSpPr>
          <p:nvPr>
            <p:ph type="body" idx="1"/>
          </p:nvPr>
        </p:nvSpPr>
        <p:spPr>
          <a:xfrm>
            <a:off x="360363" y="969963"/>
            <a:ext cx="8375650" cy="5078412"/>
          </a:xfrm>
        </p:spPr>
        <p:txBody>
          <a:bodyPr/>
          <a:lstStyle/>
          <a:p>
            <a:pPr marL="0" indent="0" algn="just">
              <a:buFontTx/>
              <a:buNone/>
            </a:pPr>
            <a:r>
              <a:rPr lang="en-US" sz="2400" b="1" dirty="0">
                <a:solidFill>
                  <a:srgbClr val="FF0000"/>
                </a:solidFill>
              </a:rPr>
              <a:t>Last Week</a:t>
            </a:r>
            <a:endParaRPr lang="tr-TR" sz="2400" b="1" dirty="0">
              <a:solidFill>
                <a:srgbClr val="FF0000"/>
              </a:solidFill>
            </a:endParaRPr>
          </a:p>
          <a:p>
            <a:pPr marL="0" indent="0"/>
            <a:r>
              <a:rPr lang="en-US" sz="2400" b="1" dirty="0"/>
              <a:t> Analog and Digital Signals</a:t>
            </a:r>
          </a:p>
          <a:p>
            <a:pPr marL="0" indent="0"/>
            <a:r>
              <a:rPr lang="en-US" sz="2400" b="1" dirty="0"/>
              <a:t> Number Systems</a:t>
            </a:r>
          </a:p>
          <a:p>
            <a:pPr marL="0" indent="0"/>
            <a:r>
              <a:rPr lang="en-US" sz="2400" b="1" dirty="0"/>
              <a:t> Arithmetic Operations in Binary System</a:t>
            </a:r>
          </a:p>
          <a:p>
            <a:pPr marL="0" indent="0"/>
            <a:r>
              <a:rPr lang="en-US" sz="2400" b="1" dirty="0"/>
              <a:t> One’s Complement and Two's Complement</a:t>
            </a:r>
          </a:p>
          <a:p>
            <a:pPr marL="0" indent="0"/>
            <a:r>
              <a:rPr lang="en-US" sz="2400" b="1" dirty="0"/>
              <a:t> Signed Numbers</a:t>
            </a:r>
          </a:p>
          <a:p>
            <a:pPr marL="0" indent="0" algn="just">
              <a:buFontTx/>
              <a:buNone/>
            </a:pPr>
            <a:r>
              <a:rPr lang="en-US" sz="2400" b="1" dirty="0">
                <a:solidFill>
                  <a:srgbClr val="FF0000"/>
                </a:solidFill>
              </a:rPr>
              <a:t>This Week</a:t>
            </a:r>
            <a:endParaRPr lang="tr-TR" sz="2400" b="1" dirty="0">
              <a:solidFill>
                <a:srgbClr val="FF0000"/>
              </a:solidFill>
            </a:endParaRPr>
          </a:p>
          <a:p>
            <a:pPr marL="0" indent="0" algn="just"/>
            <a:r>
              <a:rPr lang="en-US" sz="2400" b="1" dirty="0"/>
              <a:t> Floating Point Numbers</a:t>
            </a:r>
            <a:endParaRPr lang="tr-TR" sz="2400" b="1" dirty="0"/>
          </a:p>
          <a:p>
            <a:pPr marL="0" indent="0" algn="just"/>
            <a:r>
              <a:rPr lang="tr-TR" sz="2400" b="1" dirty="0"/>
              <a:t> </a:t>
            </a:r>
            <a:r>
              <a:rPr lang="en-US" sz="2400" b="1" dirty="0"/>
              <a:t>Arithmetic Operations with Signed Numbers</a:t>
            </a:r>
            <a:endParaRPr lang="tr-TR" sz="2400" b="1" dirty="0"/>
          </a:p>
          <a:p>
            <a:pPr marL="0" indent="0" algn="just">
              <a:buFontTx/>
              <a:buNone/>
            </a:pPr>
            <a:r>
              <a:rPr lang="tr-TR" sz="2400" b="1" dirty="0"/>
              <a:t>	</a:t>
            </a:r>
            <a:r>
              <a:rPr lang="en-US" sz="2400" b="1" dirty="0"/>
              <a:t>Addition and Subtraction</a:t>
            </a:r>
            <a:endParaRPr lang="tr-TR" sz="2400" dirty="0"/>
          </a:p>
          <a:p>
            <a:pPr marL="0" indent="0" algn="just">
              <a:buFontTx/>
              <a:buNone/>
            </a:pPr>
            <a:r>
              <a:rPr lang="tr-TR" sz="2400" b="1" dirty="0"/>
              <a:t>	</a:t>
            </a:r>
            <a:r>
              <a:rPr lang="en-US" sz="2400" b="1" dirty="0"/>
              <a:t>Multiplication and Division</a:t>
            </a:r>
            <a:endParaRPr lang="tr-TR" sz="2400" dirty="0"/>
          </a:p>
          <a:p>
            <a:pPr marL="0" indent="0" algn="just">
              <a:buFontTx/>
              <a:buNone/>
            </a:pPr>
            <a:endParaRPr lang="tr-TR" sz="2200" dirty="0"/>
          </a:p>
          <a:p>
            <a:pPr marL="0" indent="0" algn="just">
              <a:buFontTx/>
              <a:buNone/>
            </a:pPr>
            <a:endParaRPr lang="tr-TR" sz="2200" dirty="0"/>
          </a:p>
          <a:p>
            <a:pPr marL="0" indent="0" algn="just">
              <a:buFontTx/>
              <a:buNone/>
            </a:pPr>
            <a:endParaRPr lang="tr-TR"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Altbilgi Yer Tutucusu"/>
          <p:cNvSpPr>
            <a:spLocks noGrp="1"/>
          </p:cNvSpPr>
          <p:nvPr>
            <p:ph type="ftr" sz="quarter" idx="10"/>
          </p:nvPr>
        </p:nvSpPr>
        <p:spPr>
          <a:noFill/>
        </p:spPr>
        <p:txBody>
          <a:bodyPr/>
          <a:lstStyle/>
          <a:p>
            <a:r>
              <a:rPr lang="en-US" dirty="0"/>
              <a:t>Logic Circuits</a:t>
            </a:r>
          </a:p>
        </p:txBody>
      </p:sp>
      <p:sp>
        <p:nvSpPr>
          <p:cNvPr id="4099" name="Rectangle 2"/>
          <p:cNvSpPr>
            <a:spLocks noGrp="1" noChangeArrowheads="1"/>
          </p:cNvSpPr>
          <p:nvPr>
            <p:ph type="title"/>
          </p:nvPr>
        </p:nvSpPr>
        <p:spPr/>
        <p:txBody>
          <a:bodyPr/>
          <a:lstStyle/>
          <a:p>
            <a:r>
              <a:rPr lang="en-US" sz="2400" b="1"/>
              <a:t>Floating Point Numbers</a:t>
            </a:r>
            <a:endParaRPr lang="tr-TR" dirty="0"/>
          </a:p>
        </p:txBody>
      </p:sp>
      <p:sp>
        <p:nvSpPr>
          <p:cNvPr id="4100" name="Rectangle 3"/>
          <p:cNvSpPr>
            <a:spLocks noGrp="1" noChangeArrowheads="1"/>
          </p:cNvSpPr>
          <p:nvPr>
            <p:ph type="body" idx="1"/>
          </p:nvPr>
        </p:nvSpPr>
        <p:spPr>
          <a:xfrm>
            <a:off x="360363" y="969963"/>
            <a:ext cx="8375650" cy="5078412"/>
          </a:xfrm>
        </p:spPr>
        <p:txBody>
          <a:bodyPr/>
          <a:lstStyle/>
          <a:p>
            <a:pPr marL="0" indent="0" algn="just">
              <a:buFontTx/>
              <a:buNone/>
            </a:pPr>
            <a:r>
              <a:rPr lang="en-US" sz="2200" dirty="0"/>
              <a:t>We can represent very small numbers (e.g. 0.00000000000000000001) and very large numbers (e.g. 999999999999999999999) using floating-point numbers in scientific format.</a:t>
            </a:r>
          </a:p>
          <a:p>
            <a:pPr marL="0" indent="0" algn="just">
              <a:buFontTx/>
              <a:buNone/>
            </a:pPr>
            <a:r>
              <a:rPr lang="en-US" sz="2200" dirty="0"/>
              <a:t>For example, in IEEE-754 standard, floating-point numbers are represented in 32-bits. 1 bit for the sign, 8 bits for exponent, and 23 bits for significand.</a:t>
            </a:r>
          </a:p>
          <a:p>
            <a:pPr marL="0" indent="0" algn="just">
              <a:buFontTx/>
              <a:buNone/>
            </a:pPr>
            <a:r>
              <a:rPr lang="en-US" sz="2200" dirty="0"/>
              <a:t>There are 64-bit and 80-bit representations as well.</a:t>
            </a:r>
            <a:endParaRPr lang="tr-TR" sz="2200" dirty="0"/>
          </a:p>
          <a:p>
            <a:pPr marL="0" indent="0" algn="just">
              <a:buFontTx/>
              <a:buNone/>
            </a:pPr>
            <a:endParaRPr lang="tr-TR" sz="2200" dirty="0"/>
          </a:p>
          <a:p>
            <a:pPr marL="0" indent="0" algn="just">
              <a:buFontTx/>
              <a:buNone/>
            </a:pPr>
            <a:endParaRPr lang="tr-TR" sz="2200" dirty="0"/>
          </a:p>
          <a:p>
            <a:pPr marL="0" indent="0" algn="just">
              <a:buFontTx/>
              <a:buNone/>
            </a:pPr>
            <a:endParaRPr lang="tr-TR" sz="2200" dirty="0"/>
          </a:p>
          <a:p>
            <a:pPr marL="0" indent="0" algn="just">
              <a:buFontTx/>
              <a:buNone/>
            </a:pPr>
            <a:endParaRPr lang="tr-TR" sz="2200" dirty="0"/>
          </a:p>
        </p:txBody>
      </p:sp>
      <p:grpSp>
        <p:nvGrpSpPr>
          <p:cNvPr id="4101" name="Group 5"/>
          <p:cNvGrpSpPr>
            <a:grpSpLocks/>
          </p:cNvGrpSpPr>
          <p:nvPr/>
        </p:nvGrpSpPr>
        <p:grpSpPr bwMode="auto">
          <a:xfrm>
            <a:off x="2965450" y="4078288"/>
            <a:ext cx="2690813" cy="846137"/>
            <a:chOff x="1597" y="4837"/>
            <a:chExt cx="3240" cy="735"/>
          </a:xfrm>
        </p:grpSpPr>
        <p:sp>
          <p:nvSpPr>
            <p:cNvPr id="4103" name="Text Box 6"/>
            <p:cNvSpPr txBox="1">
              <a:spLocks noChangeArrowheads="1"/>
            </p:cNvSpPr>
            <p:nvPr/>
          </p:nvSpPr>
          <p:spPr bwMode="auto">
            <a:xfrm>
              <a:off x="1597" y="4837"/>
              <a:ext cx="3240" cy="360"/>
            </a:xfrm>
            <a:prstGeom prst="rect">
              <a:avLst/>
            </a:prstGeom>
            <a:solidFill>
              <a:srgbClr val="FFFFFF"/>
            </a:solidFill>
            <a:ln w="9525">
              <a:solidFill>
                <a:srgbClr val="000000"/>
              </a:solidFill>
              <a:miter lim="800000"/>
              <a:headEnd/>
              <a:tailEnd/>
            </a:ln>
          </p:spPr>
          <p:txBody>
            <a:bodyPr lIns="18000" tIns="36000" rIns="18000" bIns="36000"/>
            <a:lstStyle/>
            <a:p>
              <a:r>
                <a:rPr lang="en-US" b="0" dirty="0"/>
                <a:t> Sign  Exponent    Significand</a:t>
              </a:r>
            </a:p>
          </p:txBody>
        </p:sp>
        <p:sp>
          <p:nvSpPr>
            <p:cNvPr id="4104" name="Line 7"/>
            <p:cNvSpPr>
              <a:spLocks noChangeShapeType="1"/>
            </p:cNvSpPr>
            <p:nvPr/>
          </p:nvSpPr>
          <p:spPr bwMode="auto">
            <a:xfrm>
              <a:off x="2227" y="4837"/>
              <a:ext cx="0" cy="360"/>
            </a:xfrm>
            <a:prstGeom prst="line">
              <a:avLst/>
            </a:prstGeom>
            <a:noFill/>
            <a:ln w="9525">
              <a:solidFill>
                <a:srgbClr val="000000"/>
              </a:solidFill>
              <a:round/>
              <a:headEnd/>
              <a:tailEnd/>
            </a:ln>
          </p:spPr>
          <p:txBody>
            <a:bodyPr/>
            <a:lstStyle/>
            <a:p>
              <a:endParaRPr lang="tr-TR"/>
            </a:p>
          </p:txBody>
        </p:sp>
        <p:sp>
          <p:nvSpPr>
            <p:cNvPr id="4105" name="Line 8"/>
            <p:cNvSpPr>
              <a:spLocks noChangeShapeType="1"/>
            </p:cNvSpPr>
            <p:nvPr/>
          </p:nvSpPr>
          <p:spPr bwMode="auto">
            <a:xfrm>
              <a:off x="3247" y="4837"/>
              <a:ext cx="0" cy="360"/>
            </a:xfrm>
            <a:prstGeom prst="line">
              <a:avLst/>
            </a:prstGeom>
            <a:noFill/>
            <a:ln w="9525">
              <a:solidFill>
                <a:srgbClr val="000000"/>
              </a:solidFill>
              <a:round/>
              <a:headEnd/>
              <a:tailEnd/>
            </a:ln>
          </p:spPr>
          <p:txBody>
            <a:bodyPr/>
            <a:lstStyle/>
            <a:p>
              <a:endParaRPr lang="tr-TR"/>
            </a:p>
          </p:txBody>
        </p:sp>
        <p:sp>
          <p:nvSpPr>
            <p:cNvPr id="4106" name="Text Box 9"/>
            <p:cNvSpPr txBox="1">
              <a:spLocks noChangeArrowheads="1"/>
            </p:cNvSpPr>
            <p:nvPr/>
          </p:nvSpPr>
          <p:spPr bwMode="auto">
            <a:xfrm>
              <a:off x="1672" y="5212"/>
              <a:ext cx="540" cy="345"/>
            </a:xfrm>
            <a:prstGeom prst="rect">
              <a:avLst/>
            </a:prstGeom>
            <a:noFill/>
            <a:ln w="9525">
              <a:noFill/>
              <a:miter lim="800000"/>
              <a:headEnd/>
              <a:tailEnd/>
            </a:ln>
          </p:spPr>
          <p:txBody>
            <a:bodyPr lIns="0" tIns="0" rIns="0" bIns="0"/>
            <a:lstStyle/>
            <a:p>
              <a:r>
                <a:rPr lang="tr-TR" b="0" dirty="0"/>
                <a:t>1</a:t>
              </a:r>
              <a:r>
                <a:rPr lang="en-US" b="0" dirty="0"/>
                <a:t>-</a:t>
              </a:r>
              <a:r>
                <a:rPr lang="tr-TR" b="0" dirty="0"/>
                <a:t>bit</a:t>
              </a:r>
              <a:endParaRPr lang="tr-TR" dirty="0"/>
            </a:p>
          </p:txBody>
        </p:sp>
        <p:sp>
          <p:nvSpPr>
            <p:cNvPr id="4107" name="Text Box 10"/>
            <p:cNvSpPr txBox="1">
              <a:spLocks noChangeArrowheads="1"/>
            </p:cNvSpPr>
            <p:nvPr/>
          </p:nvSpPr>
          <p:spPr bwMode="auto">
            <a:xfrm>
              <a:off x="2497" y="5227"/>
              <a:ext cx="667" cy="345"/>
            </a:xfrm>
            <a:prstGeom prst="rect">
              <a:avLst/>
            </a:prstGeom>
            <a:noFill/>
            <a:ln w="9525">
              <a:noFill/>
              <a:miter lim="800000"/>
              <a:headEnd/>
              <a:tailEnd/>
            </a:ln>
          </p:spPr>
          <p:txBody>
            <a:bodyPr lIns="0" tIns="0" rIns="0" bIns="0"/>
            <a:lstStyle/>
            <a:p>
              <a:r>
                <a:rPr lang="tr-TR" b="0" dirty="0"/>
                <a:t>8</a:t>
              </a:r>
              <a:r>
                <a:rPr lang="en-US" b="0" dirty="0"/>
                <a:t>-</a:t>
              </a:r>
              <a:r>
                <a:rPr lang="tr-TR" b="0" dirty="0"/>
                <a:t>bit</a:t>
              </a:r>
              <a:r>
                <a:rPr lang="en-US" b="0" dirty="0"/>
                <a:t>s</a:t>
              </a:r>
              <a:endParaRPr lang="tr-TR" dirty="0"/>
            </a:p>
          </p:txBody>
        </p:sp>
        <p:sp>
          <p:nvSpPr>
            <p:cNvPr id="4108" name="Text Box 11"/>
            <p:cNvSpPr txBox="1">
              <a:spLocks noChangeArrowheads="1"/>
            </p:cNvSpPr>
            <p:nvPr/>
          </p:nvSpPr>
          <p:spPr bwMode="auto">
            <a:xfrm>
              <a:off x="3787" y="5227"/>
              <a:ext cx="870" cy="345"/>
            </a:xfrm>
            <a:prstGeom prst="rect">
              <a:avLst/>
            </a:prstGeom>
            <a:noFill/>
            <a:ln w="9525">
              <a:noFill/>
              <a:miter lim="800000"/>
              <a:headEnd/>
              <a:tailEnd/>
            </a:ln>
          </p:spPr>
          <p:txBody>
            <a:bodyPr lIns="0" tIns="0" rIns="0" bIns="0"/>
            <a:lstStyle/>
            <a:p>
              <a:r>
                <a:rPr lang="tr-TR" b="0" dirty="0"/>
                <a:t>23</a:t>
              </a:r>
              <a:r>
                <a:rPr lang="en-US" b="0" dirty="0"/>
                <a:t>-</a:t>
              </a:r>
              <a:r>
                <a:rPr lang="tr-TR" b="0" dirty="0"/>
                <a:t>bit</a:t>
              </a:r>
              <a:r>
                <a:rPr lang="en-US" b="0" dirty="0"/>
                <a:t>s</a:t>
              </a:r>
              <a:endParaRPr lang="tr-TR" dirty="0"/>
            </a:p>
          </p:txBody>
        </p:sp>
      </p:grpSp>
      <p:sp>
        <p:nvSpPr>
          <p:cNvPr id="4102" name="Rectangle 12"/>
          <p:cNvSpPr>
            <a:spLocks noChangeArrowheads="1"/>
          </p:cNvSpPr>
          <p:nvPr/>
        </p:nvSpPr>
        <p:spPr bwMode="auto">
          <a:xfrm>
            <a:off x="3270667" y="4839268"/>
            <a:ext cx="1989895" cy="349702"/>
          </a:xfrm>
          <a:prstGeom prst="rect">
            <a:avLst/>
          </a:prstGeom>
          <a:noFill/>
          <a:ln w="9525">
            <a:noFill/>
            <a:miter lim="800000"/>
            <a:headEnd/>
            <a:tailEnd/>
          </a:ln>
        </p:spPr>
        <p:txBody>
          <a:bodyPr wrap="none" lIns="36000" tIns="36000" rIns="36000" bIns="36000" anchor="ctr">
            <a:spAutoFit/>
          </a:bodyPr>
          <a:lstStyle/>
          <a:p>
            <a:pPr algn="ctr" eaLnBrk="0" hangingPunct="0">
              <a:tabLst>
                <a:tab pos="2457450" algn="l"/>
              </a:tabLst>
            </a:pPr>
            <a:r>
              <a:rPr lang="tr-TR" sz="1800" b="0" dirty="0"/>
              <a:t>32</a:t>
            </a:r>
            <a:r>
              <a:rPr lang="en-US" sz="1800" b="0" dirty="0"/>
              <a:t>-</a:t>
            </a:r>
            <a:r>
              <a:rPr lang="tr-TR" sz="1800" b="0" dirty="0"/>
              <a:t>bit</a:t>
            </a:r>
            <a:r>
              <a:rPr lang="en-US" sz="1800" b="0" dirty="0"/>
              <a:t> representation</a:t>
            </a:r>
            <a:endParaRPr lang="tr-TR" sz="1800" b="0" dirty="0"/>
          </a:p>
        </p:txBody>
      </p:sp>
      <p:sp>
        <p:nvSpPr>
          <p:cNvPr id="2" name="Dikdörtgen 1"/>
          <p:cNvSpPr/>
          <p:nvPr/>
        </p:nvSpPr>
        <p:spPr bwMode="auto">
          <a:xfrm>
            <a:off x="3626113" y="4307733"/>
            <a:ext cx="759904" cy="305453"/>
          </a:xfrm>
          <a:prstGeom prst="rect">
            <a:avLst/>
          </a:prstGeom>
          <a:noFill/>
          <a:ln>
            <a:noFill/>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vert="horz" wrap="square" lIns="36000" tIns="36000" rIns="36000" bIns="360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tabLst/>
            </a:pPr>
            <a:r>
              <a:rPr lang="en-US" sz="1050" b="0" dirty="0">
                <a:solidFill>
                  <a:schemeClr val="tx1"/>
                </a:solidFill>
              </a:rPr>
              <a:t>(biased)</a:t>
            </a:r>
            <a:endParaRPr kumimoji="0" lang="tr-TR" sz="1050" b="0" i="0" u="none" strike="noStrike" normalizeH="0" baseline="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3 Altbilgi Yer Tutucusu"/>
          <p:cNvSpPr>
            <a:spLocks noGrp="1"/>
          </p:cNvSpPr>
          <p:nvPr>
            <p:ph type="ftr" sz="quarter" idx="10"/>
          </p:nvPr>
        </p:nvSpPr>
        <p:spPr>
          <a:noFill/>
        </p:spPr>
        <p:txBody>
          <a:bodyPr/>
          <a:lstStyle/>
          <a:p>
            <a:r>
              <a:rPr lang="en-US" dirty="0"/>
              <a:t>Logic Circuits</a:t>
            </a:r>
          </a:p>
        </p:txBody>
      </p:sp>
      <p:sp>
        <p:nvSpPr>
          <p:cNvPr id="5123" name="Rectangle 2"/>
          <p:cNvSpPr>
            <a:spLocks noGrp="1" noChangeArrowheads="1"/>
          </p:cNvSpPr>
          <p:nvPr>
            <p:ph type="title"/>
          </p:nvPr>
        </p:nvSpPr>
        <p:spPr>
          <a:xfrm>
            <a:off x="539750" y="76200"/>
            <a:ext cx="8151813" cy="790575"/>
          </a:xfrm>
        </p:spPr>
        <p:txBody>
          <a:bodyPr/>
          <a:lstStyle/>
          <a:p>
            <a:r>
              <a:rPr lang="en-US" sz="2400" b="1" dirty="0"/>
              <a:t>Normalization</a:t>
            </a:r>
            <a:endParaRPr lang="tr-TR" sz="2400" b="1" dirty="0"/>
          </a:p>
        </p:txBody>
      </p:sp>
      <p:sp>
        <p:nvSpPr>
          <p:cNvPr id="5124" name="Rectangle 3"/>
          <p:cNvSpPr>
            <a:spLocks noGrp="1" noChangeArrowheads="1"/>
          </p:cNvSpPr>
          <p:nvPr>
            <p:ph type="body" idx="1"/>
          </p:nvPr>
        </p:nvSpPr>
        <p:spPr>
          <a:xfrm>
            <a:off x="360363" y="941388"/>
            <a:ext cx="8375650" cy="5078412"/>
          </a:xfrm>
        </p:spPr>
        <p:txBody>
          <a:bodyPr/>
          <a:lstStyle/>
          <a:p>
            <a:pPr marL="0" indent="0" algn="just">
              <a:lnSpc>
                <a:spcPct val="80000"/>
              </a:lnSpc>
              <a:buFontTx/>
              <a:buNone/>
            </a:pPr>
            <a:r>
              <a:rPr lang="en-US" sz="2200" dirty="0"/>
              <a:t>A binary number can be in different forms in scientific notation.</a:t>
            </a:r>
          </a:p>
          <a:p>
            <a:pPr marL="0" indent="0" algn="just">
              <a:lnSpc>
                <a:spcPct val="80000"/>
              </a:lnSpc>
              <a:buFontTx/>
              <a:buNone/>
            </a:pPr>
            <a:r>
              <a:rPr lang="en-US" sz="2200" dirty="0"/>
              <a:t>1 = 0.1x2</a:t>
            </a:r>
            <a:r>
              <a:rPr lang="en-US" sz="2200" baseline="30000" dirty="0"/>
              <a:t>1 </a:t>
            </a:r>
            <a:r>
              <a:rPr lang="en-US" sz="2200" dirty="0"/>
              <a:t>= 0.01x2</a:t>
            </a:r>
            <a:r>
              <a:rPr lang="en-US" sz="2200" baseline="30000" dirty="0"/>
              <a:t>2</a:t>
            </a:r>
            <a:r>
              <a:rPr lang="en-US" sz="2200" dirty="0"/>
              <a:t> = …</a:t>
            </a:r>
            <a:endParaRPr lang="en-US" sz="2200" baseline="30000" dirty="0"/>
          </a:p>
          <a:p>
            <a:pPr marL="0" indent="0" algn="just">
              <a:lnSpc>
                <a:spcPct val="80000"/>
              </a:lnSpc>
              <a:buFontTx/>
              <a:buNone/>
            </a:pPr>
            <a:r>
              <a:rPr lang="en-US" sz="2200" dirty="0"/>
              <a:t>As a standard, we make sure that the whole part of the number is 1. This process is called normalization.</a:t>
            </a:r>
          </a:p>
          <a:p>
            <a:pPr marL="0" indent="0" algn="just">
              <a:lnSpc>
                <a:spcPct val="80000"/>
              </a:lnSpc>
              <a:buFontTx/>
              <a:buNone/>
            </a:pPr>
            <a:endParaRPr lang="en-US" sz="2200" dirty="0"/>
          </a:p>
          <a:p>
            <a:pPr marL="0" indent="0" algn="just">
              <a:lnSpc>
                <a:spcPct val="80000"/>
              </a:lnSpc>
              <a:buFontTx/>
              <a:buNone/>
            </a:pPr>
            <a:r>
              <a:rPr lang="en-US" sz="2200" dirty="0"/>
              <a:t>For example, we normalize the number 10011001011</a:t>
            </a:r>
            <a:r>
              <a:rPr lang="en-US" sz="2200" baseline="-25000" dirty="0"/>
              <a:t>2</a:t>
            </a:r>
            <a:r>
              <a:rPr lang="en-US" sz="2200" dirty="0"/>
              <a:t> by converting it to 1.0011001011×2</a:t>
            </a:r>
            <a:r>
              <a:rPr lang="en-US" sz="2200" baseline="30000" dirty="0"/>
              <a:t>10</a:t>
            </a:r>
            <a:r>
              <a:rPr lang="en-US" sz="2200" dirty="0"/>
              <a:t>.</a:t>
            </a:r>
          </a:p>
          <a:p>
            <a:pPr marL="0" indent="0" algn="just">
              <a:lnSpc>
                <a:spcPct val="80000"/>
              </a:lnSpc>
              <a:buFontTx/>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sz="2400" b="1" dirty="0"/>
              <a:t>Biased Exponent</a:t>
            </a:r>
            <a:endParaRPr lang="tr-TR" sz="2400" b="1" dirty="0"/>
          </a:p>
        </p:txBody>
      </p:sp>
      <p:sp>
        <p:nvSpPr>
          <p:cNvPr id="3" name="İçerik Yer Tutucusu 2"/>
          <p:cNvSpPr>
            <a:spLocks noGrp="1"/>
          </p:cNvSpPr>
          <p:nvPr>
            <p:ph idx="1"/>
          </p:nvPr>
        </p:nvSpPr>
        <p:spPr/>
        <p:txBody>
          <a:bodyPr/>
          <a:lstStyle/>
          <a:p>
            <a:pPr marL="0" indent="0" algn="just">
              <a:lnSpc>
                <a:spcPct val="80000"/>
              </a:lnSpc>
              <a:spcAft>
                <a:spcPts val="600"/>
              </a:spcAft>
              <a:buFontTx/>
              <a:buNone/>
            </a:pPr>
            <a:r>
              <a:rPr lang="en-US" sz="2400" dirty="0"/>
              <a:t>In floating point representation, we do not store the exponent directly. Instead, we use the biased exponent. Exponent bias is calculated by this formula:</a:t>
            </a:r>
          </a:p>
          <a:p>
            <a:pPr marL="0" indent="0" algn="just">
              <a:lnSpc>
                <a:spcPct val="80000"/>
              </a:lnSpc>
              <a:spcAft>
                <a:spcPts val="600"/>
              </a:spcAft>
              <a:buFontTx/>
              <a:buNone/>
            </a:pPr>
            <a:r>
              <a:rPr lang="en-US" sz="2400" dirty="0"/>
              <a:t>Bias = 2</a:t>
            </a:r>
            <a:r>
              <a:rPr lang="en-US" sz="2400" baseline="30000" dirty="0"/>
              <a:t>[exponent bit</a:t>
            </a:r>
            <a:r>
              <a:rPr lang="en-US" sz="2400" dirty="0"/>
              <a:t> </a:t>
            </a:r>
            <a:r>
              <a:rPr lang="en-US" sz="2400" baseline="30000" dirty="0"/>
              <a:t>count]-1</a:t>
            </a:r>
            <a:r>
              <a:rPr lang="en-US" sz="2400" dirty="0"/>
              <a:t>-1</a:t>
            </a:r>
          </a:p>
          <a:p>
            <a:pPr marL="0" indent="0" algn="just">
              <a:lnSpc>
                <a:spcPct val="80000"/>
              </a:lnSpc>
              <a:buFontTx/>
              <a:buNone/>
            </a:pPr>
            <a:r>
              <a:rPr lang="en-US" sz="2400" dirty="0"/>
              <a:t> In 32-bit floating point representation, the exponent bias is 127 (2</a:t>
            </a:r>
            <a:r>
              <a:rPr lang="en-US" sz="2400" baseline="30000" dirty="0"/>
              <a:t>8-1 </a:t>
            </a:r>
            <a:r>
              <a:rPr lang="en-US" sz="2400" dirty="0"/>
              <a:t>-1). So, we add 127 to the exponent.</a:t>
            </a:r>
          </a:p>
          <a:p>
            <a:pPr marL="0" indent="0" algn="just">
              <a:lnSpc>
                <a:spcPct val="80000"/>
              </a:lnSpc>
              <a:buFontTx/>
              <a:buNone/>
            </a:pPr>
            <a:endParaRPr lang="en-US" sz="2400" dirty="0"/>
          </a:p>
          <a:p>
            <a:pPr marL="0" indent="0" algn="just">
              <a:lnSpc>
                <a:spcPct val="80000"/>
              </a:lnSpc>
              <a:buFontTx/>
              <a:buNone/>
            </a:pPr>
            <a:r>
              <a:rPr lang="en-US" sz="2400" dirty="0"/>
              <a:t>The original exponent may vary between -126 and 128. But we need to store a positive number. That’s why we add bias to the original exponent. Biased exponent is always a positive number.</a:t>
            </a:r>
          </a:p>
          <a:p>
            <a:pPr marL="0" indent="0" algn="just">
              <a:lnSpc>
                <a:spcPct val="80000"/>
              </a:lnSpc>
              <a:buFontTx/>
              <a:buNone/>
            </a:pPr>
            <a:endParaRPr lang="en-US" sz="2400" dirty="0"/>
          </a:p>
          <a:p>
            <a:pPr marL="0" indent="0" algn="just">
              <a:lnSpc>
                <a:spcPct val="80000"/>
              </a:lnSpc>
              <a:buFontTx/>
              <a:buNone/>
            </a:pPr>
            <a:r>
              <a:rPr lang="en-US" sz="2400" dirty="0"/>
              <a:t>In floating point representation, when all the bits are 0, then the number is considered to be 0. When exponent part is all 1’s and significand part is all 0’s, then the number is considered to be infinite.</a:t>
            </a:r>
          </a:p>
          <a:p>
            <a:endParaRPr lang="tr-TR" sz="2400" dirty="0"/>
          </a:p>
        </p:txBody>
      </p:sp>
      <p:sp>
        <p:nvSpPr>
          <p:cNvPr id="4" name="Altbilgi Yer Tutucusu 3"/>
          <p:cNvSpPr>
            <a:spLocks noGrp="1"/>
          </p:cNvSpPr>
          <p:nvPr>
            <p:ph type="ftr" sz="quarter" idx="10"/>
          </p:nvPr>
        </p:nvSpPr>
        <p:spPr/>
        <p:txBody>
          <a:bodyPr/>
          <a:lstStyle/>
          <a:p>
            <a:pPr>
              <a:defRPr/>
            </a:pPr>
            <a:r>
              <a:rPr lang="en-US"/>
              <a:t>Logic Circuits</a:t>
            </a:r>
            <a:endParaRPr lang="en-US" dirty="0"/>
          </a:p>
        </p:txBody>
      </p:sp>
    </p:spTree>
    <p:extLst>
      <p:ext uri="{BB962C8B-B14F-4D97-AF65-F5344CB8AC3E}">
        <p14:creationId xmlns:p14="http://schemas.microsoft.com/office/powerpoint/2010/main" val="352419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3 Altbilgi Yer Tutucusu"/>
          <p:cNvSpPr>
            <a:spLocks noGrp="1"/>
          </p:cNvSpPr>
          <p:nvPr>
            <p:ph type="ftr" sz="quarter" idx="10"/>
          </p:nvPr>
        </p:nvSpPr>
        <p:spPr>
          <a:noFill/>
        </p:spPr>
        <p:txBody>
          <a:bodyPr/>
          <a:lstStyle/>
          <a:p>
            <a:r>
              <a:rPr lang="en-US" dirty="0"/>
              <a:t>Logic Circuits</a:t>
            </a:r>
          </a:p>
        </p:txBody>
      </p:sp>
      <p:sp>
        <p:nvSpPr>
          <p:cNvPr id="6147" name="Rectangle 2"/>
          <p:cNvSpPr>
            <a:spLocks noGrp="1" noChangeArrowheads="1"/>
          </p:cNvSpPr>
          <p:nvPr>
            <p:ph type="title"/>
          </p:nvPr>
        </p:nvSpPr>
        <p:spPr/>
        <p:txBody>
          <a:bodyPr/>
          <a:lstStyle/>
          <a:p>
            <a:r>
              <a:rPr lang="en-US" sz="2800" b="1" dirty="0"/>
              <a:t>Floating Point Numbers</a:t>
            </a:r>
            <a:endParaRPr lang="tr-TR" sz="2800" b="1" dirty="0"/>
          </a:p>
        </p:txBody>
      </p:sp>
      <p:sp>
        <p:nvSpPr>
          <p:cNvPr id="6148" name="Rectangle 3"/>
          <p:cNvSpPr>
            <a:spLocks noGrp="1" noChangeArrowheads="1"/>
          </p:cNvSpPr>
          <p:nvPr>
            <p:ph type="body" idx="1"/>
          </p:nvPr>
        </p:nvSpPr>
        <p:spPr/>
        <p:txBody>
          <a:bodyPr/>
          <a:lstStyle/>
          <a:p>
            <a:pPr marL="0" indent="0">
              <a:buFontTx/>
              <a:buNone/>
            </a:pPr>
            <a:r>
              <a:rPr lang="en-US" sz="2200" b="1" dirty="0"/>
              <a:t>Example</a:t>
            </a:r>
            <a:r>
              <a:rPr lang="tr-TR" sz="2200" b="1" dirty="0"/>
              <a:t>: </a:t>
            </a:r>
            <a:r>
              <a:rPr lang="en-US" sz="2200" dirty="0"/>
              <a:t>Let’s convert </a:t>
            </a:r>
            <a:r>
              <a:rPr lang="tr-TR" sz="2200" dirty="0"/>
              <a:t>1.0011001011×2</a:t>
            </a:r>
            <a:r>
              <a:rPr lang="tr-TR" sz="2200" baseline="30000" dirty="0"/>
              <a:t>10</a:t>
            </a:r>
            <a:r>
              <a:rPr lang="tr-TR" sz="2200" dirty="0"/>
              <a:t> </a:t>
            </a:r>
            <a:r>
              <a:rPr lang="en-US" sz="2200" dirty="0"/>
              <a:t>to floating number.</a:t>
            </a:r>
            <a:r>
              <a:rPr lang="tr-TR" sz="2200" b="1" dirty="0"/>
              <a:t>   </a:t>
            </a:r>
            <a:endParaRPr lang="tr-TR" sz="2200" dirty="0"/>
          </a:p>
          <a:p>
            <a:pPr marL="0" indent="0">
              <a:buFontTx/>
              <a:buNone/>
            </a:pPr>
            <a:endParaRPr lang="tr-TR" sz="1000" dirty="0"/>
          </a:p>
          <a:p>
            <a:pPr marL="0" indent="0">
              <a:buFontTx/>
              <a:buNone/>
            </a:pPr>
            <a:r>
              <a:rPr lang="en-US" sz="2200" dirty="0"/>
              <a:t>Since the number is positive, the sign bit is 0</a:t>
            </a:r>
            <a:r>
              <a:rPr lang="tr-TR" sz="2200" dirty="0"/>
              <a:t>. </a:t>
            </a:r>
            <a:r>
              <a:rPr lang="en-US" sz="2200" dirty="0"/>
              <a:t>The exponent is 10. So, biased exponent is </a:t>
            </a:r>
            <a:r>
              <a:rPr lang="tr-TR" sz="2200" dirty="0"/>
              <a:t>10+127 (</a:t>
            </a:r>
            <a:r>
              <a:rPr lang="tr-TR" sz="2200" dirty="0" err="1"/>
              <a:t>bias</a:t>
            </a:r>
            <a:r>
              <a:rPr lang="tr-TR" sz="2200" dirty="0"/>
              <a:t>)=137</a:t>
            </a:r>
            <a:r>
              <a:rPr lang="en-US" sz="2200" dirty="0"/>
              <a:t>=10001001</a:t>
            </a:r>
            <a:r>
              <a:rPr lang="en-US" sz="2200" baseline="-25000" dirty="0"/>
              <a:t>2</a:t>
            </a:r>
            <a:r>
              <a:rPr lang="en-US" sz="2200" dirty="0"/>
              <a:t>. And finally, the significand</a:t>
            </a:r>
            <a:r>
              <a:rPr lang="tr-TR" sz="2200" dirty="0"/>
              <a:t> </a:t>
            </a:r>
            <a:r>
              <a:rPr lang="en-US" sz="2200" dirty="0"/>
              <a:t>is </a:t>
            </a:r>
            <a:r>
              <a:rPr lang="tr-TR" sz="2200" dirty="0"/>
              <a:t>0011001011</a:t>
            </a:r>
            <a:r>
              <a:rPr lang="tr-TR" sz="2200" baseline="-25000" dirty="0"/>
              <a:t>2</a:t>
            </a:r>
            <a:r>
              <a:rPr lang="en-US" sz="2200" dirty="0"/>
              <a:t>.</a:t>
            </a:r>
            <a:endParaRPr lang="tr-TR" sz="2200" dirty="0"/>
          </a:p>
          <a:p>
            <a:pPr marL="0" indent="0">
              <a:buFontTx/>
              <a:buNone/>
            </a:pPr>
            <a:endParaRPr lang="tr-TR" sz="2200" dirty="0"/>
          </a:p>
          <a:p>
            <a:pPr marL="0" indent="0">
              <a:buFontTx/>
              <a:buNone/>
            </a:pPr>
            <a:endParaRPr lang="tr-TR" sz="2200" dirty="0"/>
          </a:p>
          <a:p>
            <a:pPr marL="0" indent="0" algn="just">
              <a:buFontTx/>
              <a:buNone/>
            </a:pPr>
            <a:r>
              <a:rPr lang="en-US" sz="2200" dirty="0"/>
              <a:t>If the number above were negative, the result would remain the same, but the sign bit would be set to 1.</a:t>
            </a:r>
            <a:endParaRPr lang="tr-TR" sz="2200" dirty="0"/>
          </a:p>
          <a:p>
            <a:pPr marL="0" indent="0" algn="just">
              <a:buFontTx/>
              <a:buNone/>
            </a:pPr>
            <a:endParaRPr lang="tr-TR" sz="1000" dirty="0"/>
          </a:p>
          <a:p>
            <a:pPr marL="0" indent="0" algn="just">
              <a:buFontTx/>
              <a:buNone/>
            </a:pPr>
            <a:r>
              <a:rPr lang="en-US" sz="2200" dirty="0"/>
              <a:t>Floating point representation lets us store larger numbers using less bits. For instance, let’s take the largest number that can be stored 32-bit floating point representation. If we wanted to store the same number in binary form, we would need 129 bits.</a:t>
            </a:r>
            <a:endParaRPr lang="tr-TR" sz="2200" dirty="0"/>
          </a:p>
          <a:p>
            <a:pPr marL="0" indent="0">
              <a:buFontTx/>
              <a:buNone/>
            </a:pPr>
            <a:endParaRPr lang="tr-TR" sz="2200" dirty="0"/>
          </a:p>
        </p:txBody>
      </p:sp>
      <p:grpSp>
        <p:nvGrpSpPr>
          <p:cNvPr id="6149" name="Group 4"/>
          <p:cNvGrpSpPr>
            <a:grpSpLocks/>
          </p:cNvGrpSpPr>
          <p:nvPr/>
        </p:nvGrpSpPr>
        <p:grpSpPr bwMode="auto">
          <a:xfrm>
            <a:off x="2924175" y="2824163"/>
            <a:ext cx="3268663" cy="593725"/>
            <a:chOff x="4117" y="9072"/>
            <a:chExt cx="3420" cy="735"/>
          </a:xfrm>
        </p:grpSpPr>
        <p:sp>
          <p:nvSpPr>
            <p:cNvPr id="6150" name="Text Box 5"/>
            <p:cNvSpPr txBox="1">
              <a:spLocks noChangeArrowheads="1"/>
            </p:cNvSpPr>
            <p:nvPr/>
          </p:nvSpPr>
          <p:spPr bwMode="auto">
            <a:xfrm>
              <a:off x="4117" y="9072"/>
              <a:ext cx="3420" cy="360"/>
            </a:xfrm>
            <a:prstGeom prst="rect">
              <a:avLst/>
            </a:prstGeom>
            <a:solidFill>
              <a:srgbClr val="FFFFFF"/>
            </a:solidFill>
            <a:ln w="9525">
              <a:solidFill>
                <a:srgbClr val="000000"/>
              </a:solidFill>
              <a:miter lim="800000"/>
              <a:headEnd/>
              <a:tailEnd/>
            </a:ln>
          </p:spPr>
          <p:txBody>
            <a:bodyPr lIns="18000" tIns="36000" rIns="18000" bIns="36000"/>
            <a:lstStyle/>
            <a:p>
              <a:r>
                <a:rPr lang="tr-TR" sz="1800" b="0"/>
                <a:t>   0      10001001 00110010110...0</a:t>
              </a:r>
              <a:endParaRPr lang="tr-TR" sz="1800"/>
            </a:p>
          </p:txBody>
        </p:sp>
        <p:sp>
          <p:nvSpPr>
            <p:cNvPr id="6151" name="Line 6"/>
            <p:cNvSpPr>
              <a:spLocks noChangeShapeType="1"/>
            </p:cNvSpPr>
            <p:nvPr/>
          </p:nvSpPr>
          <p:spPr bwMode="auto">
            <a:xfrm>
              <a:off x="4747" y="9072"/>
              <a:ext cx="0" cy="360"/>
            </a:xfrm>
            <a:prstGeom prst="line">
              <a:avLst/>
            </a:prstGeom>
            <a:noFill/>
            <a:ln w="9525">
              <a:solidFill>
                <a:srgbClr val="000000"/>
              </a:solidFill>
              <a:round/>
              <a:headEnd/>
              <a:tailEnd/>
            </a:ln>
          </p:spPr>
          <p:txBody>
            <a:bodyPr/>
            <a:lstStyle/>
            <a:p>
              <a:endParaRPr lang="tr-TR"/>
            </a:p>
          </p:txBody>
        </p:sp>
        <p:sp>
          <p:nvSpPr>
            <p:cNvPr id="6152" name="Line 7"/>
            <p:cNvSpPr>
              <a:spLocks noChangeShapeType="1"/>
            </p:cNvSpPr>
            <p:nvPr/>
          </p:nvSpPr>
          <p:spPr bwMode="auto">
            <a:xfrm>
              <a:off x="5767" y="9072"/>
              <a:ext cx="0" cy="360"/>
            </a:xfrm>
            <a:prstGeom prst="line">
              <a:avLst/>
            </a:prstGeom>
            <a:noFill/>
            <a:ln w="9525">
              <a:solidFill>
                <a:srgbClr val="000000"/>
              </a:solidFill>
              <a:round/>
              <a:headEnd/>
              <a:tailEnd/>
            </a:ln>
          </p:spPr>
          <p:txBody>
            <a:bodyPr/>
            <a:lstStyle/>
            <a:p>
              <a:endParaRPr lang="tr-TR"/>
            </a:p>
          </p:txBody>
        </p:sp>
        <p:sp>
          <p:nvSpPr>
            <p:cNvPr id="6153" name="Text Box 8"/>
            <p:cNvSpPr txBox="1">
              <a:spLocks noChangeArrowheads="1"/>
            </p:cNvSpPr>
            <p:nvPr/>
          </p:nvSpPr>
          <p:spPr bwMode="auto">
            <a:xfrm>
              <a:off x="4192" y="9447"/>
              <a:ext cx="540" cy="345"/>
            </a:xfrm>
            <a:prstGeom prst="rect">
              <a:avLst/>
            </a:prstGeom>
            <a:noFill/>
            <a:ln w="9525">
              <a:noFill/>
              <a:miter lim="800000"/>
              <a:headEnd/>
              <a:tailEnd/>
            </a:ln>
          </p:spPr>
          <p:txBody>
            <a:bodyPr lIns="0" tIns="0" rIns="0" bIns="0"/>
            <a:lstStyle/>
            <a:p>
              <a:r>
                <a:rPr lang="tr-TR" sz="1800" b="0" dirty="0"/>
                <a:t>1</a:t>
              </a:r>
              <a:r>
                <a:rPr lang="en-US" sz="1800" b="0" dirty="0"/>
                <a:t>-</a:t>
              </a:r>
              <a:r>
                <a:rPr lang="tr-TR" sz="1800" b="0" dirty="0"/>
                <a:t>bit</a:t>
              </a:r>
              <a:endParaRPr lang="tr-TR" sz="1800" dirty="0"/>
            </a:p>
          </p:txBody>
        </p:sp>
        <p:sp>
          <p:nvSpPr>
            <p:cNvPr id="6154" name="Text Box 9"/>
            <p:cNvSpPr txBox="1">
              <a:spLocks noChangeArrowheads="1"/>
            </p:cNvSpPr>
            <p:nvPr/>
          </p:nvSpPr>
          <p:spPr bwMode="auto">
            <a:xfrm>
              <a:off x="5017" y="9462"/>
              <a:ext cx="665" cy="345"/>
            </a:xfrm>
            <a:prstGeom prst="rect">
              <a:avLst/>
            </a:prstGeom>
            <a:noFill/>
            <a:ln w="9525">
              <a:noFill/>
              <a:miter lim="800000"/>
              <a:headEnd/>
              <a:tailEnd/>
            </a:ln>
          </p:spPr>
          <p:txBody>
            <a:bodyPr lIns="0" tIns="0" rIns="0" bIns="0"/>
            <a:lstStyle/>
            <a:p>
              <a:r>
                <a:rPr lang="tr-TR" sz="1800" b="0" dirty="0"/>
                <a:t>8</a:t>
              </a:r>
              <a:r>
                <a:rPr lang="en-US" sz="1800" b="0" dirty="0"/>
                <a:t>-</a:t>
              </a:r>
              <a:r>
                <a:rPr lang="tr-TR" sz="1800" b="0" dirty="0"/>
                <a:t>bit</a:t>
              </a:r>
              <a:r>
                <a:rPr lang="en-US" sz="1800" b="0" dirty="0"/>
                <a:t>s</a:t>
              </a:r>
              <a:endParaRPr lang="tr-TR" sz="1800" dirty="0"/>
            </a:p>
          </p:txBody>
        </p:sp>
        <p:sp>
          <p:nvSpPr>
            <p:cNvPr id="6155" name="Text Box 10"/>
            <p:cNvSpPr txBox="1">
              <a:spLocks noChangeArrowheads="1"/>
            </p:cNvSpPr>
            <p:nvPr/>
          </p:nvSpPr>
          <p:spPr bwMode="auto">
            <a:xfrm>
              <a:off x="6307" y="9462"/>
              <a:ext cx="870" cy="345"/>
            </a:xfrm>
            <a:prstGeom prst="rect">
              <a:avLst/>
            </a:prstGeom>
            <a:noFill/>
            <a:ln w="9525">
              <a:noFill/>
              <a:miter lim="800000"/>
              <a:headEnd/>
              <a:tailEnd/>
            </a:ln>
          </p:spPr>
          <p:txBody>
            <a:bodyPr lIns="0" tIns="0" rIns="0" bIns="0"/>
            <a:lstStyle/>
            <a:p>
              <a:r>
                <a:rPr lang="tr-TR" sz="1800" b="0" dirty="0"/>
                <a:t>23</a:t>
              </a:r>
              <a:r>
                <a:rPr lang="en-US" sz="1800" b="0" dirty="0"/>
                <a:t>-</a:t>
              </a:r>
              <a:r>
                <a:rPr lang="tr-TR" sz="1800" b="0" dirty="0"/>
                <a:t>bit</a:t>
              </a:r>
              <a:r>
                <a:rPr lang="en-US" sz="1800" b="0" dirty="0"/>
                <a:t>s</a:t>
              </a:r>
              <a:endParaRPr lang="tr-TR"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Altbilgi Yer Tutucusu"/>
          <p:cNvSpPr>
            <a:spLocks noGrp="1"/>
          </p:cNvSpPr>
          <p:nvPr>
            <p:ph type="ftr" sz="quarter" idx="10"/>
          </p:nvPr>
        </p:nvSpPr>
        <p:spPr>
          <a:noFill/>
        </p:spPr>
        <p:txBody>
          <a:bodyPr/>
          <a:lstStyle/>
          <a:p>
            <a:r>
              <a:rPr lang="en-US" dirty="0"/>
              <a:t>Logic Circuits</a:t>
            </a:r>
          </a:p>
        </p:txBody>
      </p:sp>
      <p:sp>
        <p:nvSpPr>
          <p:cNvPr id="7171" name="Rectangle 2"/>
          <p:cNvSpPr>
            <a:spLocks noGrp="1" noChangeArrowheads="1"/>
          </p:cNvSpPr>
          <p:nvPr>
            <p:ph type="title"/>
          </p:nvPr>
        </p:nvSpPr>
        <p:spPr/>
        <p:txBody>
          <a:bodyPr/>
          <a:lstStyle/>
          <a:p>
            <a:r>
              <a:rPr lang="en-US" sz="2400" b="1" dirty="0"/>
              <a:t>Floating Point Numbers</a:t>
            </a:r>
            <a:endParaRPr lang="tr-TR" sz="2400" b="1" dirty="0"/>
          </a:p>
        </p:txBody>
      </p:sp>
      <p:sp>
        <p:nvSpPr>
          <p:cNvPr id="7172" name="Rectangle 3"/>
          <p:cNvSpPr>
            <a:spLocks noGrp="1" noChangeArrowheads="1"/>
          </p:cNvSpPr>
          <p:nvPr>
            <p:ph type="body" idx="1"/>
          </p:nvPr>
        </p:nvSpPr>
        <p:spPr>
          <a:xfrm>
            <a:off x="331788" y="927100"/>
            <a:ext cx="8375650" cy="5078413"/>
          </a:xfrm>
        </p:spPr>
        <p:txBody>
          <a:bodyPr/>
          <a:lstStyle/>
          <a:p>
            <a:pPr marL="0" indent="0" algn="just">
              <a:buFontTx/>
              <a:buNone/>
            </a:pPr>
            <a:r>
              <a:rPr lang="en-US" sz="2200" dirty="0"/>
              <a:t>In a 4-bit floating point representation</a:t>
            </a:r>
            <a:r>
              <a:rPr lang="tr-TR" sz="2200" dirty="0"/>
              <a:t>, </a:t>
            </a:r>
            <a:r>
              <a:rPr lang="en-US" sz="2200" dirty="0"/>
              <a:t>let’s assume that the sign part is </a:t>
            </a:r>
            <a:r>
              <a:rPr lang="tr-TR" sz="2200" dirty="0"/>
              <a:t>1</a:t>
            </a:r>
            <a:r>
              <a:rPr lang="en-US" sz="2200" dirty="0"/>
              <a:t> </a:t>
            </a:r>
            <a:r>
              <a:rPr lang="tr-TR" sz="2200" dirty="0"/>
              <a:t>bit, </a:t>
            </a:r>
            <a:r>
              <a:rPr lang="en-US" sz="2200" dirty="0"/>
              <a:t>biased exponent part is </a:t>
            </a:r>
            <a:r>
              <a:rPr lang="tr-TR" sz="2200" dirty="0"/>
              <a:t>2</a:t>
            </a:r>
            <a:r>
              <a:rPr lang="en-US" sz="2200" dirty="0"/>
              <a:t> </a:t>
            </a:r>
            <a:r>
              <a:rPr lang="tr-TR" sz="2200" dirty="0"/>
              <a:t>bit</a:t>
            </a:r>
            <a:r>
              <a:rPr lang="en-US" sz="2200" dirty="0"/>
              <a:t>s,</a:t>
            </a:r>
            <a:r>
              <a:rPr lang="tr-TR" sz="2200" dirty="0"/>
              <a:t> </a:t>
            </a:r>
            <a:r>
              <a:rPr lang="en-US" sz="2200" dirty="0"/>
              <a:t>and the significand is 1 bit</a:t>
            </a:r>
            <a:r>
              <a:rPr lang="tr-TR" sz="2200" dirty="0"/>
              <a:t>.</a:t>
            </a:r>
            <a:endParaRPr lang="en-US" sz="2200" dirty="0"/>
          </a:p>
          <a:p>
            <a:pPr marL="0" indent="0" algn="just">
              <a:buFontTx/>
              <a:buNone/>
            </a:pPr>
            <a:r>
              <a:rPr lang="en-US" sz="2200" dirty="0"/>
              <a:t>Let’s analyze the numbers that can be stored using this representation.</a:t>
            </a:r>
            <a:endParaRPr lang="tr-TR" sz="2200" dirty="0"/>
          </a:p>
          <a:p>
            <a:pPr marL="0" indent="0" algn="just">
              <a:buFontTx/>
              <a:buNone/>
            </a:pPr>
            <a:endParaRPr lang="tr-TR" sz="2200" dirty="0"/>
          </a:p>
          <a:p>
            <a:pPr marL="0" indent="0" algn="just">
              <a:buFontTx/>
              <a:buNone/>
            </a:pPr>
            <a:endParaRPr lang="tr-TR" sz="2200" dirty="0"/>
          </a:p>
          <a:p>
            <a:pPr marL="0" indent="0" algn="just">
              <a:buFontTx/>
              <a:buNone/>
            </a:pPr>
            <a:endParaRPr lang="en-US" sz="2200" dirty="0"/>
          </a:p>
          <a:p>
            <a:pPr marL="0" indent="0" algn="just">
              <a:buFontTx/>
              <a:buNone/>
            </a:pPr>
            <a:r>
              <a:rPr lang="tr-TR" sz="2200" dirty="0" err="1"/>
              <a:t>Bias</a:t>
            </a:r>
            <a:r>
              <a:rPr lang="tr-TR" sz="2200" dirty="0"/>
              <a:t> </a:t>
            </a:r>
            <a:r>
              <a:rPr lang="en-US" sz="2200" dirty="0"/>
              <a:t>= </a:t>
            </a:r>
            <a:r>
              <a:rPr lang="tr-TR" sz="2200" dirty="0"/>
              <a:t>2</a:t>
            </a:r>
            <a:r>
              <a:rPr lang="tr-TR" sz="2200" baseline="30000" dirty="0"/>
              <a:t>2-1</a:t>
            </a:r>
            <a:r>
              <a:rPr lang="tr-TR" sz="2200" dirty="0"/>
              <a:t>-1</a:t>
            </a:r>
            <a:r>
              <a:rPr lang="en-US" sz="2200" dirty="0"/>
              <a:t> </a:t>
            </a:r>
            <a:r>
              <a:rPr lang="tr-TR" sz="2200" dirty="0"/>
              <a:t>=</a:t>
            </a:r>
            <a:r>
              <a:rPr lang="en-US" sz="2200" dirty="0"/>
              <a:t> </a:t>
            </a:r>
            <a:r>
              <a:rPr lang="tr-TR" sz="2200" dirty="0"/>
              <a:t>1</a:t>
            </a:r>
          </a:p>
          <a:p>
            <a:pPr marL="0" indent="0" algn="just">
              <a:buFontTx/>
              <a:buNone/>
            </a:pPr>
            <a:endParaRPr lang="tr-TR" sz="1000" dirty="0"/>
          </a:p>
          <a:p>
            <a:pPr marL="0" indent="0">
              <a:buFontTx/>
              <a:buNone/>
            </a:pPr>
            <a:r>
              <a:rPr lang="en-US" sz="2200" dirty="0"/>
              <a:t>All the positive numbers that can be stored are;</a:t>
            </a:r>
            <a:r>
              <a:rPr lang="tr-TR" sz="2200" dirty="0"/>
              <a:t> </a:t>
            </a:r>
          </a:p>
          <a:p>
            <a:pPr marL="0" indent="0">
              <a:buFontTx/>
              <a:buNone/>
            </a:pPr>
            <a:r>
              <a:rPr lang="tr-TR" sz="2200" dirty="0"/>
              <a:t>1.0×2</a:t>
            </a:r>
            <a:r>
              <a:rPr lang="tr-TR" sz="2200" baseline="30000" dirty="0"/>
              <a:t>-1</a:t>
            </a:r>
            <a:r>
              <a:rPr lang="tr-TR" sz="2200" dirty="0"/>
              <a:t> = 0.5   1.1×2</a:t>
            </a:r>
            <a:r>
              <a:rPr lang="tr-TR" sz="2200" baseline="30000" dirty="0"/>
              <a:t>-1</a:t>
            </a:r>
            <a:r>
              <a:rPr lang="tr-TR" sz="2200" dirty="0"/>
              <a:t> = 0.75</a:t>
            </a:r>
          </a:p>
          <a:p>
            <a:pPr marL="0" indent="0">
              <a:buFontTx/>
              <a:buNone/>
            </a:pPr>
            <a:r>
              <a:rPr lang="tr-TR" sz="2200" dirty="0"/>
              <a:t>1.0×2</a:t>
            </a:r>
            <a:r>
              <a:rPr lang="tr-TR" sz="2200" baseline="30000" dirty="0"/>
              <a:t>0</a:t>
            </a:r>
            <a:r>
              <a:rPr lang="tr-TR" sz="2200" dirty="0"/>
              <a:t> = 1       1.1×2</a:t>
            </a:r>
            <a:r>
              <a:rPr lang="tr-TR" sz="2200" baseline="30000" dirty="0"/>
              <a:t>0</a:t>
            </a:r>
            <a:r>
              <a:rPr lang="tr-TR" sz="2200" dirty="0"/>
              <a:t> =1.5</a:t>
            </a:r>
          </a:p>
          <a:p>
            <a:pPr marL="0" indent="0">
              <a:buFontTx/>
              <a:buNone/>
            </a:pPr>
            <a:r>
              <a:rPr lang="tr-TR" sz="2200" dirty="0"/>
              <a:t>1.0×2</a:t>
            </a:r>
            <a:r>
              <a:rPr lang="tr-TR" sz="2200" baseline="30000" dirty="0"/>
              <a:t>1</a:t>
            </a:r>
            <a:r>
              <a:rPr lang="tr-TR" sz="2200" dirty="0"/>
              <a:t> = 2       1.1×2</a:t>
            </a:r>
            <a:r>
              <a:rPr lang="tr-TR" sz="2200" baseline="30000" dirty="0"/>
              <a:t>1</a:t>
            </a:r>
            <a:r>
              <a:rPr lang="tr-TR" sz="2200" dirty="0"/>
              <a:t> = 3</a:t>
            </a:r>
          </a:p>
          <a:p>
            <a:pPr marL="0" indent="0">
              <a:buFontTx/>
              <a:buNone/>
            </a:pPr>
            <a:r>
              <a:rPr lang="tr-TR" sz="2200" dirty="0"/>
              <a:t>1.0×2</a:t>
            </a:r>
            <a:r>
              <a:rPr lang="tr-TR" sz="2200" baseline="30000" dirty="0"/>
              <a:t>2</a:t>
            </a:r>
            <a:r>
              <a:rPr lang="tr-TR" sz="2200" dirty="0"/>
              <a:t> = 4       1.1×2</a:t>
            </a:r>
            <a:r>
              <a:rPr lang="tr-TR" sz="2200" baseline="30000" dirty="0"/>
              <a:t>2</a:t>
            </a:r>
            <a:r>
              <a:rPr lang="tr-TR" sz="2200" dirty="0"/>
              <a:t> = 6</a:t>
            </a:r>
          </a:p>
        </p:txBody>
      </p:sp>
      <p:grpSp>
        <p:nvGrpSpPr>
          <p:cNvPr id="7173" name="Group 4"/>
          <p:cNvGrpSpPr>
            <a:grpSpLocks/>
          </p:cNvGrpSpPr>
          <p:nvPr/>
        </p:nvGrpSpPr>
        <p:grpSpPr bwMode="auto">
          <a:xfrm>
            <a:off x="2895813" y="2374907"/>
            <a:ext cx="3425331" cy="663576"/>
            <a:chOff x="1059" y="4837"/>
            <a:chExt cx="3598" cy="735"/>
          </a:xfrm>
        </p:grpSpPr>
        <p:sp>
          <p:nvSpPr>
            <p:cNvPr id="7174" name="Text Box 5"/>
            <p:cNvSpPr txBox="1">
              <a:spLocks noChangeArrowheads="1"/>
            </p:cNvSpPr>
            <p:nvPr/>
          </p:nvSpPr>
          <p:spPr bwMode="auto">
            <a:xfrm>
              <a:off x="1059" y="4837"/>
              <a:ext cx="3598" cy="360"/>
            </a:xfrm>
            <a:prstGeom prst="rect">
              <a:avLst/>
            </a:prstGeom>
            <a:solidFill>
              <a:srgbClr val="FFFFFF"/>
            </a:solidFill>
            <a:ln w="9525">
              <a:solidFill>
                <a:srgbClr val="000000"/>
              </a:solidFill>
              <a:miter lim="800000"/>
              <a:headEnd/>
              <a:tailEnd/>
            </a:ln>
          </p:spPr>
          <p:txBody>
            <a:bodyPr lIns="18000" tIns="36000" rIns="18000" bIns="36000"/>
            <a:lstStyle/>
            <a:p>
              <a:r>
                <a:rPr lang="en-US" sz="1800" b="0" dirty="0"/>
                <a:t>Sign</a:t>
              </a:r>
              <a:r>
                <a:rPr lang="tr-TR" sz="1800" b="0" dirty="0"/>
                <a:t>  </a:t>
              </a:r>
              <a:r>
                <a:rPr lang="en-US" sz="1800" b="0" dirty="0"/>
                <a:t> Biased Exponent</a:t>
              </a:r>
              <a:r>
                <a:rPr lang="tr-TR" sz="1800" b="0" dirty="0"/>
                <a:t> </a:t>
              </a:r>
              <a:r>
                <a:rPr lang="en-US" sz="1800" b="0" dirty="0"/>
                <a:t> Significand</a:t>
              </a:r>
              <a:endParaRPr lang="tr-TR" sz="1800" dirty="0"/>
            </a:p>
          </p:txBody>
        </p:sp>
        <p:sp>
          <p:nvSpPr>
            <p:cNvPr id="7175" name="Line 6"/>
            <p:cNvSpPr>
              <a:spLocks noChangeShapeType="1"/>
            </p:cNvSpPr>
            <p:nvPr/>
          </p:nvSpPr>
          <p:spPr bwMode="auto">
            <a:xfrm>
              <a:off x="1606" y="4837"/>
              <a:ext cx="0" cy="360"/>
            </a:xfrm>
            <a:prstGeom prst="line">
              <a:avLst/>
            </a:prstGeom>
            <a:noFill/>
            <a:ln w="9525">
              <a:solidFill>
                <a:srgbClr val="000000"/>
              </a:solidFill>
              <a:round/>
              <a:headEnd/>
              <a:tailEnd/>
            </a:ln>
          </p:spPr>
          <p:txBody>
            <a:bodyPr/>
            <a:lstStyle/>
            <a:p>
              <a:endParaRPr lang="tr-TR"/>
            </a:p>
          </p:txBody>
        </p:sp>
        <p:sp>
          <p:nvSpPr>
            <p:cNvPr id="7176" name="Line 7"/>
            <p:cNvSpPr>
              <a:spLocks noChangeShapeType="1"/>
            </p:cNvSpPr>
            <p:nvPr/>
          </p:nvSpPr>
          <p:spPr bwMode="auto">
            <a:xfrm>
              <a:off x="3400" y="4837"/>
              <a:ext cx="0" cy="360"/>
            </a:xfrm>
            <a:prstGeom prst="line">
              <a:avLst/>
            </a:prstGeom>
            <a:noFill/>
            <a:ln w="9525">
              <a:solidFill>
                <a:srgbClr val="000000"/>
              </a:solidFill>
              <a:round/>
              <a:headEnd/>
              <a:tailEnd/>
            </a:ln>
          </p:spPr>
          <p:txBody>
            <a:bodyPr/>
            <a:lstStyle/>
            <a:p>
              <a:endParaRPr lang="tr-TR"/>
            </a:p>
          </p:txBody>
        </p:sp>
        <p:sp>
          <p:nvSpPr>
            <p:cNvPr id="7177" name="Text Box 8"/>
            <p:cNvSpPr txBox="1">
              <a:spLocks noChangeArrowheads="1"/>
            </p:cNvSpPr>
            <p:nvPr/>
          </p:nvSpPr>
          <p:spPr bwMode="auto">
            <a:xfrm>
              <a:off x="1063" y="5212"/>
              <a:ext cx="540" cy="345"/>
            </a:xfrm>
            <a:prstGeom prst="rect">
              <a:avLst/>
            </a:prstGeom>
            <a:noFill/>
            <a:ln w="9525">
              <a:noFill/>
              <a:miter lim="800000"/>
              <a:headEnd/>
              <a:tailEnd/>
            </a:ln>
          </p:spPr>
          <p:txBody>
            <a:bodyPr lIns="0" tIns="0" rIns="0" bIns="0"/>
            <a:lstStyle/>
            <a:p>
              <a:r>
                <a:rPr lang="tr-TR" sz="1800" b="0" dirty="0"/>
                <a:t>1 bit</a:t>
              </a:r>
              <a:endParaRPr lang="tr-TR" sz="1800" dirty="0"/>
            </a:p>
          </p:txBody>
        </p:sp>
        <p:sp>
          <p:nvSpPr>
            <p:cNvPr id="7178" name="Text Box 9"/>
            <p:cNvSpPr txBox="1">
              <a:spLocks noChangeArrowheads="1"/>
            </p:cNvSpPr>
            <p:nvPr/>
          </p:nvSpPr>
          <p:spPr bwMode="auto">
            <a:xfrm>
              <a:off x="2056" y="5227"/>
              <a:ext cx="756" cy="345"/>
            </a:xfrm>
            <a:prstGeom prst="rect">
              <a:avLst/>
            </a:prstGeom>
            <a:noFill/>
            <a:ln w="9525">
              <a:noFill/>
              <a:miter lim="800000"/>
              <a:headEnd/>
              <a:tailEnd/>
            </a:ln>
          </p:spPr>
          <p:txBody>
            <a:bodyPr lIns="0" tIns="0" rIns="0" bIns="0"/>
            <a:lstStyle/>
            <a:p>
              <a:pPr algn="ctr"/>
              <a:r>
                <a:rPr lang="tr-TR" sz="1800" b="0" dirty="0"/>
                <a:t>2 bit</a:t>
              </a:r>
              <a:r>
                <a:rPr lang="en-US" sz="1800" b="0" dirty="0"/>
                <a:t>s</a:t>
              </a:r>
              <a:endParaRPr lang="tr-TR" sz="1800" dirty="0"/>
            </a:p>
          </p:txBody>
        </p:sp>
        <p:sp>
          <p:nvSpPr>
            <p:cNvPr id="7179" name="Text Box 10"/>
            <p:cNvSpPr txBox="1">
              <a:spLocks noChangeArrowheads="1"/>
            </p:cNvSpPr>
            <p:nvPr/>
          </p:nvSpPr>
          <p:spPr bwMode="auto">
            <a:xfrm>
              <a:off x="3617" y="5227"/>
              <a:ext cx="870" cy="345"/>
            </a:xfrm>
            <a:prstGeom prst="rect">
              <a:avLst/>
            </a:prstGeom>
            <a:noFill/>
            <a:ln w="9525">
              <a:noFill/>
              <a:miter lim="800000"/>
              <a:headEnd/>
              <a:tailEnd/>
            </a:ln>
          </p:spPr>
          <p:txBody>
            <a:bodyPr lIns="0" tIns="0" rIns="0" bIns="0"/>
            <a:lstStyle/>
            <a:p>
              <a:pPr algn="ctr"/>
              <a:r>
                <a:rPr lang="tr-TR" sz="1800" b="0" dirty="0"/>
                <a:t>1 bit</a:t>
              </a:r>
              <a:endParaRPr lang="tr-TR" sz="18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Altbilgi Yer Tutucusu"/>
          <p:cNvSpPr>
            <a:spLocks noGrp="1"/>
          </p:cNvSpPr>
          <p:nvPr>
            <p:ph type="ftr" sz="quarter" idx="10"/>
          </p:nvPr>
        </p:nvSpPr>
        <p:spPr>
          <a:noFill/>
        </p:spPr>
        <p:txBody>
          <a:bodyPr/>
          <a:lstStyle/>
          <a:p>
            <a:r>
              <a:rPr lang="en-US" dirty="0"/>
              <a:t>Logic Circuits</a:t>
            </a:r>
          </a:p>
        </p:txBody>
      </p:sp>
      <p:sp>
        <p:nvSpPr>
          <p:cNvPr id="8195" name="Rectangle 2"/>
          <p:cNvSpPr>
            <a:spLocks noGrp="1" noChangeArrowheads="1"/>
          </p:cNvSpPr>
          <p:nvPr>
            <p:ph type="title"/>
          </p:nvPr>
        </p:nvSpPr>
        <p:spPr>
          <a:xfrm>
            <a:off x="368300" y="204788"/>
            <a:ext cx="7772400" cy="790575"/>
          </a:xfrm>
        </p:spPr>
        <p:txBody>
          <a:bodyPr/>
          <a:lstStyle/>
          <a:p>
            <a:r>
              <a:rPr lang="en-US" sz="2400" b="1" dirty="0"/>
              <a:t>Floating Point Numbers</a:t>
            </a:r>
            <a:endParaRPr lang="tr-TR" sz="2400" b="1" dirty="0"/>
          </a:p>
        </p:txBody>
      </p:sp>
      <p:sp>
        <p:nvSpPr>
          <p:cNvPr id="8196" name="Rectangle 3"/>
          <p:cNvSpPr>
            <a:spLocks noGrp="1" noChangeArrowheads="1"/>
          </p:cNvSpPr>
          <p:nvPr>
            <p:ph type="body" idx="1"/>
          </p:nvPr>
        </p:nvSpPr>
        <p:spPr/>
        <p:txBody>
          <a:bodyPr/>
          <a:lstStyle/>
          <a:p>
            <a:pPr marL="0" indent="0" algn="just">
              <a:lnSpc>
                <a:spcPct val="90000"/>
              </a:lnSpc>
              <a:buFontTx/>
              <a:buNone/>
            </a:pPr>
            <a:endParaRPr lang="tr-TR" sz="2100" dirty="0"/>
          </a:p>
          <a:p>
            <a:pPr marL="0" indent="0" algn="just">
              <a:lnSpc>
                <a:spcPct val="90000"/>
              </a:lnSpc>
              <a:buFontTx/>
              <a:buNone/>
            </a:pPr>
            <a:endParaRPr lang="tr-TR" sz="2100" dirty="0"/>
          </a:p>
          <a:p>
            <a:pPr marL="0" indent="0" algn="just">
              <a:lnSpc>
                <a:spcPct val="90000"/>
              </a:lnSpc>
              <a:buFontTx/>
              <a:buNone/>
            </a:pPr>
            <a:endParaRPr lang="en-US" sz="2100" dirty="0"/>
          </a:p>
          <a:p>
            <a:pPr marL="0" indent="0" algn="just">
              <a:lnSpc>
                <a:spcPct val="90000"/>
              </a:lnSpc>
              <a:buFontTx/>
              <a:buNone/>
            </a:pPr>
            <a:r>
              <a:rPr lang="en-US" sz="2100" dirty="0"/>
              <a:t>Although not shown in the chart above, we also have the same numbers with negative signs on the number axis. With 4 bits, we can store 2⁴ = 16 distinct numbers. As demonstrated, the gaps between numbers increase as the values grow larger.</a:t>
            </a:r>
          </a:p>
          <a:p>
            <a:pPr marL="0" indent="0" algn="just">
              <a:lnSpc>
                <a:spcPct val="90000"/>
              </a:lnSpc>
              <a:buFontTx/>
              <a:buNone/>
            </a:pPr>
            <a:r>
              <a:rPr lang="en-US" sz="2100" dirty="0"/>
              <a:t>As you can see, we can store 3 different numbers in the range between 0.5 and 1, and the same applies to the ranges between 1 and 2, as well as 2 and 4.</a:t>
            </a:r>
            <a:endParaRPr lang="tr-TR" sz="2100" dirty="0"/>
          </a:p>
          <a:p>
            <a:pPr marL="0" indent="0" algn="just">
              <a:lnSpc>
                <a:spcPct val="90000"/>
              </a:lnSpc>
              <a:buFontTx/>
              <a:buNone/>
            </a:pPr>
            <a:r>
              <a:rPr lang="en-US" sz="2100" dirty="0"/>
              <a:t>If the exponent were 1 bit and the significand 2 bits, we'd still have 4 bits in total, allowing for 16 different bit combinations. However, the represented numbers would change to 1, 1.25, 1.5, 1.75, 2, 2.5, 3, and 3.5.</a:t>
            </a:r>
          </a:p>
          <a:p>
            <a:pPr marL="0" indent="0" algn="just">
              <a:lnSpc>
                <a:spcPct val="90000"/>
              </a:lnSpc>
              <a:buFontTx/>
              <a:buNone/>
            </a:pPr>
            <a:r>
              <a:rPr lang="en-US" sz="2100" dirty="0"/>
              <a:t>In this scenario, the gaps between the numbers would be smaller, allowing for finer precision, but the range of representable numbers would be limited to relatively smaller values.</a:t>
            </a:r>
            <a:endParaRPr lang="tr-TR" sz="2100" dirty="0"/>
          </a:p>
        </p:txBody>
      </p:sp>
      <p:grpSp>
        <p:nvGrpSpPr>
          <p:cNvPr id="8197" name="Group 4"/>
          <p:cNvGrpSpPr>
            <a:grpSpLocks/>
          </p:cNvGrpSpPr>
          <p:nvPr/>
        </p:nvGrpSpPr>
        <p:grpSpPr bwMode="auto">
          <a:xfrm>
            <a:off x="1498600" y="1400175"/>
            <a:ext cx="6226175" cy="498475"/>
            <a:chOff x="4297" y="14452"/>
            <a:chExt cx="6660" cy="585"/>
          </a:xfrm>
        </p:grpSpPr>
        <p:sp>
          <p:nvSpPr>
            <p:cNvPr id="8198" name="Line 5"/>
            <p:cNvSpPr>
              <a:spLocks noChangeShapeType="1"/>
            </p:cNvSpPr>
            <p:nvPr/>
          </p:nvSpPr>
          <p:spPr bwMode="auto">
            <a:xfrm>
              <a:off x="5017" y="14557"/>
              <a:ext cx="5940" cy="0"/>
            </a:xfrm>
            <a:prstGeom prst="line">
              <a:avLst/>
            </a:prstGeom>
            <a:noFill/>
            <a:ln w="9525">
              <a:solidFill>
                <a:srgbClr val="000000"/>
              </a:solidFill>
              <a:round/>
              <a:headEnd/>
              <a:tailEnd type="triangle" w="med" len="med"/>
            </a:ln>
          </p:spPr>
          <p:txBody>
            <a:bodyPr/>
            <a:lstStyle/>
            <a:p>
              <a:endParaRPr lang="tr-TR"/>
            </a:p>
          </p:txBody>
        </p:sp>
        <p:sp>
          <p:nvSpPr>
            <p:cNvPr id="8199" name="Text Box 6"/>
            <p:cNvSpPr txBox="1">
              <a:spLocks noChangeArrowheads="1"/>
            </p:cNvSpPr>
            <p:nvPr/>
          </p:nvSpPr>
          <p:spPr bwMode="auto">
            <a:xfrm>
              <a:off x="5167" y="14647"/>
              <a:ext cx="360" cy="360"/>
            </a:xfrm>
            <a:prstGeom prst="rect">
              <a:avLst/>
            </a:prstGeom>
            <a:noFill/>
            <a:ln w="9525">
              <a:noFill/>
              <a:miter lim="800000"/>
              <a:headEnd/>
              <a:tailEnd/>
            </a:ln>
          </p:spPr>
          <p:txBody>
            <a:bodyPr lIns="0" tIns="0" rIns="0" bIns="0"/>
            <a:lstStyle/>
            <a:p>
              <a:r>
                <a:rPr lang="tr-TR" b="0"/>
                <a:t>0.5</a:t>
              </a:r>
              <a:endParaRPr lang="tr-TR"/>
            </a:p>
          </p:txBody>
        </p:sp>
        <p:sp>
          <p:nvSpPr>
            <p:cNvPr id="8200" name="Text Box 7"/>
            <p:cNvSpPr txBox="1">
              <a:spLocks noChangeArrowheads="1"/>
            </p:cNvSpPr>
            <p:nvPr/>
          </p:nvSpPr>
          <p:spPr bwMode="auto">
            <a:xfrm>
              <a:off x="5482" y="14647"/>
              <a:ext cx="540" cy="360"/>
            </a:xfrm>
            <a:prstGeom prst="rect">
              <a:avLst/>
            </a:prstGeom>
            <a:noFill/>
            <a:ln w="9525">
              <a:noFill/>
              <a:miter lim="800000"/>
              <a:headEnd/>
              <a:tailEnd/>
            </a:ln>
          </p:spPr>
          <p:txBody>
            <a:bodyPr lIns="0" tIns="0" rIns="0" bIns="0"/>
            <a:lstStyle/>
            <a:p>
              <a:r>
                <a:rPr lang="tr-TR" b="0"/>
                <a:t>0.75</a:t>
              </a:r>
              <a:endParaRPr lang="tr-TR"/>
            </a:p>
          </p:txBody>
        </p:sp>
        <p:sp>
          <p:nvSpPr>
            <p:cNvPr id="8201" name="Text Box 8"/>
            <p:cNvSpPr txBox="1">
              <a:spLocks noChangeArrowheads="1"/>
            </p:cNvSpPr>
            <p:nvPr/>
          </p:nvSpPr>
          <p:spPr bwMode="auto">
            <a:xfrm>
              <a:off x="5902" y="14647"/>
              <a:ext cx="360" cy="360"/>
            </a:xfrm>
            <a:prstGeom prst="rect">
              <a:avLst/>
            </a:prstGeom>
            <a:noFill/>
            <a:ln w="9525">
              <a:noFill/>
              <a:miter lim="800000"/>
              <a:headEnd/>
              <a:tailEnd/>
            </a:ln>
          </p:spPr>
          <p:txBody>
            <a:bodyPr lIns="0" tIns="0" rIns="0" bIns="0"/>
            <a:lstStyle/>
            <a:p>
              <a:r>
                <a:rPr lang="tr-TR" b="0"/>
                <a:t>1</a:t>
              </a:r>
              <a:endParaRPr lang="tr-TR"/>
            </a:p>
          </p:txBody>
        </p:sp>
        <p:sp>
          <p:nvSpPr>
            <p:cNvPr id="8202" name="Text Box 9"/>
            <p:cNvSpPr txBox="1">
              <a:spLocks noChangeArrowheads="1"/>
            </p:cNvSpPr>
            <p:nvPr/>
          </p:nvSpPr>
          <p:spPr bwMode="auto">
            <a:xfrm>
              <a:off x="6352" y="14662"/>
              <a:ext cx="360" cy="360"/>
            </a:xfrm>
            <a:prstGeom prst="rect">
              <a:avLst/>
            </a:prstGeom>
            <a:noFill/>
            <a:ln w="9525">
              <a:noFill/>
              <a:miter lim="800000"/>
              <a:headEnd/>
              <a:tailEnd/>
            </a:ln>
          </p:spPr>
          <p:txBody>
            <a:bodyPr lIns="0" tIns="0" rIns="0" bIns="0"/>
            <a:lstStyle/>
            <a:p>
              <a:r>
                <a:rPr lang="tr-TR" b="0"/>
                <a:t>1.5</a:t>
              </a:r>
              <a:endParaRPr lang="tr-TR"/>
            </a:p>
          </p:txBody>
        </p:sp>
        <p:sp>
          <p:nvSpPr>
            <p:cNvPr id="8203" name="Text Box 10"/>
            <p:cNvSpPr txBox="1">
              <a:spLocks noChangeArrowheads="1"/>
            </p:cNvSpPr>
            <p:nvPr/>
          </p:nvSpPr>
          <p:spPr bwMode="auto">
            <a:xfrm>
              <a:off x="7897" y="14677"/>
              <a:ext cx="360" cy="360"/>
            </a:xfrm>
            <a:prstGeom prst="rect">
              <a:avLst/>
            </a:prstGeom>
            <a:noFill/>
            <a:ln w="9525">
              <a:noFill/>
              <a:miter lim="800000"/>
              <a:headEnd/>
              <a:tailEnd/>
            </a:ln>
          </p:spPr>
          <p:txBody>
            <a:bodyPr lIns="0" tIns="0" rIns="0" bIns="0"/>
            <a:lstStyle/>
            <a:p>
              <a:r>
                <a:rPr lang="tr-TR" b="0"/>
                <a:t>3</a:t>
              </a:r>
              <a:endParaRPr lang="tr-TR"/>
            </a:p>
          </p:txBody>
        </p:sp>
        <p:sp>
          <p:nvSpPr>
            <p:cNvPr id="8204" name="Text Box 11"/>
            <p:cNvSpPr txBox="1">
              <a:spLocks noChangeArrowheads="1"/>
            </p:cNvSpPr>
            <p:nvPr/>
          </p:nvSpPr>
          <p:spPr bwMode="auto">
            <a:xfrm>
              <a:off x="8737" y="14662"/>
              <a:ext cx="360" cy="360"/>
            </a:xfrm>
            <a:prstGeom prst="rect">
              <a:avLst/>
            </a:prstGeom>
            <a:noFill/>
            <a:ln w="9525">
              <a:noFill/>
              <a:miter lim="800000"/>
              <a:headEnd/>
              <a:tailEnd/>
            </a:ln>
          </p:spPr>
          <p:txBody>
            <a:bodyPr lIns="0" tIns="0" rIns="0" bIns="0"/>
            <a:lstStyle/>
            <a:p>
              <a:r>
                <a:rPr lang="tr-TR" b="0"/>
                <a:t>4</a:t>
              </a:r>
            </a:p>
            <a:p>
              <a:endParaRPr lang="tr-TR"/>
            </a:p>
          </p:txBody>
        </p:sp>
        <p:sp>
          <p:nvSpPr>
            <p:cNvPr id="8205" name="Text Box 12"/>
            <p:cNvSpPr txBox="1">
              <a:spLocks noChangeArrowheads="1"/>
            </p:cNvSpPr>
            <p:nvPr/>
          </p:nvSpPr>
          <p:spPr bwMode="auto">
            <a:xfrm>
              <a:off x="10192" y="14662"/>
              <a:ext cx="360" cy="360"/>
            </a:xfrm>
            <a:prstGeom prst="rect">
              <a:avLst/>
            </a:prstGeom>
            <a:noFill/>
            <a:ln w="9525">
              <a:noFill/>
              <a:miter lim="800000"/>
              <a:headEnd/>
              <a:tailEnd/>
            </a:ln>
          </p:spPr>
          <p:txBody>
            <a:bodyPr lIns="0" tIns="0" rIns="0" bIns="0"/>
            <a:lstStyle/>
            <a:p>
              <a:r>
                <a:rPr lang="tr-TR" b="0"/>
                <a:t>6</a:t>
              </a:r>
              <a:endParaRPr lang="tr-TR"/>
            </a:p>
          </p:txBody>
        </p:sp>
        <p:sp>
          <p:nvSpPr>
            <p:cNvPr id="8206" name="Line 13"/>
            <p:cNvSpPr>
              <a:spLocks noChangeShapeType="1"/>
            </p:cNvSpPr>
            <p:nvPr/>
          </p:nvSpPr>
          <p:spPr bwMode="auto">
            <a:xfrm>
              <a:off x="10237" y="14482"/>
              <a:ext cx="0" cy="180"/>
            </a:xfrm>
            <a:prstGeom prst="line">
              <a:avLst/>
            </a:prstGeom>
            <a:noFill/>
            <a:ln w="9525">
              <a:solidFill>
                <a:srgbClr val="000000"/>
              </a:solidFill>
              <a:round/>
              <a:headEnd/>
              <a:tailEnd/>
            </a:ln>
          </p:spPr>
          <p:txBody>
            <a:bodyPr/>
            <a:lstStyle/>
            <a:p>
              <a:endParaRPr lang="tr-TR"/>
            </a:p>
          </p:txBody>
        </p:sp>
        <p:sp>
          <p:nvSpPr>
            <p:cNvPr id="8207" name="Line 14"/>
            <p:cNvSpPr>
              <a:spLocks noChangeShapeType="1"/>
            </p:cNvSpPr>
            <p:nvPr/>
          </p:nvSpPr>
          <p:spPr bwMode="auto">
            <a:xfrm>
              <a:off x="5302" y="14452"/>
              <a:ext cx="0" cy="180"/>
            </a:xfrm>
            <a:prstGeom prst="line">
              <a:avLst/>
            </a:prstGeom>
            <a:noFill/>
            <a:ln w="9525">
              <a:solidFill>
                <a:srgbClr val="000000"/>
              </a:solidFill>
              <a:round/>
              <a:headEnd/>
              <a:tailEnd/>
            </a:ln>
          </p:spPr>
          <p:txBody>
            <a:bodyPr/>
            <a:lstStyle/>
            <a:p>
              <a:endParaRPr lang="tr-TR"/>
            </a:p>
          </p:txBody>
        </p:sp>
        <p:sp>
          <p:nvSpPr>
            <p:cNvPr id="8208" name="Line 15"/>
            <p:cNvSpPr>
              <a:spLocks noChangeShapeType="1"/>
            </p:cNvSpPr>
            <p:nvPr/>
          </p:nvSpPr>
          <p:spPr bwMode="auto">
            <a:xfrm>
              <a:off x="5617" y="14467"/>
              <a:ext cx="0" cy="180"/>
            </a:xfrm>
            <a:prstGeom prst="line">
              <a:avLst/>
            </a:prstGeom>
            <a:noFill/>
            <a:ln w="9525">
              <a:solidFill>
                <a:srgbClr val="000000"/>
              </a:solidFill>
              <a:round/>
              <a:headEnd/>
              <a:tailEnd/>
            </a:ln>
          </p:spPr>
          <p:txBody>
            <a:bodyPr/>
            <a:lstStyle/>
            <a:p>
              <a:endParaRPr lang="tr-TR"/>
            </a:p>
          </p:txBody>
        </p:sp>
        <p:sp>
          <p:nvSpPr>
            <p:cNvPr id="8209" name="Line 16"/>
            <p:cNvSpPr>
              <a:spLocks noChangeShapeType="1"/>
            </p:cNvSpPr>
            <p:nvPr/>
          </p:nvSpPr>
          <p:spPr bwMode="auto">
            <a:xfrm>
              <a:off x="5947" y="14467"/>
              <a:ext cx="0" cy="180"/>
            </a:xfrm>
            <a:prstGeom prst="line">
              <a:avLst/>
            </a:prstGeom>
            <a:noFill/>
            <a:ln w="9525">
              <a:solidFill>
                <a:srgbClr val="000000"/>
              </a:solidFill>
              <a:round/>
              <a:headEnd/>
              <a:tailEnd/>
            </a:ln>
          </p:spPr>
          <p:txBody>
            <a:bodyPr/>
            <a:lstStyle/>
            <a:p>
              <a:endParaRPr lang="tr-TR"/>
            </a:p>
          </p:txBody>
        </p:sp>
        <p:sp>
          <p:nvSpPr>
            <p:cNvPr id="8210" name="Line 17"/>
            <p:cNvSpPr>
              <a:spLocks noChangeShapeType="1"/>
            </p:cNvSpPr>
            <p:nvPr/>
          </p:nvSpPr>
          <p:spPr bwMode="auto">
            <a:xfrm>
              <a:off x="6472" y="14467"/>
              <a:ext cx="0" cy="180"/>
            </a:xfrm>
            <a:prstGeom prst="line">
              <a:avLst/>
            </a:prstGeom>
            <a:noFill/>
            <a:ln w="9525">
              <a:solidFill>
                <a:srgbClr val="000000"/>
              </a:solidFill>
              <a:round/>
              <a:headEnd/>
              <a:tailEnd/>
            </a:ln>
          </p:spPr>
          <p:txBody>
            <a:bodyPr/>
            <a:lstStyle/>
            <a:p>
              <a:endParaRPr lang="tr-TR"/>
            </a:p>
          </p:txBody>
        </p:sp>
        <p:sp>
          <p:nvSpPr>
            <p:cNvPr id="8211" name="Line 18"/>
            <p:cNvSpPr>
              <a:spLocks noChangeShapeType="1"/>
            </p:cNvSpPr>
            <p:nvPr/>
          </p:nvSpPr>
          <p:spPr bwMode="auto">
            <a:xfrm>
              <a:off x="7927" y="14467"/>
              <a:ext cx="0" cy="180"/>
            </a:xfrm>
            <a:prstGeom prst="line">
              <a:avLst/>
            </a:prstGeom>
            <a:noFill/>
            <a:ln w="9525">
              <a:solidFill>
                <a:srgbClr val="000000"/>
              </a:solidFill>
              <a:round/>
              <a:headEnd/>
              <a:tailEnd/>
            </a:ln>
          </p:spPr>
          <p:txBody>
            <a:bodyPr/>
            <a:lstStyle/>
            <a:p>
              <a:endParaRPr lang="tr-TR"/>
            </a:p>
          </p:txBody>
        </p:sp>
        <p:sp>
          <p:nvSpPr>
            <p:cNvPr id="8212" name="Line 19"/>
            <p:cNvSpPr>
              <a:spLocks noChangeShapeType="1"/>
            </p:cNvSpPr>
            <p:nvPr/>
          </p:nvSpPr>
          <p:spPr bwMode="auto">
            <a:xfrm>
              <a:off x="7027" y="14467"/>
              <a:ext cx="0" cy="180"/>
            </a:xfrm>
            <a:prstGeom prst="line">
              <a:avLst/>
            </a:prstGeom>
            <a:noFill/>
            <a:ln w="9525">
              <a:solidFill>
                <a:srgbClr val="000000"/>
              </a:solidFill>
              <a:round/>
              <a:headEnd/>
              <a:tailEnd/>
            </a:ln>
          </p:spPr>
          <p:txBody>
            <a:bodyPr/>
            <a:lstStyle/>
            <a:p>
              <a:endParaRPr lang="tr-TR"/>
            </a:p>
          </p:txBody>
        </p:sp>
        <p:sp>
          <p:nvSpPr>
            <p:cNvPr id="8213" name="Text Box 20"/>
            <p:cNvSpPr txBox="1">
              <a:spLocks noChangeArrowheads="1"/>
            </p:cNvSpPr>
            <p:nvPr/>
          </p:nvSpPr>
          <p:spPr bwMode="auto">
            <a:xfrm>
              <a:off x="6982" y="14662"/>
              <a:ext cx="360" cy="360"/>
            </a:xfrm>
            <a:prstGeom prst="rect">
              <a:avLst/>
            </a:prstGeom>
            <a:noFill/>
            <a:ln w="9525">
              <a:noFill/>
              <a:miter lim="800000"/>
              <a:headEnd/>
              <a:tailEnd/>
            </a:ln>
          </p:spPr>
          <p:txBody>
            <a:bodyPr lIns="0" tIns="0" rIns="0" bIns="0"/>
            <a:lstStyle/>
            <a:p>
              <a:r>
                <a:rPr lang="tr-TR" b="0"/>
                <a:t>2</a:t>
              </a:r>
              <a:endParaRPr lang="tr-TR"/>
            </a:p>
          </p:txBody>
        </p:sp>
        <p:sp>
          <p:nvSpPr>
            <p:cNvPr id="8214" name="Line 21"/>
            <p:cNvSpPr>
              <a:spLocks noChangeShapeType="1"/>
            </p:cNvSpPr>
            <p:nvPr/>
          </p:nvSpPr>
          <p:spPr bwMode="auto">
            <a:xfrm>
              <a:off x="8797" y="14482"/>
              <a:ext cx="0" cy="180"/>
            </a:xfrm>
            <a:prstGeom prst="line">
              <a:avLst/>
            </a:prstGeom>
            <a:noFill/>
            <a:ln w="9525">
              <a:solidFill>
                <a:srgbClr val="000000"/>
              </a:solidFill>
              <a:round/>
              <a:headEnd/>
              <a:tailEnd/>
            </a:ln>
          </p:spPr>
          <p:txBody>
            <a:bodyPr/>
            <a:lstStyle/>
            <a:p>
              <a:endParaRPr lang="tr-TR"/>
            </a:p>
          </p:txBody>
        </p:sp>
        <p:sp>
          <p:nvSpPr>
            <p:cNvPr id="8215" name="Line 22"/>
            <p:cNvSpPr>
              <a:spLocks noChangeShapeType="1"/>
            </p:cNvSpPr>
            <p:nvPr/>
          </p:nvSpPr>
          <p:spPr bwMode="auto">
            <a:xfrm flipH="1">
              <a:off x="4297" y="14554"/>
              <a:ext cx="720" cy="0"/>
            </a:xfrm>
            <a:prstGeom prst="line">
              <a:avLst/>
            </a:prstGeom>
            <a:noFill/>
            <a:ln w="9525">
              <a:solidFill>
                <a:srgbClr val="000000"/>
              </a:solidFill>
              <a:prstDash val="dash"/>
              <a:round/>
              <a:headEnd/>
              <a:tailEnd type="triangle" w="med" len="med"/>
            </a:ln>
          </p:spPr>
          <p:txBody>
            <a:bodyPr/>
            <a:lstStyle/>
            <a:p>
              <a:endParaRPr lang="tr-T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Altbilgi Yer Tutucusu"/>
          <p:cNvSpPr>
            <a:spLocks noGrp="1"/>
          </p:cNvSpPr>
          <p:nvPr>
            <p:ph type="ftr" sz="quarter" idx="10"/>
          </p:nvPr>
        </p:nvSpPr>
        <p:spPr>
          <a:noFill/>
        </p:spPr>
        <p:txBody>
          <a:bodyPr/>
          <a:lstStyle/>
          <a:p>
            <a:r>
              <a:rPr lang="en-US" dirty="0"/>
              <a:t>Logic Circuits</a:t>
            </a:r>
          </a:p>
        </p:txBody>
      </p:sp>
      <p:sp>
        <p:nvSpPr>
          <p:cNvPr id="9219" name="Rectangle 2"/>
          <p:cNvSpPr>
            <a:spLocks noGrp="1" noChangeArrowheads="1"/>
          </p:cNvSpPr>
          <p:nvPr>
            <p:ph type="title"/>
          </p:nvPr>
        </p:nvSpPr>
        <p:spPr/>
        <p:txBody>
          <a:bodyPr/>
          <a:lstStyle/>
          <a:p>
            <a:r>
              <a:rPr lang="en-US" sz="2400" b="1" dirty="0"/>
              <a:t>Arithmetic Operations on Signed Numbers</a:t>
            </a:r>
            <a:endParaRPr lang="tr-TR" dirty="0"/>
          </a:p>
        </p:txBody>
      </p:sp>
      <p:sp>
        <p:nvSpPr>
          <p:cNvPr id="9220" name="Rectangle 3"/>
          <p:cNvSpPr>
            <a:spLocks noGrp="1" noChangeArrowheads="1"/>
          </p:cNvSpPr>
          <p:nvPr>
            <p:ph type="body" idx="1"/>
          </p:nvPr>
        </p:nvSpPr>
        <p:spPr>
          <a:xfrm>
            <a:off x="346075" y="969963"/>
            <a:ext cx="8375650" cy="5078412"/>
          </a:xfrm>
        </p:spPr>
        <p:txBody>
          <a:bodyPr/>
          <a:lstStyle/>
          <a:p>
            <a:pPr marL="0" indent="0" algn="just">
              <a:lnSpc>
                <a:spcPct val="90000"/>
              </a:lnSpc>
              <a:buFontTx/>
              <a:buNone/>
            </a:pPr>
            <a:r>
              <a:rPr lang="en-US" sz="2200" dirty="0"/>
              <a:t>In this section, we will use two’s complement form.</a:t>
            </a:r>
            <a:endParaRPr lang="tr-TR" sz="2200" b="1" dirty="0"/>
          </a:p>
          <a:p>
            <a:pPr marL="0" indent="0" algn="just">
              <a:lnSpc>
                <a:spcPct val="90000"/>
              </a:lnSpc>
              <a:buFontTx/>
              <a:buNone/>
            </a:pPr>
            <a:r>
              <a:rPr lang="en-US" sz="2200" b="1" dirty="0"/>
              <a:t>Addition and subtraction</a:t>
            </a:r>
            <a:r>
              <a:rPr lang="tr-TR" sz="2200" b="1" dirty="0"/>
              <a:t>:</a:t>
            </a:r>
            <a:endParaRPr lang="tr-TR" sz="2200" dirty="0"/>
          </a:p>
          <a:p>
            <a:pPr marL="0" indent="0" algn="just">
              <a:lnSpc>
                <a:spcPct val="90000"/>
              </a:lnSpc>
              <a:buFontTx/>
              <a:buNone/>
            </a:pPr>
            <a:r>
              <a:rPr lang="en-US" sz="2200" dirty="0"/>
              <a:t>The sum of two positive numbers is a positive number.</a:t>
            </a:r>
            <a:endParaRPr lang="tr-TR" sz="2200" b="1" dirty="0"/>
          </a:p>
          <a:p>
            <a:pPr marL="0" indent="0" algn="just">
              <a:lnSpc>
                <a:spcPct val="90000"/>
              </a:lnSpc>
              <a:buFontTx/>
              <a:buNone/>
            </a:pPr>
            <a:r>
              <a:rPr lang="en-US" sz="2200" b="1" dirty="0"/>
              <a:t>Example</a:t>
            </a:r>
            <a:r>
              <a:rPr lang="tr-TR" sz="2200" b="1" dirty="0"/>
              <a:t>: </a:t>
            </a:r>
            <a:r>
              <a:rPr lang="tr-TR" sz="2200" dirty="0"/>
              <a:t>00001001    (9)</a:t>
            </a:r>
          </a:p>
          <a:p>
            <a:pPr marL="0" indent="0" algn="just">
              <a:lnSpc>
                <a:spcPct val="90000"/>
              </a:lnSpc>
              <a:buFontTx/>
              <a:buNone/>
            </a:pPr>
            <a:r>
              <a:rPr lang="en-US" sz="2200" dirty="0"/>
              <a:t>    </a:t>
            </a:r>
            <a:r>
              <a:rPr lang="tr-TR" sz="2200" dirty="0"/>
              <a:t>         +  00000100</a:t>
            </a:r>
            <a:r>
              <a:rPr lang="tr-TR" sz="2200" b="1" dirty="0"/>
              <a:t>    </a:t>
            </a:r>
            <a:r>
              <a:rPr lang="tr-TR" sz="2200" dirty="0"/>
              <a:t>(4)</a:t>
            </a:r>
          </a:p>
          <a:p>
            <a:pPr marL="0" indent="0" algn="just">
              <a:lnSpc>
                <a:spcPct val="90000"/>
              </a:lnSpc>
              <a:buFontTx/>
              <a:buNone/>
            </a:pPr>
            <a:r>
              <a:rPr lang="en-US" sz="2200" dirty="0"/>
              <a:t>    </a:t>
            </a:r>
            <a:r>
              <a:rPr lang="tr-TR" sz="2200" dirty="0"/>
              <a:t>	</a:t>
            </a:r>
            <a:r>
              <a:rPr lang="en-US" sz="2200" dirty="0"/>
              <a:t>    </a:t>
            </a:r>
            <a:r>
              <a:rPr lang="tr-TR" sz="2200" b="1" u="sng" dirty="0"/>
              <a:t>0</a:t>
            </a:r>
            <a:r>
              <a:rPr lang="tr-TR" sz="2200" dirty="0"/>
              <a:t>0001101   (13)</a:t>
            </a:r>
          </a:p>
          <a:p>
            <a:pPr marL="0" indent="0" algn="just">
              <a:lnSpc>
                <a:spcPct val="90000"/>
              </a:lnSpc>
              <a:buFontTx/>
              <a:buNone/>
            </a:pPr>
            <a:endParaRPr lang="tr-TR" sz="2200" dirty="0"/>
          </a:p>
          <a:p>
            <a:pPr marL="0" indent="0" algn="just">
              <a:lnSpc>
                <a:spcPct val="90000"/>
              </a:lnSpc>
              <a:buFontTx/>
              <a:buNone/>
            </a:pPr>
            <a:r>
              <a:rPr lang="en-US" sz="2200" dirty="0"/>
              <a:t>The sum of a positive number and a smaller negative number is a positive number</a:t>
            </a:r>
            <a:r>
              <a:rPr lang="tr-TR" sz="2200" dirty="0"/>
              <a:t>. </a:t>
            </a:r>
            <a:r>
              <a:rPr lang="en-US" sz="2200" dirty="0"/>
              <a:t>We ignore the carry bit.</a:t>
            </a:r>
            <a:endParaRPr lang="tr-TR" sz="2200" b="1" dirty="0"/>
          </a:p>
          <a:p>
            <a:pPr marL="0" indent="0">
              <a:lnSpc>
                <a:spcPct val="90000"/>
              </a:lnSpc>
              <a:buFontTx/>
              <a:buNone/>
            </a:pPr>
            <a:r>
              <a:rPr lang="en-US" sz="2200" b="1" dirty="0"/>
              <a:t>Example</a:t>
            </a:r>
            <a:r>
              <a:rPr lang="tr-TR" sz="2200" b="1" dirty="0"/>
              <a:t>: </a:t>
            </a:r>
            <a:r>
              <a:rPr lang="tr-TR" sz="2200" dirty="0"/>
              <a:t>00001001    (9)</a:t>
            </a:r>
          </a:p>
          <a:p>
            <a:pPr marL="0" indent="0">
              <a:lnSpc>
                <a:spcPct val="90000"/>
              </a:lnSpc>
              <a:buFontTx/>
              <a:buNone/>
            </a:pPr>
            <a:r>
              <a:rPr lang="tr-TR" sz="2200" dirty="0"/>
              <a:t>         </a:t>
            </a:r>
            <a:r>
              <a:rPr lang="en-US" sz="2200" dirty="0"/>
              <a:t>    </a:t>
            </a:r>
            <a:r>
              <a:rPr lang="tr-TR" sz="2200" dirty="0"/>
              <a:t>+  11111010</a:t>
            </a:r>
            <a:r>
              <a:rPr lang="tr-TR" sz="2200" b="1" dirty="0"/>
              <a:t>   </a:t>
            </a:r>
            <a:r>
              <a:rPr lang="tr-TR" sz="2200" dirty="0"/>
              <a:t>(-6)</a:t>
            </a:r>
          </a:p>
          <a:p>
            <a:pPr marL="0" indent="0">
              <a:lnSpc>
                <a:spcPct val="90000"/>
              </a:lnSpc>
              <a:buFontTx/>
              <a:buNone/>
            </a:pPr>
            <a:r>
              <a:rPr lang="tr-TR" sz="2200" b="1" dirty="0"/>
              <a:t>           </a:t>
            </a:r>
            <a:r>
              <a:rPr lang="en-US" sz="2200" b="1" dirty="0"/>
              <a:t>    </a:t>
            </a:r>
            <a:r>
              <a:rPr lang="tr-TR" sz="2200" b="1" dirty="0">
                <a:solidFill>
                  <a:srgbClr val="FF0000"/>
                </a:solidFill>
              </a:rPr>
              <a:t>1</a:t>
            </a:r>
            <a:r>
              <a:rPr lang="tr-TR" sz="2200" b="1" u="sng" dirty="0"/>
              <a:t>0</a:t>
            </a:r>
            <a:r>
              <a:rPr lang="tr-TR" sz="2200" dirty="0"/>
              <a:t>0000011     (3) </a:t>
            </a:r>
          </a:p>
        </p:txBody>
      </p:sp>
      <p:sp>
        <p:nvSpPr>
          <p:cNvPr id="9221" name="Line 4"/>
          <p:cNvSpPr>
            <a:spLocks noChangeShapeType="1"/>
          </p:cNvSpPr>
          <p:nvPr/>
        </p:nvSpPr>
        <p:spPr bwMode="auto">
          <a:xfrm>
            <a:off x="1428377" y="2802026"/>
            <a:ext cx="1308100" cy="0"/>
          </a:xfrm>
          <a:prstGeom prst="line">
            <a:avLst/>
          </a:prstGeom>
          <a:noFill/>
          <a:ln w="9525">
            <a:solidFill>
              <a:schemeClr val="tx1"/>
            </a:solidFill>
            <a:round/>
            <a:headEnd/>
            <a:tailEnd/>
          </a:ln>
        </p:spPr>
        <p:txBody>
          <a:bodyPr lIns="36000" tIns="36000" rIns="36000" bIns="36000"/>
          <a:lstStyle/>
          <a:p>
            <a:endParaRPr lang="tr-TR"/>
          </a:p>
        </p:txBody>
      </p:sp>
      <p:sp>
        <p:nvSpPr>
          <p:cNvPr id="9222" name="Line 5"/>
          <p:cNvSpPr>
            <a:spLocks noChangeShapeType="1"/>
          </p:cNvSpPr>
          <p:nvPr/>
        </p:nvSpPr>
        <p:spPr bwMode="auto">
          <a:xfrm>
            <a:off x="1419504" y="4958321"/>
            <a:ext cx="1308100" cy="0"/>
          </a:xfrm>
          <a:prstGeom prst="line">
            <a:avLst/>
          </a:prstGeom>
          <a:noFill/>
          <a:ln w="9525">
            <a:solidFill>
              <a:schemeClr val="tx1"/>
            </a:solidFill>
            <a:round/>
            <a:headEnd/>
            <a:tailEnd/>
          </a:ln>
        </p:spPr>
        <p:txBody>
          <a:bodyPr lIns="36000" tIns="36000" rIns="36000" bIns="36000"/>
          <a:lstStyle/>
          <a:p>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3 Altbilgi Yer Tutucusu"/>
          <p:cNvSpPr>
            <a:spLocks noGrp="1"/>
          </p:cNvSpPr>
          <p:nvPr>
            <p:ph type="ftr" sz="quarter" idx="10"/>
          </p:nvPr>
        </p:nvSpPr>
        <p:spPr>
          <a:noFill/>
        </p:spPr>
        <p:txBody>
          <a:bodyPr/>
          <a:lstStyle/>
          <a:p>
            <a:r>
              <a:rPr lang="en-US" dirty="0"/>
              <a:t>Logic Circuits</a:t>
            </a:r>
          </a:p>
        </p:txBody>
      </p:sp>
      <p:sp>
        <p:nvSpPr>
          <p:cNvPr id="10243" name="Rectangle 2"/>
          <p:cNvSpPr>
            <a:spLocks noGrp="1" noChangeArrowheads="1"/>
          </p:cNvSpPr>
          <p:nvPr>
            <p:ph type="title"/>
          </p:nvPr>
        </p:nvSpPr>
        <p:spPr/>
        <p:txBody>
          <a:bodyPr/>
          <a:lstStyle/>
          <a:p>
            <a:r>
              <a:rPr lang="en-US" sz="2400" b="1" dirty="0"/>
              <a:t>Arithmetic Operations on Signed Numbers</a:t>
            </a:r>
            <a:endParaRPr lang="tr-TR" dirty="0"/>
          </a:p>
        </p:txBody>
      </p:sp>
      <p:sp>
        <p:nvSpPr>
          <p:cNvPr id="10244" name="Rectangle 3"/>
          <p:cNvSpPr>
            <a:spLocks noGrp="1" noChangeArrowheads="1"/>
          </p:cNvSpPr>
          <p:nvPr>
            <p:ph type="body" idx="1"/>
          </p:nvPr>
        </p:nvSpPr>
        <p:spPr>
          <a:xfrm>
            <a:off x="346075" y="969963"/>
            <a:ext cx="8375650" cy="5078412"/>
          </a:xfrm>
        </p:spPr>
        <p:txBody>
          <a:bodyPr/>
          <a:lstStyle/>
          <a:p>
            <a:pPr marL="0" indent="0" algn="just">
              <a:lnSpc>
                <a:spcPct val="90000"/>
              </a:lnSpc>
              <a:buFontTx/>
              <a:buNone/>
            </a:pPr>
            <a:r>
              <a:rPr lang="en-US" sz="2200" dirty="0"/>
              <a:t>The sum of a positive number and a greater negative number is a negative number in two’s complement form.</a:t>
            </a:r>
            <a:endParaRPr lang="en-US" sz="2200" b="1" dirty="0"/>
          </a:p>
          <a:p>
            <a:pPr marL="0" indent="0" algn="just">
              <a:lnSpc>
                <a:spcPct val="90000"/>
              </a:lnSpc>
              <a:buFontTx/>
              <a:buNone/>
            </a:pPr>
            <a:r>
              <a:rPr lang="en-US" sz="2200" b="1" dirty="0"/>
              <a:t>Example: </a:t>
            </a:r>
            <a:r>
              <a:rPr lang="en-US" sz="2200" dirty="0"/>
              <a:t>00001000     (8)</a:t>
            </a:r>
          </a:p>
          <a:p>
            <a:pPr marL="0" indent="0" algn="just">
              <a:lnSpc>
                <a:spcPct val="90000"/>
              </a:lnSpc>
              <a:buFontTx/>
              <a:buNone/>
            </a:pPr>
            <a:r>
              <a:rPr lang="en-US" sz="2200" dirty="0"/>
              <a:t>             +  11110100   (-12)</a:t>
            </a:r>
          </a:p>
          <a:p>
            <a:pPr marL="0" indent="0" algn="just">
              <a:lnSpc>
                <a:spcPct val="90000"/>
              </a:lnSpc>
              <a:buFontTx/>
              <a:buNone/>
            </a:pPr>
            <a:r>
              <a:rPr lang="en-US" sz="2200" dirty="0"/>
              <a:t>                 </a:t>
            </a:r>
            <a:r>
              <a:rPr lang="en-US" sz="2200" b="1" u="sng" dirty="0"/>
              <a:t>1</a:t>
            </a:r>
            <a:r>
              <a:rPr lang="en-US" sz="2200" dirty="0"/>
              <a:t>1111100    (-4 in two’s complement form)		</a:t>
            </a:r>
          </a:p>
          <a:p>
            <a:pPr marL="0" indent="0" algn="just">
              <a:lnSpc>
                <a:spcPct val="90000"/>
              </a:lnSpc>
              <a:buNone/>
            </a:pPr>
            <a:r>
              <a:rPr lang="en-US" sz="2200" dirty="0"/>
              <a:t>The sum of two negative numbers is a negative number. We ignore the carry bit.</a:t>
            </a:r>
            <a:endParaRPr lang="en-US" sz="2200" b="1" dirty="0"/>
          </a:p>
          <a:p>
            <a:pPr marL="0" indent="0" algn="just">
              <a:lnSpc>
                <a:spcPct val="90000"/>
              </a:lnSpc>
              <a:buFontTx/>
              <a:buNone/>
            </a:pPr>
            <a:r>
              <a:rPr lang="en-US" sz="2200" b="1" dirty="0"/>
              <a:t>Example: </a:t>
            </a:r>
            <a:r>
              <a:rPr lang="en-US" sz="2200" dirty="0"/>
              <a:t>11111101   (-3)</a:t>
            </a:r>
          </a:p>
          <a:p>
            <a:pPr marL="0" indent="0" algn="just">
              <a:lnSpc>
                <a:spcPct val="90000"/>
              </a:lnSpc>
              <a:buFontTx/>
              <a:buNone/>
            </a:pPr>
            <a:r>
              <a:rPr lang="en-US" sz="2200" dirty="0"/>
              <a:t>             +  11111110   (-2)</a:t>
            </a:r>
          </a:p>
          <a:p>
            <a:pPr marL="0" indent="0" algn="just">
              <a:lnSpc>
                <a:spcPct val="90000"/>
              </a:lnSpc>
              <a:buFontTx/>
              <a:buNone/>
            </a:pPr>
            <a:r>
              <a:rPr lang="en-US" sz="2200" dirty="0"/>
              <a:t>               </a:t>
            </a:r>
            <a:r>
              <a:rPr lang="en-US" sz="2200" b="1" dirty="0">
                <a:solidFill>
                  <a:srgbClr val="FF0000"/>
                </a:solidFill>
              </a:rPr>
              <a:t>1</a:t>
            </a:r>
            <a:r>
              <a:rPr lang="en-US" sz="2200" b="1" u="sng" dirty="0"/>
              <a:t>1</a:t>
            </a:r>
            <a:r>
              <a:rPr lang="en-US" sz="2200" dirty="0"/>
              <a:t>1111011   (-5)</a:t>
            </a:r>
          </a:p>
        </p:txBody>
      </p:sp>
      <p:sp>
        <p:nvSpPr>
          <p:cNvPr id="10245" name="Line 4"/>
          <p:cNvSpPr>
            <a:spLocks noChangeShapeType="1"/>
          </p:cNvSpPr>
          <p:nvPr/>
        </p:nvSpPr>
        <p:spPr bwMode="auto">
          <a:xfrm>
            <a:off x="1420999" y="2403475"/>
            <a:ext cx="1308100" cy="0"/>
          </a:xfrm>
          <a:prstGeom prst="line">
            <a:avLst/>
          </a:prstGeom>
          <a:noFill/>
          <a:ln w="9525">
            <a:solidFill>
              <a:schemeClr val="tx1"/>
            </a:solidFill>
            <a:round/>
            <a:headEnd/>
            <a:tailEnd/>
          </a:ln>
        </p:spPr>
        <p:txBody>
          <a:bodyPr lIns="36000" tIns="36000" rIns="36000" bIns="36000"/>
          <a:lstStyle/>
          <a:p>
            <a:endParaRPr lang="tr-TR"/>
          </a:p>
        </p:txBody>
      </p:sp>
      <p:sp>
        <p:nvSpPr>
          <p:cNvPr id="10246" name="Line 5"/>
          <p:cNvSpPr>
            <a:spLocks noChangeShapeType="1"/>
          </p:cNvSpPr>
          <p:nvPr/>
        </p:nvSpPr>
        <p:spPr bwMode="auto">
          <a:xfrm>
            <a:off x="1435761" y="4160930"/>
            <a:ext cx="1308100" cy="0"/>
          </a:xfrm>
          <a:prstGeom prst="line">
            <a:avLst/>
          </a:prstGeom>
          <a:noFill/>
          <a:ln w="9525">
            <a:solidFill>
              <a:schemeClr val="tx1"/>
            </a:solidFill>
            <a:round/>
            <a:headEnd/>
            <a:tailEnd/>
          </a:ln>
        </p:spPr>
        <p:txBody>
          <a:bodyPr lIns="36000" tIns="36000" rIns="36000" bIns="36000"/>
          <a:lstStyle/>
          <a:p>
            <a:endParaRPr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3 Altbilgi Yer Tutucusu"/>
          <p:cNvSpPr>
            <a:spLocks noGrp="1"/>
          </p:cNvSpPr>
          <p:nvPr>
            <p:ph type="ftr" sz="quarter" idx="10"/>
          </p:nvPr>
        </p:nvSpPr>
        <p:spPr>
          <a:noFill/>
        </p:spPr>
        <p:txBody>
          <a:bodyPr/>
          <a:lstStyle/>
          <a:p>
            <a:r>
              <a:rPr lang="en-US" dirty="0"/>
              <a:t>Logic Circuits</a:t>
            </a:r>
          </a:p>
        </p:txBody>
      </p:sp>
      <p:sp>
        <p:nvSpPr>
          <p:cNvPr id="11267" name="Rectangle 2"/>
          <p:cNvSpPr>
            <a:spLocks noGrp="1" noChangeArrowheads="1"/>
          </p:cNvSpPr>
          <p:nvPr>
            <p:ph type="title"/>
          </p:nvPr>
        </p:nvSpPr>
        <p:spPr/>
        <p:txBody>
          <a:bodyPr/>
          <a:lstStyle/>
          <a:p>
            <a:r>
              <a:rPr lang="en-US" sz="2400" b="1" dirty="0"/>
              <a:t>Arithmetic Operations on Signed Numbers</a:t>
            </a:r>
            <a:endParaRPr lang="tr-TR" sz="2400" b="1" dirty="0"/>
          </a:p>
        </p:txBody>
      </p:sp>
      <p:sp>
        <p:nvSpPr>
          <p:cNvPr id="11268" name="Rectangle 3"/>
          <p:cNvSpPr>
            <a:spLocks noGrp="1" noChangeArrowheads="1"/>
          </p:cNvSpPr>
          <p:nvPr>
            <p:ph type="body" idx="1"/>
          </p:nvPr>
        </p:nvSpPr>
        <p:spPr>
          <a:xfrm>
            <a:off x="317500" y="941388"/>
            <a:ext cx="8375650" cy="5078412"/>
          </a:xfrm>
        </p:spPr>
        <p:txBody>
          <a:bodyPr/>
          <a:lstStyle/>
          <a:p>
            <a:pPr marL="0" indent="0" algn="just">
              <a:lnSpc>
                <a:spcPct val="80000"/>
              </a:lnSpc>
              <a:buNone/>
              <a:tabLst>
                <a:tab pos="984250" algn="l"/>
              </a:tabLst>
            </a:pPr>
            <a:r>
              <a:rPr lang="en-US" sz="2200" dirty="0"/>
              <a:t>When adding signed numbers, any carry bit is ignored. However, there are two exceptional cases: when both numbers are positive, but the sign bit is 1, and when both numbers are negative, but the sign bit is 0. In both cases, an overflow has occurred, indicating that an additional bit is needed to represent the sum.</a:t>
            </a:r>
          </a:p>
          <a:p>
            <a:pPr marL="0" indent="0" algn="just">
              <a:lnSpc>
                <a:spcPct val="80000"/>
              </a:lnSpc>
              <a:buNone/>
              <a:tabLst>
                <a:tab pos="984250" algn="l"/>
              </a:tabLst>
            </a:pPr>
            <a:endParaRPr lang="en-US" sz="2200" dirty="0"/>
          </a:p>
          <a:p>
            <a:pPr marL="0" indent="0" algn="just">
              <a:lnSpc>
                <a:spcPct val="80000"/>
              </a:lnSpc>
              <a:buNone/>
              <a:tabLst>
                <a:tab pos="984250" algn="l"/>
              </a:tabLst>
            </a:pPr>
            <a:r>
              <a:rPr lang="en-US" sz="2200" b="1" dirty="0"/>
              <a:t>Example</a:t>
            </a:r>
            <a:r>
              <a:rPr lang="tr-TR" sz="2200" b="1" dirty="0"/>
              <a:t>: 0</a:t>
            </a:r>
            <a:r>
              <a:rPr lang="tr-TR" sz="2200" dirty="0"/>
              <a:t>1101110   (110)</a:t>
            </a:r>
          </a:p>
          <a:p>
            <a:pPr marL="0" indent="0" algn="just">
              <a:lnSpc>
                <a:spcPct val="80000"/>
              </a:lnSpc>
              <a:buFontTx/>
              <a:buNone/>
              <a:tabLst>
                <a:tab pos="984250" algn="l"/>
              </a:tabLst>
            </a:pPr>
            <a:r>
              <a:rPr lang="en-US" sz="2200" dirty="0"/>
              <a:t>    </a:t>
            </a:r>
            <a:r>
              <a:rPr lang="tr-TR" sz="2200" dirty="0"/>
              <a:t>         +  </a:t>
            </a:r>
            <a:r>
              <a:rPr lang="tr-TR" sz="2200" b="1" dirty="0"/>
              <a:t>0</a:t>
            </a:r>
            <a:r>
              <a:rPr lang="tr-TR" sz="2200" dirty="0"/>
              <a:t>0011001    ( 25)</a:t>
            </a:r>
          </a:p>
          <a:p>
            <a:pPr marL="0" indent="0" algn="just">
              <a:lnSpc>
                <a:spcPct val="80000"/>
              </a:lnSpc>
              <a:buFontTx/>
              <a:buNone/>
              <a:tabLst>
                <a:tab pos="984250" algn="l"/>
              </a:tabLst>
            </a:pPr>
            <a:r>
              <a:rPr lang="tr-TR" sz="2200" dirty="0"/>
              <a:t>             </a:t>
            </a:r>
            <a:r>
              <a:rPr lang="en-US" sz="2200" dirty="0"/>
              <a:t>    </a:t>
            </a:r>
            <a:r>
              <a:rPr lang="tr-TR" sz="2200" b="1" dirty="0"/>
              <a:t>1</a:t>
            </a:r>
            <a:r>
              <a:rPr lang="tr-TR" sz="2200" dirty="0"/>
              <a:t>0000111   (</a:t>
            </a:r>
            <a:r>
              <a:rPr lang="en-US" sz="2200" dirty="0"/>
              <a:t>overflow</a:t>
            </a:r>
            <a:r>
              <a:rPr lang="tr-TR" sz="2200" dirty="0"/>
              <a:t>)</a:t>
            </a:r>
          </a:p>
          <a:p>
            <a:pPr marL="0" indent="0" algn="just">
              <a:lnSpc>
                <a:spcPct val="80000"/>
              </a:lnSpc>
              <a:buFontTx/>
              <a:buNone/>
              <a:tabLst>
                <a:tab pos="984250" algn="l"/>
              </a:tabLst>
            </a:pPr>
            <a:endParaRPr lang="tr-TR" sz="1000" dirty="0"/>
          </a:p>
          <a:p>
            <a:pPr marL="0" indent="0" algn="just">
              <a:lnSpc>
                <a:spcPct val="80000"/>
              </a:lnSpc>
              <a:buFontTx/>
              <a:buNone/>
              <a:tabLst>
                <a:tab pos="984250" algn="l"/>
              </a:tabLst>
            </a:pPr>
            <a:r>
              <a:rPr lang="en-US" sz="2200" dirty="0"/>
              <a:t>Subtraction of signed numbers is simply a variation of addition. We convert the number to be subtracted into its two's complement form and then add the two numbers.</a:t>
            </a:r>
            <a:endParaRPr lang="tr-TR" sz="2200" dirty="0"/>
          </a:p>
          <a:p>
            <a:pPr marL="0" indent="0" algn="just">
              <a:lnSpc>
                <a:spcPct val="80000"/>
              </a:lnSpc>
              <a:buFontTx/>
              <a:buNone/>
              <a:tabLst>
                <a:tab pos="984250" algn="l"/>
              </a:tabLst>
            </a:pPr>
            <a:r>
              <a:rPr lang="en-US" sz="2200" b="1" dirty="0"/>
              <a:t>Example</a:t>
            </a:r>
            <a:r>
              <a:rPr lang="tr-TR" sz="2200" b="1" dirty="0"/>
              <a:t>:  </a:t>
            </a:r>
            <a:r>
              <a:rPr lang="tr-TR" sz="2200" dirty="0"/>
              <a:t>8-3 </a:t>
            </a:r>
            <a:r>
              <a:rPr lang="en-US" sz="2200" dirty="0"/>
              <a:t>operation is performed as</a:t>
            </a:r>
            <a:r>
              <a:rPr lang="tr-TR" sz="2200" dirty="0"/>
              <a:t> 8+(-3).</a:t>
            </a:r>
          </a:p>
          <a:p>
            <a:pPr marL="0" indent="0" algn="just">
              <a:lnSpc>
                <a:spcPct val="80000"/>
              </a:lnSpc>
              <a:buFontTx/>
              <a:buNone/>
              <a:tabLst>
                <a:tab pos="984250" algn="l"/>
              </a:tabLst>
            </a:pPr>
            <a:r>
              <a:rPr lang="tr-TR" sz="2200" dirty="0"/>
              <a:t>	 00001000    (8)</a:t>
            </a:r>
          </a:p>
          <a:p>
            <a:pPr marL="0" indent="0" algn="just">
              <a:lnSpc>
                <a:spcPct val="80000"/>
              </a:lnSpc>
              <a:buFontTx/>
              <a:buNone/>
              <a:tabLst>
                <a:tab pos="984250" algn="l"/>
              </a:tabLst>
            </a:pPr>
            <a:r>
              <a:rPr lang="tr-TR" sz="2200" dirty="0"/>
              <a:t>            + 11111101   (-3)</a:t>
            </a:r>
            <a:endParaRPr lang="tr-TR" sz="2200" b="1" dirty="0"/>
          </a:p>
          <a:p>
            <a:pPr marL="0" indent="0" algn="just">
              <a:lnSpc>
                <a:spcPct val="80000"/>
              </a:lnSpc>
              <a:buFontTx/>
              <a:buNone/>
              <a:tabLst>
                <a:tab pos="984250" algn="l"/>
              </a:tabLst>
            </a:pPr>
            <a:r>
              <a:rPr lang="tr-TR" sz="2200" b="1" dirty="0"/>
              <a:t>             1</a:t>
            </a:r>
            <a:r>
              <a:rPr lang="tr-TR" sz="2200" b="1" u="sng" dirty="0"/>
              <a:t>0</a:t>
            </a:r>
            <a:r>
              <a:rPr lang="tr-TR" sz="2200" dirty="0"/>
              <a:t>0000101    (5)</a:t>
            </a:r>
          </a:p>
        </p:txBody>
      </p:sp>
      <p:sp>
        <p:nvSpPr>
          <p:cNvPr id="11269" name="Line 4"/>
          <p:cNvSpPr>
            <a:spLocks noChangeShapeType="1"/>
          </p:cNvSpPr>
          <p:nvPr/>
        </p:nvSpPr>
        <p:spPr bwMode="auto">
          <a:xfrm>
            <a:off x="1410355" y="3331042"/>
            <a:ext cx="1308100" cy="0"/>
          </a:xfrm>
          <a:prstGeom prst="line">
            <a:avLst/>
          </a:prstGeom>
          <a:noFill/>
          <a:ln w="9525">
            <a:solidFill>
              <a:schemeClr val="tx1"/>
            </a:solidFill>
            <a:round/>
            <a:headEnd/>
            <a:tailEnd/>
          </a:ln>
        </p:spPr>
        <p:txBody>
          <a:bodyPr lIns="36000" tIns="36000" rIns="36000" bIns="36000"/>
          <a:lstStyle/>
          <a:p>
            <a:endParaRPr lang="tr-TR"/>
          </a:p>
        </p:txBody>
      </p:sp>
      <p:sp>
        <p:nvSpPr>
          <p:cNvPr id="11270" name="Line 5"/>
          <p:cNvSpPr>
            <a:spLocks noChangeShapeType="1"/>
          </p:cNvSpPr>
          <p:nvPr/>
        </p:nvSpPr>
        <p:spPr bwMode="auto">
          <a:xfrm>
            <a:off x="1252538" y="5700619"/>
            <a:ext cx="1308100" cy="0"/>
          </a:xfrm>
          <a:prstGeom prst="line">
            <a:avLst/>
          </a:prstGeom>
          <a:noFill/>
          <a:ln w="9525">
            <a:solidFill>
              <a:schemeClr val="tx1"/>
            </a:solidFill>
            <a:round/>
            <a:headEnd/>
            <a:tailEnd/>
          </a:ln>
        </p:spPr>
        <p:txBody>
          <a:bodyPr lIns="36000" tIns="36000" rIns="36000" bIns="36000"/>
          <a:lstStyle/>
          <a:p>
            <a:endParaRPr lang="tr-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3 Altbilgi Yer Tutucusu"/>
          <p:cNvSpPr>
            <a:spLocks noGrp="1"/>
          </p:cNvSpPr>
          <p:nvPr>
            <p:ph type="ftr" sz="quarter" idx="10"/>
          </p:nvPr>
        </p:nvSpPr>
        <p:spPr>
          <a:noFill/>
        </p:spPr>
        <p:txBody>
          <a:bodyPr/>
          <a:lstStyle/>
          <a:p>
            <a:r>
              <a:rPr lang="en-US" dirty="0"/>
              <a:t>Logic Circuits</a:t>
            </a:r>
          </a:p>
        </p:txBody>
      </p:sp>
      <p:sp>
        <p:nvSpPr>
          <p:cNvPr id="12291" name="Rectangle 2"/>
          <p:cNvSpPr>
            <a:spLocks noGrp="1" noChangeArrowheads="1"/>
          </p:cNvSpPr>
          <p:nvPr>
            <p:ph type="title"/>
          </p:nvPr>
        </p:nvSpPr>
        <p:spPr/>
        <p:txBody>
          <a:bodyPr/>
          <a:lstStyle/>
          <a:p>
            <a:r>
              <a:rPr lang="en-US" dirty="0"/>
              <a:t>Multiplication</a:t>
            </a:r>
            <a:endParaRPr lang="tr-TR" dirty="0"/>
          </a:p>
        </p:txBody>
      </p:sp>
      <p:sp>
        <p:nvSpPr>
          <p:cNvPr id="12292" name="Rectangle 3"/>
          <p:cNvSpPr>
            <a:spLocks noGrp="1" noChangeArrowheads="1"/>
          </p:cNvSpPr>
          <p:nvPr>
            <p:ph type="body" idx="1"/>
          </p:nvPr>
        </p:nvSpPr>
        <p:spPr>
          <a:xfrm>
            <a:off x="317500" y="996950"/>
            <a:ext cx="8375650" cy="5078413"/>
          </a:xfrm>
        </p:spPr>
        <p:txBody>
          <a:bodyPr/>
          <a:lstStyle/>
          <a:p>
            <a:pPr marL="0" indent="0" algn="just">
              <a:lnSpc>
                <a:spcPct val="80000"/>
              </a:lnSpc>
              <a:buFontTx/>
              <a:buNone/>
            </a:pPr>
            <a:r>
              <a:rPr lang="en-US" sz="2000" dirty="0"/>
              <a:t>Multiplication</a:t>
            </a:r>
            <a:r>
              <a:rPr lang="en-US" sz="2000" b="1" dirty="0"/>
              <a:t> </a:t>
            </a:r>
            <a:r>
              <a:rPr lang="en-US" sz="2000" dirty="0"/>
              <a:t>can be performed by adding the number to itself as many times as necessary.</a:t>
            </a:r>
            <a:r>
              <a:rPr lang="en-US" sz="2000" b="1" dirty="0"/>
              <a:t> </a:t>
            </a:r>
            <a:r>
              <a:rPr lang="en-US" sz="2000" dirty="0"/>
              <a:t>For example, </a:t>
            </a:r>
            <a:r>
              <a:rPr lang="tr-TR" sz="2000" dirty="0"/>
              <a:t>4×2 </a:t>
            </a:r>
            <a:r>
              <a:rPr lang="en-US" sz="2000" dirty="0"/>
              <a:t>is considered as </a:t>
            </a:r>
            <a:r>
              <a:rPr lang="tr-TR" sz="2000" dirty="0"/>
              <a:t>4+4.</a:t>
            </a:r>
            <a:r>
              <a:rPr lang="en-US" sz="2000" dirty="0"/>
              <a:t> When the multiplier value is large, it becomes tedious, so the partial product method is used.</a:t>
            </a:r>
          </a:p>
          <a:p>
            <a:pPr marL="0" indent="0" algn="just">
              <a:lnSpc>
                <a:spcPct val="80000"/>
              </a:lnSpc>
              <a:buNone/>
            </a:pPr>
            <a:endParaRPr lang="en-US" sz="2000" dirty="0"/>
          </a:p>
          <a:p>
            <a:pPr marL="0" indent="0" algn="just">
              <a:lnSpc>
                <a:spcPct val="80000"/>
              </a:lnSpc>
              <a:buNone/>
            </a:pPr>
            <a:r>
              <a:rPr lang="en-US" sz="2000" dirty="0"/>
              <a:t>First, it is checked whether the multiplicand and the multiplier have the same sign, and the sign of the result is determined.</a:t>
            </a:r>
          </a:p>
          <a:p>
            <a:pPr marL="0" indent="0" algn="just">
              <a:lnSpc>
                <a:spcPct val="80000"/>
              </a:lnSpc>
              <a:buNone/>
            </a:pPr>
            <a:endParaRPr lang="en-US" sz="2000" dirty="0"/>
          </a:p>
          <a:p>
            <a:pPr marL="0" indent="0" algn="just">
              <a:lnSpc>
                <a:spcPct val="80000"/>
              </a:lnSpc>
              <a:buNone/>
            </a:pPr>
            <a:r>
              <a:rPr lang="en-US" sz="2000" dirty="0"/>
              <a:t>Then, we convert negative numbers to positive.</a:t>
            </a:r>
          </a:p>
          <a:p>
            <a:pPr marL="0" indent="0" algn="just">
              <a:lnSpc>
                <a:spcPct val="80000"/>
              </a:lnSpc>
              <a:buNone/>
            </a:pPr>
            <a:endParaRPr lang="en-US" sz="2000" dirty="0"/>
          </a:p>
          <a:p>
            <a:pPr marL="0" indent="0" algn="just">
              <a:lnSpc>
                <a:spcPct val="80000"/>
              </a:lnSpc>
              <a:buNone/>
            </a:pPr>
            <a:r>
              <a:rPr lang="en-US" sz="2000" dirty="0"/>
              <a:t>Then, starting from LSB of the first number, partial products are obtained. If the multiplier is 1, the multiplicand itself is used; if it is 0, a partial product of 0 is obtained. Each partial product is shifted left by one.</a:t>
            </a:r>
          </a:p>
          <a:p>
            <a:pPr marL="0" indent="0" algn="just">
              <a:lnSpc>
                <a:spcPct val="80000"/>
              </a:lnSpc>
              <a:buNone/>
            </a:pPr>
            <a:endParaRPr lang="en-US" sz="2000" dirty="0"/>
          </a:p>
          <a:p>
            <a:pPr marL="0" indent="0" algn="just">
              <a:lnSpc>
                <a:spcPct val="80000"/>
              </a:lnSpc>
              <a:buNone/>
            </a:pPr>
            <a:r>
              <a:rPr lang="en-US" sz="2000" dirty="0"/>
              <a:t>All partial products are summed to obtain the final product.</a:t>
            </a:r>
          </a:p>
          <a:p>
            <a:pPr marL="0" indent="0" algn="just">
              <a:lnSpc>
                <a:spcPct val="80000"/>
              </a:lnSpc>
              <a:buNone/>
            </a:pPr>
            <a:endParaRPr lang="tr-TR" sz="2000" dirty="0"/>
          </a:p>
          <a:p>
            <a:pPr marL="0" indent="0" algn="just">
              <a:lnSpc>
                <a:spcPct val="80000"/>
              </a:lnSpc>
              <a:buNone/>
            </a:pPr>
            <a:r>
              <a:rPr lang="en-US" sz="2000" dirty="0"/>
              <a:t>Then, from the first step, if the product must be negative, we convert the number to two’s complement form. If the product must be positive, we leave the result as it is. Then we add a sign bit to the left.</a:t>
            </a:r>
            <a:endParaRPr lang="tr-T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Altbilgi Yer Tutucusu"/>
          <p:cNvSpPr>
            <a:spLocks noGrp="1"/>
          </p:cNvSpPr>
          <p:nvPr>
            <p:ph type="ftr" sz="quarter" idx="10"/>
          </p:nvPr>
        </p:nvSpPr>
        <p:spPr>
          <a:noFill/>
        </p:spPr>
        <p:txBody>
          <a:bodyPr/>
          <a:lstStyle/>
          <a:p>
            <a:r>
              <a:rPr lang="en-US" dirty="0"/>
              <a:t>Logic Circuits</a:t>
            </a:r>
          </a:p>
        </p:txBody>
      </p:sp>
      <p:sp>
        <p:nvSpPr>
          <p:cNvPr id="13315" name="Rectangle 2"/>
          <p:cNvSpPr>
            <a:spLocks noGrp="1" noChangeArrowheads="1"/>
          </p:cNvSpPr>
          <p:nvPr>
            <p:ph type="title"/>
          </p:nvPr>
        </p:nvSpPr>
        <p:spPr/>
        <p:txBody>
          <a:bodyPr/>
          <a:lstStyle/>
          <a:p>
            <a:r>
              <a:rPr lang="en-US" sz="2400" dirty="0"/>
              <a:t>Multiplication</a:t>
            </a:r>
            <a:endParaRPr lang="tr-TR" dirty="0"/>
          </a:p>
        </p:txBody>
      </p:sp>
      <p:sp>
        <p:nvSpPr>
          <p:cNvPr id="13316" name="Rectangle 3"/>
          <p:cNvSpPr>
            <a:spLocks noGrp="1" noChangeArrowheads="1"/>
          </p:cNvSpPr>
          <p:nvPr>
            <p:ph type="body" idx="1"/>
          </p:nvPr>
        </p:nvSpPr>
        <p:spPr>
          <a:xfrm>
            <a:off x="317500" y="927100"/>
            <a:ext cx="8375650" cy="5078413"/>
          </a:xfrm>
        </p:spPr>
        <p:txBody>
          <a:bodyPr/>
          <a:lstStyle/>
          <a:p>
            <a:pPr marL="0" indent="0" algn="just">
              <a:lnSpc>
                <a:spcPct val="80000"/>
              </a:lnSpc>
              <a:buFontTx/>
              <a:buChar char="-"/>
            </a:pPr>
            <a:endParaRPr lang="tr-TR" sz="1600" dirty="0"/>
          </a:p>
          <a:p>
            <a:pPr marL="0" indent="0">
              <a:lnSpc>
                <a:spcPct val="80000"/>
              </a:lnSpc>
              <a:buFontTx/>
              <a:buNone/>
            </a:pPr>
            <a:r>
              <a:rPr lang="en-US" sz="2000" b="1" dirty="0"/>
              <a:t>Example</a:t>
            </a:r>
            <a:r>
              <a:rPr lang="tr-TR" sz="2000" b="1" dirty="0"/>
              <a:t>: </a:t>
            </a:r>
            <a:r>
              <a:rPr lang="en-US" sz="2000" dirty="0"/>
              <a:t>Let’s calculate </a:t>
            </a:r>
            <a:r>
              <a:rPr lang="tr-TR" sz="2000" dirty="0"/>
              <a:t>25×(-4)</a:t>
            </a:r>
          </a:p>
          <a:p>
            <a:pPr marL="0" indent="0">
              <a:lnSpc>
                <a:spcPct val="80000"/>
              </a:lnSpc>
              <a:buFontTx/>
              <a:buNone/>
            </a:pPr>
            <a:r>
              <a:rPr lang="tr-TR" sz="2000" dirty="0"/>
              <a:t>	 11001</a:t>
            </a:r>
          </a:p>
          <a:p>
            <a:pPr marL="0" indent="0">
              <a:lnSpc>
                <a:spcPct val="80000"/>
              </a:lnSpc>
              <a:buFontTx/>
              <a:buNone/>
            </a:pPr>
            <a:r>
              <a:rPr lang="tr-TR" sz="2000" dirty="0"/>
              <a:t>	×  100	-4</a:t>
            </a:r>
            <a:r>
              <a:rPr lang="en-US" sz="2000" dirty="0"/>
              <a:t> converted to 4</a:t>
            </a:r>
            <a:endParaRPr lang="tr-TR" sz="2000" b="1" dirty="0"/>
          </a:p>
          <a:p>
            <a:pPr marL="0" indent="0">
              <a:lnSpc>
                <a:spcPct val="80000"/>
              </a:lnSpc>
              <a:buFontTx/>
              <a:buNone/>
            </a:pPr>
            <a:r>
              <a:rPr lang="tr-TR" sz="2000" b="1" dirty="0"/>
              <a:t> 	</a:t>
            </a:r>
            <a:r>
              <a:rPr lang="tr-TR" sz="2000" dirty="0"/>
              <a:t>00000	</a:t>
            </a:r>
            <a:r>
              <a:rPr lang="en-US" sz="2000" dirty="0"/>
              <a:t>1</a:t>
            </a:r>
            <a:r>
              <a:rPr lang="en-US" sz="2000" baseline="30000" dirty="0"/>
              <a:t>st</a:t>
            </a:r>
            <a:r>
              <a:rPr lang="en-US" sz="2000" dirty="0"/>
              <a:t> partial product</a:t>
            </a:r>
            <a:endParaRPr lang="tr-TR" sz="2000" dirty="0"/>
          </a:p>
          <a:p>
            <a:pPr marL="0" indent="0">
              <a:lnSpc>
                <a:spcPct val="80000"/>
              </a:lnSpc>
              <a:buFontTx/>
              <a:buNone/>
            </a:pPr>
            <a:r>
              <a:rPr lang="tr-TR" sz="2000" dirty="0"/>
              <a:t>         + 00000	</a:t>
            </a:r>
            <a:r>
              <a:rPr lang="en-US" sz="2000" dirty="0"/>
              <a:t>2</a:t>
            </a:r>
            <a:r>
              <a:rPr lang="en-US" sz="2000" baseline="30000" dirty="0"/>
              <a:t>nd</a:t>
            </a:r>
            <a:r>
              <a:rPr lang="en-US" sz="2000" dirty="0"/>
              <a:t> partial product (shifted left by 1 bit)</a:t>
            </a:r>
            <a:endParaRPr lang="tr-TR" sz="2000" dirty="0"/>
          </a:p>
          <a:p>
            <a:pPr marL="0" indent="0">
              <a:lnSpc>
                <a:spcPct val="80000"/>
              </a:lnSpc>
              <a:buFontTx/>
              <a:buNone/>
            </a:pPr>
            <a:r>
              <a:rPr lang="tr-TR" sz="2000" dirty="0"/>
              <a:t>            000000	</a:t>
            </a:r>
            <a:r>
              <a:rPr lang="en-US" sz="2000" dirty="0"/>
              <a:t>subtotal</a:t>
            </a:r>
            <a:endParaRPr lang="tr-TR" sz="2000" dirty="0"/>
          </a:p>
          <a:p>
            <a:pPr marL="0" indent="0">
              <a:lnSpc>
                <a:spcPct val="80000"/>
              </a:lnSpc>
              <a:buFontTx/>
              <a:buNone/>
            </a:pPr>
            <a:r>
              <a:rPr lang="tr-TR" sz="2000" dirty="0"/>
              <a:t>       + 11001	</a:t>
            </a:r>
            <a:r>
              <a:rPr lang="en-US" sz="2000" dirty="0"/>
              <a:t>3</a:t>
            </a:r>
            <a:r>
              <a:rPr lang="en-US" sz="2000" baseline="30000" dirty="0"/>
              <a:t>rd</a:t>
            </a:r>
            <a:r>
              <a:rPr lang="en-US" sz="2000" dirty="0"/>
              <a:t> partial product (shifted left by 2 bits)</a:t>
            </a:r>
            <a:endParaRPr lang="tr-TR" sz="2000" dirty="0"/>
          </a:p>
          <a:p>
            <a:pPr marL="0" indent="0">
              <a:lnSpc>
                <a:spcPct val="80000"/>
              </a:lnSpc>
              <a:buFontTx/>
              <a:buNone/>
            </a:pPr>
            <a:r>
              <a:rPr lang="tr-TR" sz="2000" dirty="0"/>
              <a:t>          1100100	</a:t>
            </a:r>
            <a:r>
              <a:rPr lang="en-US" sz="2000" dirty="0"/>
              <a:t>absolute value of the product</a:t>
            </a:r>
            <a:endParaRPr lang="tr-TR" sz="2000" dirty="0"/>
          </a:p>
        </p:txBody>
      </p:sp>
      <p:sp>
        <p:nvSpPr>
          <p:cNvPr id="13317" name="Line 4"/>
          <p:cNvSpPr>
            <a:spLocks noChangeShapeType="1"/>
          </p:cNvSpPr>
          <p:nvPr/>
        </p:nvSpPr>
        <p:spPr bwMode="auto">
          <a:xfrm>
            <a:off x="1379538" y="2082800"/>
            <a:ext cx="528637" cy="0"/>
          </a:xfrm>
          <a:prstGeom prst="line">
            <a:avLst/>
          </a:prstGeom>
          <a:noFill/>
          <a:ln w="9525">
            <a:solidFill>
              <a:schemeClr val="tx1"/>
            </a:solidFill>
            <a:round/>
            <a:headEnd/>
            <a:tailEnd/>
          </a:ln>
        </p:spPr>
        <p:txBody>
          <a:bodyPr lIns="36000" tIns="36000" rIns="36000" bIns="36000"/>
          <a:lstStyle/>
          <a:p>
            <a:endParaRPr lang="tr-TR"/>
          </a:p>
        </p:txBody>
      </p:sp>
      <p:sp>
        <p:nvSpPr>
          <p:cNvPr id="13318" name="Line 5"/>
          <p:cNvSpPr>
            <a:spLocks noChangeShapeType="1"/>
          </p:cNvSpPr>
          <p:nvPr/>
        </p:nvSpPr>
        <p:spPr bwMode="auto">
          <a:xfrm>
            <a:off x="1166813" y="2687638"/>
            <a:ext cx="703262" cy="0"/>
          </a:xfrm>
          <a:prstGeom prst="line">
            <a:avLst/>
          </a:prstGeom>
          <a:noFill/>
          <a:ln w="9525">
            <a:solidFill>
              <a:schemeClr val="tx1"/>
            </a:solidFill>
            <a:round/>
            <a:headEnd/>
            <a:tailEnd/>
          </a:ln>
        </p:spPr>
        <p:txBody>
          <a:bodyPr lIns="36000" tIns="36000" rIns="36000" bIns="36000"/>
          <a:lstStyle/>
          <a:p>
            <a:endParaRPr lang="tr-TR"/>
          </a:p>
        </p:txBody>
      </p:sp>
      <p:sp>
        <p:nvSpPr>
          <p:cNvPr id="13319" name="Line 6"/>
          <p:cNvSpPr>
            <a:spLocks noChangeShapeType="1"/>
          </p:cNvSpPr>
          <p:nvPr/>
        </p:nvSpPr>
        <p:spPr bwMode="auto">
          <a:xfrm>
            <a:off x="941388" y="3290888"/>
            <a:ext cx="927100" cy="0"/>
          </a:xfrm>
          <a:prstGeom prst="line">
            <a:avLst/>
          </a:prstGeom>
          <a:noFill/>
          <a:ln w="9525">
            <a:solidFill>
              <a:schemeClr val="tx1"/>
            </a:solidFill>
            <a:round/>
            <a:headEnd/>
            <a:tailEnd/>
          </a:ln>
        </p:spPr>
        <p:txBody>
          <a:bodyPr lIns="36000" tIns="36000" rIns="36000" bIns="36000"/>
          <a:lstStyle/>
          <a:p>
            <a:endParaRPr lang="tr-TR"/>
          </a:p>
        </p:txBody>
      </p:sp>
      <p:sp>
        <p:nvSpPr>
          <p:cNvPr id="13320" name="Text Box 7"/>
          <p:cNvSpPr txBox="1">
            <a:spLocks noChangeArrowheads="1"/>
          </p:cNvSpPr>
          <p:nvPr/>
        </p:nvSpPr>
        <p:spPr bwMode="auto">
          <a:xfrm>
            <a:off x="506413" y="3978275"/>
            <a:ext cx="8047037" cy="1919363"/>
          </a:xfrm>
          <a:prstGeom prst="rect">
            <a:avLst/>
          </a:prstGeom>
          <a:noFill/>
          <a:ln w="9525">
            <a:noFill/>
            <a:miter lim="800000"/>
            <a:headEnd/>
            <a:tailEnd/>
          </a:ln>
        </p:spPr>
        <p:txBody>
          <a:bodyPr lIns="36000" tIns="36000" rIns="36000" bIns="36000">
            <a:spAutoFit/>
          </a:bodyPr>
          <a:lstStyle/>
          <a:p>
            <a:pPr algn="just"/>
            <a:r>
              <a:rPr lang="en-US" sz="2000" b="0" dirty="0"/>
              <a:t>Since the product must be negative, we convert the result to two’s complement form.</a:t>
            </a:r>
            <a:endParaRPr lang="tr-TR" sz="2000" b="0" dirty="0"/>
          </a:p>
          <a:p>
            <a:pPr algn="just"/>
            <a:endParaRPr lang="tr-TR" sz="2000" b="0" dirty="0"/>
          </a:p>
          <a:p>
            <a:pPr algn="just"/>
            <a:r>
              <a:rPr lang="en-US" sz="2000" b="0" dirty="0"/>
              <a:t>Two’s complement of </a:t>
            </a:r>
            <a:r>
              <a:rPr lang="tr-TR" sz="2000" b="0" dirty="0"/>
              <a:t>1100100</a:t>
            </a:r>
            <a:r>
              <a:rPr lang="tr-TR" sz="2000" b="0" baseline="-25000" dirty="0"/>
              <a:t>2</a:t>
            </a:r>
            <a:r>
              <a:rPr lang="en-US" sz="2000" b="0" baseline="-25000" dirty="0"/>
              <a:t> </a:t>
            </a:r>
            <a:r>
              <a:rPr lang="en-US" sz="2000" b="0" dirty="0"/>
              <a:t>is </a:t>
            </a:r>
            <a:r>
              <a:rPr lang="tr-TR" sz="2000" b="0" dirty="0"/>
              <a:t>0011100</a:t>
            </a:r>
            <a:r>
              <a:rPr lang="tr-TR" sz="2000" b="0" baseline="-25000" dirty="0"/>
              <a:t>2</a:t>
            </a:r>
            <a:r>
              <a:rPr lang="en-US" sz="2000" b="0" dirty="0"/>
              <a:t>.</a:t>
            </a:r>
          </a:p>
          <a:p>
            <a:pPr algn="just"/>
            <a:endParaRPr lang="en-US" sz="2000" b="0" dirty="0"/>
          </a:p>
          <a:p>
            <a:pPr algn="just"/>
            <a:r>
              <a:rPr lang="en-US" sz="2000" b="0" dirty="0"/>
              <a:t>Eventually, we add a sign bit and get the final product: </a:t>
            </a:r>
            <a:r>
              <a:rPr lang="en-US" sz="2000" b="0" dirty="0">
                <a:solidFill>
                  <a:srgbClr val="FF0000"/>
                </a:solidFill>
              </a:rPr>
              <a:t>1</a:t>
            </a:r>
            <a:r>
              <a:rPr lang="tr-TR" sz="2000" b="0" dirty="0"/>
              <a:t>0011100</a:t>
            </a:r>
            <a:r>
              <a:rPr lang="tr-TR" sz="2000" b="0" baseline="-25000" dirty="0"/>
              <a:t>2</a:t>
            </a:r>
            <a:r>
              <a:rPr lang="en-US" sz="2000" b="0" dirty="0"/>
              <a:t>.</a:t>
            </a:r>
            <a:endParaRPr lang="tr-TR" sz="20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Altbilgi Yer Tutucusu"/>
          <p:cNvSpPr>
            <a:spLocks noGrp="1"/>
          </p:cNvSpPr>
          <p:nvPr>
            <p:ph type="ftr" sz="quarter" idx="10"/>
          </p:nvPr>
        </p:nvSpPr>
        <p:spPr>
          <a:noFill/>
        </p:spPr>
        <p:txBody>
          <a:bodyPr/>
          <a:lstStyle/>
          <a:p>
            <a:r>
              <a:rPr lang="en-US" dirty="0"/>
              <a:t>Logic Circuits</a:t>
            </a:r>
          </a:p>
        </p:txBody>
      </p:sp>
      <p:sp>
        <p:nvSpPr>
          <p:cNvPr id="14339" name="Rectangle 2"/>
          <p:cNvSpPr>
            <a:spLocks noGrp="1" noChangeArrowheads="1"/>
          </p:cNvSpPr>
          <p:nvPr>
            <p:ph type="title"/>
          </p:nvPr>
        </p:nvSpPr>
        <p:spPr/>
        <p:txBody>
          <a:bodyPr/>
          <a:lstStyle/>
          <a:p>
            <a:r>
              <a:rPr lang="en-US" sz="2400" b="1" dirty="0"/>
              <a:t>Division</a:t>
            </a:r>
            <a:endParaRPr lang="tr-TR" sz="2400" b="1" dirty="0"/>
          </a:p>
        </p:txBody>
      </p:sp>
      <p:sp>
        <p:nvSpPr>
          <p:cNvPr id="14340" name="Rectangle 3"/>
          <p:cNvSpPr>
            <a:spLocks noGrp="1" noChangeArrowheads="1"/>
          </p:cNvSpPr>
          <p:nvPr>
            <p:ph type="body" idx="1"/>
          </p:nvPr>
        </p:nvSpPr>
        <p:spPr>
          <a:xfrm>
            <a:off x="331788" y="984250"/>
            <a:ext cx="8375650" cy="5078413"/>
          </a:xfrm>
        </p:spPr>
        <p:txBody>
          <a:bodyPr/>
          <a:lstStyle/>
          <a:p>
            <a:pPr marL="0" indent="0" algn="just">
              <a:lnSpc>
                <a:spcPct val="80000"/>
              </a:lnSpc>
              <a:buFontTx/>
              <a:buNone/>
            </a:pPr>
            <a:r>
              <a:rPr lang="en-US" sz="2200" b="1" dirty="0"/>
              <a:t>Division</a:t>
            </a:r>
            <a:r>
              <a:rPr lang="tr-TR" sz="2200" dirty="0"/>
              <a:t> </a:t>
            </a:r>
            <a:r>
              <a:rPr lang="en-US" sz="2200" dirty="0"/>
              <a:t>can be performed with subtraction</a:t>
            </a:r>
            <a:r>
              <a:rPr lang="tr-TR" sz="2200" dirty="0"/>
              <a:t>. </a:t>
            </a:r>
            <a:r>
              <a:rPr lang="en-US" sz="2200" dirty="0"/>
              <a:t>As we know, subtraction is performed by addition</a:t>
            </a:r>
            <a:r>
              <a:rPr lang="tr-TR" sz="2200" dirty="0"/>
              <a:t>.</a:t>
            </a:r>
            <a:r>
              <a:rPr lang="en-US" sz="2200" dirty="0"/>
              <a:t> So, division can also be performed by addition. The quotient can be calculated by subtracting the divisor from the dividend multiple times</a:t>
            </a:r>
            <a:r>
              <a:rPr lang="tr-TR" sz="2200" dirty="0"/>
              <a:t>.</a:t>
            </a:r>
            <a:r>
              <a:rPr lang="en-US" sz="2200" dirty="0"/>
              <a:t> The number of subtraction operations gives us the quotient. We do the division operation as follows:</a:t>
            </a:r>
            <a:endParaRPr lang="tr-TR" sz="2200" dirty="0"/>
          </a:p>
          <a:p>
            <a:pPr marL="0" indent="0" algn="just">
              <a:lnSpc>
                <a:spcPct val="80000"/>
              </a:lnSpc>
              <a:buFontTx/>
              <a:buNone/>
            </a:pPr>
            <a:r>
              <a:rPr lang="tr-TR" sz="2200" dirty="0"/>
              <a:t>-</a:t>
            </a:r>
            <a:r>
              <a:rPr lang="en-US" sz="2200" dirty="0"/>
              <a:t> First, we check both numbers have the same sign and detect the sign of the result.</a:t>
            </a:r>
          </a:p>
          <a:p>
            <a:pPr marL="0" indent="0" algn="just">
              <a:lnSpc>
                <a:spcPct val="80000"/>
              </a:lnSpc>
              <a:buFontTx/>
              <a:buNone/>
            </a:pPr>
            <a:r>
              <a:rPr lang="tr-TR" sz="2200" b="1" dirty="0"/>
              <a:t>- </a:t>
            </a:r>
            <a:r>
              <a:rPr lang="en-US" sz="2200" dirty="0"/>
              <a:t>Then, we convert negative numbers to positive.</a:t>
            </a:r>
            <a:endParaRPr lang="tr-TR" sz="2200" dirty="0"/>
          </a:p>
          <a:p>
            <a:pPr marL="0" indent="0" algn="just">
              <a:lnSpc>
                <a:spcPct val="80000"/>
              </a:lnSpc>
              <a:buFontTx/>
              <a:buNone/>
            </a:pPr>
            <a:r>
              <a:rPr lang="tr-TR" sz="2200" dirty="0"/>
              <a:t>- </a:t>
            </a:r>
            <a:r>
              <a:rPr lang="en-US" sz="2200" dirty="0"/>
              <a:t>Then, we assign 0 to quotient.</a:t>
            </a:r>
            <a:endParaRPr lang="tr-TR" sz="2200" dirty="0"/>
          </a:p>
          <a:p>
            <a:pPr marL="0" indent="0" algn="just">
              <a:lnSpc>
                <a:spcPct val="80000"/>
              </a:lnSpc>
              <a:buFontTx/>
              <a:buNone/>
            </a:pPr>
            <a:r>
              <a:rPr lang="tr-TR" sz="2200" dirty="0"/>
              <a:t>-</a:t>
            </a:r>
            <a:r>
              <a:rPr lang="en-US" sz="2200" dirty="0"/>
              <a:t> Then, we subtract the divisor from the dividend.</a:t>
            </a:r>
            <a:r>
              <a:rPr lang="tr-TR" sz="2200" dirty="0"/>
              <a:t> </a:t>
            </a:r>
            <a:r>
              <a:rPr lang="en-US" sz="2200" dirty="0"/>
              <a:t>We get the partial remainder and increase quotient by 1.</a:t>
            </a:r>
            <a:r>
              <a:rPr lang="tr-TR" sz="2200" dirty="0"/>
              <a:t> </a:t>
            </a:r>
            <a:r>
              <a:rPr lang="en-US" sz="2200" dirty="0"/>
              <a:t>If the partial remainder is negative, then the division is considered as complete. If the partial remainder is positive, we proceed to the next step</a:t>
            </a:r>
            <a:r>
              <a:rPr lang="tr-TR" sz="2200" dirty="0"/>
              <a:t>.</a:t>
            </a:r>
          </a:p>
          <a:p>
            <a:pPr marL="0" indent="0" algn="just">
              <a:lnSpc>
                <a:spcPct val="80000"/>
              </a:lnSpc>
              <a:buFontTx/>
              <a:buNone/>
            </a:pPr>
            <a:r>
              <a:rPr lang="tr-TR" sz="2200" dirty="0"/>
              <a:t>- </a:t>
            </a:r>
            <a:r>
              <a:rPr lang="en-US" sz="2200" dirty="0"/>
              <a:t>We subtract the divisor from the partial remainder and increase quotient by 1. If the result is positive, then we repeat the same operation with the next partial remainder. If the result is 0 or negative, then the operation is considered as complete.</a:t>
            </a:r>
            <a:endParaRPr lang="tr-TR"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Altbilgi Yer Tutucusu"/>
          <p:cNvSpPr>
            <a:spLocks noGrp="1"/>
          </p:cNvSpPr>
          <p:nvPr>
            <p:ph type="ftr" sz="quarter" idx="10"/>
          </p:nvPr>
        </p:nvSpPr>
        <p:spPr>
          <a:noFill/>
        </p:spPr>
        <p:txBody>
          <a:bodyPr/>
          <a:lstStyle/>
          <a:p>
            <a:r>
              <a:rPr lang="en-US" dirty="0"/>
              <a:t>Logic Circuits</a:t>
            </a:r>
          </a:p>
        </p:txBody>
      </p:sp>
      <p:sp>
        <p:nvSpPr>
          <p:cNvPr id="15363" name="Rectangle 2"/>
          <p:cNvSpPr>
            <a:spLocks noGrp="1" noChangeArrowheads="1"/>
          </p:cNvSpPr>
          <p:nvPr>
            <p:ph type="title"/>
          </p:nvPr>
        </p:nvSpPr>
        <p:spPr/>
        <p:txBody>
          <a:bodyPr/>
          <a:lstStyle/>
          <a:p>
            <a:r>
              <a:rPr lang="en-US" sz="2400" b="1" dirty="0"/>
              <a:t>Division Example</a:t>
            </a:r>
            <a:endParaRPr lang="tr-TR" sz="2400" b="1" dirty="0"/>
          </a:p>
        </p:txBody>
      </p:sp>
      <p:sp>
        <p:nvSpPr>
          <p:cNvPr id="15364" name="Rectangle 3"/>
          <p:cNvSpPr>
            <a:spLocks noGrp="1" noChangeArrowheads="1"/>
          </p:cNvSpPr>
          <p:nvPr>
            <p:ph type="body" idx="1"/>
          </p:nvPr>
        </p:nvSpPr>
        <p:spPr>
          <a:xfrm>
            <a:off x="374650" y="930275"/>
            <a:ext cx="8375650" cy="5470525"/>
          </a:xfrm>
        </p:spPr>
        <p:txBody>
          <a:bodyPr/>
          <a:lstStyle/>
          <a:p>
            <a:pPr marL="0" indent="0" algn="just">
              <a:lnSpc>
                <a:spcPct val="80000"/>
              </a:lnSpc>
              <a:buFontTx/>
              <a:buNone/>
            </a:pPr>
            <a:r>
              <a:rPr lang="en-US" sz="2000" b="1" dirty="0"/>
              <a:t>Example</a:t>
            </a:r>
            <a:r>
              <a:rPr lang="tr-TR" sz="2000" b="1" dirty="0"/>
              <a:t>: </a:t>
            </a:r>
            <a:r>
              <a:rPr lang="en-US" sz="2000" dirty="0"/>
              <a:t>Let’s do the operation </a:t>
            </a:r>
            <a:r>
              <a:rPr lang="tr-TR" sz="2000" dirty="0"/>
              <a:t>25/6</a:t>
            </a:r>
            <a:r>
              <a:rPr lang="en-US" sz="2000" dirty="0"/>
              <a:t>.</a:t>
            </a:r>
            <a:endParaRPr lang="tr-TR" sz="2000" dirty="0"/>
          </a:p>
          <a:p>
            <a:pPr marL="0" indent="0" algn="just">
              <a:lnSpc>
                <a:spcPct val="80000"/>
              </a:lnSpc>
              <a:buFontTx/>
              <a:buNone/>
            </a:pPr>
            <a:r>
              <a:rPr lang="en-US" sz="2000" dirty="0"/>
              <a:t>Since both numbers are positive, the result should be positive.</a:t>
            </a:r>
            <a:endParaRPr lang="tr-TR" sz="2000" dirty="0"/>
          </a:p>
          <a:p>
            <a:pPr marL="0" indent="0" algn="just">
              <a:lnSpc>
                <a:spcPct val="80000"/>
              </a:lnSpc>
              <a:buFontTx/>
              <a:buNone/>
            </a:pPr>
            <a:endParaRPr lang="tr-TR" sz="1000" dirty="0"/>
          </a:p>
          <a:p>
            <a:pPr marL="0" indent="0" algn="just">
              <a:lnSpc>
                <a:spcPct val="80000"/>
              </a:lnSpc>
              <a:buFontTx/>
              <a:buNone/>
            </a:pPr>
            <a:r>
              <a:rPr lang="tr-TR" sz="2000" dirty="0"/>
              <a:t>25 = 00011001</a:t>
            </a:r>
            <a:r>
              <a:rPr lang="tr-TR" sz="2000" baseline="-25000" dirty="0"/>
              <a:t>2</a:t>
            </a:r>
            <a:r>
              <a:rPr lang="tr-TR" sz="2000" dirty="0"/>
              <a:t> </a:t>
            </a:r>
            <a:r>
              <a:rPr lang="en-US" sz="2000" dirty="0"/>
              <a:t>and </a:t>
            </a:r>
            <a:r>
              <a:rPr lang="tr-TR" sz="2000" dirty="0"/>
              <a:t>6 = 00000110</a:t>
            </a:r>
            <a:r>
              <a:rPr lang="tr-TR" sz="2000" baseline="-25000" dirty="0"/>
              <a:t>2</a:t>
            </a:r>
          </a:p>
          <a:p>
            <a:pPr marL="0" indent="0" algn="just">
              <a:lnSpc>
                <a:spcPct val="80000"/>
              </a:lnSpc>
              <a:buFontTx/>
              <a:buNone/>
            </a:pPr>
            <a:r>
              <a:rPr lang="en-US" sz="2000" dirty="0"/>
              <a:t>We assign 0 to quotient and subtract the divisor from the dividend.</a:t>
            </a:r>
            <a:endParaRPr lang="tr-TR" sz="2000" dirty="0"/>
          </a:p>
          <a:p>
            <a:pPr marL="0" indent="0" algn="just">
              <a:lnSpc>
                <a:spcPct val="80000"/>
              </a:lnSpc>
              <a:buFontTx/>
              <a:buNone/>
            </a:pPr>
            <a:r>
              <a:rPr lang="tr-TR" sz="2000" dirty="0"/>
              <a:t>              00011001</a:t>
            </a:r>
            <a:endParaRPr lang="tr-TR" sz="2000" b="1" dirty="0"/>
          </a:p>
          <a:p>
            <a:pPr marL="0" indent="0" algn="just">
              <a:lnSpc>
                <a:spcPct val="80000"/>
              </a:lnSpc>
              <a:buFontTx/>
              <a:buNone/>
            </a:pPr>
            <a:r>
              <a:rPr lang="tr-TR" sz="2000" b="1" dirty="0"/>
              <a:t>          + </a:t>
            </a:r>
            <a:r>
              <a:rPr lang="tr-TR" sz="2000" dirty="0"/>
              <a:t>11111010   (</a:t>
            </a:r>
            <a:r>
              <a:rPr lang="en-US" sz="2000" dirty="0"/>
              <a:t>Two’s complement form of 6</a:t>
            </a:r>
            <a:r>
              <a:rPr lang="tr-TR" sz="2000" dirty="0"/>
              <a:t>)</a:t>
            </a:r>
          </a:p>
          <a:p>
            <a:pPr marL="0" indent="0" algn="just">
              <a:lnSpc>
                <a:spcPct val="80000"/>
              </a:lnSpc>
              <a:buFontTx/>
              <a:buNone/>
            </a:pPr>
            <a:r>
              <a:rPr lang="tr-TR" sz="2000" dirty="0"/>
              <a:t>           </a:t>
            </a:r>
            <a:r>
              <a:rPr lang="tr-TR" sz="2000" b="1" dirty="0"/>
              <a:t>1</a:t>
            </a:r>
            <a:r>
              <a:rPr lang="tr-TR" sz="2000" dirty="0"/>
              <a:t>00010011  (</a:t>
            </a:r>
            <a:r>
              <a:rPr lang="en-US" sz="2000" dirty="0"/>
              <a:t>carry bit is ignored</a:t>
            </a:r>
            <a:r>
              <a:rPr lang="tr-TR" sz="2000" dirty="0"/>
              <a:t>) </a:t>
            </a:r>
            <a:r>
              <a:rPr lang="en-US" sz="2000" dirty="0"/>
              <a:t>Since partial remainder is positive;</a:t>
            </a:r>
            <a:r>
              <a:rPr lang="tr-TR" sz="2000" dirty="0"/>
              <a:t>							</a:t>
            </a:r>
            <a:r>
              <a:rPr lang="tr-TR" sz="2000" dirty="0">
                <a:solidFill>
                  <a:srgbClr val="FF0000"/>
                </a:solidFill>
              </a:rPr>
              <a:t>  </a:t>
            </a:r>
            <a:r>
              <a:rPr lang="en-US" sz="2000" dirty="0">
                <a:solidFill>
                  <a:srgbClr val="FF0000"/>
                </a:solidFill>
              </a:rPr>
              <a:t>quotient</a:t>
            </a:r>
            <a:r>
              <a:rPr lang="tr-TR" sz="2000" dirty="0">
                <a:solidFill>
                  <a:srgbClr val="FF0000"/>
                </a:solidFill>
              </a:rPr>
              <a:t>=0+1=1</a:t>
            </a:r>
          </a:p>
          <a:p>
            <a:pPr marL="0" indent="0" algn="just">
              <a:lnSpc>
                <a:spcPct val="80000"/>
              </a:lnSpc>
              <a:buFontTx/>
              <a:buNone/>
            </a:pPr>
            <a:r>
              <a:rPr lang="en-US" sz="2000" dirty="0"/>
              <a:t>We subtract the divisor from the partial remainder.</a:t>
            </a:r>
            <a:endParaRPr lang="tr-TR" sz="2000" dirty="0"/>
          </a:p>
          <a:p>
            <a:pPr marL="0" indent="0" algn="just">
              <a:lnSpc>
                <a:spcPct val="80000"/>
              </a:lnSpc>
              <a:buFontTx/>
              <a:buNone/>
            </a:pPr>
            <a:r>
              <a:rPr lang="tr-TR" sz="2000" dirty="0"/>
              <a:t>	00010011</a:t>
            </a:r>
          </a:p>
          <a:p>
            <a:pPr marL="0" indent="0" algn="just">
              <a:lnSpc>
                <a:spcPct val="80000"/>
              </a:lnSpc>
              <a:buFontTx/>
              <a:buNone/>
            </a:pPr>
            <a:r>
              <a:rPr lang="tr-TR" sz="2000" dirty="0"/>
              <a:t>           + 11111010</a:t>
            </a:r>
          </a:p>
          <a:p>
            <a:pPr marL="0" indent="0" algn="just">
              <a:lnSpc>
                <a:spcPct val="80000"/>
              </a:lnSpc>
              <a:buFontTx/>
              <a:buNone/>
            </a:pPr>
            <a:r>
              <a:rPr lang="tr-TR" sz="2000" dirty="0"/>
              <a:t>            </a:t>
            </a:r>
            <a:r>
              <a:rPr lang="tr-TR" sz="2000" b="1" dirty="0"/>
              <a:t>1</a:t>
            </a:r>
            <a:r>
              <a:rPr lang="tr-TR" sz="2000" dirty="0"/>
              <a:t>00001101 (</a:t>
            </a:r>
            <a:r>
              <a:rPr lang="en-US" sz="2000" dirty="0"/>
              <a:t>carry bit is ignored</a:t>
            </a:r>
            <a:r>
              <a:rPr lang="tr-TR" sz="2000" dirty="0"/>
              <a:t>) </a:t>
            </a:r>
            <a:r>
              <a:rPr lang="en-US" sz="2000" dirty="0"/>
              <a:t>Since partial remainder is positive;</a:t>
            </a:r>
            <a:r>
              <a:rPr lang="tr-TR" sz="2000" dirty="0"/>
              <a:t> </a:t>
            </a:r>
            <a:r>
              <a:rPr lang="en-US" sz="2000" dirty="0"/>
              <a:t> </a:t>
            </a:r>
            <a:r>
              <a:rPr lang="tr-TR" sz="2000" dirty="0"/>
              <a:t>							 </a:t>
            </a:r>
            <a:r>
              <a:rPr lang="en-US" sz="2000" dirty="0"/>
              <a:t> </a:t>
            </a:r>
            <a:r>
              <a:rPr lang="en-US" sz="2000" dirty="0">
                <a:solidFill>
                  <a:srgbClr val="FF0000"/>
                </a:solidFill>
              </a:rPr>
              <a:t>quotient</a:t>
            </a:r>
            <a:r>
              <a:rPr lang="tr-TR" sz="2000" dirty="0">
                <a:solidFill>
                  <a:srgbClr val="FF0000"/>
                </a:solidFill>
              </a:rPr>
              <a:t>=1+1=2</a:t>
            </a:r>
          </a:p>
          <a:p>
            <a:pPr marL="0" indent="0" algn="just">
              <a:lnSpc>
                <a:spcPct val="80000"/>
              </a:lnSpc>
              <a:buFontTx/>
              <a:buNone/>
            </a:pPr>
            <a:r>
              <a:rPr lang="en-US" sz="2000" dirty="0"/>
              <a:t>We subtract the divisor from the partial remainder again.</a:t>
            </a:r>
            <a:endParaRPr lang="tr-TR" sz="2000" dirty="0"/>
          </a:p>
          <a:p>
            <a:pPr marL="0" indent="0" algn="just">
              <a:lnSpc>
                <a:spcPct val="80000"/>
              </a:lnSpc>
              <a:buFontTx/>
              <a:buNone/>
            </a:pPr>
            <a:r>
              <a:rPr lang="tr-TR" sz="2000" dirty="0"/>
              <a:t>	00001101</a:t>
            </a:r>
          </a:p>
          <a:p>
            <a:pPr marL="0" indent="0" algn="just">
              <a:lnSpc>
                <a:spcPct val="80000"/>
              </a:lnSpc>
              <a:buFontTx/>
              <a:buNone/>
            </a:pPr>
            <a:r>
              <a:rPr lang="tr-TR" sz="2000" dirty="0"/>
              <a:t>           + 11111010</a:t>
            </a:r>
            <a:endParaRPr lang="tr-TR" sz="2000" b="1" dirty="0"/>
          </a:p>
          <a:p>
            <a:pPr marL="0" indent="0" algn="just">
              <a:lnSpc>
                <a:spcPct val="80000"/>
              </a:lnSpc>
              <a:buFontTx/>
              <a:buNone/>
            </a:pPr>
            <a:r>
              <a:rPr lang="tr-TR" sz="2000" b="1" dirty="0"/>
              <a:t>            1</a:t>
            </a:r>
            <a:r>
              <a:rPr lang="tr-TR" sz="2000" dirty="0"/>
              <a:t>00000111 (</a:t>
            </a:r>
            <a:r>
              <a:rPr lang="en-US" sz="2000" dirty="0"/>
              <a:t>carry bit is ignored</a:t>
            </a:r>
            <a:r>
              <a:rPr lang="tr-TR" sz="2000" dirty="0"/>
              <a:t>) </a:t>
            </a:r>
            <a:r>
              <a:rPr lang="en-US" sz="2000" dirty="0"/>
              <a:t>Since partial remainder is positive;</a:t>
            </a:r>
            <a:r>
              <a:rPr lang="tr-TR" sz="2000" dirty="0"/>
              <a:t>							 </a:t>
            </a:r>
            <a:r>
              <a:rPr lang="en-US" sz="2000" dirty="0">
                <a:solidFill>
                  <a:srgbClr val="FF0000"/>
                </a:solidFill>
              </a:rPr>
              <a:t>quotient </a:t>
            </a:r>
            <a:r>
              <a:rPr lang="tr-TR" sz="2000" dirty="0">
                <a:solidFill>
                  <a:srgbClr val="FF0000"/>
                </a:solidFill>
              </a:rPr>
              <a:t>=2+1=3</a:t>
            </a:r>
          </a:p>
        </p:txBody>
      </p:sp>
      <p:sp>
        <p:nvSpPr>
          <p:cNvPr id="15365" name="Line 4"/>
          <p:cNvSpPr>
            <a:spLocks noChangeShapeType="1"/>
          </p:cNvSpPr>
          <p:nvPr/>
        </p:nvSpPr>
        <p:spPr bwMode="auto">
          <a:xfrm>
            <a:off x="1198563" y="2913063"/>
            <a:ext cx="1125537" cy="0"/>
          </a:xfrm>
          <a:prstGeom prst="line">
            <a:avLst/>
          </a:prstGeom>
          <a:noFill/>
          <a:ln w="9525">
            <a:solidFill>
              <a:schemeClr val="tx1"/>
            </a:solidFill>
            <a:round/>
            <a:headEnd/>
            <a:tailEnd/>
          </a:ln>
        </p:spPr>
        <p:txBody>
          <a:bodyPr lIns="36000" tIns="36000" rIns="36000" bIns="36000"/>
          <a:lstStyle/>
          <a:p>
            <a:endParaRPr lang="tr-TR"/>
          </a:p>
        </p:txBody>
      </p:sp>
      <p:sp>
        <p:nvSpPr>
          <p:cNvPr id="15366" name="Line 5"/>
          <p:cNvSpPr>
            <a:spLocks noChangeShapeType="1"/>
          </p:cNvSpPr>
          <p:nvPr/>
        </p:nvSpPr>
        <p:spPr bwMode="auto">
          <a:xfrm>
            <a:off x="1222375" y="4365625"/>
            <a:ext cx="1125538" cy="0"/>
          </a:xfrm>
          <a:prstGeom prst="line">
            <a:avLst/>
          </a:prstGeom>
          <a:noFill/>
          <a:ln w="9525">
            <a:solidFill>
              <a:schemeClr val="tx1"/>
            </a:solidFill>
            <a:round/>
            <a:headEnd/>
            <a:tailEnd/>
          </a:ln>
        </p:spPr>
        <p:txBody>
          <a:bodyPr lIns="36000" tIns="36000" rIns="36000" bIns="36000"/>
          <a:lstStyle/>
          <a:p>
            <a:endParaRPr lang="tr-TR"/>
          </a:p>
        </p:txBody>
      </p:sp>
      <p:sp>
        <p:nvSpPr>
          <p:cNvPr id="15367" name="Line 6"/>
          <p:cNvSpPr>
            <a:spLocks noChangeShapeType="1"/>
          </p:cNvSpPr>
          <p:nvPr/>
        </p:nvSpPr>
        <p:spPr bwMode="auto">
          <a:xfrm>
            <a:off x="1223963" y="5843588"/>
            <a:ext cx="1125537" cy="0"/>
          </a:xfrm>
          <a:prstGeom prst="line">
            <a:avLst/>
          </a:prstGeom>
          <a:noFill/>
          <a:ln w="9525">
            <a:solidFill>
              <a:schemeClr val="tx1"/>
            </a:solidFill>
            <a:round/>
            <a:headEnd/>
            <a:tailEnd/>
          </a:ln>
        </p:spPr>
        <p:txBody>
          <a:bodyPr lIns="36000" tIns="36000" rIns="36000" bIns="36000"/>
          <a:lstStyle/>
          <a:p>
            <a:endParaRPr lang="tr-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Altbilgi Yer Tutucusu"/>
          <p:cNvSpPr>
            <a:spLocks noGrp="1"/>
          </p:cNvSpPr>
          <p:nvPr>
            <p:ph type="ftr" sz="quarter" idx="10"/>
          </p:nvPr>
        </p:nvSpPr>
        <p:spPr>
          <a:noFill/>
        </p:spPr>
        <p:txBody>
          <a:bodyPr/>
          <a:lstStyle/>
          <a:p>
            <a:r>
              <a:rPr lang="en-US" dirty="0"/>
              <a:t>Logic Circuits</a:t>
            </a:r>
          </a:p>
        </p:txBody>
      </p:sp>
      <p:sp>
        <p:nvSpPr>
          <p:cNvPr id="16387" name="Rectangle 2"/>
          <p:cNvSpPr>
            <a:spLocks noGrp="1" noChangeArrowheads="1"/>
          </p:cNvSpPr>
          <p:nvPr>
            <p:ph type="title"/>
          </p:nvPr>
        </p:nvSpPr>
        <p:spPr>
          <a:xfrm>
            <a:off x="368300" y="190500"/>
            <a:ext cx="7772400" cy="790575"/>
          </a:xfrm>
        </p:spPr>
        <p:txBody>
          <a:bodyPr/>
          <a:lstStyle/>
          <a:p>
            <a:r>
              <a:rPr lang="en-US" sz="2400" b="1" dirty="0"/>
              <a:t>Division Example</a:t>
            </a:r>
            <a:r>
              <a:rPr lang="tr-TR" sz="2400" b="1" dirty="0"/>
              <a:t> (</a:t>
            </a:r>
            <a:r>
              <a:rPr lang="en-US" sz="2400" b="1" dirty="0"/>
              <a:t>Continuing</a:t>
            </a:r>
            <a:r>
              <a:rPr lang="tr-TR" sz="2400" b="1" dirty="0"/>
              <a:t>)</a:t>
            </a:r>
          </a:p>
        </p:txBody>
      </p:sp>
      <p:sp>
        <p:nvSpPr>
          <p:cNvPr id="452611" name="Rectangle 3"/>
          <p:cNvSpPr>
            <a:spLocks noGrp="1" noChangeArrowheads="1"/>
          </p:cNvSpPr>
          <p:nvPr>
            <p:ph type="body" idx="1"/>
          </p:nvPr>
        </p:nvSpPr>
        <p:spPr/>
        <p:txBody>
          <a:bodyPr/>
          <a:lstStyle/>
          <a:p>
            <a:pPr algn="just">
              <a:lnSpc>
                <a:spcPct val="80000"/>
              </a:lnSpc>
              <a:buFontTx/>
              <a:buNone/>
              <a:defRPr/>
            </a:pPr>
            <a:r>
              <a:rPr lang="en-US" sz="2000" dirty="0"/>
              <a:t>We subtract the divisor from the partial remainder again.</a:t>
            </a:r>
            <a:endParaRPr lang="tr-TR" sz="2000" b="1" dirty="0"/>
          </a:p>
          <a:p>
            <a:pPr algn="just">
              <a:lnSpc>
                <a:spcPct val="80000"/>
              </a:lnSpc>
              <a:buFontTx/>
              <a:buNone/>
              <a:defRPr/>
            </a:pPr>
            <a:r>
              <a:rPr lang="tr-TR" sz="2000" b="1" dirty="0"/>
              <a:t>	      </a:t>
            </a:r>
            <a:r>
              <a:rPr lang="tr-TR" sz="2000" dirty="0"/>
              <a:t>00000111</a:t>
            </a:r>
          </a:p>
          <a:p>
            <a:pPr algn="just">
              <a:lnSpc>
                <a:spcPct val="80000"/>
              </a:lnSpc>
              <a:buFontTx/>
              <a:buNone/>
              <a:defRPr/>
            </a:pPr>
            <a:r>
              <a:rPr lang="tr-TR" sz="2000" dirty="0"/>
              <a:t>        + 11111010</a:t>
            </a:r>
            <a:endParaRPr lang="tr-TR" sz="2000" b="1" dirty="0"/>
          </a:p>
          <a:p>
            <a:pPr algn="just">
              <a:lnSpc>
                <a:spcPct val="80000"/>
              </a:lnSpc>
              <a:buFontTx/>
              <a:buNone/>
              <a:defRPr/>
            </a:pPr>
            <a:r>
              <a:rPr lang="tr-TR" sz="2000" b="1" dirty="0"/>
              <a:t>         1</a:t>
            </a:r>
            <a:r>
              <a:rPr lang="tr-TR" sz="2000" dirty="0"/>
              <a:t>00000001 (</a:t>
            </a:r>
            <a:r>
              <a:rPr lang="en-US" sz="2000" dirty="0"/>
              <a:t>carry bit is ignored</a:t>
            </a:r>
            <a:r>
              <a:rPr lang="tr-TR" sz="2000" dirty="0"/>
              <a:t>) </a:t>
            </a:r>
            <a:r>
              <a:rPr lang="en-US" sz="2000" dirty="0"/>
              <a:t>Since partial remainder is positive; </a:t>
            </a:r>
            <a:r>
              <a:rPr lang="tr-TR" sz="2000" dirty="0"/>
              <a:t>							</a:t>
            </a:r>
            <a:r>
              <a:rPr lang="en-US" sz="2000" dirty="0">
                <a:solidFill>
                  <a:srgbClr val="FF0000"/>
                </a:solidFill>
              </a:rPr>
              <a:t>quotient</a:t>
            </a:r>
            <a:r>
              <a:rPr lang="tr-TR" sz="2000" dirty="0">
                <a:solidFill>
                  <a:srgbClr val="FF0000"/>
                </a:solidFill>
              </a:rPr>
              <a:t>=3+1=4</a:t>
            </a:r>
          </a:p>
          <a:p>
            <a:pPr algn="just">
              <a:lnSpc>
                <a:spcPct val="80000"/>
              </a:lnSpc>
              <a:buFontTx/>
              <a:buNone/>
              <a:defRPr/>
            </a:pPr>
            <a:r>
              <a:rPr lang="en-US" sz="2000" dirty="0"/>
              <a:t>We subtract the divisor from the partial remainder again.</a:t>
            </a:r>
            <a:endParaRPr lang="tr-TR" sz="2000" dirty="0"/>
          </a:p>
          <a:p>
            <a:pPr algn="just">
              <a:lnSpc>
                <a:spcPct val="80000"/>
              </a:lnSpc>
              <a:buFontTx/>
              <a:buNone/>
              <a:defRPr/>
            </a:pPr>
            <a:r>
              <a:rPr lang="tr-TR" sz="2000" dirty="0"/>
              <a:t>	      00000001</a:t>
            </a:r>
          </a:p>
          <a:p>
            <a:pPr algn="just">
              <a:lnSpc>
                <a:spcPct val="80000"/>
              </a:lnSpc>
              <a:buFontTx/>
              <a:buNone/>
              <a:defRPr/>
            </a:pPr>
            <a:r>
              <a:rPr lang="tr-TR" sz="2000" dirty="0"/>
              <a:t>        + 11111010</a:t>
            </a:r>
          </a:p>
          <a:p>
            <a:pPr marL="0" indent="0" algn="just">
              <a:lnSpc>
                <a:spcPct val="80000"/>
              </a:lnSpc>
              <a:buFontTx/>
              <a:buNone/>
              <a:defRPr/>
            </a:pPr>
            <a:r>
              <a:rPr lang="tr-TR" sz="2000" dirty="0"/>
              <a:t>           11111011 </a:t>
            </a:r>
            <a:r>
              <a:rPr lang="en-US" sz="2000" dirty="0"/>
              <a:t>There’s no carry bit. The result is negative.</a:t>
            </a:r>
            <a:r>
              <a:rPr lang="tr-TR" sz="2000" dirty="0"/>
              <a:t> </a:t>
            </a:r>
            <a:r>
              <a:rPr lang="en-US" sz="2000" dirty="0"/>
              <a:t>The division is completed.</a:t>
            </a:r>
            <a:r>
              <a:rPr lang="tr-TR" sz="2000" dirty="0"/>
              <a:t> </a:t>
            </a:r>
            <a:r>
              <a:rPr lang="en-US" sz="2000" dirty="0"/>
              <a:t>The result of the division operation is quotient’s current value, which is 4 (</a:t>
            </a:r>
            <a:r>
              <a:rPr lang="tr-TR" sz="2000" dirty="0"/>
              <a:t>00000100</a:t>
            </a:r>
            <a:r>
              <a:rPr lang="tr-TR" sz="2000" baseline="-25000" dirty="0"/>
              <a:t>2</a:t>
            </a:r>
            <a:r>
              <a:rPr lang="tr-TR" sz="2000" dirty="0"/>
              <a:t> </a:t>
            </a:r>
            <a:r>
              <a:rPr lang="en-US" sz="2000" dirty="0"/>
              <a:t>in binary)</a:t>
            </a:r>
            <a:r>
              <a:rPr lang="tr-TR" sz="2000" dirty="0"/>
              <a:t>.</a:t>
            </a:r>
            <a:endParaRPr lang="en-US" sz="2000" dirty="0"/>
          </a:p>
          <a:p>
            <a:pPr marL="0" indent="0" algn="just">
              <a:lnSpc>
                <a:spcPct val="80000"/>
              </a:lnSpc>
              <a:buFontTx/>
              <a:buNone/>
              <a:defRPr/>
            </a:pPr>
            <a:endParaRPr lang="en-US" sz="2000" dirty="0"/>
          </a:p>
          <a:p>
            <a:pPr marL="0" indent="0" algn="just">
              <a:lnSpc>
                <a:spcPct val="80000"/>
              </a:lnSpc>
              <a:buFontTx/>
              <a:buNone/>
              <a:defRPr/>
            </a:pPr>
            <a:r>
              <a:rPr lang="en-US" sz="2000" dirty="0"/>
              <a:t>The remainder is the result of previous subtraction </a:t>
            </a:r>
            <a:r>
              <a:rPr lang="en-US" sz="2000"/>
              <a:t>(attention, not </a:t>
            </a:r>
            <a:r>
              <a:rPr lang="en-US" sz="2000" dirty="0"/>
              <a:t>the last one), which is </a:t>
            </a:r>
            <a:r>
              <a:rPr lang="tr-TR" sz="2000" dirty="0"/>
              <a:t>00000001</a:t>
            </a:r>
            <a:r>
              <a:rPr lang="en-US" sz="2000" baseline="-25000" dirty="0"/>
              <a:t>2</a:t>
            </a:r>
            <a:endParaRPr lang="tr-TR" sz="2000" dirty="0"/>
          </a:p>
        </p:txBody>
      </p:sp>
      <p:sp>
        <p:nvSpPr>
          <p:cNvPr id="16389" name="Line 4"/>
          <p:cNvSpPr>
            <a:spLocks noChangeShapeType="1"/>
          </p:cNvSpPr>
          <p:nvPr/>
        </p:nvSpPr>
        <p:spPr bwMode="auto">
          <a:xfrm>
            <a:off x="1054100" y="2058988"/>
            <a:ext cx="1125538" cy="0"/>
          </a:xfrm>
          <a:prstGeom prst="line">
            <a:avLst/>
          </a:prstGeom>
          <a:noFill/>
          <a:ln w="9525">
            <a:solidFill>
              <a:schemeClr val="tx1"/>
            </a:solidFill>
            <a:round/>
            <a:headEnd/>
            <a:tailEnd/>
          </a:ln>
        </p:spPr>
        <p:txBody>
          <a:bodyPr lIns="36000" tIns="36000" rIns="36000" bIns="36000"/>
          <a:lstStyle/>
          <a:p>
            <a:endParaRPr lang="tr-TR"/>
          </a:p>
        </p:txBody>
      </p:sp>
      <p:sp>
        <p:nvSpPr>
          <p:cNvPr id="16390" name="Line 5"/>
          <p:cNvSpPr>
            <a:spLocks noChangeShapeType="1"/>
          </p:cNvSpPr>
          <p:nvPr/>
        </p:nvSpPr>
        <p:spPr bwMode="auto">
          <a:xfrm>
            <a:off x="1082675" y="3522663"/>
            <a:ext cx="1125538" cy="0"/>
          </a:xfrm>
          <a:prstGeom prst="line">
            <a:avLst/>
          </a:prstGeom>
          <a:noFill/>
          <a:ln w="9525">
            <a:solidFill>
              <a:schemeClr val="tx1"/>
            </a:solidFill>
            <a:round/>
            <a:headEnd/>
            <a:tailEnd/>
          </a:ln>
        </p:spPr>
        <p:txBody>
          <a:bodyPr lIns="36000" tIns="36000" rIns="36000" bIns="36000"/>
          <a:lstStyle/>
          <a:p>
            <a:endParaRPr lang="tr-TR"/>
          </a:p>
        </p:txBody>
      </p:sp>
    </p:spTree>
  </p:cSld>
  <p:clrMapOvr>
    <a:masterClrMapping/>
  </p:clrMapOvr>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11193</TotalTime>
  <Words>1881</Words>
  <Application>Microsoft Office PowerPoint</Application>
  <PresentationFormat>On-screen Show (4:3)</PresentationFormat>
  <Paragraphs>195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Comic Sans MS</vt:lpstr>
      <vt:lpstr>Helvetica</vt:lpstr>
      <vt:lpstr>Times New Roman</vt:lpstr>
      <vt:lpstr>overview</vt:lpstr>
      <vt:lpstr>Number Systems</vt:lpstr>
      <vt:lpstr>Floating Point Numbers</vt:lpstr>
      <vt:lpstr>Normalization</vt:lpstr>
      <vt:lpstr>Biased Exponent</vt:lpstr>
      <vt:lpstr>Floating Point Numbers</vt:lpstr>
      <vt:lpstr>Floating Point Numbers</vt:lpstr>
      <vt:lpstr>Floating Point Numbers</vt:lpstr>
      <vt:lpstr>Arithmetic Operations on Signed Numbers</vt:lpstr>
      <vt:lpstr>Arithmetic Operations on Signed Numbers</vt:lpstr>
      <vt:lpstr>Arithmetic Operations on Signed Numbers</vt:lpstr>
      <vt:lpstr>Multiplication</vt:lpstr>
      <vt:lpstr>Multiplication</vt:lpstr>
      <vt:lpstr>Division</vt:lpstr>
      <vt:lpstr>Division Example</vt:lpstr>
      <vt:lpstr>Division Example (Continuing)</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Sinan İLYAS</cp:lastModifiedBy>
  <cp:revision>289</cp:revision>
  <cp:lastPrinted>2001-01-30T20:22:47Z</cp:lastPrinted>
  <dcterms:created xsi:type="dcterms:W3CDTF">1999-07-07T12:46:17Z</dcterms:created>
  <dcterms:modified xsi:type="dcterms:W3CDTF">2024-10-09T05:36:12Z</dcterms:modified>
</cp:coreProperties>
</file>