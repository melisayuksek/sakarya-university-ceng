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7" r:id="rId1"/>
  </p:sldMasterIdLst>
  <p:notesMasterIdLst>
    <p:notesMasterId r:id="rId21"/>
  </p:notesMasterIdLst>
  <p:handoutMasterIdLst>
    <p:handoutMasterId r:id="rId22"/>
  </p:handoutMasterIdLst>
  <p:sldIdLst>
    <p:sldId id="349" r:id="rId2"/>
    <p:sldId id="348" r:id="rId3"/>
    <p:sldId id="366" r:id="rId4"/>
    <p:sldId id="350" r:id="rId5"/>
    <p:sldId id="351" r:id="rId6"/>
    <p:sldId id="352" r:id="rId7"/>
    <p:sldId id="353" r:id="rId8"/>
    <p:sldId id="354" r:id="rId9"/>
    <p:sldId id="355" r:id="rId10"/>
    <p:sldId id="356" r:id="rId11"/>
    <p:sldId id="357" r:id="rId12"/>
    <p:sldId id="358" r:id="rId13"/>
    <p:sldId id="361" r:id="rId14"/>
    <p:sldId id="362" r:id="rId15"/>
    <p:sldId id="364" r:id="rId16"/>
    <p:sldId id="359" r:id="rId17"/>
    <p:sldId id="360" r:id="rId18"/>
    <p:sldId id="363" r:id="rId19"/>
    <p:sldId id="365" r:id="rId20"/>
  </p:sldIdLst>
  <p:sldSz cx="9144000" cy="6858000" type="screen4x3"/>
  <p:notesSz cx="7315200" cy="9601200"/>
  <p:defaultTextStyle>
    <a:defPPr>
      <a:defRPr lang="en-US"/>
    </a:defPPr>
    <a:lvl1pPr algn="l" rtl="0" fontAlgn="base">
      <a:spcBef>
        <a:spcPct val="0"/>
      </a:spcBef>
      <a:spcAft>
        <a:spcPct val="0"/>
      </a:spcAft>
      <a:defRPr sz="1600" b="1" kern="1200">
        <a:solidFill>
          <a:schemeClr val="tx1"/>
        </a:solidFill>
        <a:latin typeface="Times New Roman" pitchFamily="18" charset="0"/>
        <a:ea typeface="+mn-ea"/>
        <a:cs typeface="+mn-cs"/>
      </a:defRPr>
    </a:lvl1pPr>
    <a:lvl2pPr marL="457200" algn="l" rtl="0" fontAlgn="base">
      <a:spcBef>
        <a:spcPct val="0"/>
      </a:spcBef>
      <a:spcAft>
        <a:spcPct val="0"/>
      </a:spcAft>
      <a:defRPr sz="1600" b="1" kern="1200">
        <a:solidFill>
          <a:schemeClr val="tx1"/>
        </a:solidFill>
        <a:latin typeface="Times New Roman" pitchFamily="18" charset="0"/>
        <a:ea typeface="+mn-ea"/>
        <a:cs typeface="+mn-cs"/>
      </a:defRPr>
    </a:lvl2pPr>
    <a:lvl3pPr marL="914400" algn="l" rtl="0" fontAlgn="base">
      <a:spcBef>
        <a:spcPct val="0"/>
      </a:spcBef>
      <a:spcAft>
        <a:spcPct val="0"/>
      </a:spcAft>
      <a:defRPr sz="1600" b="1" kern="1200">
        <a:solidFill>
          <a:schemeClr val="tx1"/>
        </a:solidFill>
        <a:latin typeface="Times New Roman" pitchFamily="18" charset="0"/>
        <a:ea typeface="+mn-ea"/>
        <a:cs typeface="+mn-cs"/>
      </a:defRPr>
    </a:lvl3pPr>
    <a:lvl4pPr marL="1371600" algn="l" rtl="0" fontAlgn="base">
      <a:spcBef>
        <a:spcPct val="0"/>
      </a:spcBef>
      <a:spcAft>
        <a:spcPct val="0"/>
      </a:spcAft>
      <a:defRPr sz="1600" b="1" kern="1200">
        <a:solidFill>
          <a:schemeClr val="tx1"/>
        </a:solidFill>
        <a:latin typeface="Times New Roman" pitchFamily="18" charset="0"/>
        <a:ea typeface="+mn-ea"/>
        <a:cs typeface="+mn-cs"/>
      </a:defRPr>
    </a:lvl4pPr>
    <a:lvl5pPr marL="1828800" algn="l" rtl="0" fontAlgn="base">
      <a:spcBef>
        <a:spcPct val="0"/>
      </a:spcBef>
      <a:spcAft>
        <a:spcPct val="0"/>
      </a:spcAft>
      <a:defRPr sz="1600" b="1" kern="1200">
        <a:solidFill>
          <a:schemeClr val="tx1"/>
        </a:solidFill>
        <a:latin typeface="Times New Roman" pitchFamily="18" charset="0"/>
        <a:ea typeface="+mn-ea"/>
        <a:cs typeface="+mn-cs"/>
      </a:defRPr>
    </a:lvl5pPr>
    <a:lvl6pPr marL="2286000" algn="l" defTabSz="914400" rtl="0" eaLnBrk="1" latinLnBrk="0" hangingPunct="1">
      <a:defRPr sz="1600" b="1" kern="1200">
        <a:solidFill>
          <a:schemeClr val="tx1"/>
        </a:solidFill>
        <a:latin typeface="Times New Roman" pitchFamily="18" charset="0"/>
        <a:ea typeface="+mn-ea"/>
        <a:cs typeface="+mn-cs"/>
      </a:defRPr>
    </a:lvl6pPr>
    <a:lvl7pPr marL="2743200" algn="l" defTabSz="914400" rtl="0" eaLnBrk="1" latinLnBrk="0" hangingPunct="1">
      <a:defRPr sz="1600" b="1" kern="1200">
        <a:solidFill>
          <a:schemeClr val="tx1"/>
        </a:solidFill>
        <a:latin typeface="Times New Roman" pitchFamily="18" charset="0"/>
        <a:ea typeface="+mn-ea"/>
        <a:cs typeface="+mn-cs"/>
      </a:defRPr>
    </a:lvl7pPr>
    <a:lvl8pPr marL="3200400" algn="l" defTabSz="914400" rtl="0" eaLnBrk="1" latinLnBrk="0" hangingPunct="1">
      <a:defRPr sz="1600" b="1" kern="1200">
        <a:solidFill>
          <a:schemeClr val="tx1"/>
        </a:solidFill>
        <a:latin typeface="Times New Roman" pitchFamily="18" charset="0"/>
        <a:ea typeface="+mn-ea"/>
        <a:cs typeface="+mn-cs"/>
      </a:defRPr>
    </a:lvl8pPr>
    <a:lvl9pPr marL="3657600" algn="l" defTabSz="914400" rtl="0" eaLnBrk="1" latinLnBrk="0" hangingPunct="1">
      <a:defRPr sz="16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A50021"/>
    <a:srgbClr val="9900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5" autoAdjust="0"/>
    <p:restoredTop sz="94660" autoAdjust="0"/>
  </p:normalViewPr>
  <p:slideViewPr>
    <p:cSldViewPr snapToGrid="0">
      <p:cViewPr varScale="1">
        <p:scale>
          <a:sx n="79" d="100"/>
          <a:sy n="79" d="100"/>
        </p:scale>
        <p:origin x="96" y="714"/>
      </p:cViewPr>
      <p:guideLst>
        <p:guide orient="horz" pos="2160"/>
        <p:guide pos="2880"/>
      </p:guideLst>
    </p:cSldViewPr>
  </p:slideViewPr>
  <p:outlineViewPr>
    <p:cViewPr>
      <p:scale>
        <a:sx n="33" d="100"/>
        <a:sy n="33" d="100"/>
      </p:scale>
      <p:origin x="0" y="5574"/>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2" d="100"/>
          <a:sy n="52" d="100"/>
        </p:scale>
        <p:origin x="-178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3189288" cy="471488"/>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defTabSz="954088" eaLnBrk="0" hangingPunct="0">
              <a:defRPr sz="1300" b="0">
                <a:latin typeface="Helvetica" pitchFamily="34" charset="0"/>
              </a:defRPr>
            </a:lvl1pPr>
          </a:lstStyle>
          <a:p>
            <a:pPr>
              <a:defRPr/>
            </a:pPr>
            <a:endParaRPr lang="en-US"/>
          </a:p>
        </p:txBody>
      </p:sp>
      <p:sp>
        <p:nvSpPr>
          <p:cNvPr id="62467" name="Rectangle 3"/>
          <p:cNvSpPr>
            <a:spLocks noGrp="1" noChangeArrowheads="1"/>
          </p:cNvSpPr>
          <p:nvPr>
            <p:ph type="dt" sz="quarter" idx="1"/>
          </p:nvPr>
        </p:nvSpPr>
        <p:spPr bwMode="auto">
          <a:xfrm>
            <a:off x="4148138" y="0"/>
            <a:ext cx="3186112" cy="471488"/>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algn="r" defTabSz="954088" eaLnBrk="0" hangingPunct="0">
              <a:defRPr sz="1300" b="0">
                <a:latin typeface="Helvetica" pitchFamily="34" charset="0"/>
              </a:defRPr>
            </a:lvl1pPr>
          </a:lstStyle>
          <a:p>
            <a:pPr>
              <a:defRPr/>
            </a:pPr>
            <a:endParaRPr lang="en-US"/>
          </a:p>
        </p:txBody>
      </p:sp>
      <p:sp>
        <p:nvSpPr>
          <p:cNvPr id="62468" name="Rectangle 4"/>
          <p:cNvSpPr>
            <a:spLocks noGrp="1" noChangeArrowheads="1"/>
          </p:cNvSpPr>
          <p:nvPr>
            <p:ph type="ftr" sz="quarter" idx="2"/>
          </p:nvPr>
        </p:nvSpPr>
        <p:spPr bwMode="auto">
          <a:xfrm>
            <a:off x="0" y="9145588"/>
            <a:ext cx="3189288" cy="469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defTabSz="954088" eaLnBrk="0" hangingPunct="0">
              <a:defRPr sz="1300" b="0">
                <a:latin typeface="Helvetica" pitchFamily="34" charset="0"/>
              </a:defRPr>
            </a:lvl1pPr>
          </a:lstStyle>
          <a:p>
            <a:pPr>
              <a:defRPr/>
            </a:pPr>
            <a:endParaRPr lang="en-US"/>
          </a:p>
        </p:txBody>
      </p:sp>
      <p:sp>
        <p:nvSpPr>
          <p:cNvPr id="62469" name="Rectangle 5"/>
          <p:cNvSpPr>
            <a:spLocks noGrp="1" noChangeArrowheads="1"/>
          </p:cNvSpPr>
          <p:nvPr>
            <p:ph type="sldNum" sz="quarter" idx="3"/>
          </p:nvPr>
        </p:nvSpPr>
        <p:spPr bwMode="auto">
          <a:xfrm>
            <a:off x="4148138" y="9145588"/>
            <a:ext cx="3186112" cy="469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algn="r" defTabSz="954088" eaLnBrk="0" hangingPunct="0">
              <a:defRPr sz="1300" b="0">
                <a:latin typeface="Helvetica" pitchFamily="34" charset="0"/>
              </a:defRPr>
            </a:lvl1pPr>
          </a:lstStyle>
          <a:p>
            <a:pPr>
              <a:defRPr/>
            </a:pPr>
            <a:fld id="{6938AF29-BB2F-45EA-9EA3-B185EDF5C559}"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67063" cy="477838"/>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defTabSz="969963" eaLnBrk="0" hangingPunct="0">
              <a:defRPr sz="1300" b="0"/>
            </a:lvl1pPr>
          </a:lstStyle>
          <a:p>
            <a:pPr>
              <a:defRPr/>
            </a:pPr>
            <a:endParaRPr lang="en-US"/>
          </a:p>
        </p:txBody>
      </p:sp>
      <p:sp>
        <p:nvSpPr>
          <p:cNvPr id="6147" name="Rectangle 3"/>
          <p:cNvSpPr>
            <a:spLocks noGrp="1" noChangeArrowheads="1"/>
          </p:cNvSpPr>
          <p:nvPr>
            <p:ph type="dt" idx="1"/>
          </p:nvPr>
        </p:nvSpPr>
        <p:spPr bwMode="auto">
          <a:xfrm>
            <a:off x="4148138" y="0"/>
            <a:ext cx="3167062" cy="477838"/>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algn="r" defTabSz="969963" eaLnBrk="0" hangingPunct="0">
              <a:defRPr sz="1300" b="0"/>
            </a:lvl1pPr>
          </a:lstStyle>
          <a:p>
            <a:pPr>
              <a:defRPr/>
            </a:pPr>
            <a:endParaRPr lang="en-US"/>
          </a:p>
        </p:txBody>
      </p:sp>
      <p:sp>
        <p:nvSpPr>
          <p:cNvPr id="19460" name="Rectangle 4"/>
          <p:cNvSpPr>
            <a:spLocks noGrp="1" noRot="1" noChangeAspect="1" noChangeArrowheads="1" noTextEdit="1"/>
          </p:cNvSpPr>
          <p:nvPr>
            <p:ph type="sldImg" idx="2"/>
          </p:nvPr>
        </p:nvSpPr>
        <p:spPr bwMode="auto">
          <a:xfrm>
            <a:off x="1257300" y="720725"/>
            <a:ext cx="4802188" cy="3602038"/>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74725" y="4559300"/>
            <a:ext cx="5365750" cy="4321175"/>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9123363"/>
            <a:ext cx="3167063" cy="477837"/>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defTabSz="969963" eaLnBrk="0" hangingPunct="0">
              <a:defRPr sz="1300" b="0"/>
            </a:lvl1pPr>
          </a:lstStyle>
          <a:p>
            <a:pPr>
              <a:defRPr/>
            </a:pPr>
            <a:endParaRPr lang="en-US"/>
          </a:p>
        </p:txBody>
      </p:sp>
      <p:sp>
        <p:nvSpPr>
          <p:cNvPr id="6151" name="Rectangle 7"/>
          <p:cNvSpPr>
            <a:spLocks noGrp="1" noChangeArrowheads="1"/>
          </p:cNvSpPr>
          <p:nvPr>
            <p:ph type="sldNum" sz="quarter" idx="5"/>
          </p:nvPr>
        </p:nvSpPr>
        <p:spPr bwMode="auto">
          <a:xfrm>
            <a:off x="4148138" y="9123363"/>
            <a:ext cx="3167062" cy="477837"/>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algn="r" defTabSz="969963" eaLnBrk="0" hangingPunct="0">
              <a:defRPr sz="1300" b="0"/>
            </a:lvl1pPr>
          </a:lstStyle>
          <a:p>
            <a:pPr>
              <a:defRPr/>
            </a:pPr>
            <a:fld id="{7212864F-BB03-45BD-8814-53B344414BB5}"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50530" name="Rectangle 2"/>
          <p:cNvSpPr>
            <a:spLocks noGrp="1" noChangeArrowheads="1"/>
          </p:cNvSpPr>
          <p:nvPr>
            <p:ph type="ctrTitle"/>
          </p:nvPr>
        </p:nvSpPr>
        <p:spPr>
          <a:xfrm>
            <a:off x="685800" y="817563"/>
            <a:ext cx="7772400" cy="1614487"/>
          </a:xfrm>
        </p:spPr>
        <p:txBody>
          <a:bodyPr/>
          <a:lstStyle>
            <a:lvl1pPr>
              <a:defRPr sz="4400"/>
            </a:lvl1pPr>
          </a:lstStyle>
          <a:p>
            <a:r>
              <a:rPr lang="en-US"/>
              <a:t>Click to edit Master title style</a:t>
            </a:r>
          </a:p>
        </p:txBody>
      </p:sp>
      <p:sp>
        <p:nvSpPr>
          <p:cNvPr id="150531" name="Rectangle 3"/>
          <p:cNvSpPr>
            <a:spLocks noGrp="1" noChangeArrowheads="1"/>
          </p:cNvSpPr>
          <p:nvPr>
            <p:ph type="subTitle" idx="1"/>
          </p:nvPr>
        </p:nvSpPr>
        <p:spPr>
          <a:xfrm>
            <a:off x="1371600" y="3938588"/>
            <a:ext cx="6400800" cy="1752600"/>
          </a:xfrm>
        </p:spPr>
        <p:txBody>
          <a:bodyPr/>
          <a:lstStyle>
            <a:lvl1pPr marL="0" indent="0" algn="ctr">
              <a:spcBef>
                <a:spcPct val="0"/>
              </a:spcBef>
              <a:buFontTx/>
              <a:buNone/>
              <a:defRPr sz="28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smtClean="0"/>
              <a:t>Logic Circuits</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smtClean="0"/>
              <a:t>Asıl metin stillerini düzenlemek için tıklatın</a:t>
            </a: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374650"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38675"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56388" y="76200"/>
            <a:ext cx="2093912" cy="61436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374650" y="76200"/>
            <a:ext cx="6129338" cy="61436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tr-TR"/>
              <a:t>Mantık Devreleri </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2625" y="76200"/>
            <a:ext cx="7772400" cy="7905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74650" y="1141413"/>
            <a:ext cx="8375650" cy="5078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9509" name="Rectangle 5"/>
          <p:cNvSpPr>
            <a:spLocks noGrp="1" noChangeArrowheads="1"/>
          </p:cNvSpPr>
          <p:nvPr>
            <p:ph type="ftr" sz="quarter" idx="3"/>
          </p:nvPr>
        </p:nvSpPr>
        <p:spPr bwMode="auto">
          <a:xfrm>
            <a:off x="2774950" y="6400800"/>
            <a:ext cx="3276600" cy="457200"/>
          </a:xfrm>
          <a:prstGeom prst="rect">
            <a:avLst/>
          </a:prstGeom>
          <a:noFill/>
          <a:ln w="9525">
            <a:noFill/>
            <a:miter lim="800000"/>
            <a:headEnd/>
            <a:tailEnd/>
          </a:ln>
          <a:effectLst/>
        </p:spPr>
        <p:txBody>
          <a:bodyPr vert="horz" wrap="square" lIns="45720" tIns="45720" rIns="45720" bIns="45720" numCol="1" anchor="ctr" anchorCtr="1" compatLnSpc="1">
            <a:prstTxWarp prst="textNoShape">
              <a:avLst/>
            </a:prstTxWarp>
          </a:bodyPr>
          <a:lstStyle>
            <a:lvl1pPr algn="ctr">
              <a:defRPr sz="1200" b="0" i="1">
                <a:latin typeface="Comic Sans MS" pitchFamily="66" charset="0"/>
              </a:defRPr>
            </a:lvl1pPr>
          </a:lstStyle>
          <a:p>
            <a:pPr>
              <a:defRPr/>
            </a:pPr>
            <a:r>
              <a:rPr lang="tr-TR"/>
              <a:t>Mantık Devreleri </a:t>
            </a:r>
            <a:endParaRPr lang="en-US"/>
          </a:p>
        </p:txBody>
      </p:sp>
      <p:sp>
        <p:nvSpPr>
          <p:cNvPr id="149510" name="Line 6"/>
          <p:cNvSpPr>
            <a:spLocks noChangeShapeType="1"/>
          </p:cNvSpPr>
          <p:nvPr/>
        </p:nvSpPr>
        <p:spPr bwMode="auto">
          <a:xfrm>
            <a:off x="454025" y="881063"/>
            <a:ext cx="8229600" cy="0"/>
          </a:xfrm>
          <a:prstGeom prst="line">
            <a:avLst/>
          </a:prstGeom>
          <a:noFill/>
          <a:ln w="57150" cmpd="thinThick">
            <a:solidFill>
              <a:srgbClr val="000080"/>
            </a:solidFill>
            <a:round/>
            <a:headEnd/>
            <a:tailEnd/>
          </a:ln>
          <a:effectLst/>
        </p:spPr>
        <p:txBody>
          <a:bodyPr wrap="none" anchor="ctr"/>
          <a:lstStyle/>
          <a:p>
            <a:pPr>
              <a:defRPr/>
            </a:pPr>
            <a:endParaRPr lang="tr-TR"/>
          </a:p>
        </p:txBody>
      </p:sp>
      <p:sp>
        <p:nvSpPr>
          <p:cNvPr id="149511" name="Text Box 7"/>
          <p:cNvSpPr txBox="1">
            <a:spLocks noChangeArrowheads="1"/>
          </p:cNvSpPr>
          <p:nvPr/>
        </p:nvSpPr>
        <p:spPr bwMode="auto">
          <a:xfrm>
            <a:off x="8320088" y="6480175"/>
            <a:ext cx="430212" cy="274638"/>
          </a:xfrm>
          <a:prstGeom prst="rect">
            <a:avLst/>
          </a:prstGeom>
          <a:noFill/>
          <a:ln w="57150" cmpd="thinThick">
            <a:noFill/>
            <a:miter lim="800000"/>
            <a:headEnd/>
            <a:tailEnd/>
          </a:ln>
          <a:effectLst/>
        </p:spPr>
        <p:txBody>
          <a:bodyPr lIns="45720" rIns="45720" anchor="ctr" anchorCtr="1"/>
          <a:lstStyle/>
          <a:p>
            <a:pPr>
              <a:defRPr/>
            </a:pPr>
            <a:fld id="{C78EC9ED-23FC-4A8C-A28D-E874E7637DAE}" type="slidenum">
              <a:rPr lang="en-US" sz="1200" b="0">
                <a:latin typeface="Comic Sans MS" pitchFamily="66" charset="0"/>
              </a:rPr>
              <a:pPr>
                <a:defRPr/>
              </a:pPr>
              <a:t>‹#›</a:t>
            </a:fld>
            <a:endParaRPr lang="en-US" sz="1200" b="0">
              <a:latin typeface="Comic Sans MS" pitchFamily="66" charset="0"/>
            </a:endParaRPr>
          </a:p>
        </p:txBody>
      </p:sp>
      <p:sp>
        <p:nvSpPr>
          <p:cNvPr id="149512" name="Rectangle 8"/>
          <p:cNvSpPr>
            <a:spLocks noChangeArrowheads="1"/>
          </p:cNvSpPr>
          <p:nvPr/>
        </p:nvSpPr>
        <p:spPr bwMode="auto">
          <a:xfrm>
            <a:off x="70438" y="6400800"/>
            <a:ext cx="3276600" cy="457200"/>
          </a:xfrm>
          <a:prstGeom prst="rect">
            <a:avLst/>
          </a:prstGeom>
          <a:noFill/>
          <a:ln w="9525">
            <a:noFill/>
            <a:miter lim="800000"/>
            <a:headEnd/>
            <a:tailEnd/>
          </a:ln>
          <a:effectLst/>
        </p:spPr>
        <p:txBody>
          <a:bodyPr lIns="45720" rIns="45720" anchor="ctr" anchorCtr="1"/>
          <a:lstStyle/>
          <a:p>
            <a:pPr algn="ctr">
              <a:lnSpc>
                <a:spcPct val="100000"/>
              </a:lnSpc>
            </a:pPr>
            <a:r>
              <a:rPr lang="en-US" sz="1200" b="0" i="1" strike="noStrike" spc="-1" dirty="0" smtClean="0">
                <a:solidFill>
                  <a:srgbClr val="000000"/>
                </a:solidFill>
                <a:latin typeface="Comic Sans MS"/>
              </a:rPr>
              <a:t>Ali </a:t>
            </a:r>
            <a:r>
              <a:rPr lang="en-US" sz="1200" b="0" i="1" strike="noStrike" spc="-1" dirty="0" err="1" smtClean="0">
                <a:solidFill>
                  <a:srgbClr val="000000"/>
                </a:solidFill>
                <a:latin typeface="Comic Sans MS"/>
              </a:rPr>
              <a:t>Gülbağ</a:t>
            </a:r>
            <a:r>
              <a:rPr lang="en-US" sz="1200" b="0" i="1" strike="noStrike" spc="-1" dirty="0" smtClean="0">
                <a:solidFill>
                  <a:srgbClr val="000000"/>
                </a:solidFill>
                <a:latin typeface="Comic Sans MS"/>
              </a:rPr>
              <a:t> (Translated by Sinan </a:t>
            </a:r>
            <a:r>
              <a:rPr lang="en-US" sz="1200" b="0" i="1" strike="noStrike" spc="-1" dirty="0" err="1" smtClean="0">
                <a:solidFill>
                  <a:srgbClr val="000000"/>
                </a:solidFill>
                <a:latin typeface="Comic Sans MS"/>
              </a:rPr>
              <a:t>İlyas</a:t>
            </a:r>
            <a:r>
              <a:rPr lang="en-US" sz="1200" b="0" i="1" strike="noStrike" spc="-1" dirty="0" smtClean="0">
                <a:solidFill>
                  <a:srgbClr val="000000"/>
                </a:solidFill>
                <a:latin typeface="Comic Sans MS"/>
              </a:rPr>
              <a:t>)</a:t>
            </a:r>
            <a:endParaRPr lang="en-US" sz="1200" b="0" strike="noStrike" spc="-1" dirty="0">
              <a:latin typeface="Arial"/>
            </a:endParaRPr>
          </a:p>
        </p:txBody>
      </p:sp>
    </p:spTree>
  </p:cSld>
  <p:clrMap bg1="lt1" tx1="dk1" bg2="lt2" tx2="dk2" accent1="accent1" accent2="accent2" accent3="accent3" accent4="accent4" accent5="accent5" accent6="accent6" hlink="hlink" folHlink="folHlink"/>
  <p:sldLayoutIdLst>
    <p:sldLayoutId id="2147483752"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hf sldNum="0" hdr="0" dt="0"/>
  <p:txStyles>
    <p:titleStyle>
      <a:lvl1pPr algn="ctr" rtl="0" eaLnBrk="0" fontAlgn="base" hangingPunct="0">
        <a:spcBef>
          <a:spcPct val="0"/>
        </a:spcBef>
        <a:spcAft>
          <a:spcPct val="0"/>
        </a:spcAft>
        <a:defRPr sz="4000">
          <a:solidFill>
            <a:srgbClr val="000099"/>
          </a:solidFill>
          <a:latin typeface="+mj-lt"/>
          <a:ea typeface="+mj-ea"/>
          <a:cs typeface="+mj-cs"/>
        </a:defRPr>
      </a:lvl1pPr>
      <a:lvl2pPr algn="ctr" rtl="0" eaLnBrk="0" fontAlgn="base" hangingPunct="0">
        <a:spcBef>
          <a:spcPct val="0"/>
        </a:spcBef>
        <a:spcAft>
          <a:spcPct val="0"/>
        </a:spcAft>
        <a:defRPr sz="4000">
          <a:solidFill>
            <a:srgbClr val="000099"/>
          </a:solidFill>
          <a:latin typeface="Times New Roman" pitchFamily="18" charset="0"/>
        </a:defRPr>
      </a:lvl2pPr>
      <a:lvl3pPr algn="ctr" rtl="0" eaLnBrk="0" fontAlgn="base" hangingPunct="0">
        <a:spcBef>
          <a:spcPct val="0"/>
        </a:spcBef>
        <a:spcAft>
          <a:spcPct val="0"/>
        </a:spcAft>
        <a:defRPr sz="4000">
          <a:solidFill>
            <a:srgbClr val="000099"/>
          </a:solidFill>
          <a:latin typeface="Times New Roman" pitchFamily="18" charset="0"/>
        </a:defRPr>
      </a:lvl3pPr>
      <a:lvl4pPr algn="ctr" rtl="0" eaLnBrk="0" fontAlgn="base" hangingPunct="0">
        <a:spcBef>
          <a:spcPct val="0"/>
        </a:spcBef>
        <a:spcAft>
          <a:spcPct val="0"/>
        </a:spcAft>
        <a:defRPr sz="4000">
          <a:solidFill>
            <a:srgbClr val="000099"/>
          </a:solidFill>
          <a:latin typeface="Times New Roman" pitchFamily="18" charset="0"/>
        </a:defRPr>
      </a:lvl4pPr>
      <a:lvl5pPr algn="ctr" rtl="0" eaLnBrk="0" fontAlgn="base" hangingPunct="0">
        <a:spcBef>
          <a:spcPct val="0"/>
        </a:spcBef>
        <a:spcAft>
          <a:spcPct val="0"/>
        </a:spcAft>
        <a:defRPr sz="4000">
          <a:solidFill>
            <a:srgbClr val="000099"/>
          </a:solidFill>
          <a:latin typeface="Times New Roman" pitchFamily="18" charset="0"/>
        </a:defRPr>
      </a:lvl5pPr>
      <a:lvl6pPr marL="457200" algn="ctr" rtl="0" eaLnBrk="0" fontAlgn="base" hangingPunct="0">
        <a:spcBef>
          <a:spcPct val="0"/>
        </a:spcBef>
        <a:spcAft>
          <a:spcPct val="0"/>
        </a:spcAft>
        <a:defRPr sz="4000">
          <a:solidFill>
            <a:srgbClr val="000099"/>
          </a:solidFill>
          <a:latin typeface="Times New Roman" pitchFamily="18" charset="0"/>
        </a:defRPr>
      </a:lvl6pPr>
      <a:lvl7pPr marL="914400" algn="ctr" rtl="0" eaLnBrk="0" fontAlgn="base" hangingPunct="0">
        <a:spcBef>
          <a:spcPct val="0"/>
        </a:spcBef>
        <a:spcAft>
          <a:spcPct val="0"/>
        </a:spcAft>
        <a:defRPr sz="4000">
          <a:solidFill>
            <a:srgbClr val="000099"/>
          </a:solidFill>
          <a:latin typeface="Times New Roman" pitchFamily="18" charset="0"/>
        </a:defRPr>
      </a:lvl7pPr>
      <a:lvl8pPr marL="1371600" algn="ctr" rtl="0" eaLnBrk="0" fontAlgn="base" hangingPunct="0">
        <a:spcBef>
          <a:spcPct val="0"/>
        </a:spcBef>
        <a:spcAft>
          <a:spcPct val="0"/>
        </a:spcAft>
        <a:defRPr sz="4000">
          <a:solidFill>
            <a:srgbClr val="000099"/>
          </a:solidFill>
          <a:latin typeface="Times New Roman" pitchFamily="18" charset="0"/>
        </a:defRPr>
      </a:lvl8pPr>
      <a:lvl9pPr marL="1828800" algn="ctr" rtl="0" eaLnBrk="0" fontAlgn="base" hangingPunct="0">
        <a:spcBef>
          <a:spcPct val="0"/>
        </a:spcBef>
        <a:spcAft>
          <a:spcPct val="0"/>
        </a:spcAft>
        <a:defRPr sz="4000">
          <a:solidFill>
            <a:srgbClr val="000099"/>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CC"/>
          </a:solidFill>
          <a:latin typeface="Comic Sans MS" pitchFamily="66" charset="0"/>
        </a:defRPr>
      </a:lvl2pPr>
      <a:lvl3pPr marL="1143000" indent="-228600" algn="l" rtl="0" eaLnBrk="0" fontAlgn="base" hangingPunct="0">
        <a:spcBef>
          <a:spcPct val="20000"/>
        </a:spcBef>
        <a:spcAft>
          <a:spcPct val="0"/>
        </a:spcAft>
        <a:buChar char="•"/>
        <a:defRPr sz="2400">
          <a:solidFill>
            <a:srgbClr val="990000"/>
          </a:solidFill>
          <a:latin typeface="Comic Sans MS" pitchFamily="66" charset="0"/>
        </a:defRPr>
      </a:lvl3pPr>
      <a:lvl4pPr marL="1600200" indent="-228600" algn="l" rtl="0" eaLnBrk="0" fontAlgn="base" hangingPunct="0">
        <a:spcBef>
          <a:spcPct val="20000"/>
        </a:spcBef>
        <a:spcAft>
          <a:spcPct val="0"/>
        </a:spcAft>
        <a:buChar char="–"/>
        <a:defRPr sz="2000">
          <a:solidFill>
            <a:srgbClr val="006600"/>
          </a:solidFill>
          <a:latin typeface="Comic Sans MS" pitchFamily="66" charset="0"/>
        </a:defRPr>
      </a:lvl4pPr>
      <a:lvl5pPr marL="2057400" indent="-228600" algn="l" rtl="0" eaLnBrk="0" fontAlgn="base" hangingPunct="0">
        <a:spcBef>
          <a:spcPct val="20000"/>
        </a:spcBef>
        <a:spcAft>
          <a:spcPct val="0"/>
        </a:spcAft>
        <a:buChar char="»"/>
        <a:defRPr sz="2000">
          <a:solidFill>
            <a:srgbClr val="663300"/>
          </a:solidFill>
          <a:latin typeface="Comic Sans MS" pitchFamily="66" charset="0"/>
        </a:defRPr>
      </a:lvl5pPr>
      <a:lvl6pPr marL="2514600" indent="-228600" algn="l" rtl="0" eaLnBrk="0" fontAlgn="base" hangingPunct="0">
        <a:spcBef>
          <a:spcPct val="20000"/>
        </a:spcBef>
        <a:spcAft>
          <a:spcPct val="0"/>
        </a:spcAft>
        <a:buChar char="»"/>
        <a:defRPr sz="2000">
          <a:solidFill>
            <a:srgbClr val="663300"/>
          </a:solidFill>
          <a:latin typeface="Comic Sans MS" pitchFamily="66" charset="0"/>
        </a:defRPr>
      </a:lvl6pPr>
      <a:lvl7pPr marL="2971800" indent="-228600" algn="l" rtl="0" eaLnBrk="0" fontAlgn="base" hangingPunct="0">
        <a:spcBef>
          <a:spcPct val="20000"/>
        </a:spcBef>
        <a:spcAft>
          <a:spcPct val="0"/>
        </a:spcAft>
        <a:buChar char="»"/>
        <a:defRPr sz="2000">
          <a:solidFill>
            <a:srgbClr val="663300"/>
          </a:solidFill>
          <a:latin typeface="Comic Sans MS" pitchFamily="66" charset="0"/>
        </a:defRPr>
      </a:lvl7pPr>
      <a:lvl8pPr marL="3429000" indent="-228600" algn="l" rtl="0" eaLnBrk="0" fontAlgn="base" hangingPunct="0">
        <a:spcBef>
          <a:spcPct val="20000"/>
        </a:spcBef>
        <a:spcAft>
          <a:spcPct val="0"/>
        </a:spcAft>
        <a:buChar char="»"/>
        <a:defRPr sz="2000">
          <a:solidFill>
            <a:srgbClr val="663300"/>
          </a:solidFill>
          <a:latin typeface="Comic Sans MS" pitchFamily="66" charset="0"/>
        </a:defRPr>
      </a:lvl8pPr>
      <a:lvl9pPr marL="3886200" indent="-228600" algn="l" rtl="0" eaLnBrk="0" fontAlgn="base" hangingPunct="0">
        <a:spcBef>
          <a:spcPct val="20000"/>
        </a:spcBef>
        <a:spcAft>
          <a:spcPct val="0"/>
        </a:spcAft>
        <a:buChar char="»"/>
        <a:defRPr sz="2000">
          <a:solidFill>
            <a:srgbClr val="663300"/>
          </a:solidFill>
          <a:latin typeface="Comic Sans MS" pitchFamily="66"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Altbilgi Yer Tutucusu"/>
          <p:cNvSpPr>
            <a:spLocks noGrp="1"/>
          </p:cNvSpPr>
          <p:nvPr>
            <p:ph type="ftr" sz="quarter" idx="10"/>
          </p:nvPr>
        </p:nvSpPr>
        <p:spPr>
          <a:noFill/>
        </p:spPr>
        <p:txBody>
          <a:bodyPr/>
          <a:lstStyle/>
          <a:p>
            <a:pPr>
              <a:defRPr/>
            </a:pPr>
            <a:r>
              <a:rPr lang="en-US" dirty="0"/>
              <a:t>Logic Circuits</a:t>
            </a:r>
            <a:endParaRPr lang="en-US" dirty="0"/>
          </a:p>
        </p:txBody>
      </p:sp>
      <p:sp>
        <p:nvSpPr>
          <p:cNvPr id="3075" name="Rectangle 2"/>
          <p:cNvSpPr>
            <a:spLocks noGrp="1" noChangeArrowheads="1"/>
          </p:cNvSpPr>
          <p:nvPr>
            <p:ph type="title"/>
          </p:nvPr>
        </p:nvSpPr>
        <p:spPr>
          <a:xfrm>
            <a:off x="539750" y="76200"/>
            <a:ext cx="8151813" cy="790575"/>
          </a:xfrm>
        </p:spPr>
        <p:txBody>
          <a:bodyPr/>
          <a:lstStyle/>
          <a:p>
            <a:r>
              <a:rPr lang="en-US" sz="2400" b="1" spc="-1" dirty="0"/>
              <a:t>KARNAUGH MAPS</a:t>
            </a:r>
            <a:endParaRPr lang="en-US" sz="2400" spc="-1" dirty="0">
              <a:solidFill>
                <a:srgbClr val="000000"/>
              </a:solidFill>
            </a:endParaRPr>
          </a:p>
        </p:txBody>
      </p:sp>
      <p:sp>
        <p:nvSpPr>
          <p:cNvPr id="3076" name="Rectangle 3"/>
          <p:cNvSpPr>
            <a:spLocks noGrp="1" noChangeArrowheads="1"/>
          </p:cNvSpPr>
          <p:nvPr>
            <p:ph type="body" idx="1"/>
          </p:nvPr>
        </p:nvSpPr>
        <p:spPr>
          <a:xfrm>
            <a:off x="303213" y="912813"/>
            <a:ext cx="8375650" cy="5078412"/>
          </a:xfrm>
        </p:spPr>
        <p:txBody>
          <a:bodyPr/>
          <a:lstStyle/>
          <a:p>
            <a:pPr algn="just">
              <a:lnSpc>
                <a:spcPct val="90000"/>
              </a:lnSpc>
              <a:spcBef>
                <a:spcPts val="400"/>
              </a:spcBef>
              <a:buClr>
                <a:srgbClr val="000000"/>
              </a:buClr>
              <a:buFont typeface="Wingdings" charset="2"/>
              <a:buChar char=""/>
            </a:pPr>
            <a:r>
              <a:rPr lang="en-US" sz="2000" b="1" spc="-1" dirty="0" err="1">
                <a:solidFill>
                  <a:srgbClr val="000000"/>
                </a:solidFill>
              </a:rPr>
              <a:t>Karnaugh</a:t>
            </a:r>
            <a:r>
              <a:rPr lang="en-US" sz="2000" b="1" spc="-1" dirty="0">
                <a:solidFill>
                  <a:srgbClr val="000000"/>
                </a:solidFill>
              </a:rPr>
              <a:t> Maps (K-Maps) with 2, 3, 4, and 5 variables</a:t>
            </a:r>
            <a:endParaRPr lang="en-US" sz="2000" spc="-1" dirty="0">
              <a:solidFill>
                <a:srgbClr val="000000"/>
              </a:solidFill>
            </a:endParaRPr>
          </a:p>
          <a:p>
            <a:pPr algn="just">
              <a:lnSpc>
                <a:spcPct val="90000"/>
              </a:lnSpc>
              <a:spcBef>
                <a:spcPts val="201"/>
              </a:spcBef>
            </a:pPr>
            <a:endParaRPr lang="en-US" sz="2000" spc="-1" dirty="0">
              <a:solidFill>
                <a:srgbClr val="000000"/>
              </a:solidFill>
            </a:endParaRPr>
          </a:p>
          <a:p>
            <a:pPr algn="just">
              <a:lnSpc>
                <a:spcPct val="90000"/>
              </a:lnSpc>
              <a:spcBef>
                <a:spcPts val="400"/>
              </a:spcBef>
              <a:buClr>
                <a:srgbClr val="000000"/>
              </a:buClr>
              <a:buFont typeface="Wingdings" charset="2"/>
              <a:buChar char=""/>
            </a:pPr>
            <a:r>
              <a:rPr lang="en-US" sz="2000" b="1" spc="-1" dirty="0">
                <a:solidFill>
                  <a:srgbClr val="000000"/>
                </a:solidFill>
              </a:rPr>
              <a:t> Neighborhood in K-Maps</a:t>
            </a:r>
            <a:endParaRPr lang="en-US" sz="2000" spc="-1" dirty="0">
              <a:solidFill>
                <a:srgbClr val="000000"/>
              </a:solidFill>
            </a:endParaRPr>
          </a:p>
          <a:p>
            <a:pPr algn="just">
              <a:lnSpc>
                <a:spcPct val="90000"/>
              </a:lnSpc>
              <a:spcBef>
                <a:spcPts val="201"/>
              </a:spcBef>
            </a:pPr>
            <a:endParaRPr lang="en-US" sz="2000" spc="-1" dirty="0">
              <a:solidFill>
                <a:srgbClr val="000000"/>
              </a:solidFill>
            </a:endParaRPr>
          </a:p>
          <a:p>
            <a:pPr algn="just">
              <a:lnSpc>
                <a:spcPct val="90000"/>
              </a:lnSpc>
              <a:spcBef>
                <a:spcPts val="400"/>
              </a:spcBef>
              <a:buClr>
                <a:srgbClr val="000000"/>
              </a:buClr>
              <a:buFont typeface="Wingdings" charset="2"/>
              <a:buChar char=""/>
            </a:pPr>
            <a:r>
              <a:rPr lang="en-US" sz="2000" b="1" spc="-1" dirty="0">
                <a:solidFill>
                  <a:srgbClr val="000000"/>
                </a:solidFill>
              </a:rPr>
              <a:t> Creating K-Maps of expressions in standard </a:t>
            </a:r>
            <a:r>
              <a:rPr lang="en-US" sz="2000" b="1" spc="-1" dirty="0" err="1">
                <a:solidFill>
                  <a:srgbClr val="000000"/>
                </a:solidFill>
              </a:rPr>
              <a:t>SoP</a:t>
            </a:r>
            <a:r>
              <a:rPr lang="en-US" sz="2000" b="1" spc="-1" dirty="0">
                <a:solidFill>
                  <a:srgbClr val="000000"/>
                </a:solidFill>
              </a:rPr>
              <a:t> form</a:t>
            </a:r>
            <a:endParaRPr lang="en-US" sz="2000" spc="-1" dirty="0">
              <a:solidFill>
                <a:srgbClr val="000000"/>
              </a:solidFill>
            </a:endParaRPr>
          </a:p>
          <a:p>
            <a:pPr algn="just">
              <a:lnSpc>
                <a:spcPct val="90000"/>
              </a:lnSpc>
              <a:spcBef>
                <a:spcPts val="201"/>
              </a:spcBef>
            </a:pPr>
            <a:endParaRPr lang="en-US" sz="2000" spc="-1" dirty="0">
              <a:solidFill>
                <a:srgbClr val="000000"/>
              </a:solidFill>
            </a:endParaRPr>
          </a:p>
          <a:p>
            <a:pPr algn="just">
              <a:lnSpc>
                <a:spcPct val="90000"/>
              </a:lnSpc>
              <a:spcBef>
                <a:spcPts val="400"/>
              </a:spcBef>
              <a:buClr>
                <a:srgbClr val="000000"/>
              </a:buClr>
              <a:buFont typeface="Wingdings" charset="2"/>
              <a:buChar char=""/>
            </a:pPr>
            <a:r>
              <a:rPr lang="en-US" sz="2000" b="1" spc="-1" dirty="0">
                <a:solidFill>
                  <a:srgbClr val="000000"/>
                </a:solidFill>
              </a:rPr>
              <a:t> Simplification of expressions in standard </a:t>
            </a:r>
            <a:r>
              <a:rPr lang="en-US" sz="2000" b="1" spc="-1" dirty="0" err="1">
                <a:solidFill>
                  <a:srgbClr val="000000"/>
                </a:solidFill>
              </a:rPr>
              <a:t>SoP</a:t>
            </a:r>
            <a:r>
              <a:rPr lang="en-US" sz="2000" b="1" spc="-1" dirty="0">
                <a:solidFill>
                  <a:srgbClr val="000000"/>
                </a:solidFill>
              </a:rPr>
              <a:t> form</a:t>
            </a:r>
            <a:endParaRPr lang="en-US" sz="2000" spc="-1" dirty="0">
              <a:solidFill>
                <a:srgbClr val="000000"/>
              </a:solidFill>
            </a:endParaRPr>
          </a:p>
          <a:p>
            <a:pPr algn="just">
              <a:lnSpc>
                <a:spcPct val="90000"/>
              </a:lnSpc>
              <a:spcBef>
                <a:spcPts val="201"/>
              </a:spcBef>
            </a:pPr>
            <a:endParaRPr lang="en-US" sz="2000" spc="-1" dirty="0">
              <a:solidFill>
                <a:srgbClr val="000000"/>
              </a:solidFill>
            </a:endParaRPr>
          </a:p>
          <a:p>
            <a:pPr algn="just">
              <a:lnSpc>
                <a:spcPct val="90000"/>
              </a:lnSpc>
              <a:spcBef>
                <a:spcPts val="400"/>
              </a:spcBef>
              <a:buClr>
                <a:srgbClr val="000000"/>
              </a:buClr>
              <a:buFont typeface="Wingdings" charset="2"/>
              <a:buChar char=""/>
            </a:pPr>
            <a:r>
              <a:rPr lang="en-US" sz="2000" b="1" spc="-1" dirty="0">
                <a:solidFill>
                  <a:srgbClr val="000000"/>
                </a:solidFill>
              </a:rPr>
              <a:t> Grouping cells and deriving simplified terms in K-Maps</a:t>
            </a:r>
            <a:endParaRPr lang="en-US" sz="2000" spc="-1" dirty="0">
              <a:solidFill>
                <a:srgbClr val="000000"/>
              </a:solidFill>
            </a:endParaRPr>
          </a:p>
          <a:p>
            <a:pPr algn="just">
              <a:lnSpc>
                <a:spcPct val="90000"/>
              </a:lnSpc>
              <a:spcBef>
                <a:spcPts val="201"/>
              </a:spcBef>
            </a:pPr>
            <a:endParaRPr lang="en-US" sz="2000" spc="-1" dirty="0">
              <a:solidFill>
                <a:srgbClr val="000000"/>
              </a:solidFill>
            </a:endParaRPr>
          </a:p>
          <a:p>
            <a:pPr algn="just">
              <a:lnSpc>
                <a:spcPct val="90000"/>
              </a:lnSpc>
              <a:spcBef>
                <a:spcPts val="400"/>
              </a:spcBef>
              <a:buClr>
                <a:srgbClr val="000000"/>
              </a:buClr>
              <a:buFont typeface="Wingdings" charset="2"/>
              <a:buChar char=""/>
            </a:pPr>
            <a:r>
              <a:rPr lang="en-US" sz="2000" b="1" spc="-1" dirty="0">
                <a:solidFill>
                  <a:srgbClr val="000000"/>
                </a:solidFill>
              </a:rPr>
              <a:t> Creating K-Maps of expressions in standard </a:t>
            </a:r>
            <a:r>
              <a:rPr lang="en-US" sz="2000" b="1" spc="-1" dirty="0" err="1">
                <a:solidFill>
                  <a:srgbClr val="000000"/>
                </a:solidFill>
              </a:rPr>
              <a:t>PoS</a:t>
            </a:r>
            <a:r>
              <a:rPr lang="en-US" sz="2000" b="1" spc="-1" dirty="0">
                <a:solidFill>
                  <a:srgbClr val="000000"/>
                </a:solidFill>
              </a:rPr>
              <a:t> form</a:t>
            </a:r>
            <a:endParaRPr lang="en-US" sz="2000" spc="-1" dirty="0">
              <a:solidFill>
                <a:srgbClr val="000000"/>
              </a:solidFill>
            </a:endParaRPr>
          </a:p>
          <a:p>
            <a:pPr algn="just">
              <a:lnSpc>
                <a:spcPct val="90000"/>
              </a:lnSpc>
              <a:spcBef>
                <a:spcPts val="201"/>
              </a:spcBef>
            </a:pPr>
            <a:endParaRPr lang="en-US" sz="2000" spc="-1" dirty="0">
              <a:solidFill>
                <a:srgbClr val="000000"/>
              </a:solidFill>
            </a:endParaRPr>
          </a:p>
          <a:p>
            <a:pPr algn="just">
              <a:lnSpc>
                <a:spcPct val="90000"/>
              </a:lnSpc>
              <a:spcBef>
                <a:spcPts val="400"/>
              </a:spcBef>
              <a:buClr>
                <a:srgbClr val="000000"/>
              </a:buClr>
              <a:buFont typeface="Wingdings" charset="2"/>
              <a:buChar char=""/>
            </a:pPr>
            <a:r>
              <a:rPr lang="en-US" sz="2000" b="1" spc="-1" dirty="0">
                <a:solidFill>
                  <a:srgbClr val="000000"/>
                </a:solidFill>
              </a:rPr>
              <a:t> Simplification of expressions in standard </a:t>
            </a:r>
            <a:r>
              <a:rPr lang="en-US" sz="2000" b="1" spc="-1" dirty="0" err="1">
                <a:solidFill>
                  <a:srgbClr val="000000"/>
                </a:solidFill>
              </a:rPr>
              <a:t>PoS</a:t>
            </a:r>
            <a:r>
              <a:rPr lang="en-US" sz="2000" b="1" spc="-1" dirty="0">
                <a:solidFill>
                  <a:srgbClr val="000000"/>
                </a:solidFill>
              </a:rPr>
              <a:t> form using K-Maps</a:t>
            </a:r>
            <a:endParaRPr lang="en-US" sz="2000" spc="-1" dirty="0">
              <a:solidFill>
                <a:srgbClr val="000000"/>
              </a:solidFill>
            </a:endParaRPr>
          </a:p>
          <a:p>
            <a:pPr algn="just">
              <a:lnSpc>
                <a:spcPct val="90000"/>
              </a:lnSpc>
              <a:spcBef>
                <a:spcPts val="201"/>
              </a:spcBef>
            </a:pPr>
            <a:endParaRPr lang="en-US" sz="2000" spc="-1" dirty="0">
              <a:solidFill>
                <a:srgbClr val="000000"/>
              </a:solidFill>
            </a:endParaRPr>
          </a:p>
          <a:p>
            <a:pPr algn="just">
              <a:lnSpc>
                <a:spcPct val="90000"/>
              </a:lnSpc>
              <a:spcBef>
                <a:spcPts val="400"/>
              </a:spcBef>
              <a:buClr>
                <a:srgbClr val="000000"/>
              </a:buClr>
              <a:buFont typeface="Wingdings" charset="2"/>
              <a:buChar char=""/>
            </a:pPr>
            <a:r>
              <a:rPr lang="en-US" sz="2000" b="1" spc="-1" dirty="0">
                <a:solidFill>
                  <a:srgbClr val="000000"/>
                </a:solidFill>
              </a:rPr>
              <a:t> Don’t Care Situations</a:t>
            </a:r>
            <a:endParaRPr lang="en-US" sz="2000" spc="-1" dirty="0">
              <a:solidFill>
                <a:srgbClr val="000000"/>
              </a:solidFill>
            </a:endParaRPr>
          </a:p>
          <a:p>
            <a:pPr marL="0" indent="0" algn="just">
              <a:lnSpc>
                <a:spcPct val="90000"/>
              </a:lnSpc>
              <a:buFontTx/>
              <a:buNone/>
            </a:pPr>
            <a:endParaRPr lang="tr-TR" sz="22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3 Altbilgi Yer Tutucusu"/>
          <p:cNvSpPr>
            <a:spLocks noGrp="1"/>
          </p:cNvSpPr>
          <p:nvPr>
            <p:ph type="ftr" sz="quarter" idx="10"/>
          </p:nvPr>
        </p:nvSpPr>
        <p:spPr>
          <a:noFill/>
        </p:spPr>
        <p:txBody>
          <a:bodyPr/>
          <a:lstStyle/>
          <a:p>
            <a:pPr>
              <a:defRPr/>
            </a:pPr>
            <a:r>
              <a:rPr lang="en-US" dirty="0"/>
              <a:t>Logic Circuits</a:t>
            </a:r>
            <a:endParaRPr lang="en-US" dirty="0"/>
          </a:p>
        </p:txBody>
      </p:sp>
      <p:sp>
        <p:nvSpPr>
          <p:cNvPr id="4099" name="Rectangle 2"/>
          <p:cNvSpPr>
            <a:spLocks noGrp="1" noChangeArrowheads="1"/>
          </p:cNvSpPr>
          <p:nvPr>
            <p:ph type="title"/>
          </p:nvPr>
        </p:nvSpPr>
        <p:spPr/>
        <p:txBody>
          <a:bodyPr/>
          <a:lstStyle/>
          <a:p>
            <a:r>
              <a:rPr lang="en-US" sz="2400" b="1" spc="-1" dirty="0" err="1"/>
              <a:t>Karnaugh</a:t>
            </a:r>
            <a:r>
              <a:rPr lang="en-US" sz="2400" b="1" spc="-1" dirty="0"/>
              <a:t> Maps (K-Maps)</a:t>
            </a:r>
            <a:endParaRPr lang="en-US" sz="2400" spc="-1" dirty="0">
              <a:solidFill>
                <a:srgbClr val="000000"/>
              </a:solidFill>
            </a:endParaRPr>
          </a:p>
        </p:txBody>
      </p:sp>
      <p:sp>
        <p:nvSpPr>
          <p:cNvPr id="4100" name="Rectangle 3"/>
          <p:cNvSpPr>
            <a:spLocks noGrp="1" noChangeArrowheads="1"/>
          </p:cNvSpPr>
          <p:nvPr>
            <p:ph type="body" idx="1"/>
          </p:nvPr>
        </p:nvSpPr>
        <p:spPr>
          <a:xfrm>
            <a:off x="358775" y="879475"/>
            <a:ext cx="5988237" cy="4728845"/>
          </a:xfrm>
        </p:spPr>
        <p:txBody>
          <a:bodyPr/>
          <a:lstStyle/>
          <a:p>
            <a:pPr marL="0" indent="0" algn="just">
              <a:lnSpc>
                <a:spcPct val="100000"/>
              </a:lnSpc>
              <a:spcBef>
                <a:spcPts val="439"/>
              </a:spcBef>
              <a:buNone/>
            </a:pPr>
            <a:r>
              <a:rPr lang="en-US" sz="2200" spc="-1" dirty="0" err="1">
                <a:solidFill>
                  <a:srgbClr val="000000"/>
                </a:solidFill>
              </a:rPr>
              <a:t>Karnaugh</a:t>
            </a:r>
            <a:r>
              <a:rPr lang="en-US" sz="2200" spc="-1" dirty="0">
                <a:solidFill>
                  <a:srgbClr val="000000"/>
                </a:solidFill>
              </a:rPr>
              <a:t>-Map, or K-Map in short, is a systematic approach to simplify logic expressions in </a:t>
            </a:r>
            <a:r>
              <a:rPr lang="en-US" sz="2200" spc="-1" dirty="0" err="1">
                <a:solidFill>
                  <a:srgbClr val="000000"/>
                </a:solidFill>
              </a:rPr>
              <a:t>SoP</a:t>
            </a:r>
            <a:r>
              <a:rPr lang="en-US" sz="2200" spc="-1" dirty="0">
                <a:solidFill>
                  <a:srgbClr val="000000"/>
                </a:solidFill>
              </a:rPr>
              <a:t> or </a:t>
            </a:r>
            <a:r>
              <a:rPr lang="en-US" sz="2200" spc="-1" dirty="0" err="1">
                <a:solidFill>
                  <a:srgbClr val="000000"/>
                </a:solidFill>
              </a:rPr>
              <a:t>PoS</a:t>
            </a:r>
            <a:r>
              <a:rPr lang="en-US" sz="2200" spc="-1" dirty="0">
                <a:solidFill>
                  <a:srgbClr val="000000"/>
                </a:solidFill>
              </a:rPr>
              <a:t> form.</a:t>
            </a:r>
          </a:p>
          <a:p>
            <a:pPr algn="just">
              <a:lnSpc>
                <a:spcPct val="100000"/>
              </a:lnSpc>
              <a:spcBef>
                <a:spcPts val="201"/>
              </a:spcBef>
            </a:pPr>
            <a:endParaRPr lang="en-US" sz="1000" spc="-1" dirty="0">
              <a:solidFill>
                <a:srgbClr val="000000"/>
              </a:solidFill>
            </a:endParaRPr>
          </a:p>
          <a:p>
            <a:pPr marL="0" indent="0" algn="just">
              <a:lnSpc>
                <a:spcPct val="100000"/>
              </a:lnSpc>
              <a:spcBef>
                <a:spcPts val="439"/>
              </a:spcBef>
              <a:buNone/>
            </a:pPr>
            <a:r>
              <a:rPr lang="en-US" sz="2200" spc="-1" dirty="0">
                <a:solidFill>
                  <a:srgbClr val="000000"/>
                </a:solidFill>
              </a:rPr>
              <a:t>K-Maps contain all the combinations of input values and the outputs just like truth tables. In truth tables, we place the binary values of inputs in rows, and we place the output values on the right column of the inputs. </a:t>
            </a:r>
          </a:p>
          <a:p>
            <a:pPr algn="just">
              <a:lnSpc>
                <a:spcPct val="100000"/>
              </a:lnSpc>
              <a:spcBef>
                <a:spcPts val="201"/>
              </a:spcBef>
            </a:pPr>
            <a:endParaRPr lang="en-US" sz="1000" spc="-1" dirty="0">
              <a:solidFill>
                <a:srgbClr val="000000"/>
              </a:solidFill>
            </a:endParaRPr>
          </a:p>
          <a:p>
            <a:pPr marL="0" indent="0" algn="just">
              <a:lnSpc>
                <a:spcPct val="100000"/>
              </a:lnSpc>
              <a:spcBef>
                <a:spcPts val="439"/>
              </a:spcBef>
              <a:buNone/>
            </a:pPr>
            <a:r>
              <a:rPr lang="en-US" sz="2200" spc="-1" dirty="0">
                <a:solidFill>
                  <a:srgbClr val="000000"/>
                </a:solidFill>
              </a:rPr>
              <a:t>In K-Maps, we place the binary values of inputs in row and column headers, and we place the output values in the cells just like a matrix. Then, we do the simplification by grouping these cells.</a:t>
            </a:r>
          </a:p>
          <a:p>
            <a:pPr marL="0" indent="0" algn="just">
              <a:buFontTx/>
              <a:buNone/>
            </a:pPr>
            <a:endParaRPr lang="tr-TR" sz="1000" dirty="0" smtClean="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6635" y="1034302"/>
            <a:ext cx="1990165" cy="2835985"/>
          </a:xfrm>
          <a:prstGeom prst="rect">
            <a:avLst/>
          </a:prstGeom>
        </p:spPr>
      </p:pic>
      <p:sp>
        <p:nvSpPr>
          <p:cNvPr id="5" name="Metin kutusu 4"/>
          <p:cNvSpPr txBox="1"/>
          <p:nvPr/>
        </p:nvSpPr>
        <p:spPr>
          <a:xfrm>
            <a:off x="6696635" y="4069976"/>
            <a:ext cx="1990165" cy="338554"/>
          </a:xfrm>
          <a:prstGeom prst="rect">
            <a:avLst/>
          </a:prstGeom>
          <a:noFill/>
        </p:spPr>
        <p:txBody>
          <a:bodyPr wrap="square" rtlCol="0">
            <a:spAutoFit/>
          </a:bodyPr>
          <a:lstStyle/>
          <a:p>
            <a:pPr algn="ctr"/>
            <a:r>
              <a:rPr lang="en-US" b="0" dirty="0" smtClean="0"/>
              <a:t>Maurice </a:t>
            </a:r>
            <a:r>
              <a:rPr lang="en-US" b="0" dirty="0" err="1" smtClean="0"/>
              <a:t>Karnaugh</a:t>
            </a:r>
            <a:endParaRPr lang="tr-TR" b="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3 Altbilgi Yer Tutucusu"/>
          <p:cNvSpPr>
            <a:spLocks noGrp="1"/>
          </p:cNvSpPr>
          <p:nvPr>
            <p:ph type="ftr" sz="quarter" idx="10"/>
          </p:nvPr>
        </p:nvSpPr>
        <p:spPr>
          <a:noFill/>
        </p:spPr>
        <p:txBody>
          <a:bodyPr/>
          <a:lstStyle/>
          <a:p>
            <a:pPr>
              <a:defRPr/>
            </a:pPr>
            <a:r>
              <a:rPr lang="en-US" dirty="0"/>
              <a:t>Logic Circuits</a:t>
            </a:r>
            <a:endParaRPr lang="en-US" dirty="0"/>
          </a:p>
        </p:txBody>
      </p:sp>
      <p:sp>
        <p:nvSpPr>
          <p:cNvPr id="4099" name="Rectangle 2"/>
          <p:cNvSpPr>
            <a:spLocks noGrp="1" noChangeArrowheads="1"/>
          </p:cNvSpPr>
          <p:nvPr>
            <p:ph type="title"/>
          </p:nvPr>
        </p:nvSpPr>
        <p:spPr/>
        <p:txBody>
          <a:bodyPr/>
          <a:lstStyle/>
          <a:p>
            <a:r>
              <a:rPr lang="en-US" sz="2400" b="1" spc="-1" dirty="0" err="1"/>
              <a:t>Karnaugh</a:t>
            </a:r>
            <a:r>
              <a:rPr lang="en-US" sz="2400" b="1" spc="-1" dirty="0"/>
              <a:t> Maps (K-Maps)</a:t>
            </a:r>
            <a:endParaRPr lang="en-US" sz="2400" spc="-1" dirty="0">
              <a:solidFill>
                <a:srgbClr val="000000"/>
              </a:solidFill>
            </a:endParaRPr>
          </a:p>
        </p:txBody>
      </p:sp>
      <p:sp>
        <p:nvSpPr>
          <p:cNvPr id="4100" name="Rectangle 3"/>
          <p:cNvSpPr>
            <a:spLocks noGrp="1" noChangeArrowheads="1"/>
          </p:cNvSpPr>
          <p:nvPr>
            <p:ph type="body" idx="1"/>
          </p:nvPr>
        </p:nvSpPr>
        <p:spPr>
          <a:xfrm>
            <a:off x="358775" y="1058771"/>
            <a:ext cx="8375650" cy="2419537"/>
          </a:xfrm>
        </p:spPr>
        <p:txBody>
          <a:bodyPr/>
          <a:lstStyle/>
          <a:p>
            <a:pPr marL="0" indent="0" algn="just">
              <a:lnSpc>
                <a:spcPct val="100000"/>
              </a:lnSpc>
              <a:spcBef>
                <a:spcPts val="439"/>
              </a:spcBef>
              <a:buNone/>
            </a:pPr>
            <a:r>
              <a:rPr lang="en-US" sz="2200" spc="-1" dirty="0">
                <a:solidFill>
                  <a:srgbClr val="000000"/>
                </a:solidFill>
              </a:rPr>
              <a:t>K-Maps </a:t>
            </a:r>
            <a:r>
              <a:rPr lang="en-US" sz="2200" spc="-1" dirty="0" smtClean="0">
                <a:solidFill>
                  <a:srgbClr val="000000"/>
                </a:solidFill>
              </a:rPr>
              <a:t>are </a:t>
            </a:r>
            <a:r>
              <a:rPr lang="en-US" sz="2200" spc="-1" dirty="0">
                <a:solidFill>
                  <a:srgbClr val="000000"/>
                </a:solidFill>
              </a:rPr>
              <a:t>especially suitable for expressions with less variables. We use Quine-</a:t>
            </a:r>
            <a:r>
              <a:rPr lang="en-US" sz="2200" spc="-1" dirty="0" err="1">
                <a:solidFill>
                  <a:srgbClr val="000000"/>
                </a:solidFill>
              </a:rPr>
              <a:t>McCluskey</a:t>
            </a:r>
            <a:r>
              <a:rPr lang="en-US" sz="2200" spc="-1" dirty="0">
                <a:solidFill>
                  <a:srgbClr val="000000"/>
                </a:solidFill>
              </a:rPr>
              <a:t> method to simplify expressions with many variables. </a:t>
            </a:r>
          </a:p>
          <a:p>
            <a:pPr algn="just">
              <a:lnSpc>
                <a:spcPct val="100000"/>
              </a:lnSpc>
              <a:spcBef>
                <a:spcPts val="201"/>
              </a:spcBef>
            </a:pPr>
            <a:endParaRPr lang="en-US" sz="1000" spc="-1" dirty="0">
              <a:solidFill>
                <a:srgbClr val="000000"/>
              </a:solidFill>
            </a:endParaRPr>
          </a:p>
          <a:p>
            <a:pPr marL="0" indent="0" algn="just">
              <a:lnSpc>
                <a:spcPct val="100000"/>
              </a:lnSpc>
              <a:spcBef>
                <a:spcPts val="439"/>
              </a:spcBef>
              <a:buNone/>
            </a:pPr>
            <a:r>
              <a:rPr lang="en-US" sz="2200" spc="-1" dirty="0">
                <a:solidFill>
                  <a:srgbClr val="000000"/>
                </a:solidFill>
              </a:rPr>
              <a:t>The number of cells in a K-Map is equal to the number of combinations of input variables.</a:t>
            </a:r>
            <a:endParaRPr lang="en-US" sz="2200" spc="-1" dirty="0">
              <a:solidFill>
                <a:srgbClr val="000000"/>
              </a:solidFill>
            </a:endParaRPr>
          </a:p>
        </p:txBody>
      </p:sp>
    </p:spTree>
    <p:extLst>
      <p:ext uri="{BB962C8B-B14F-4D97-AF65-F5344CB8AC3E}">
        <p14:creationId xmlns:p14="http://schemas.microsoft.com/office/powerpoint/2010/main" val="29700172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Başlık"/>
          <p:cNvSpPr>
            <a:spLocks noGrp="1"/>
          </p:cNvSpPr>
          <p:nvPr>
            <p:ph type="title"/>
          </p:nvPr>
        </p:nvSpPr>
        <p:spPr/>
        <p:txBody>
          <a:bodyPr/>
          <a:lstStyle/>
          <a:p>
            <a:r>
              <a:rPr lang="en-US" sz="2400" b="1" spc="-1" dirty="0" err="1"/>
              <a:t>Karnaugh</a:t>
            </a:r>
            <a:r>
              <a:rPr lang="en-US" sz="2400" b="1" spc="-1" dirty="0"/>
              <a:t> Maps with 2 and 3 Variables</a:t>
            </a:r>
            <a:endParaRPr lang="en-US" sz="2400" spc="-1" dirty="0">
              <a:solidFill>
                <a:srgbClr val="000000"/>
              </a:solidFill>
            </a:endParaRPr>
          </a:p>
        </p:txBody>
      </p:sp>
      <p:sp>
        <p:nvSpPr>
          <p:cNvPr id="3" name="2 İçerik Yer Tutucusu"/>
          <p:cNvSpPr>
            <a:spLocks noGrp="1"/>
          </p:cNvSpPr>
          <p:nvPr>
            <p:ph idx="1"/>
          </p:nvPr>
        </p:nvSpPr>
        <p:spPr>
          <a:xfrm>
            <a:off x="361950" y="900113"/>
            <a:ext cx="8375650" cy="5602287"/>
          </a:xfrm>
        </p:spPr>
        <p:txBody>
          <a:bodyPr/>
          <a:lstStyle/>
          <a:p>
            <a:pPr marL="0" indent="0" algn="just">
              <a:buFontTx/>
              <a:buNone/>
              <a:defRPr/>
            </a:pPr>
            <a:r>
              <a:rPr lang="en-US" sz="2200" spc="-1" dirty="0">
                <a:solidFill>
                  <a:srgbClr val="000000"/>
                </a:solidFill>
              </a:rPr>
              <a:t>A K-Map with 2 variables has 2</a:t>
            </a:r>
            <a:r>
              <a:rPr lang="en-US" sz="2200" spc="-1" baseline="30000" dirty="0">
                <a:solidFill>
                  <a:srgbClr val="000000"/>
                </a:solidFill>
              </a:rPr>
              <a:t>2</a:t>
            </a:r>
            <a:r>
              <a:rPr lang="en-US" sz="2200" spc="-1" dirty="0">
                <a:solidFill>
                  <a:srgbClr val="000000"/>
                </a:solidFill>
              </a:rPr>
              <a:t> = 4 cells. Each cell denotes a </a:t>
            </a:r>
            <a:r>
              <a:rPr lang="en-US" sz="2200" spc="-1" dirty="0" err="1">
                <a:solidFill>
                  <a:srgbClr val="000000"/>
                </a:solidFill>
              </a:rPr>
              <a:t>minterm</a:t>
            </a:r>
            <a:r>
              <a:rPr lang="en-US" sz="2200" spc="-1" dirty="0">
                <a:solidFill>
                  <a:srgbClr val="000000"/>
                </a:solidFill>
              </a:rPr>
              <a:t> or a </a:t>
            </a:r>
            <a:r>
              <a:rPr lang="en-US" sz="2200" spc="-1" dirty="0" err="1">
                <a:solidFill>
                  <a:srgbClr val="000000"/>
                </a:solidFill>
              </a:rPr>
              <a:t>maxterm</a:t>
            </a:r>
            <a:r>
              <a:rPr lang="en-US" sz="2200" spc="-1" dirty="0">
                <a:solidFill>
                  <a:srgbClr val="000000"/>
                </a:solidFill>
              </a:rPr>
              <a:t>.</a:t>
            </a:r>
            <a:endParaRPr lang="tr-TR" sz="2200" dirty="0" smtClean="0"/>
          </a:p>
          <a:p>
            <a:pPr marL="0" indent="0" algn="just">
              <a:buFontTx/>
              <a:buNone/>
              <a:defRPr/>
            </a:pPr>
            <a:endParaRPr lang="en-US" sz="2200" dirty="0" smtClean="0"/>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r>
              <a:rPr lang="en-US" sz="2200" dirty="0"/>
              <a:t>A K-Map with 3 variables has 2</a:t>
            </a:r>
            <a:r>
              <a:rPr lang="en-US" sz="2200" baseline="30000" dirty="0"/>
              <a:t>3</a:t>
            </a:r>
            <a:r>
              <a:rPr lang="en-US" sz="2200" dirty="0"/>
              <a:t> = 8 cells. Such a K-Map can be created in 2×4 or 4×2 matrix form.</a:t>
            </a:r>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endParaRPr lang="tr-TR" sz="1200" dirty="0" smtClean="0"/>
          </a:p>
          <a:p>
            <a:pPr marL="0" indent="0" algn="just">
              <a:buFontTx/>
              <a:buNone/>
              <a:defRPr/>
            </a:pPr>
            <a:r>
              <a:rPr lang="en-US" sz="2000" dirty="0"/>
              <a:t>We place the values of variables AB in 00–01–11–10 order. The reason for this is, we use Gray code numbers where sequential numbers differ only one bit from each other.</a:t>
            </a:r>
          </a:p>
          <a:p>
            <a:pPr marL="0" indent="0" algn="just">
              <a:buFontTx/>
              <a:buNone/>
              <a:defRPr/>
            </a:pPr>
            <a:endParaRPr lang="tr-TR" sz="2200" dirty="0" smtClean="0"/>
          </a:p>
          <a:p>
            <a:pPr marL="0" indent="0" algn="just">
              <a:buFontTx/>
              <a:buNone/>
              <a:defRPr/>
            </a:pPr>
            <a:endParaRPr lang="tr-TR" sz="2200" dirty="0" smtClean="0"/>
          </a:p>
          <a:p>
            <a:pPr>
              <a:buFontTx/>
              <a:buNone/>
              <a:defRPr/>
            </a:pPr>
            <a:endParaRPr lang="tr-TR" dirty="0"/>
          </a:p>
        </p:txBody>
      </p:sp>
      <p:sp>
        <p:nvSpPr>
          <p:cNvPr id="5124" name="3 Altbilgi Yer Tutucusu"/>
          <p:cNvSpPr>
            <a:spLocks noGrp="1"/>
          </p:cNvSpPr>
          <p:nvPr>
            <p:ph type="ftr" sz="quarter" idx="10"/>
          </p:nvPr>
        </p:nvSpPr>
        <p:spPr>
          <a:noFill/>
        </p:spPr>
        <p:txBody>
          <a:bodyPr/>
          <a:lstStyle/>
          <a:p>
            <a:pPr>
              <a:defRPr/>
            </a:pPr>
            <a:r>
              <a:rPr lang="en-US" dirty="0"/>
              <a:t>Logic Circuits</a:t>
            </a:r>
            <a:endParaRPr lang="en-US" dirty="0"/>
          </a:p>
        </p:txBody>
      </p:sp>
      <p:graphicFrame>
        <p:nvGraphicFramePr>
          <p:cNvPr id="5" name="4 Tablo"/>
          <p:cNvGraphicFramePr>
            <a:graphicFrameLocks noGrp="1"/>
          </p:cNvGraphicFramePr>
          <p:nvPr/>
        </p:nvGraphicFramePr>
        <p:xfrm>
          <a:off x="1196975" y="1763713"/>
          <a:ext cx="1723389" cy="956730"/>
        </p:xfrm>
        <a:graphic>
          <a:graphicData uri="http://schemas.openxmlformats.org/drawingml/2006/table">
            <a:tbl>
              <a:tblPr/>
              <a:tblGrid>
                <a:gridCol w="605790">
                  <a:extLst>
                    <a:ext uri="{9D8B030D-6E8A-4147-A177-3AD203B41FA5}">
                      <a16:colId xmlns:a16="http://schemas.microsoft.com/office/drawing/2014/main" val="20000"/>
                    </a:ext>
                  </a:extLst>
                </a:gridCol>
                <a:gridCol w="608502">
                  <a:extLst>
                    <a:ext uri="{9D8B030D-6E8A-4147-A177-3AD203B41FA5}">
                      <a16:colId xmlns:a16="http://schemas.microsoft.com/office/drawing/2014/main" val="20001"/>
                    </a:ext>
                  </a:extLst>
                </a:gridCol>
                <a:gridCol w="509097">
                  <a:extLst>
                    <a:ext uri="{9D8B030D-6E8A-4147-A177-3AD203B41FA5}">
                      <a16:colId xmlns:a16="http://schemas.microsoft.com/office/drawing/2014/main" val="20002"/>
                    </a:ext>
                  </a:extLst>
                </a:gridCol>
              </a:tblGrid>
              <a:tr h="318693">
                <a:tc>
                  <a:txBody>
                    <a:bodyPr/>
                    <a:lstStyle/>
                    <a:p>
                      <a:pPr algn="just">
                        <a:lnSpc>
                          <a:spcPct val="115000"/>
                        </a:lnSpc>
                        <a:spcAft>
                          <a:spcPts val="0"/>
                        </a:spcAft>
                        <a:tabLst>
                          <a:tab pos="504825" algn="l"/>
                        </a:tabLst>
                      </a:pPr>
                      <a:r>
                        <a:rPr lang="tr-TR" sz="1600" dirty="0">
                          <a:latin typeface="Times New Roman"/>
                          <a:ea typeface="Times New Roman"/>
                          <a:cs typeface="Times New Roman"/>
                        </a:rPr>
                        <a:t>A   </a:t>
                      </a:r>
                      <a:r>
                        <a:rPr lang="tr-TR" sz="1600" dirty="0" smtClean="0">
                          <a:latin typeface="Times New Roman"/>
                          <a:ea typeface="Times New Roman"/>
                          <a:cs typeface="Times New Roman"/>
                        </a:rPr>
                        <a:t>  </a:t>
                      </a:r>
                      <a:r>
                        <a:rPr lang="tr-TR" sz="1600" dirty="0">
                          <a:latin typeface="Times New Roman"/>
                          <a:ea typeface="Times New Roman"/>
                          <a:cs typeface="Times New Roman"/>
                        </a:rPr>
                        <a:t>B     </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600">
                          <a:latin typeface="Times New Roman"/>
                          <a:ea typeface="Times New Roman"/>
                          <a:cs typeface="Times New Roman"/>
                        </a:rPr>
                        <a:t>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7621">
                <a:tc>
                  <a:txBody>
                    <a:bodyPr/>
                    <a:lstStyle/>
                    <a:p>
                      <a:pPr algn="ctr">
                        <a:lnSpc>
                          <a:spcPct val="115000"/>
                        </a:lnSpc>
                        <a:spcAft>
                          <a:spcPts val="0"/>
                        </a:spcAft>
                      </a:pPr>
                      <a:r>
                        <a:rPr lang="tr-TR" sz="1600">
                          <a:latin typeface="Times New Roman"/>
                          <a:ea typeface="Times New Roman"/>
                          <a:cs typeface="Times New Roman"/>
                        </a:rPr>
                        <a:t>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1450">
                <a:tc>
                  <a:txBody>
                    <a:bodyPr/>
                    <a:lstStyle/>
                    <a:p>
                      <a:pPr algn="ctr">
                        <a:lnSpc>
                          <a:spcPct val="115000"/>
                        </a:lnSpc>
                        <a:spcAft>
                          <a:spcPts val="0"/>
                        </a:spcAft>
                      </a:pPr>
                      <a:r>
                        <a:rPr lang="tr-TR" sz="1600">
                          <a:latin typeface="Times New Roman"/>
                          <a:ea typeface="Times New Roman"/>
                          <a:cs typeface="Times New Roman"/>
                        </a:rPr>
                        <a:t>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6" name="5 Tablo"/>
          <p:cNvGraphicFramePr>
            <a:graphicFrameLocks noGrp="1"/>
          </p:cNvGraphicFramePr>
          <p:nvPr/>
        </p:nvGraphicFramePr>
        <p:xfrm>
          <a:off x="3762375" y="1739900"/>
          <a:ext cx="1532890" cy="997204"/>
        </p:xfrm>
        <a:graphic>
          <a:graphicData uri="http://schemas.openxmlformats.org/drawingml/2006/table">
            <a:tbl>
              <a:tblPr/>
              <a:tblGrid>
                <a:gridCol w="694690">
                  <a:extLst>
                    <a:ext uri="{9D8B030D-6E8A-4147-A177-3AD203B41FA5}">
                      <a16:colId xmlns:a16="http://schemas.microsoft.com/office/drawing/2014/main" val="20000"/>
                    </a:ext>
                  </a:extLst>
                </a:gridCol>
                <a:gridCol w="385377">
                  <a:extLst>
                    <a:ext uri="{9D8B030D-6E8A-4147-A177-3AD203B41FA5}">
                      <a16:colId xmlns:a16="http://schemas.microsoft.com/office/drawing/2014/main" val="20001"/>
                    </a:ext>
                  </a:extLst>
                </a:gridCol>
                <a:gridCol w="452823">
                  <a:extLst>
                    <a:ext uri="{9D8B030D-6E8A-4147-A177-3AD203B41FA5}">
                      <a16:colId xmlns:a16="http://schemas.microsoft.com/office/drawing/2014/main" val="20002"/>
                    </a:ext>
                  </a:extLst>
                </a:gridCol>
              </a:tblGrid>
              <a:tr h="353060">
                <a:tc>
                  <a:txBody>
                    <a:bodyPr/>
                    <a:lstStyle/>
                    <a:p>
                      <a:pPr algn="ctr">
                        <a:lnSpc>
                          <a:spcPct val="115000"/>
                        </a:lnSpc>
                        <a:spcAft>
                          <a:spcPts val="0"/>
                        </a:spcAft>
                        <a:tabLst>
                          <a:tab pos="504825" algn="l"/>
                        </a:tabLst>
                      </a:pPr>
                      <a:r>
                        <a:rPr lang="tr-TR" sz="1600" dirty="0">
                          <a:latin typeface="Times New Roman"/>
                          <a:ea typeface="Times New Roman"/>
                          <a:cs typeface="Times New Roman"/>
                        </a:rPr>
                        <a:t>A    </a:t>
                      </a:r>
                      <a:r>
                        <a:rPr lang="tr-TR" sz="1600" dirty="0" smtClean="0">
                          <a:latin typeface="Times New Roman"/>
                          <a:ea typeface="Times New Roman"/>
                          <a:cs typeface="Times New Roman"/>
                        </a:rPr>
                        <a:t>  </a:t>
                      </a:r>
                      <a:r>
                        <a:rPr lang="tr-TR" sz="1600" dirty="0">
                          <a:latin typeface="Times New Roman"/>
                          <a:ea typeface="Times New Roman"/>
                          <a:cs typeface="Times New Roman"/>
                        </a:rPr>
                        <a:t>B</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600" dirty="0">
                          <a:latin typeface="Times New Roman"/>
                          <a:ea typeface="Times New Roman"/>
                          <a:cs typeface="Times New Roman"/>
                        </a:rPr>
                        <a:t>0</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1</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2740">
                <a:tc>
                  <a:txBody>
                    <a:bodyPr/>
                    <a:lstStyle/>
                    <a:p>
                      <a:pPr algn="ctr">
                        <a:lnSpc>
                          <a:spcPct val="115000"/>
                        </a:lnSpc>
                        <a:spcAft>
                          <a:spcPts val="0"/>
                        </a:spcAft>
                      </a:pPr>
                      <a:r>
                        <a:rPr lang="tr-TR" sz="1600">
                          <a:latin typeface="Times New Roman"/>
                          <a:ea typeface="Times New Roman"/>
                          <a:cs typeface="Times New Roman"/>
                        </a:rPr>
                        <a:t>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m</a:t>
                      </a:r>
                      <a:r>
                        <a:rPr lang="tr-TR" sz="1600" baseline="-25000" dirty="0">
                          <a:latin typeface="Times New Roman"/>
                          <a:ea typeface="Times New Roman"/>
                          <a:cs typeface="Times New Roman"/>
                        </a:rPr>
                        <a:t>0</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m</a:t>
                      </a:r>
                      <a:r>
                        <a:rPr lang="tr-TR" sz="1600" baseline="-25000" dirty="0">
                          <a:latin typeface="Times New Roman"/>
                          <a:ea typeface="Times New Roman"/>
                          <a:cs typeface="Times New Roman"/>
                        </a:rPr>
                        <a:t>1</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1404">
                <a:tc>
                  <a:txBody>
                    <a:bodyPr/>
                    <a:lstStyle/>
                    <a:p>
                      <a:pPr algn="ctr">
                        <a:lnSpc>
                          <a:spcPct val="115000"/>
                        </a:lnSpc>
                        <a:spcAft>
                          <a:spcPts val="0"/>
                        </a:spcAft>
                      </a:pPr>
                      <a:r>
                        <a:rPr lang="tr-TR" sz="1600">
                          <a:latin typeface="Times New Roman"/>
                          <a:ea typeface="Times New Roman"/>
                          <a:cs typeface="Times New Roman"/>
                        </a:rPr>
                        <a:t>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m</a:t>
                      </a:r>
                      <a:r>
                        <a:rPr lang="tr-TR" sz="1600" baseline="-25000">
                          <a:latin typeface="Times New Roman"/>
                          <a:ea typeface="Times New Roman"/>
                          <a:cs typeface="Times New Roman"/>
                        </a:rPr>
                        <a:t>2</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m</a:t>
                      </a:r>
                      <a:r>
                        <a:rPr lang="tr-TR" sz="1600" baseline="-25000" dirty="0">
                          <a:latin typeface="Times New Roman"/>
                          <a:ea typeface="Times New Roman"/>
                          <a:cs typeface="Times New Roman"/>
                        </a:rPr>
                        <a:t>3</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7" name="6 Tablo"/>
          <p:cNvGraphicFramePr>
            <a:graphicFrameLocks noGrp="1"/>
          </p:cNvGraphicFramePr>
          <p:nvPr>
            <p:extLst>
              <p:ext uri="{D42A27DB-BD31-4B8C-83A1-F6EECF244321}">
                <p14:modId xmlns:p14="http://schemas.microsoft.com/office/powerpoint/2010/main" val="39971642"/>
              </p:ext>
            </p:extLst>
          </p:nvPr>
        </p:nvGraphicFramePr>
        <p:xfrm>
          <a:off x="1654175" y="3660585"/>
          <a:ext cx="2345690" cy="1682496"/>
        </p:xfrm>
        <a:graphic>
          <a:graphicData uri="http://schemas.openxmlformats.org/drawingml/2006/table">
            <a:tbl>
              <a:tblPr/>
              <a:tblGrid>
                <a:gridCol w="647734">
                  <a:extLst>
                    <a:ext uri="{9D8B030D-6E8A-4147-A177-3AD203B41FA5}">
                      <a16:colId xmlns:a16="http://schemas.microsoft.com/office/drawing/2014/main" val="20000"/>
                    </a:ext>
                  </a:extLst>
                </a:gridCol>
                <a:gridCol w="819663">
                  <a:extLst>
                    <a:ext uri="{9D8B030D-6E8A-4147-A177-3AD203B41FA5}">
                      <a16:colId xmlns:a16="http://schemas.microsoft.com/office/drawing/2014/main" val="20001"/>
                    </a:ext>
                  </a:extLst>
                </a:gridCol>
                <a:gridCol w="878293">
                  <a:extLst>
                    <a:ext uri="{9D8B030D-6E8A-4147-A177-3AD203B41FA5}">
                      <a16:colId xmlns:a16="http://schemas.microsoft.com/office/drawing/2014/main" val="20002"/>
                    </a:ext>
                  </a:extLst>
                </a:gridCol>
              </a:tblGrid>
              <a:tr h="459232">
                <a:tc>
                  <a:txBody>
                    <a:bodyPr/>
                    <a:lstStyle/>
                    <a:p>
                      <a:pPr algn="just">
                        <a:lnSpc>
                          <a:spcPct val="115000"/>
                        </a:lnSpc>
                        <a:spcAft>
                          <a:spcPts val="0"/>
                        </a:spcAft>
                        <a:tabLst>
                          <a:tab pos="504825" algn="l"/>
                        </a:tabLst>
                      </a:pPr>
                      <a:r>
                        <a:rPr lang="tr-TR" sz="1600" dirty="0">
                          <a:latin typeface="Times New Roman"/>
                          <a:ea typeface="Times New Roman"/>
                          <a:cs typeface="Times New Roman"/>
                        </a:rPr>
                        <a:t>       C AB     </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600">
                          <a:latin typeface="Times New Roman"/>
                          <a:ea typeface="Times New Roman"/>
                          <a:cs typeface="Times New Roman"/>
                        </a:rPr>
                        <a:t>0</a:t>
                      </a:r>
                      <a:endParaRPr lang="tr-TR" sz="16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1</a:t>
                      </a:r>
                      <a:endParaRPr lang="tr-TR" sz="16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lnSpc>
                          <a:spcPct val="115000"/>
                        </a:lnSpc>
                        <a:spcAft>
                          <a:spcPts val="0"/>
                        </a:spcAft>
                      </a:pPr>
                      <a:r>
                        <a:rPr lang="tr-TR" sz="1600">
                          <a:latin typeface="Times New Roman"/>
                          <a:ea typeface="Times New Roman"/>
                          <a:cs typeface="Times New Roman"/>
                        </a:rPr>
                        <a:t>00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tr-TR" sz="1600">
                          <a:latin typeface="Times New Roman"/>
                          <a:ea typeface="Times New Roman"/>
                          <a:cs typeface="Times New Roman"/>
                        </a:rPr>
                        <a:t>01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lnSpc>
                          <a:spcPct val="115000"/>
                        </a:lnSpc>
                        <a:spcAft>
                          <a:spcPts val="0"/>
                        </a:spcAft>
                      </a:pPr>
                      <a:r>
                        <a:rPr lang="tr-TR" sz="1600">
                          <a:latin typeface="Times New Roman"/>
                          <a:ea typeface="Times New Roman"/>
                          <a:cs typeface="Times New Roman"/>
                        </a:rPr>
                        <a:t>11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lnSpc>
                          <a:spcPct val="115000"/>
                        </a:lnSpc>
                        <a:spcAft>
                          <a:spcPts val="0"/>
                        </a:spcAft>
                      </a:pPr>
                      <a:r>
                        <a:rPr lang="tr-TR" sz="1600" dirty="0">
                          <a:latin typeface="Times New Roman"/>
                          <a:ea typeface="Times New Roman"/>
                          <a:cs typeface="Times New Roman"/>
                        </a:rPr>
                        <a:t>10</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8" name="7 Tablo"/>
          <p:cNvGraphicFramePr>
            <a:graphicFrameLocks noGrp="1"/>
          </p:cNvGraphicFramePr>
          <p:nvPr>
            <p:extLst>
              <p:ext uri="{D42A27DB-BD31-4B8C-83A1-F6EECF244321}">
                <p14:modId xmlns:p14="http://schemas.microsoft.com/office/powerpoint/2010/main" val="1920582908"/>
              </p:ext>
            </p:extLst>
          </p:nvPr>
        </p:nvGraphicFramePr>
        <p:xfrm>
          <a:off x="4410075" y="3662172"/>
          <a:ext cx="3336290" cy="1121664"/>
        </p:xfrm>
        <a:graphic>
          <a:graphicData uri="http://schemas.openxmlformats.org/drawingml/2006/table">
            <a:tbl>
              <a:tblPr/>
              <a:tblGrid>
                <a:gridCol w="564140">
                  <a:extLst>
                    <a:ext uri="{9D8B030D-6E8A-4147-A177-3AD203B41FA5}">
                      <a16:colId xmlns:a16="http://schemas.microsoft.com/office/drawing/2014/main" val="20000"/>
                    </a:ext>
                  </a:extLst>
                </a:gridCol>
                <a:gridCol w="713881">
                  <a:extLst>
                    <a:ext uri="{9D8B030D-6E8A-4147-A177-3AD203B41FA5}">
                      <a16:colId xmlns:a16="http://schemas.microsoft.com/office/drawing/2014/main" val="20001"/>
                    </a:ext>
                  </a:extLst>
                </a:gridCol>
                <a:gridCol w="626823">
                  <a:extLst>
                    <a:ext uri="{9D8B030D-6E8A-4147-A177-3AD203B41FA5}">
                      <a16:colId xmlns:a16="http://schemas.microsoft.com/office/drawing/2014/main" val="20002"/>
                    </a:ext>
                  </a:extLst>
                </a:gridCol>
                <a:gridCol w="626823">
                  <a:extLst>
                    <a:ext uri="{9D8B030D-6E8A-4147-A177-3AD203B41FA5}">
                      <a16:colId xmlns:a16="http://schemas.microsoft.com/office/drawing/2014/main" val="20003"/>
                    </a:ext>
                  </a:extLst>
                </a:gridCol>
                <a:gridCol w="804623">
                  <a:extLst>
                    <a:ext uri="{9D8B030D-6E8A-4147-A177-3AD203B41FA5}">
                      <a16:colId xmlns:a16="http://schemas.microsoft.com/office/drawing/2014/main" val="20004"/>
                    </a:ext>
                  </a:extLst>
                </a:gridCol>
              </a:tblGrid>
              <a:tr h="219075">
                <a:tc>
                  <a:txBody>
                    <a:bodyPr/>
                    <a:lstStyle/>
                    <a:p>
                      <a:pPr algn="just">
                        <a:lnSpc>
                          <a:spcPct val="115000"/>
                        </a:lnSpc>
                        <a:spcAft>
                          <a:spcPts val="0"/>
                        </a:spcAft>
                        <a:tabLst>
                          <a:tab pos="504825" algn="l"/>
                        </a:tabLst>
                      </a:pPr>
                      <a:r>
                        <a:rPr lang="tr-TR" sz="1600" dirty="0">
                          <a:latin typeface="Times New Roman"/>
                          <a:ea typeface="Times New Roman"/>
                          <a:cs typeface="Times New Roman"/>
                        </a:rPr>
                        <a:t> </a:t>
                      </a:r>
                      <a:r>
                        <a:rPr lang="tr-TR" sz="1600" dirty="0" smtClean="0">
                          <a:latin typeface="Times New Roman"/>
                          <a:ea typeface="Times New Roman"/>
                          <a:cs typeface="Times New Roman"/>
                        </a:rPr>
                        <a:t>    </a:t>
                      </a:r>
                      <a:r>
                        <a:rPr lang="tr-TR" sz="1600" dirty="0">
                          <a:latin typeface="Times New Roman"/>
                          <a:ea typeface="Times New Roman"/>
                          <a:cs typeface="Times New Roman"/>
                        </a:rPr>
                        <a:t>AB </a:t>
                      </a:r>
                      <a:endParaRPr lang="tr-TR" sz="1600" dirty="0" smtClean="0">
                        <a:latin typeface="Times New Roman"/>
                        <a:ea typeface="Times New Roman"/>
                        <a:cs typeface="Times New Roman"/>
                      </a:endParaRPr>
                    </a:p>
                    <a:p>
                      <a:pPr algn="just">
                        <a:lnSpc>
                          <a:spcPct val="115000"/>
                        </a:lnSpc>
                        <a:spcAft>
                          <a:spcPts val="0"/>
                        </a:spcAft>
                        <a:tabLst>
                          <a:tab pos="504825" algn="l"/>
                        </a:tabLst>
                      </a:pPr>
                      <a:r>
                        <a:rPr lang="tr-TR" sz="1600" dirty="0" smtClean="0">
                          <a:latin typeface="Times New Roman"/>
                          <a:ea typeface="Times New Roman"/>
                          <a:cs typeface="Times New Roman"/>
                        </a:rPr>
                        <a:t>C     </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600">
                          <a:latin typeface="Times New Roman"/>
                          <a:ea typeface="Times New Roman"/>
                          <a:cs typeface="Times New Roman"/>
                        </a:rPr>
                        <a:t>00</a:t>
                      </a:r>
                      <a:endParaRPr lang="tr-TR" sz="16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01</a:t>
                      </a:r>
                      <a:endParaRPr lang="tr-TR" sz="1600">
                        <a:latin typeface="Calibri"/>
                        <a:ea typeface="Times New Roman"/>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11</a:t>
                      </a:r>
                      <a:endParaRPr lang="tr-TR" sz="1600">
                        <a:latin typeface="Calibri"/>
                        <a:ea typeface="Times New Roman"/>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10</a:t>
                      </a:r>
                      <a:endParaRPr lang="tr-TR" sz="16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lnSpc>
                          <a:spcPct val="115000"/>
                        </a:lnSpc>
                        <a:spcAft>
                          <a:spcPts val="0"/>
                        </a:spcAft>
                      </a:pPr>
                      <a:r>
                        <a:rPr lang="tr-TR" sz="1600">
                          <a:latin typeface="Times New Roman"/>
                          <a:ea typeface="Times New Roman"/>
                          <a:cs typeface="Times New Roman"/>
                        </a:rPr>
                        <a:t>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tr-TR" sz="1600">
                          <a:latin typeface="Times New Roman"/>
                          <a:ea typeface="Times New Roman"/>
                          <a:cs typeface="Times New Roman"/>
                        </a:rPr>
                        <a:t>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a:t>
                      </a:r>
                      <a:endParaRPr lang="tr-TR" sz="160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9" name="8 Tablo"/>
          <p:cNvGraphicFramePr>
            <a:graphicFrameLocks noGrp="1"/>
          </p:cNvGraphicFramePr>
          <p:nvPr/>
        </p:nvGraphicFramePr>
        <p:xfrm>
          <a:off x="5972810" y="1780921"/>
          <a:ext cx="1621790" cy="950595"/>
        </p:xfrm>
        <a:graphic>
          <a:graphicData uri="http://schemas.openxmlformats.org/drawingml/2006/table">
            <a:tbl>
              <a:tblPr/>
              <a:tblGrid>
                <a:gridCol w="642431">
                  <a:extLst>
                    <a:ext uri="{9D8B030D-6E8A-4147-A177-3AD203B41FA5}">
                      <a16:colId xmlns:a16="http://schemas.microsoft.com/office/drawing/2014/main" val="20000"/>
                    </a:ext>
                  </a:extLst>
                </a:gridCol>
                <a:gridCol w="445959">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27279">
                <a:tc>
                  <a:txBody>
                    <a:bodyPr/>
                    <a:lstStyle/>
                    <a:p>
                      <a:pPr algn="ctr">
                        <a:lnSpc>
                          <a:spcPct val="115000"/>
                        </a:lnSpc>
                        <a:spcAft>
                          <a:spcPts val="0"/>
                        </a:spcAft>
                        <a:tabLst>
                          <a:tab pos="504825" algn="l"/>
                        </a:tabLst>
                      </a:pPr>
                      <a:r>
                        <a:rPr lang="tr-TR" sz="1600" dirty="0">
                          <a:latin typeface="+mj-lt"/>
                          <a:ea typeface="Times New Roman"/>
                          <a:cs typeface="Times New Roman"/>
                        </a:rPr>
                        <a:t>B     </a:t>
                      </a:r>
                      <a:r>
                        <a:rPr lang="tr-TR" sz="1600" dirty="0" smtClean="0">
                          <a:latin typeface="+mj-lt"/>
                          <a:ea typeface="Times New Roman"/>
                          <a:cs typeface="Times New Roman"/>
                        </a:rPr>
                        <a:t> </a:t>
                      </a:r>
                      <a:r>
                        <a:rPr lang="tr-TR" sz="1600" dirty="0">
                          <a:latin typeface="+mj-lt"/>
                          <a:ea typeface="Times New Roman"/>
                          <a:cs typeface="Times New Roman"/>
                        </a:rPr>
                        <a:t>A</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600" dirty="0">
                          <a:latin typeface="+mj-lt"/>
                          <a:ea typeface="Times New Roman"/>
                          <a:cs typeface="Times New Roman"/>
                        </a:rPr>
                        <a:t>0</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mj-lt"/>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2900">
                <a:tc>
                  <a:txBody>
                    <a:bodyPr/>
                    <a:lstStyle/>
                    <a:p>
                      <a:pPr algn="ctr">
                        <a:lnSpc>
                          <a:spcPct val="115000"/>
                        </a:lnSpc>
                        <a:spcAft>
                          <a:spcPts val="0"/>
                        </a:spcAft>
                      </a:pPr>
                      <a:r>
                        <a:rPr lang="tr-TR" sz="1600">
                          <a:latin typeface="+mj-lt"/>
                          <a:ea typeface="Times New Roman"/>
                          <a:cs typeface="Times New Roman"/>
                        </a:rPr>
                        <a:t>0</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mj-lt"/>
                          <a:ea typeface="Times New Roman"/>
                          <a:cs typeface="Times New Roman"/>
                        </a:rPr>
                        <a:t>m</a:t>
                      </a:r>
                      <a:r>
                        <a:rPr lang="tr-TR" sz="1600" baseline="-25000">
                          <a:latin typeface="+mj-lt"/>
                          <a:ea typeface="Times New Roman"/>
                          <a:cs typeface="Times New Roman"/>
                        </a:rPr>
                        <a:t>0</a:t>
                      </a:r>
                      <a:endParaRPr lang="tr-TR" sz="1600">
                        <a:latin typeface="+mj-lt"/>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mj-lt"/>
                          <a:ea typeface="Times New Roman"/>
                          <a:cs typeface="Times New Roman"/>
                        </a:rPr>
                        <a:t>m</a:t>
                      </a:r>
                      <a:r>
                        <a:rPr lang="tr-TR" sz="1600" baseline="-25000">
                          <a:latin typeface="+mj-lt"/>
                          <a:ea typeface="Times New Roman"/>
                          <a:cs typeface="Times New Roman"/>
                        </a:rPr>
                        <a:t>2</a:t>
                      </a:r>
                      <a:endParaRPr lang="tr-TR" sz="1600">
                        <a:latin typeface="+mj-lt"/>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tr-TR" sz="1600">
                          <a:latin typeface="+mj-lt"/>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mj-lt"/>
                          <a:ea typeface="Times New Roman"/>
                          <a:cs typeface="Times New Roman"/>
                        </a:rPr>
                        <a:t>m</a:t>
                      </a:r>
                      <a:r>
                        <a:rPr lang="tr-TR" sz="1600" baseline="-25000">
                          <a:latin typeface="+mj-lt"/>
                          <a:ea typeface="Times New Roman"/>
                          <a:cs typeface="Times New Roman"/>
                        </a:rPr>
                        <a:t>1</a:t>
                      </a:r>
                      <a:endParaRPr lang="tr-TR" sz="1600">
                        <a:latin typeface="+mj-lt"/>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mj-lt"/>
                          <a:ea typeface="Times New Roman"/>
                          <a:cs typeface="Times New Roman"/>
                        </a:rPr>
                        <a:t>m</a:t>
                      </a:r>
                      <a:r>
                        <a:rPr lang="tr-TR" sz="1600" baseline="-25000" dirty="0">
                          <a:latin typeface="+mj-lt"/>
                          <a:ea typeface="Times New Roman"/>
                          <a:cs typeface="Times New Roman"/>
                        </a:rPr>
                        <a:t>3</a:t>
                      </a:r>
                      <a:endParaRPr lang="tr-TR" sz="1600" dirty="0">
                        <a:latin typeface="+mj-lt"/>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Başlık"/>
          <p:cNvSpPr>
            <a:spLocks noGrp="1"/>
          </p:cNvSpPr>
          <p:nvPr>
            <p:ph type="title"/>
          </p:nvPr>
        </p:nvSpPr>
        <p:spPr/>
        <p:txBody>
          <a:bodyPr/>
          <a:lstStyle/>
          <a:p>
            <a:r>
              <a:rPr lang="en-US" sz="2400" b="1" spc="-1" dirty="0" err="1"/>
              <a:t>Karnaugh</a:t>
            </a:r>
            <a:r>
              <a:rPr lang="en-US" sz="2400" b="1" spc="-1" dirty="0"/>
              <a:t> Maps with 4 Variables</a:t>
            </a:r>
            <a:endParaRPr lang="en-US" sz="2400" spc="-1" dirty="0">
              <a:solidFill>
                <a:srgbClr val="000000"/>
              </a:solidFill>
            </a:endParaRPr>
          </a:p>
        </p:txBody>
      </p:sp>
      <p:sp>
        <p:nvSpPr>
          <p:cNvPr id="6147" name="2 İçerik Yer Tutucusu"/>
          <p:cNvSpPr>
            <a:spLocks noGrp="1"/>
          </p:cNvSpPr>
          <p:nvPr>
            <p:ph idx="1"/>
          </p:nvPr>
        </p:nvSpPr>
        <p:spPr>
          <a:xfrm>
            <a:off x="349250" y="900113"/>
            <a:ext cx="8375650" cy="5078412"/>
          </a:xfrm>
        </p:spPr>
        <p:txBody>
          <a:bodyPr/>
          <a:lstStyle/>
          <a:p>
            <a:pPr marL="0" indent="0" algn="just">
              <a:buFontTx/>
              <a:buNone/>
            </a:pPr>
            <a:r>
              <a:rPr lang="en-US" sz="2200" dirty="0"/>
              <a:t>A K-Map with 4 variables has 2</a:t>
            </a:r>
            <a:r>
              <a:rPr lang="en-US" sz="2200" baseline="30000" dirty="0"/>
              <a:t>4</a:t>
            </a:r>
            <a:r>
              <a:rPr lang="en-US" sz="2200" dirty="0"/>
              <a:t> = 16 cells. Such a K-Map can be created in 4×4 matrix form.</a:t>
            </a:r>
          </a:p>
          <a:p>
            <a:pPr>
              <a:buFontTx/>
              <a:buNone/>
            </a:pPr>
            <a:endParaRPr lang="tr-TR" dirty="0" smtClean="0"/>
          </a:p>
        </p:txBody>
      </p:sp>
      <p:sp>
        <p:nvSpPr>
          <p:cNvPr id="6148" name="3 Altbilgi Yer Tutucusu"/>
          <p:cNvSpPr>
            <a:spLocks noGrp="1"/>
          </p:cNvSpPr>
          <p:nvPr>
            <p:ph type="ftr" sz="quarter" idx="10"/>
          </p:nvPr>
        </p:nvSpPr>
        <p:spPr>
          <a:noFill/>
        </p:spPr>
        <p:txBody>
          <a:bodyPr/>
          <a:lstStyle/>
          <a:p>
            <a:pPr>
              <a:defRPr/>
            </a:pPr>
            <a:r>
              <a:rPr lang="en-US" dirty="0"/>
              <a:t>Logic Circuits</a:t>
            </a:r>
            <a:endParaRPr lang="en-US" dirty="0"/>
          </a:p>
        </p:txBody>
      </p:sp>
      <p:graphicFrame>
        <p:nvGraphicFramePr>
          <p:cNvPr id="5" name="4 Tablo"/>
          <p:cNvGraphicFramePr>
            <a:graphicFrameLocks noGrp="1"/>
          </p:cNvGraphicFramePr>
          <p:nvPr/>
        </p:nvGraphicFramePr>
        <p:xfrm>
          <a:off x="2574925" y="1751013"/>
          <a:ext cx="4104640" cy="1682496"/>
        </p:xfrm>
        <a:graphic>
          <a:graphicData uri="http://schemas.openxmlformats.org/drawingml/2006/table">
            <a:tbl>
              <a:tblPr/>
              <a:tblGrid>
                <a:gridCol w="587414">
                  <a:extLst>
                    <a:ext uri="{9D8B030D-6E8A-4147-A177-3AD203B41FA5}">
                      <a16:colId xmlns:a16="http://schemas.microsoft.com/office/drawing/2014/main" val="20000"/>
                    </a:ext>
                  </a:extLst>
                </a:gridCol>
                <a:gridCol w="906501">
                  <a:extLst>
                    <a:ext uri="{9D8B030D-6E8A-4147-A177-3AD203B41FA5}">
                      <a16:colId xmlns:a16="http://schemas.microsoft.com/office/drawing/2014/main" val="20001"/>
                    </a:ext>
                  </a:extLst>
                </a:gridCol>
                <a:gridCol w="979021">
                  <a:extLst>
                    <a:ext uri="{9D8B030D-6E8A-4147-A177-3AD203B41FA5}">
                      <a16:colId xmlns:a16="http://schemas.microsoft.com/office/drawing/2014/main" val="20002"/>
                    </a:ext>
                  </a:extLst>
                </a:gridCol>
                <a:gridCol w="815852">
                  <a:extLst>
                    <a:ext uri="{9D8B030D-6E8A-4147-A177-3AD203B41FA5}">
                      <a16:colId xmlns:a16="http://schemas.microsoft.com/office/drawing/2014/main" val="20003"/>
                    </a:ext>
                  </a:extLst>
                </a:gridCol>
                <a:gridCol w="815852">
                  <a:extLst>
                    <a:ext uri="{9D8B030D-6E8A-4147-A177-3AD203B41FA5}">
                      <a16:colId xmlns:a16="http://schemas.microsoft.com/office/drawing/2014/main" val="20004"/>
                    </a:ext>
                  </a:extLst>
                </a:gridCol>
              </a:tblGrid>
              <a:tr h="219075">
                <a:tc>
                  <a:txBody>
                    <a:bodyPr/>
                    <a:lstStyle/>
                    <a:p>
                      <a:pPr algn="just">
                        <a:lnSpc>
                          <a:spcPct val="115000"/>
                        </a:lnSpc>
                        <a:spcAft>
                          <a:spcPts val="0"/>
                        </a:spcAft>
                        <a:tabLst>
                          <a:tab pos="504825" algn="l"/>
                        </a:tabLst>
                      </a:pPr>
                      <a:r>
                        <a:rPr lang="tr-TR" sz="1600" dirty="0">
                          <a:latin typeface="Times New Roman"/>
                          <a:ea typeface="Times New Roman"/>
                          <a:cs typeface="Times New Roman"/>
                        </a:rPr>
                        <a:t>     CD AB     </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600">
                          <a:latin typeface="Times New Roman"/>
                          <a:ea typeface="Times New Roman"/>
                          <a:cs typeface="Times New Roman"/>
                        </a:rPr>
                        <a:t>00</a:t>
                      </a:r>
                      <a:endParaRPr lang="tr-TR" sz="16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01</a:t>
                      </a:r>
                      <a:endParaRPr lang="tr-TR" sz="1600">
                        <a:latin typeface="Calibri"/>
                        <a:ea typeface="Times New Roman"/>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11</a:t>
                      </a:r>
                      <a:endParaRPr lang="tr-TR" sz="1600">
                        <a:latin typeface="Calibri"/>
                        <a:ea typeface="Times New Roman"/>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10</a:t>
                      </a:r>
                      <a:endParaRPr lang="tr-TR" sz="16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lnSpc>
                          <a:spcPct val="115000"/>
                        </a:lnSpc>
                        <a:spcAft>
                          <a:spcPts val="0"/>
                        </a:spcAft>
                      </a:pPr>
                      <a:r>
                        <a:rPr lang="tr-TR" sz="1600">
                          <a:latin typeface="Times New Roman"/>
                          <a:ea typeface="Times New Roman"/>
                          <a:cs typeface="Times New Roman"/>
                        </a:rPr>
                        <a:t>00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A’B’C’D</a:t>
                      </a:r>
                      <a:endParaRPr lang="tr-TR" sz="160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A’B’CD’</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tr-TR" sz="1600">
                          <a:latin typeface="Times New Roman"/>
                          <a:ea typeface="Times New Roman"/>
                          <a:cs typeface="Times New Roman"/>
                        </a:rPr>
                        <a:t>01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A’BCD</a:t>
                      </a:r>
                      <a:endParaRPr lang="tr-TR" sz="160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A’BCD’</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lnSpc>
                          <a:spcPct val="115000"/>
                        </a:lnSpc>
                        <a:spcAft>
                          <a:spcPts val="0"/>
                        </a:spcAft>
                      </a:pPr>
                      <a:r>
                        <a:rPr lang="tr-TR" sz="1600">
                          <a:latin typeface="Times New Roman"/>
                          <a:ea typeface="Times New Roman"/>
                          <a:cs typeface="Times New Roman"/>
                        </a:rPr>
                        <a:t>11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ABCD’</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lnSpc>
                          <a:spcPct val="115000"/>
                        </a:lnSpc>
                        <a:spcAft>
                          <a:spcPts val="0"/>
                        </a:spcAft>
                      </a:pPr>
                      <a:r>
                        <a:rPr lang="tr-TR" sz="1600">
                          <a:latin typeface="Times New Roman"/>
                          <a:ea typeface="Times New Roman"/>
                          <a:cs typeface="Times New Roman"/>
                        </a:rPr>
                        <a:t>10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6" name="5 Tablo"/>
          <p:cNvGraphicFramePr>
            <a:graphicFrameLocks noGrp="1"/>
          </p:cNvGraphicFramePr>
          <p:nvPr/>
        </p:nvGraphicFramePr>
        <p:xfrm>
          <a:off x="2590800" y="3821113"/>
          <a:ext cx="4076699" cy="1682496"/>
        </p:xfrm>
        <a:graphic>
          <a:graphicData uri="http://schemas.openxmlformats.org/drawingml/2006/table">
            <a:tbl>
              <a:tblPr/>
              <a:tblGrid>
                <a:gridCol w="567057">
                  <a:extLst>
                    <a:ext uri="{9D8B030D-6E8A-4147-A177-3AD203B41FA5}">
                      <a16:colId xmlns:a16="http://schemas.microsoft.com/office/drawing/2014/main" val="20000"/>
                    </a:ext>
                  </a:extLst>
                </a:gridCol>
                <a:gridCol w="875088">
                  <a:extLst>
                    <a:ext uri="{9D8B030D-6E8A-4147-A177-3AD203B41FA5}">
                      <a16:colId xmlns:a16="http://schemas.microsoft.com/office/drawing/2014/main" val="20001"/>
                    </a:ext>
                  </a:extLst>
                </a:gridCol>
                <a:gridCol w="945095">
                  <a:extLst>
                    <a:ext uri="{9D8B030D-6E8A-4147-A177-3AD203B41FA5}">
                      <a16:colId xmlns:a16="http://schemas.microsoft.com/office/drawing/2014/main" val="20002"/>
                    </a:ext>
                  </a:extLst>
                </a:gridCol>
                <a:gridCol w="787580">
                  <a:extLst>
                    <a:ext uri="{9D8B030D-6E8A-4147-A177-3AD203B41FA5}">
                      <a16:colId xmlns:a16="http://schemas.microsoft.com/office/drawing/2014/main" val="20003"/>
                    </a:ext>
                  </a:extLst>
                </a:gridCol>
                <a:gridCol w="901879">
                  <a:extLst>
                    <a:ext uri="{9D8B030D-6E8A-4147-A177-3AD203B41FA5}">
                      <a16:colId xmlns:a16="http://schemas.microsoft.com/office/drawing/2014/main" val="20004"/>
                    </a:ext>
                  </a:extLst>
                </a:gridCol>
              </a:tblGrid>
              <a:tr h="219075">
                <a:tc>
                  <a:txBody>
                    <a:bodyPr/>
                    <a:lstStyle/>
                    <a:p>
                      <a:pPr algn="just">
                        <a:lnSpc>
                          <a:spcPct val="115000"/>
                        </a:lnSpc>
                        <a:spcAft>
                          <a:spcPts val="0"/>
                        </a:spcAft>
                        <a:tabLst>
                          <a:tab pos="504825" algn="l"/>
                        </a:tabLst>
                      </a:pPr>
                      <a:r>
                        <a:rPr lang="tr-TR" sz="1600" dirty="0">
                          <a:latin typeface="Times New Roman"/>
                          <a:ea typeface="Times New Roman"/>
                          <a:cs typeface="Times New Roman"/>
                        </a:rPr>
                        <a:t>     AB CD     </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600" dirty="0">
                          <a:latin typeface="Times New Roman"/>
                          <a:ea typeface="Times New Roman"/>
                          <a:cs typeface="Times New Roman"/>
                        </a:rPr>
                        <a:t>00</a:t>
                      </a:r>
                      <a:endParaRPr lang="tr-TR" sz="1600" dirty="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01</a:t>
                      </a:r>
                      <a:endParaRPr lang="tr-TR" sz="1600">
                        <a:latin typeface="Calibri"/>
                        <a:ea typeface="Times New Roman"/>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11</a:t>
                      </a:r>
                      <a:endParaRPr lang="tr-TR" sz="1600">
                        <a:latin typeface="Calibri"/>
                        <a:ea typeface="Times New Roman"/>
                        <a:cs typeface="Times New Roman"/>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Times New Roman"/>
                          <a:ea typeface="Times New Roman"/>
                          <a:cs typeface="Times New Roman"/>
                        </a:rPr>
                        <a:t>10</a:t>
                      </a:r>
                      <a:endParaRPr lang="tr-TR" sz="16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lnSpc>
                          <a:spcPct val="115000"/>
                        </a:lnSpc>
                        <a:spcAft>
                          <a:spcPts val="0"/>
                        </a:spcAft>
                      </a:pPr>
                      <a:r>
                        <a:rPr lang="tr-TR" sz="1600">
                          <a:latin typeface="Times New Roman"/>
                          <a:ea typeface="Times New Roman"/>
                          <a:cs typeface="Times New Roman"/>
                        </a:rPr>
                        <a:t>00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r>
                        <a:rPr lang="tr-TR" sz="1600" dirty="0">
                          <a:latin typeface="Times New Roman"/>
                          <a:ea typeface="Times New Roman"/>
                          <a:cs typeface="Times New Roman"/>
                        </a:rPr>
                        <a:t>’</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tr-TR" sz="1600">
                          <a:latin typeface="Times New Roman"/>
                          <a:ea typeface="Times New Roman"/>
                          <a:cs typeface="Times New Roman"/>
                        </a:rPr>
                        <a:t>01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lnSpc>
                          <a:spcPct val="115000"/>
                        </a:lnSpc>
                        <a:spcAft>
                          <a:spcPts val="0"/>
                        </a:spcAft>
                      </a:pPr>
                      <a:r>
                        <a:rPr lang="tr-TR" sz="1600">
                          <a:latin typeface="Times New Roman"/>
                          <a:ea typeface="Times New Roman"/>
                          <a:cs typeface="Times New Roman"/>
                        </a:rPr>
                        <a:t>11</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lnSpc>
                          <a:spcPct val="115000"/>
                        </a:lnSpc>
                        <a:spcAft>
                          <a:spcPts val="0"/>
                        </a:spcAft>
                      </a:pPr>
                      <a:r>
                        <a:rPr lang="tr-TR" sz="1600">
                          <a:latin typeface="Times New Roman"/>
                          <a:ea typeface="Times New Roman"/>
                          <a:cs typeface="Times New Roman"/>
                        </a:rPr>
                        <a:t>10</a:t>
                      </a: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r>
                        <a:rPr lang="tr-TR" sz="1600" dirty="0">
                          <a:latin typeface="Times New Roman"/>
                          <a:ea typeface="Times New Roman"/>
                          <a:cs typeface="Times New Roman"/>
                        </a:rPr>
                        <a:t>’</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smtClean="0">
                          <a:latin typeface="Times New Roman"/>
                          <a:ea typeface="Times New Roman"/>
                          <a:cs typeface="Times New Roman"/>
                        </a:rPr>
                        <a:t>ABCD’</a:t>
                      </a:r>
                      <a:endParaRPr lang="tr-TR" sz="1600" dirty="0">
                        <a:latin typeface="Calibri"/>
                        <a:ea typeface="Times New Roman"/>
                        <a:cs typeface="Times New Roman"/>
                      </a:endParaRPr>
                    </a:p>
                  </a:txBody>
                  <a:tcPr marL="36195" marR="361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Times New Roman"/>
                          <a:ea typeface="Times New Roman"/>
                          <a:cs typeface="Times New Roman"/>
                        </a:rPr>
                        <a:t>AB’CD’</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1 Başlık"/>
          <p:cNvSpPr>
            <a:spLocks noGrp="1"/>
          </p:cNvSpPr>
          <p:nvPr>
            <p:ph type="title"/>
          </p:nvPr>
        </p:nvSpPr>
        <p:spPr/>
        <p:txBody>
          <a:bodyPr/>
          <a:lstStyle/>
          <a:p>
            <a:r>
              <a:rPr lang="en-US" sz="2400" b="1" spc="-1" dirty="0" err="1"/>
              <a:t>Karnaugh</a:t>
            </a:r>
            <a:r>
              <a:rPr lang="en-US" sz="2400" b="1" spc="-1" dirty="0"/>
              <a:t> Maps with 5 Variables</a:t>
            </a:r>
            <a:endParaRPr lang="en-US" sz="2400" spc="-1" dirty="0">
              <a:solidFill>
                <a:srgbClr val="000000"/>
              </a:solidFill>
            </a:endParaRPr>
          </a:p>
        </p:txBody>
      </p:sp>
      <p:sp>
        <p:nvSpPr>
          <p:cNvPr id="3" name="2 İçerik Yer Tutucusu"/>
          <p:cNvSpPr>
            <a:spLocks noGrp="1"/>
          </p:cNvSpPr>
          <p:nvPr>
            <p:ph idx="1"/>
          </p:nvPr>
        </p:nvSpPr>
        <p:spPr>
          <a:xfrm>
            <a:off x="349250" y="862013"/>
            <a:ext cx="8375650" cy="5078412"/>
          </a:xfrm>
        </p:spPr>
        <p:txBody>
          <a:bodyPr/>
          <a:lstStyle/>
          <a:p>
            <a:pPr marL="0" indent="0" algn="just">
              <a:lnSpc>
                <a:spcPct val="100000"/>
              </a:lnSpc>
              <a:spcBef>
                <a:spcPts val="400"/>
              </a:spcBef>
              <a:buNone/>
            </a:pPr>
            <a:r>
              <a:rPr lang="en-US" sz="2000" spc="-1" dirty="0">
                <a:solidFill>
                  <a:srgbClr val="000000"/>
                </a:solidFill>
              </a:rPr>
              <a:t>A K-Map with 5 variables has 2</a:t>
            </a:r>
            <a:r>
              <a:rPr lang="en-US" sz="2000" spc="-1" baseline="30000" dirty="0">
                <a:solidFill>
                  <a:srgbClr val="000000"/>
                </a:solidFill>
              </a:rPr>
              <a:t>5</a:t>
            </a:r>
            <a:r>
              <a:rPr lang="en-US" sz="2000" spc="-1" dirty="0">
                <a:solidFill>
                  <a:srgbClr val="000000"/>
                </a:solidFill>
              </a:rPr>
              <a:t> = 32 cells. It can e considered as </a:t>
            </a:r>
            <a:r>
              <a:rPr lang="en-US" sz="2000" spc="-1" dirty="0" smtClean="0">
                <a:solidFill>
                  <a:srgbClr val="000000"/>
                </a:solidFill>
              </a:rPr>
              <a:t>double </a:t>
            </a:r>
            <a:r>
              <a:rPr lang="en-US" sz="2000" spc="-1" dirty="0">
                <a:solidFill>
                  <a:srgbClr val="000000"/>
                </a:solidFill>
              </a:rPr>
              <a:t>4-variable K-Maps. We handle the 5</a:t>
            </a:r>
            <a:r>
              <a:rPr lang="en-US" sz="2000" spc="-1" baseline="30000" dirty="0">
                <a:solidFill>
                  <a:srgbClr val="000000"/>
                </a:solidFill>
              </a:rPr>
              <a:t>th</a:t>
            </a:r>
            <a:r>
              <a:rPr lang="en-US" sz="2000" spc="-1" dirty="0">
                <a:solidFill>
                  <a:srgbClr val="000000"/>
                </a:solidFill>
              </a:rPr>
              <a:t> variable separately. </a:t>
            </a:r>
          </a:p>
          <a:p>
            <a:pPr marL="0" indent="0" algn="just">
              <a:lnSpc>
                <a:spcPct val="100000"/>
              </a:lnSpc>
              <a:spcBef>
                <a:spcPts val="400"/>
              </a:spcBef>
              <a:buNone/>
            </a:pPr>
            <a:r>
              <a:rPr lang="en-US" sz="2000" spc="-1" dirty="0">
                <a:solidFill>
                  <a:srgbClr val="000000"/>
                </a:solidFill>
              </a:rPr>
              <a:t>For F(A,B,C,D,E);</a:t>
            </a:r>
          </a:p>
          <a:p>
            <a:pPr algn="just">
              <a:lnSpc>
                <a:spcPct val="100000"/>
              </a:lnSpc>
              <a:spcBef>
                <a:spcPts val="439"/>
              </a:spcBef>
            </a:pPr>
            <a:endParaRPr lang="en-US" sz="2000" spc="-1" dirty="0">
              <a:solidFill>
                <a:srgbClr val="000000"/>
              </a:solidFill>
            </a:endParaRPr>
          </a:p>
          <a:p>
            <a:pPr algn="just">
              <a:lnSpc>
                <a:spcPct val="100000"/>
              </a:lnSpc>
              <a:spcBef>
                <a:spcPts val="439"/>
              </a:spcBef>
            </a:pPr>
            <a:endParaRPr lang="en-US" sz="2000" spc="-1" dirty="0">
              <a:solidFill>
                <a:srgbClr val="000000"/>
              </a:solidFill>
            </a:endParaRPr>
          </a:p>
          <a:p>
            <a:pPr algn="just">
              <a:lnSpc>
                <a:spcPct val="100000"/>
              </a:lnSpc>
              <a:spcBef>
                <a:spcPts val="439"/>
              </a:spcBef>
            </a:pPr>
            <a:endParaRPr lang="en-US" sz="2000" spc="-1" dirty="0">
              <a:solidFill>
                <a:srgbClr val="000000"/>
              </a:solidFill>
            </a:endParaRPr>
          </a:p>
          <a:p>
            <a:pPr algn="just">
              <a:lnSpc>
                <a:spcPct val="100000"/>
              </a:lnSpc>
              <a:spcBef>
                <a:spcPts val="439"/>
              </a:spcBef>
            </a:pPr>
            <a:endParaRPr lang="en-US" sz="2000" spc="-1" dirty="0">
              <a:solidFill>
                <a:srgbClr val="000000"/>
              </a:solidFill>
            </a:endParaRPr>
          </a:p>
          <a:p>
            <a:pPr algn="just">
              <a:lnSpc>
                <a:spcPct val="100000"/>
              </a:lnSpc>
              <a:spcBef>
                <a:spcPts val="439"/>
              </a:spcBef>
            </a:pPr>
            <a:endParaRPr lang="en-US" sz="2000" spc="-1" dirty="0">
              <a:solidFill>
                <a:srgbClr val="000000"/>
              </a:solidFill>
            </a:endParaRPr>
          </a:p>
          <a:p>
            <a:pPr algn="just">
              <a:lnSpc>
                <a:spcPct val="100000"/>
              </a:lnSpc>
              <a:spcBef>
                <a:spcPts val="201"/>
              </a:spcBef>
            </a:pPr>
            <a:endParaRPr lang="en-US" sz="3600" spc="-1" dirty="0">
              <a:solidFill>
                <a:srgbClr val="000000"/>
              </a:solidFill>
            </a:endParaRPr>
          </a:p>
          <a:p>
            <a:pPr marL="0" indent="0" algn="just">
              <a:lnSpc>
                <a:spcPct val="100000"/>
              </a:lnSpc>
              <a:spcBef>
                <a:spcPts val="400"/>
              </a:spcBef>
              <a:buNone/>
            </a:pPr>
            <a:r>
              <a:rPr lang="en-US" sz="2000" spc="-1" dirty="0">
                <a:solidFill>
                  <a:srgbClr val="000000"/>
                </a:solidFill>
              </a:rPr>
              <a:t>Alternatively, we can create a 5-variable K-Map as depicted below.</a:t>
            </a:r>
            <a:endParaRPr lang="tr-TR" sz="2200" dirty="0" smtClean="0"/>
          </a:p>
          <a:p>
            <a:pPr>
              <a:buFontTx/>
              <a:buNone/>
              <a:defRPr/>
            </a:pPr>
            <a:endParaRPr lang="tr-TR" dirty="0"/>
          </a:p>
        </p:txBody>
      </p:sp>
      <p:sp>
        <p:nvSpPr>
          <p:cNvPr id="7172" name="3 Altbilgi Yer Tutucusu"/>
          <p:cNvSpPr>
            <a:spLocks noGrp="1"/>
          </p:cNvSpPr>
          <p:nvPr>
            <p:ph type="ftr" sz="quarter" idx="10"/>
          </p:nvPr>
        </p:nvSpPr>
        <p:spPr>
          <a:noFill/>
        </p:spPr>
        <p:txBody>
          <a:bodyPr/>
          <a:lstStyle/>
          <a:p>
            <a:pPr>
              <a:defRPr/>
            </a:pPr>
            <a:r>
              <a:rPr lang="en-US" dirty="0"/>
              <a:t>Logic Circuits</a:t>
            </a:r>
            <a:endParaRPr lang="en-US" dirty="0"/>
          </a:p>
        </p:txBody>
      </p:sp>
      <p:pic>
        <p:nvPicPr>
          <p:cNvPr id="5" name="4 Resim"/>
          <p:cNvPicPr/>
          <p:nvPr/>
        </p:nvPicPr>
        <p:blipFill>
          <a:blip r:embed="rId2" cstate="print"/>
          <a:srcRect/>
          <a:stretch>
            <a:fillRect/>
          </a:stretch>
        </p:blipFill>
        <p:spPr bwMode="auto">
          <a:xfrm>
            <a:off x="3082925" y="1602486"/>
            <a:ext cx="4270375" cy="2647950"/>
          </a:xfrm>
          <a:prstGeom prst="rect">
            <a:avLst/>
          </a:prstGeom>
          <a:noFill/>
          <a:ln w="9525">
            <a:noFill/>
            <a:miter lim="800000"/>
            <a:headEnd/>
            <a:tailEnd/>
          </a:ln>
          <a:effectLst>
            <a:outerShdw sx="1000" sy="1000" algn="ctr" rotWithShape="0">
              <a:srgbClr val="000000">
                <a:alpha val="48000"/>
              </a:srgbClr>
            </a:outerShdw>
          </a:effectLst>
        </p:spPr>
      </p:pic>
      <p:pic>
        <p:nvPicPr>
          <p:cNvPr id="7174" name="5 Resim"/>
          <p:cNvPicPr>
            <a:picLocks noChangeAspect="1" noChangeArrowheads="1"/>
          </p:cNvPicPr>
          <p:nvPr/>
        </p:nvPicPr>
        <p:blipFill>
          <a:blip r:embed="rId3" cstate="print"/>
          <a:srcRect/>
          <a:stretch>
            <a:fillRect/>
          </a:stretch>
        </p:blipFill>
        <p:spPr bwMode="auto">
          <a:xfrm>
            <a:off x="2986088" y="4731449"/>
            <a:ext cx="3744912" cy="15001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Başlık"/>
          <p:cNvSpPr>
            <a:spLocks noGrp="1"/>
          </p:cNvSpPr>
          <p:nvPr>
            <p:ph type="title"/>
          </p:nvPr>
        </p:nvSpPr>
        <p:spPr/>
        <p:txBody>
          <a:bodyPr/>
          <a:lstStyle/>
          <a:p>
            <a:r>
              <a:rPr lang="en-US" sz="2400" b="1" spc="-1" dirty="0"/>
              <a:t>Neighborhood in K-Maps</a:t>
            </a:r>
            <a:endParaRPr lang="en-US" sz="2400" spc="-1" dirty="0">
              <a:solidFill>
                <a:srgbClr val="000000"/>
              </a:solidFill>
            </a:endParaRPr>
          </a:p>
        </p:txBody>
      </p:sp>
      <p:sp>
        <p:nvSpPr>
          <p:cNvPr id="8195" name="2 İçerik Yer Tutucusu"/>
          <p:cNvSpPr>
            <a:spLocks noGrp="1"/>
          </p:cNvSpPr>
          <p:nvPr>
            <p:ph idx="1"/>
          </p:nvPr>
        </p:nvSpPr>
        <p:spPr>
          <a:xfrm>
            <a:off x="349250" y="862013"/>
            <a:ext cx="8375650" cy="5078412"/>
          </a:xfrm>
        </p:spPr>
        <p:txBody>
          <a:bodyPr/>
          <a:lstStyle/>
          <a:p>
            <a:pPr marL="0" indent="0" algn="just">
              <a:lnSpc>
                <a:spcPct val="100000"/>
              </a:lnSpc>
              <a:spcBef>
                <a:spcPts val="400"/>
              </a:spcBef>
              <a:buNone/>
            </a:pPr>
            <a:r>
              <a:rPr lang="en-US" sz="2000" spc="-1" dirty="0">
                <a:solidFill>
                  <a:srgbClr val="000000"/>
                </a:solidFill>
              </a:rPr>
              <a:t>Cells correspond to input values. If input values of two cells differ only 1 bit, then these cells are considered to be neighbors. For example, in a 3-variable K-Map, a cell with input values 100 is a neighbor of the cells with input values 101, 000, and 110. If the difference is 2 bits (e.g. 010 and 001) these cells are not neighbors. Diagonal cells cannot be neighbors because there’s no way that they can differ only one bit.</a:t>
            </a:r>
          </a:p>
          <a:p>
            <a:pPr algn="just">
              <a:lnSpc>
                <a:spcPct val="100000"/>
              </a:lnSpc>
              <a:spcBef>
                <a:spcPts val="439"/>
              </a:spcBef>
            </a:pPr>
            <a:endParaRPr lang="en-US" sz="2000" spc="-1" dirty="0">
              <a:solidFill>
                <a:srgbClr val="000000"/>
              </a:solidFill>
            </a:endParaRPr>
          </a:p>
          <a:p>
            <a:pPr algn="just">
              <a:lnSpc>
                <a:spcPct val="100000"/>
              </a:lnSpc>
              <a:spcBef>
                <a:spcPts val="439"/>
              </a:spcBef>
            </a:pPr>
            <a:endParaRPr lang="en-US" sz="2000" spc="-1" dirty="0">
              <a:solidFill>
                <a:srgbClr val="000000"/>
              </a:solidFill>
            </a:endParaRPr>
          </a:p>
          <a:p>
            <a:pPr algn="just">
              <a:lnSpc>
                <a:spcPct val="100000"/>
              </a:lnSpc>
              <a:spcBef>
                <a:spcPts val="439"/>
              </a:spcBef>
            </a:pPr>
            <a:endParaRPr lang="en-US" sz="2000" spc="-1" dirty="0">
              <a:solidFill>
                <a:srgbClr val="000000"/>
              </a:solidFill>
            </a:endParaRPr>
          </a:p>
          <a:p>
            <a:pPr algn="just">
              <a:lnSpc>
                <a:spcPct val="100000"/>
              </a:lnSpc>
              <a:spcBef>
                <a:spcPts val="439"/>
              </a:spcBef>
            </a:pPr>
            <a:endParaRPr lang="en-US" sz="2000" spc="-1" dirty="0">
              <a:solidFill>
                <a:srgbClr val="000000"/>
              </a:solidFill>
            </a:endParaRPr>
          </a:p>
          <a:p>
            <a:pPr algn="just">
              <a:lnSpc>
                <a:spcPct val="100000"/>
              </a:lnSpc>
              <a:spcBef>
                <a:spcPts val="439"/>
              </a:spcBef>
            </a:pPr>
            <a:endParaRPr lang="en-US" sz="2000" spc="-1" dirty="0">
              <a:solidFill>
                <a:srgbClr val="000000"/>
              </a:solidFill>
            </a:endParaRPr>
          </a:p>
          <a:p>
            <a:pPr algn="just">
              <a:lnSpc>
                <a:spcPct val="100000"/>
              </a:lnSpc>
              <a:spcBef>
                <a:spcPts val="400"/>
              </a:spcBef>
            </a:pPr>
            <a:endParaRPr lang="en-US" sz="2000" spc="-1" dirty="0">
              <a:solidFill>
                <a:srgbClr val="000000"/>
              </a:solidFill>
            </a:endParaRPr>
          </a:p>
          <a:p>
            <a:pPr marL="0" indent="0" algn="just">
              <a:lnSpc>
                <a:spcPct val="100000"/>
              </a:lnSpc>
              <a:spcBef>
                <a:spcPts val="400"/>
              </a:spcBef>
              <a:buNone/>
            </a:pPr>
            <a:r>
              <a:rPr lang="en-US" sz="2000" spc="-1" dirty="0" smtClean="0">
                <a:solidFill>
                  <a:srgbClr val="000000"/>
                </a:solidFill>
              </a:rPr>
              <a:t>Each </a:t>
            </a:r>
            <a:r>
              <a:rPr lang="en-US" sz="2000" spc="-1" dirty="0">
                <a:solidFill>
                  <a:srgbClr val="000000"/>
                </a:solidFill>
              </a:rPr>
              <a:t>cell has a neighbor on all sides. Pay attention that, the cell on the bottom and the cell on the top are neighbors in the K-Map given above.</a:t>
            </a:r>
          </a:p>
          <a:p>
            <a:pPr algn="just">
              <a:lnSpc>
                <a:spcPct val="100000"/>
              </a:lnSpc>
              <a:spcBef>
                <a:spcPts val="400"/>
              </a:spcBef>
              <a:buClr>
                <a:srgbClr val="000000"/>
              </a:buClr>
              <a:buFont typeface="Wingdings" charset="2"/>
              <a:buChar char=""/>
            </a:pPr>
            <a:r>
              <a:rPr lang="en-US" sz="2000" spc="-1" dirty="0">
                <a:solidFill>
                  <a:srgbClr val="000000"/>
                </a:solidFill>
              </a:rPr>
              <a:t> The number of neighbors of a cell is equal to the number of variables.</a:t>
            </a:r>
            <a:endParaRPr lang="en-US" sz="2000" spc="-1" dirty="0">
              <a:solidFill>
                <a:srgbClr val="000000"/>
              </a:solidFill>
            </a:endParaRPr>
          </a:p>
        </p:txBody>
      </p:sp>
      <p:sp>
        <p:nvSpPr>
          <p:cNvPr id="8196" name="3 Altbilgi Yer Tutucusu"/>
          <p:cNvSpPr>
            <a:spLocks noGrp="1"/>
          </p:cNvSpPr>
          <p:nvPr>
            <p:ph type="ftr" sz="quarter" idx="10"/>
          </p:nvPr>
        </p:nvSpPr>
        <p:spPr>
          <a:noFill/>
        </p:spPr>
        <p:txBody>
          <a:bodyPr/>
          <a:lstStyle/>
          <a:p>
            <a:pPr>
              <a:defRPr/>
            </a:pPr>
            <a:r>
              <a:rPr lang="en-US" dirty="0"/>
              <a:t>Logic Circuits</a:t>
            </a:r>
            <a:endParaRPr lang="en-US" dirty="0"/>
          </a:p>
        </p:txBody>
      </p:sp>
      <p:graphicFrame>
        <p:nvGraphicFramePr>
          <p:cNvPr id="13" name="12 Tablo"/>
          <p:cNvGraphicFramePr>
            <a:graphicFrameLocks noGrp="1"/>
          </p:cNvGraphicFramePr>
          <p:nvPr>
            <p:extLst>
              <p:ext uri="{D42A27DB-BD31-4B8C-83A1-F6EECF244321}">
                <p14:modId xmlns:p14="http://schemas.microsoft.com/office/powerpoint/2010/main" val="3472050789"/>
              </p:ext>
            </p:extLst>
          </p:nvPr>
        </p:nvGraphicFramePr>
        <p:xfrm>
          <a:off x="3698875" y="2891473"/>
          <a:ext cx="2193291" cy="1892808"/>
        </p:xfrm>
        <a:graphic>
          <a:graphicData uri="http://schemas.openxmlformats.org/drawingml/2006/table">
            <a:tbl>
              <a:tblPr/>
              <a:tblGrid>
                <a:gridCol w="649567">
                  <a:extLst>
                    <a:ext uri="{9D8B030D-6E8A-4147-A177-3AD203B41FA5}">
                      <a16:colId xmlns:a16="http://schemas.microsoft.com/office/drawing/2014/main" val="20000"/>
                    </a:ext>
                  </a:extLst>
                </a:gridCol>
                <a:gridCol w="821983">
                  <a:extLst>
                    <a:ext uri="{9D8B030D-6E8A-4147-A177-3AD203B41FA5}">
                      <a16:colId xmlns:a16="http://schemas.microsoft.com/office/drawing/2014/main" val="20001"/>
                    </a:ext>
                  </a:extLst>
                </a:gridCol>
                <a:gridCol w="721741">
                  <a:extLst>
                    <a:ext uri="{9D8B030D-6E8A-4147-A177-3AD203B41FA5}">
                      <a16:colId xmlns:a16="http://schemas.microsoft.com/office/drawing/2014/main" val="20002"/>
                    </a:ext>
                  </a:extLst>
                </a:gridCol>
              </a:tblGrid>
              <a:tr h="219075">
                <a:tc>
                  <a:txBody>
                    <a:bodyPr/>
                    <a:lstStyle/>
                    <a:p>
                      <a:pPr algn="just">
                        <a:lnSpc>
                          <a:spcPct val="115000"/>
                        </a:lnSpc>
                        <a:spcAft>
                          <a:spcPts val="0"/>
                        </a:spcAft>
                        <a:tabLst>
                          <a:tab pos="504825" algn="l"/>
                        </a:tabLst>
                      </a:pPr>
                      <a:r>
                        <a:rPr lang="tr-TR" sz="1800" dirty="0">
                          <a:latin typeface="Times New Roman"/>
                          <a:ea typeface="Times New Roman"/>
                          <a:cs typeface="Times New Roman"/>
                        </a:rPr>
                        <a:t>       C AB     </a:t>
                      </a:r>
                      <a:endParaRPr lang="tr-TR" sz="18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800">
                          <a:latin typeface="Times New Roman"/>
                          <a:ea typeface="Times New Roman"/>
                          <a:cs typeface="Times New Roman"/>
                        </a:rPr>
                        <a:t>0</a:t>
                      </a:r>
                      <a:endParaRPr lang="tr-TR" sz="18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Times New Roman"/>
                          <a:ea typeface="Times New Roman"/>
                          <a:cs typeface="Times New Roman"/>
                        </a:rPr>
                        <a:t>1</a:t>
                      </a:r>
                      <a:endParaRPr lang="tr-TR" sz="18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lnSpc>
                          <a:spcPct val="115000"/>
                        </a:lnSpc>
                        <a:spcAft>
                          <a:spcPts val="0"/>
                        </a:spcAft>
                      </a:pPr>
                      <a:r>
                        <a:rPr lang="tr-TR" sz="1800" dirty="0">
                          <a:latin typeface="Times New Roman"/>
                          <a:ea typeface="Times New Roman"/>
                          <a:cs typeface="Times New Roman"/>
                        </a:rPr>
                        <a:t>00</a:t>
                      </a:r>
                      <a:endParaRPr lang="tr-TR" sz="18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dirty="0">
                          <a:latin typeface="Times New Roman"/>
                          <a:ea typeface="Times New Roman"/>
                          <a:cs typeface="Times New Roman"/>
                        </a:rPr>
                        <a:t>X</a:t>
                      </a:r>
                      <a:endParaRPr lang="tr-TR" sz="18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tr-TR" sz="1800">
                          <a:latin typeface="Times New Roman"/>
                          <a:ea typeface="Times New Roman"/>
                          <a:cs typeface="Times New Roman"/>
                        </a:rPr>
                        <a:t>01</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lnSpc>
                          <a:spcPct val="115000"/>
                        </a:lnSpc>
                        <a:spcAft>
                          <a:spcPts val="0"/>
                        </a:spcAft>
                      </a:pPr>
                      <a:r>
                        <a:rPr lang="tr-TR" sz="1800">
                          <a:latin typeface="Times New Roman"/>
                          <a:ea typeface="Times New Roman"/>
                          <a:cs typeface="Times New Roman"/>
                        </a:rPr>
                        <a:t>11</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Times New Roman"/>
                          <a:ea typeface="Times New Roman"/>
                          <a:cs typeface="Times New Roman"/>
                        </a:rPr>
                        <a:t>X</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lnSpc>
                          <a:spcPct val="115000"/>
                        </a:lnSpc>
                        <a:spcAft>
                          <a:spcPts val="0"/>
                        </a:spcAft>
                      </a:pPr>
                      <a:r>
                        <a:rPr lang="tr-TR" sz="1800">
                          <a:latin typeface="Times New Roman"/>
                          <a:ea typeface="Times New Roman"/>
                          <a:cs typeface="Times New Roman"/>
                        </a:rPr>
                        <a:t>10</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Times New Roman"/>
                          <a:ea typeface="Times New Roman"/>
                          <a:cs typeface="Times New Roman"/>
                        </a:rPr>
                        <a:t>X</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0"/>
                        </a:spcAft>
                      </a:pPr>
                      <a:r>
                        <a:rPr lang="tr-TR" sz="1800" dirty="0">
                          <a:latin typeface="Times New Roman"/>
                          <a:ea typeface="Times New Roman"/>
                          <a:cs typeface="Times New Roman"/>
                        </a:rPr>
                        <a:t>X</a:t>
                      </a:r>
                      <a:endParaRPr lang="tr-TR" sz="18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8224" name="19 Düz Ok Bağlayıcısı"/>
          <p:cNvCxnSpPr>
            <a:cxnSpLocks noChangeShapeType="1"/>
          </p:cNvCxnSpPr>
          <p:nvPr/>
        </p:nvCxnSpPr>
        <p:spPr bwMode="auto">
          <a:xfrm rot="5400000" flipH="1" flipV="1">
            <a:off x="4108451" y="4131310"/>
            <a:ext cx="952500" cy="3175"/>
          </a:xfrm>
          <a:prstGeom prst="straightConnector1">
            <a:avLst/>
          </a:prstGeom>
          <a:noFill/>
          <a:ln w="9525" algn="ctr">
            <a:solidFill>
              <a:schemeClr val="tx1"/>
            </a:solidFill>
            <a:round/>
            <a:headEnd/>
            <a:tailEnd type="arrow" w="med" len="med"/>
          </a:ln>
        </p:spPr>
      </p:cxnSp>
      <p:cxnSp>
        <p:nvCxnSpPr>
          <p:cNvPr id="8225" name="21 Düz Ok Bağlayıcısı"/>
          <p:cNvCxnSpPr>
            <a:cxnSpLocks noChangeShapeType="1"/>
          </p:cNvCxnSpPr>
          <p:nvPr/>
        </p:nvCxnSpPr>
        <p:spPr bwMode="auto">
          <a:xfrm rot="5400000" flipH="1" flipV="1">
            <a:off x="4787901" y="4391660"/>
            <a:ext cx="381000" cy="3175"/>
          </a:xfrm>
          <a:prstGeom prst="straightConnector1">
            <a:avLst/>
          </a:prstGeom>
          <a:noFill/>
          <a:ln w="9525" algn="ctr">
            <a:solidFill>
              <a:schemeClr val="tx1"/>
            </a:solidFill>
            <a:round/>
            <a:headEnd/>
            <a:tailEnd type="arrow" w="med" len="med"/>
          </a:ln>
        </p:spPr>
      </p:cxnSp>
      <p:cxnSp>
        <p:nvCxnSpPr>
          <p:cNvPr id="8226" name="27 Düz Ok Bağlayıcısı"/>
          <p:cNvCxnSpPr>
            <a:cxnSpLocks noChangeShapeType="1"/>
          </p:cNvCxnSpPr>
          <p:nvPr/>
        </p:nvCxnSpPr>
        <p:spPr bwMode="auto">
          <a:xfrm>
            <a:off x="5029200" y="4683760"/>
            <a:ext cx="393700" cy="1588"/>
          </a:xfrm>
          <a:prstGeom prst="straightConnector1">
            <a:avLst/>
          </a:prstGeom>
          <a:noFill/>
          <a:ln w="9525" algn="ctr">
            <a:solidFill>
              <a:schemeClr val="tx1"/>
            </a:solidFill>
            <a:round/>
            <a:headEnd/>
            <a:tailEnd type="arrow" w="med" len="med"/>
          </a:ln>
        </p:spPr>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Başlık"/>
          <p:cNvSpPr>
            <a:spLocks noGrp="1"/>
          </p:cNvSpPr>
          <p:nvPr>
            <p:ph type="title"/>
          </p:nvPr>
        </p:nvSpPr>
        <p:spPr/>
        <p:txBody>
          <a:bodyPr/>
          <a:lstStyle/>
          <a:p>
            <a:pPr algn="just">
              <a:lnSpc>
                <a:spcPct val="90000"/>
              </a:lnSpc>
            </a:pPr>
            <a:r>
              <a:rPr lang="en-US" sz="2400" b="1" spc="-1" dirty="0"/>
              <a:t>Creating K-Maps of Expressions in Standard </a:t>
            </a:r>
            <a:r>
              <a:rPr lang="en-US" sz="2400" b="1" spc="-1" dirty="0" err="1"/>
              <a:t>SoP</a:t>
            </a:r>
            <a:r>
              <a:rPr lang="en-US" sz="2400" b="1" spc="-1" dirty="0"/>
              <a:t> Form</a:t>
            </a:r>
            <a:endParaRPr lang="en-US" sz="2400" spc="-1" dirty="0">
              <a:solidFill>
                <a:srgbClr val="000000"/>
              </a:solidFill>
            </a:endParaRPr>
          </a:p>
        </p:txBody>
      </p:sp>
      <p:sp>
        <p:nvSpPr>
          <p:cNvPr id="3" name="2 İçerik Yer Tutucusu"/>
          <p:cNvSpPr>
            <a:spLocks noGrp="1"/>
          </p:cNvSpPr>
          <p:nvPr>
            <p:ph idx="1"/>
          </p:nvPr>
        </p:nvSpPr>
        <p:spPr>
          <a:xfrm>
            <a:off x="361950" y="862013"/>
            <a:ext cx="8375650" cy="5078412"/>
          </a:xfrm>
        </p:spPr>
        <p:txBody>
          <a:bodyPr/>
          <a:lstStyle/>
          <a:p>
            <a:pPr marL="0" indent="0" algn="just">
              <a:lnSpc>
                <a:spcPct val="100000"/>
              </a:lnSpc>
              <a:spcBef>
                <a:spcPts val="400"/>
              </a:spcBef>
              <a:buNone/>
            </a:pPr>
            <a:r>
              <a:rPr lang="en-US" sz="2000" spc="-1" dirty="0">
                <a:solidFill>
                  <a:srgbClr val="000000"/>
                </a:solidFill>
              </a:rPr>
              <a:t>We put a 1 for each term in the logic expression in standard </a:t>
            </a:r>
            <a:r>
              <a:rPr lang="en-US" sz="2000" spc="-1" dirty="0" err="1">
                <a:solidFill>
                  <a:srgbClr val="000000"/>
                </a:solidFill>
              </a:rPr>
              <a:t>SoP</a:t>
            </a:r>
            <a:r>
              <a:rPr lang="en-US" sz="2000" spc="-1" dirty="0">
                <a:solidFill>
                  <a:srgbClr val="000000"/>
                </a:solidFill>
              </a:rPr>
              <a:t> form. We leave other cells empty. If there’s no 1’s on a K-Map, then the simplified logic expression is equal to 0. Likewise, if all the cells are 1, then the simplified logic expression is equal to 1. We can also create a K-Map from a truth table.</a:t>
            </a:r>
          </a:p>
          <a:p>
            <a:pPr algn="just">
              <a:lnSpc>
                <a:spcPct val="100000"/>
              </a:lnSpc>
              <a:spcBef>
                <a:spcPts val="201"/>
              </a:spcBef>
            </a:pPr>
            <a:endParaRPr lang="en-US" sz="1000" spc="-1" dirty="0">
              <a:solidFill>
                <a:srgbClr val="000000"/>
              </a:solidFill>
            </a:endParaRPr>
          </a:p>
          <a:p>
            <a:pPr marL="0" indent="0" algn="just">
              <a:lnSpc>
                <a:spcPct val="100000"/>
              </a:lnSpc>
              <a:spcBef>
                <a:spcPts val="400"/>
              </a:spcBef>
              <a:buNone/>
            </a:pPr>
            <a:r>
              <a:rPr lang="en-US" sz="2000" b="1" spc="-1" dirty="0">
                <a:solidFill>
                  <a:srgbClr val="000000"/>
                </a:solidFill>
              </a:rPr>
              <a:t>Example: </a:t>
            </a:r>
            <a:r>
              <a:rPr lang="en-US" sz="2000" spc="-1" dirty="0">
                <a:solidFill>
                  <a:srgbClr val="000000"/>
                </a:solidFill>
              </a:rPr>
              <a:t>Let’s create the K-Map of the logic expression given below</a:t>
            </a:r>
          </a:p>
          <a:p>
            <a:pPr marL="0" indent="0" algn="just">
              <a:lnSpc>
                <a:spcPct val="100000"/>
              </a:lnSpc>
              <a:spcBef>
                <a:spcPts val="400"/>
              </a:spcBef>
              <a:buNone/>
            </a:pPr>
            <a:r>
              <a:rPr lang="en-US" sz="2000" spc="-1" dirty="0">
                <a:solidFill>
                  <a:srgbClr val="000000"/>
                </a:solidFill>
              </a:rPr>
              <a:t>F(A,B,C) = A’B’C+AB’C+AB’C’</a:t>
            </a:r>
          </a:p>
          <a:p>
            <a:pPr algn="just">
              <a:lnSpc>
                <a:spcPct val="100000"/>
              </a:lnSpc>
              <a:spcBef>
                <a:spcPts val="201"/>
              </a:spcBef>
            </a:pPr>
            <a:endParaRPr lang="en-US" sz="1000" spc="-1" dirty="0">
              <a:solidFill>
                <a:srgbClr val="000000"/>
              </a:solidFill>
            </a:endParaRPr>
          </a:p>
          <a:p>
            <a:pPr marL="0" indent="0" algn="just">
              <a:lnSpc>
                <a:spcPct val="100000"/>
              </a:lnSpc>
              <a:spcBef>
                <a:spcPts val="400"/>
              </a:spcBef>
              <a:buNone/>
            </a:pPr>
            <a:r>
              <a:rPr lang="en-US" sz="2000" spc="-1" dirty="0">
                <a:solidFill>
                  <a:srgbClr val="000000"/>
                </a:solidFill>
              </a:rPr>
              <a:t>The binary input values that make the logic expression’s output 1 are;</a:t>
            </a:r>
          </a:p>
          <a:p>
            <a:pPr marL="360" indent="0">
              <a:lnSpc>
                <a:spcPct val="100000"/>
              </a:lnSpc>
              <a:spcBef>
                <a:spcPts val="400"/>
              </a:spcBef>
              <a:buNone/>
            </a:pPr>
            <a:r>
              <a:rPr lang="en-US" sz="2000" spc="-1" dirty="0">
                <a:solidFill>
                  <a:srgbClr val="000000"/>
                </a:solidFill>
              </a:rPr>
              <a:t>A’B’C : 001</a:t>
            </a:r>
          </a:p>
          <a:p>
            <a:pPr marL="360" indent="0">
              <a:lnSpc>
                <a:spcPct val="100000"/>
              </a:lnSpc>
              <a:spcBef>
                <a:spcPts val="400"/>
              </a:spcBef>
              <a:buNone/>
            </a:pPr>
            <a:r>
              <a:rPr lang="en-US" sz="2000" spc="-1" dirty="0">
                <a:solidFill>
                  <a:srgbClr val="000000"/>
                </a:solidFill>
              </a:rPr>
              <a:t>AB’C  : 101      </a:t>
            </a:r>
          </a:p>
          <a:p>
            <a:pPr marL="360" indent="0">
              <a:lnSpc>
                <a:spcPct val="100000"/>
              </a:lnSpc>
              <a:spcBef>
                <a:spcPts val="400"/>
              </a:spcBef>
              <a:buNone/>
            </a:pPr>
            <a:r>
              <a:rPr lang="en-US" sz="2000" spc="-1" dirty="0">
                <a:solidFill>
                  <a:srgbClr val="000000"/>
                </a:solidFill>
              </a:rPr>
              <a:t>AB’C’ : 100</a:t>
            </a:r>
          </a:p>
          <a:p>
            <a:pPr marL="0" indent="0" algn="just">
              <a:buFontTx/>
              <a:buNone/>
              <a:defRPr/>
            </a:pPr>
            <a:endParaRPr lang="tr-TR" sz="2000" dirty="0" smtClean="0"/>
          </a:p>
          <a:p>
            <a:pPr marL="0" indent="0" algn="just">
              <a:buFontTx/>
              <a:buNone/>
              <a:defRPr/>
            </a:pPr>
            <a:endParaRPr lang="tr-TR" sz="2000" dirty="0" smtClean="0"/>
          </a:p>
          <a:p>
            <a:pPr marL="0" indent="0" algn="just">
              <a:buFontTx/>
              <a:buNone/>
              <a:defRPr/>
            </a:pPr>
            <a:endParaRPr lang="tr-TR" sz="2000" dirty="0" smtClean="0"/>
          </a:p>
          <a:p>
            <a:pPr marL="0" indent="0" algn="just">
              <a:buFontTx/>
              <a:buNone/>
              <a:defRPr/>
            </a:pPr>
            <a:endParaRPr lang="tr-TR" sz="2000" dirty="0" smtClean="0"/>
          </a:p>
          <a:p>
            <a:pPr>
              <a:buFontTx/>
              <a:buNone/>
              <a:defRPr/>
            </a:pPr>
            <a:endParaRPr lang="tr-TR" dirty="0"/>
          </a:p>
        </p:txBody>
      </p:sp>
      <p:sp>
        <p:nvSpPr>
          <p:cNvPr id="9220" name="3 Altbilgi Yer Tutucusu"/>
          <p:cNvSpPr>
            <a:spLocks noGrp="1"/>
          </p:cNvSpPr>
          <p:nvPr>
            <p:ph type="ftr" sz="quarter" idx="10"/>
          </p:nvPr>
        </p:nvSpPr>
        <p:spPr>
          <a:noFill/>
        </p:spPr>
        <p:txBody>
          <a:bodyPr/>
          <a:lstStyle/>
          <a:p>
            <a:pPr>
              <a:defRPr/>
            </a:pPr>
            <a:r>
              <a:rPr lang="en-US" dirty="0"/>
              <a:t>Logic Circuits</a:t>
            </a:r>
            <a:endParaRPr lang="en-US" dirty="0"/>
          </a:p>
        </p:txBody>
      </p:sp>
      <p:graphicFrame>
        <p:nvGraphicFramePr>
          <p:cNvPr id="5" name="4 Tablo"/>
          <p:cNvGraphicFramePr>
            <a:graphicFrameLocks noGrp="1"/>
          </p:cNvGraphicFramePr>
          <p:nvPr/>
        </p:nvGraphicFramePr>
        <p:xfrm>
          <a:off x="3508375" y="3821113"/>
          <a:ext cx="1964690" cy="1892808"/>
        </p:xfrm>
        <a:graphic>
          <a:graphicData uri="http://schemas.openxmlformats.org/drawingml/2006/table">
            <a:tbl>
              <a:tblPr/>
              <a:tblGrid>
                <a:gridCol w="867248">
                  <a:extLst>
                    <a:ext uri="{9D8B030D-6E8A-4147-A177-3AD203B41FA5}">
                      <a16:colId xmlns:a16="http://schemas.microsoft.com/office/drawing/2014/main" val="20000"/>
                    </a:ext>
                  </a:extLst>
                </a:gridCol>
                <a:gridCol w="551342">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tblGrid>
              <a:tr h="219075">
                <a:tc>
                  <a:txBody>
                    <a:bodyPr/>
                    <a:lstStyle/>
                    <a:p>
                      <a:pPr algn="just">
                        <a:lnSpc>
                          <a:spcPct val="115000"/>
                        </a:lnSpc>
                        <a:spcAft>
                          <a:spcPts val="0"/>
                        </a:spcAft>
                        <a:tabLst>
                          <a:tab pos="504825" algn="l"/>
                        </a:tabLst>
                      </a:pPr>
                      <a:r>
                        <a:rPr lang="tr-TR" sz="1800" dirty="0">
                          <a:latin typeface="Times New Roman"/>
                          <a:ea typeface="Times New Roman"/>
                          <a:cs typeface="Times New Roman"/>
                        </a:rPr>
                        <a:t>       C AB     </a:t>
                      </a:r>
                      <a:endParaRPr lang="tr-TR" sz="18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800">
                          <a:latin typeface="Times New Roman"/>
                          <a:ea typeface="Times New Roman"/>
                          <a:cs typeface="Times New Roman"/>
                        </a:rPr>
                        <a:t>0</a:t>
                      </a:r>
                      <a:endParaRPr lang="tr-TR" sz="18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a:latin typeface="Times New Roman"/>
                          <a:ea typeface="Times New Roman"/>
                          <a:cs typeface="Times New Roman"/>
                        </a:rPr>
                        <a:t>1</a:t>
                      </a:r>
                      <a:endParaRPr lang="tr-TR" sz="1800">
                        <a:latin typeface="Calibri"/>
                        <a:ea typeface="Times New Roman"/>
                        <a:cs typeface="Times New Roman"/>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lnSpc>
                          <a:spcPct val="115000"/>
                        </a:lnSpc>
                        <a:spcAft>
                          <a:spcPts val="0"/>
                        </a:spcAft>
                      </a:pPr>
                      <a:r>
                        <a:rPr lang="tr-TR" sz="1800">
                          <a:latin typeface="Times New Roman"/>
                          <a:ea typeface="Times New Roman"/>
                          <a:cs typeface="Times New Roman"/>
                        </a:rPr>
                        <a:t>00</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a:latin typeface="Times New Roman"/>
                          <a:ea typeface="Times New Roman"/>
                          <a:cs typeface="Times New Roman"/>
                        </a:rPr>
                        <a:t>1</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tr-TR" sz="1800">
                          <a:latin typeface="Times New Roman"/>
                          <a:ea typeface="Times New Roman"/>
                          <a:cs typeface="Times New Roman"/>
                        </a:rPr>
                        <a:t>01</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lnSpc>
                          <a:spcPct val="115000"/>
                        </a:lnSpc>
                        <a:spcAft>
                          <a:spcPts val="0"/>
                        </a:spcAft>
                      </a:pPr>
                      <a:r>
                        <a:rPr lang="tr-TR" sz="1800">
                          <a:latin typeface="Times New Roman"/>
                          <a:ea typeface="Times New Roman"/>
                          <a:cs typeface="Times New Roman"/>
                        </a:rPr>
                        <a:t>11</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800">
                        <a:latin typeface="Times New Roman"/>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lnSpc>
                          <a:spcPct val="115000"/>
                        </a:lnSpc>
                        <a:spcAft>
                          <a:spcPts val="0"/>
                        </a:spcAft>
                      </a:pPr>
                      <a:r>
                        <a:rPr lang="tr-TR" sz="1800" dirty="0">
                          <a:latin typeface="Times New Roman"/>
                          <a:ea typeface="Times New Roman"/>
                          <a:cs typeface="Times New Roman"/>
                        </a:rPr>
                        <a:t>10</a:t>
                      </a:r>
                      <a:endParaRPr lang="tr-TR" sz="18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a:latin typeface="Times New Roman"/>
                          <a:ea typeface="Times New Roman"/>
                          <a:cs typeface="Times New Roman"/>
                        </a:rPr>
                        <a:t>1</a:t>
                      </a:r>
                      <a:endParaRPr lang="tr-TR" sz="18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800" b="1" dirty="0">
                          <a:latin typeface="Times New Roman"/>
                          <a:ea typeface="Times New Roman"/>
                          <a:cs typeface="Times New Roman"/>
                        </a:rPr>
                        <a:t>1</a:t>
                      </a:r>
                      <a:endParaRPr lang="tr-TR" sz="18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1 Başlık"/>
          <p:cNvSpPr>
            <a:spLocks noGrp="1"/>
          </p:cNvSpPr>
          <p:nvPr>
            <p:ph type="title"/>
          </p:nvPr>
        </p:nvSpPr>
        <p:spPr>
          <a:xfrm>
            <a:off x="377824" y="139700"/>
            <a:ext cx="8347075" cy="790575"/>
          </a:xfrm>
        </p:spPr>
        <p:txBody>
          <a:bodyPr/>
          <a:lstStyle/>
          <a:p>
            <a:r>
              <a:rPr lang="en-US" sz="2400" b="1" spc="-1" dirty="0"/>
              <a:t>Creating K-Maps of Expressions in Standard </a:t>
            </a:r>
            <a:r>
              <a:rPr lang="en-US" sz="2400" b="1" spc="-1" dirty="0" err="1"/>
              <a:t>SoP</a:t>
            </a:r>
            <a:r>
              <a:rPr lang="en-US" sz="2400" b="1" spc="-1" dirty="0"/>
              <a:t> Form</a:t>
            </a:r>
            <a:endParaRPr lang="en-US" sz="2400" spc="-1" dirty="0">
              <a:solidFill>
                <a:srgbClr val="000000"/>
              </a:solidFill>
            </a:endParaRPr>
          </a:p>
        </p:txBody>
      </p:sp>
      <p:sp>
        <p:nvSpPr>
          <p:cNvPr id="3" name="2 İçerik Yer Tutucusu"/>
          <p:cNvSpPr>
            <a:spLocks noGrp="1"/>
          </p:cNvSpPr>
          <p:nvPr>
            <p:ph idx="1"/>
          </p:nvPr>
        </p:nvSpPr>
        <p:spPr>
          <a:xfrm>
            <a:off x="361950" y="811213"/>
            <a:ext cx="8375650" cy="5399087"/>
          </a:xfrm>
        </p:spPr>
        <p:txBody>
          <a:bodyPr/>
          <a:lstStyle/>
          <a:p>
            <a:pPr marL="0" indent="0" algn="just">
              <a:lnSpc>
                <a:spcPct val="100000"/>
              </a:lnSpc>
              <a:spcBef>
                <a:spcPts val="400"/>
              </a:spcBef>
              <a:buNone/>
            </a:pPr>
            <a:r>
              <a:rPr lang="en-US" sz="2000" spc="-1" dirty="0">
                <a:solidFill>
                  <a:srgbClr val="000000"/>
                </a:solidFill>
              </a:rPr>
              <a:t>When we need to create the K-Map of an expression which is not in standard </a:t>
            </a:r>
            <a:r>
              <a:rPr lang="en-US" sz="2000" spc="-1" dirty="0" err="1">
                <a:solidFill>
                  <a:srgbClr val="000000"/>
                </a:solidFill>
              </a:rPr>
              <a:t>SoP</a:t>
            </a:r>
            <a:r>
              <a:rPr lang="en-US" sz="2000" spc="-1" dirty="0">
                <a:solidFill>
                  <a:srgbClr val="000000"/>
                </a:solidFill>
              </a:rPr>
              <a:t> form, then we need to convert it to Standard </a:t>
            </a:r>
            <a:r>
              <a:rPr lang="en-US" sz="2000" spc="-1" dirty="0" err="1">
                <a:solidFill>
                  <a:srgbClr val="000000"/>
                </a:solidFill>
              </a:rPr>
              <a:t>SoP</a:t>
            </a:r>
            <a:r>
              <a:rPr lang="en-US" sz="2000" spc="-1" dirty="0">
                <a:solidFill>
                  <a:srgbClr val="000000"/>
                </a:solidFill>
              </a:rPr>
              <a:t> form by expanding all the terms with missing variables. For example, if we have the term A’B in a 3-variable expression, then we need to expand this term with the missing variable C. The term A’B becomes A’B(C+C’) = A’BC+A’BC’. We learned how to do it in a practical way before.</a:t>
            </a:r>
          </a:p>
          <a:p>
            <a:pPr algn="just">
              <a:lnSpc>
                <a:spcPct val="100000"/>
              </a:lnSpc>
              <a:spcBef>
                <a:spcPts val="201"/>
              </a:spcBef>
            </a:pPr>
            <a:endParaRPr lang="en-US" sz="1000" spc="-1" dirty="0">
              <a:solidFill>
                <a:srgbClr val="000000"/>
              </a:solidFill>
            </a:endParaRPr>
          </a:p>
          <a:p>
            <a:pPr marL="0" indent="0" algn="just">
              <a:lnSpc>
                <a:spcPct val="100000"/>
              </a:lnSpc>
              <a:spcBef>
                <a:spcPts val="400"/>
              </a:spcBef>
              <a:buNone/>
            </a:pPr>
            <a:r>
              <a:rPr lang="en-US" sz="2000" b="1" spc="-1" dirty="0">
                <a:solidFill>
                  <a:srgbClr val="000000"/>
                </a:solidFill>
              </a:rPr>
              <a:t>Example:</a:t>
            </a:r>
            <a:r>
              <a:rPr lang="en-US" sz="2000" spc="-1" dirty="0">
                <a:solidFill>
                  <a:srgbClr val="000000"/>
                </a:solidFill>
              </a:rPr>
              <a:t> Let’s create the K-Map of the expression given below.</a:t>
            </a:r>
          </a:p>
          <a:p>
            <a:pPr marL="0" indent="0" algn="just">
              <a:lnSpc>
                <a:spcPct val="100000"/>
              </a:lnSpc>
              <a:spcBef>
                <a:spcPts val="400"/>
              </a:spcBef>
              <a:buNone/>
            </a:pPr>
            <a:r>
              <a:rPr lang="en-US" sz="2000" spc="-1" dirty="0">
                <a:solidFill>
                  <a:srgbClr val="000000"/>
                </a:solidFill>
              </a:rPr>
              <a:t>F(A,B,C)= AB’+A’B’C+B</a:t>
            </a:r>
          </a:p>
          <a:p>
            <a:pPr algn="just">
              <a:lnSpc>
                <a:spcPct val="100000"/>
              </a:lnSpc>
              <a:spcBef>
                <a:spcPts val="201"/>
              </a:spcBef>
            </a:pPr>
            <a:endParaRPr lang="en-US" sz="1000" spc="-1" dirty="0">
              <a:solidFill>
                <a:srgbClr val="000000"/>
              </a:solidFill>
            </a:endParaRPr>
          </a:p>
          <a:p>
            <a:pPr marL="343080" indent="-342720">
              <a:lnSpc>
                <a:spcPct val="100000"/>
              </a:lnSpc>
              <a:spcBef>
                <a:spcPts val="360"/>
              </a:spcBef>
              <a:buClr>
                <a:srgbClr val="000000"/>
              </a:buClr>
              <a:buFont typeface="Wingdings" charset="2"/>
              <a:buChar char=""/>
            </a:pPr>
            <a:r>
              <a:rPr lang="en-US" sz="2000" spc="-1" dirty="0">
                <a:solidFill>
                  <a:srgbClr val="000000"/>
                </a:solidFill>
              </a:rPr>
              <a:t>The variable C is missing in term AB’.</a:t>
            </a:r>
          </a:p>
          <a:p>
            <a:pPr marL="0" indent="0">
              <a:lnSpc>
                <a:spcPct val="100000"/>
              </a:lnSpc>
              <a:spcBef>
                <a:spcPts val="360"/>
              </a:spcBef>
              <a:buNone/>
            </a:pPr>
            <a:r>
              <a:rPr lang="en-US" sz="2000" spc="-1" dirty="0">
                <a:solidFill>
                  <a:srgbClr val="000000"/>
                </a:solidFill>
              </a:rPr>
              <a:t>So;  AB’ = AB’C+AB’C’</a:t>
            </a:r>
          </a:p>
          <a:p>
            <a:pPr marL="343080" indent="-342720">
              <a:lnSpc>
                <a:spcPct val="100000"/>
              </a:lnSpc>
              <a:spcBef>
                <a:spcPts val="360"/>
              </a:spcBef>
              <a:buClr>
                <a:srgbClr val="000000"/>
              </a:buClr>
              <a:buFont typeface="Wingdings" charset="2"/>
              <a:buChar char=""/>
            </a:pPr>
            <a:r>
              <a:rPr lang="en-US" sz="2000" spc="-1" dirty="0">
                <a:solidFill>
                  <a:srgbClr val="000000"/>
                </a:solidFill>
              </a:rPr>
              <a:t>The term A’B’C has all the variables.</a:t>
            </a:r>
          </a:p>
          <a:p>
            <a:pPr marL="343080" indent="-342720">
              <a:lnSpc>
                <a:spcPct val="100000"/>
              </a:lnSpc>
              <a:spcBef>
                <a:spcPts val="360"/>
              </a:spcBef>
              <a:buClr>
                <a:srgbClr val="000000"/>
              </a:buClr>
              <a:buFont typeface="Wingdings" charset="2"/>
              <a:buChar char=""/>
            </a:pPr>
            <a:r>
              <a:rPr lang="en-US" sz="2000" spc="-1" dirty="0">
                <a:solidFill>
                  <a:srgbClr val="000000"/>
                </a:solidFill>
              </a:rPr>
              <a:t>The variables A and C are missing in term B.</a:t>
            </a:r>
          </a:p>
          <a:p>
            <a:pPr marL="0" indent="0">
              <a:lnSpc>
                <a:spcPct val="100000"/>
              </a:lnSpc>
              <a:spcBef>
                <a:spcPts val="360"/>
              </a:spcBef>
              <a:buNone/>
            </a:pPr>
            <a:r>
              <a:rPr lang="en-US" sz="1800" spc="-1" dirty="0">
                <a:solidFill>
                  <a:srgbClr val="000000"/>
                </a:solidFill>
              </a:rPr>
              <a:t>So; B= A’BC’+A’BC+ABC’+ABC</a:t>
            </a:r>
          </a:p>
          <a:p>
            <a:pPr algn="just">
              <a:lnSpc>
                <a:spcPct val="100000"/>
              </a:lnSpc>
              <a:spcBef>
                <a:spcPts val="400"/>
              </a:spcBef>
            </a:pPr>
            <a:endParaRPr lang="en-US" sz="1800" spc="-1" dirty="0">
              <a:solidFill>
                <a:srgbClr val="000000"/>
              </a:solidFill>
            </a:endParaRPr>
          </a:p>
          <a:p>
            <a:pPr marL="0" indent="0" algn="just">
              <a:lnSpc>
                <a:spcPct val="100000"/>
              </a:lnSpc>
              <a:spcBef>
                <a:spcPts val="400"/>
              </a:spcBef>
              <a:buNone/>
            </a:pPr>
            <a:r>
              <a:rPr lang="en-US" sz="2000" spc="-1" dirty="0">
                <a:solidFill>
                  <a:srgbClr val="000000"/>
                </a:solidFill>
              </a:rPr>
              <a:t>F(A,B,C)= AB’C+AB’C’+A’B’C+A’BC’+A’BC+ABC’+</a:t>
            </a:r>
            <a:r>
              <a:rPr lang="en-US" sz="2000" spc="-1" dirty="0" smtClean="0">
                <a:solidFill>
                  <a:srgbClr val="000000"/>
                </a:solidFill>
              </a:rPr>
              <a:t>ABC</a:t>
            </a:r>
            <a:endParaRPr lang="tr-TR" sz="2000" dirty="0" smtClean="0"/>
          </a:p>
          <a:p>
            <a:pPr algn="just">
              <a:buFontTx/>
              <a:buNone/>
              <a:defRPr/>
            </a:pPr>
            <a:endParaRPr lang="tr-TR" sz="2200" dirty="0"/>
          </a:p>
        </p:txBody>
      </p:sp>
      <p:sp>
        <p:nvSpPr>
          <p:cNvPr id="10244" name="3 Altbilgi Yer Tutucusu"/>
          <p:cNvSpPr>
            <a:spLocks noGrp="1"/>
          </p:cNvSpPr>
          <p:nvPr>
            <p:ph type="ftr" sz="quarter" idx="10"/>
          </p:nvPr>
        </p:nvSpPr>
        <p:spPr>
          <a:noFill/>
        </p:spPr>
        <p:txBody>
          <a:bodyPr/>
          <a:lstStyle/>
          <a:p>
            <a:pPr>
              <a:defRPr/>
            </a:pPr>
            <a:r>
              <a:rPr lang="en-US" dirty="0"/>
              <a:t>Logic Circuits</a:t>
            </a:r>
            <a:endParaRPr lang="en-US" dirty="0"/>
          </a:p>
        </p:txBody>
      </p:sp>
      <p:graphicFrame>
        <p:nvGraphicFramePr>
          <p:cNvPr id="7" name="6 Tablo"/>
          <p:cNvGraphicFramePr>
            <a:graphicFrameLocks noGrp="1"/>
          </p:cNvGraphicFramePr>
          <p:nvPr/>
        </p:nvGraphicFramePr>
        <p:xfrm>
          <a:off x="7026910" y="3807460"/>
          <a:ext cx="1697990" cy="1682496"/>
        </p:xfrm>
        <a:graphic>
          <a:graphicData uri="http://schemas.openxmlformats.org/drawingml/2006/table">
            <a:tbl>
              <a:tblPr/>
              <a:tblGrid>
                <a:gridCol w="749522">
                  <a:extLst>
                    <a:ext uri="{9D8B030D-6E8A-4147-A177-3AD203B41FA5}">
                      <a16:colId xmlns:a16="http://schemas.microsoft.com/office/drawing/2014/main" val="20000"/>
                    </a:ext>
                  </a:extLst>
                </a:gridCol>
                <a:gridCol w="532067">
                  <a:extLst>
                    <a:ext uri="{9D8B030D-6E8A-4147-A177-3AD203B41FA5}">
                      <a16:colId xmlns:a16="http://schemas.microsoft.com/office/drawing/2014/main" val="20001"/>
                    </a:ext>
                  </a:extLst>
                </a:gridCol>
                <a:gridCol w="416401">
                  <a:extLst>
                    <a:ext uri="{9D8B030D-6E8A-4147-A177-3AD203B41FA5}">
                      <a16:colId xmlns:a16="http://schemas.microsoft.com/office/drawing/2014/main" val="20002"/>
                    </a:ext>
                  </a:extLst>
                </a:gridCol>
              </a:tblGrid>
              <a:tr h="219075">
                <a:tc>
                  <a:txBody>
                    <a:bodyPr/>
                    <a:lstStyle/>
                    <a:p>
                      <a:pPr algn="just">
                        <a:lnSpc>
                          <a:spcPct val="115000"/>
                        </a:lnSpc>
                        <a:spcAft>
                          <a:spcPts val="0"/>
                        </a:spcAft>
                        <a:tabLst>
                          <a:tab pos="504825" algn="l"/>
                        </a:tabLst>
                      </a:pPr>
                      <a:r>
                        <a:rPr lang="tr-TR" sz="1600" dirty="0">
                          <a:latin typeface="Calibri"/>
                          <a:ea typeface="Times New Roman"/>
                          <a:cs typeface="Times New Roman"/>
                        </a:rPr>
                        <a:t>       C </a:t>
                      </a:r>
                      <a:r>
                        <a:rPr lang="tr-TR" sz="1600" dirty="0" smtClean="0">
                          <a:latin typeface="Calibri"/>
                          <a:ea typeface="Times New Roman"/>
                          <a:cs typeface="Times New Roman"/>
                        </a:rPr>
                        <a:t>  AB     </a:t>
                      </a:r>
                      <a:endParaRPr lang="tr-TR" sz="1600" dirty="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9525" cap="flat" cmpd="sng" algn="ctr">
                      <a:solidFill>
                        <a:srgbClr val="000000"/>
                      </a:solidFill>
                      <a:prstDash val="solid"/>
                      <a:round/>
                      <a:headEnd type="none" w="med" len="med"/>
                      <a:tailEnd type="none" w="med" len="med"/>
                    </a:lnTlToBr>
                  </a:tcPr>
                </a:tc>
                <a:tc>
                  <a:txBody>
                    <a:bodyPr/>
                    <a:lstStyle/>
                    <a:p>
                      <a:pPr algn="ctr">
                        <a:lnSpc>
                          <a:spcPct val="115000"/>
                        </a:lnSpc>
                        <a:spcAft>
                          <a:spcPts val="0"/>
                        </a:spcAft>
                      </a:pPr>
                      <a:r>
                        <a:rPr lang="tr-TR" sz="1600">
                          <a:latin typeface="Calibri"/>
                          <a:ea typeface="Times New Roman"/>
                          <a:cs typeface="Times New Roman"/>
                        </a:rPr>
                        <a:t>0</a:t>
                      </a: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Calibri"/>
                          <a:ea typeface="Times New Roman"/>
                          <a:cs typeface="Times New Roman"/>
                        </a:rPr>
                        <a:t>1</a:t>
                      </a: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lnSpc>
                          <a:spcPct val="115000"/>
                        </a:lnSpc>
                        <a:spcAft>
                          <a:spcPts val="0"/>
                        </a:spcAft>
                      </a:pPr>
                      <a:r>
                        <a:rPr lang="tr-TR" sz="1600">
                          <a:latin typeface="Calibri"/>
                          <a:ea typeface="Times New Roman"/>
                          <a:cs typeface="Times New Roman"/>
                        </a:rPr>
                        <a:t>00</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tr-TR" sz="1600">
                        <a:latin typeface="Calibri"/>
                        <a:ea typeface="Times New Roman"/>
                        <a:cs typeface="Times New Roman"/>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Calibri"/>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tr-TR" sz="1600">
                          <a:latin typeface="Calibri"/>
                          <a:ea typeface="Times New Roman"/>
                          <a:cs typeface="Times New Roman"/>
                        </a:rPr>
                        <a:t>01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Calibri"/>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Calibri"/>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lnSpc>
                          <a:spcPct val="115000"/>
                        </a:lnSpc>
                        <a:spcAft>
                          <a:spcPts val="0"/>
                        </a:spcAft>
                      </a:pPr>
                      <a:r>
                        <a:rPr lang="tr-TR" sz="1600">
                          <a:latin typeface="Calibri"/>
                          <a:ea typeface="Times New Roman"/>
                          <a:cs typeface="Times New Roman"/>
                        </a:rPr>
                        <a:t>11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Calibri"/>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a:latin typeface="Calibri"/>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lnSpc>
                          <a:spcPct val="115000"/>
                        </a:lnSpc>
                        <a:spcAft>
                          <a:spcPts val="0"/>
                        </a:spcAft>
                      </a:pPr>
                      <a:r>
                        <a:rPr lang="tr-TR" sz="1600">
                          <a:latin typeface="Calibri"/>
                          <a:ea typeface="Times New Roman"/>
                          <a:cs typeface="Times New Roman"/>
                        </a:rPr>
                        <a:t>10</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Calibri"/>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tr-TR" sz="1600" dirty="0">
                          <a:latin typeface="Calibri"/>
                          <a:ea typeface="Times New Roman"/>
                          <a:cs typeface="Times New Roman"/>
                        </a:rPr>
                        <a:t>1</a:t>
                      </a: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Başlık"/>
          <p:cNvSpPr>
            <a:spLocks noGrp="1"/>
          </p:cNvSpPr>
          <p:nvPr>
            <p:ph type="title"/>
          </p:nvPr>
        </p:nvSpPr>
        <p:spPr/>
        <p:txBody>
          <a:bodyPr/>
          <a:lstStyle/>
          <a:p>
            <a:r>
              <a:rPr lang="en-US" sz="2400" b="1" spc="-1" dirty="0"/>
              <a:t>Simplification of </a:t>
            </a:r>
            <a:r>
              <a:rPr lang="en-US" sz="2400" b="1" spc="-1" dirty="0" smtClean="0"/>
              <a:t>Expressions </a:t>
            </a:r>
            <a:r>
              <a:rPr lang="en-US" sz="2400" b="1" spc="-1" dirty="0"/>
              <a:t>in </a:t>
            </a:r>
            <a:r>
              <a:rPr lang="en-US" sz="2400" b="1" spc="-1" dirty="0" smtClean="0"/>
              <a:t>Standard </a:t>
            </a:r>
            <a:r>
              <a:rPr lang="en-US" sz="2400" b="1" spc="-1" dirty="0" err="1"/>
              <a:t>SoP</a:t>
            </a:r>
            <a:r>
              <a:rPr lang="en-US" sz="2400" b="1" spc="-1" dirty="0"/>
              <a:t> form</a:t>
            </a:r>
            <a:endParaRPr lang="en-US" sz="2400" spc="-1" dirty="0">
              <a:solidFill>
                <a:srgbClr val="000000"/>
              </a:solidFill>
            </a:endParaRPr>
          </a:p>
        </p:txBody>
      </p:sp>
      <p:sp>
        <p:nvSpPr>
          <p:cNvPr id="3" name="2 İçerik Yer Tutucusu"/>
          <p:cNvSpPr>
            <a:spLocks noGrp="1"/>
          </p:cNvSpPr>
          <p:nvPr>
            <p:ph idx="1"/>
          </p:nvPr>
        </p:nvSpPr>
        <p:spPr>
          <a:xfrm>
            <a:off x="361950" y="887413"/>
            <a:ext cx="8375650" cy="5322887"/>
          </a:xfrm>
        </p:spPr>
        <p:txBody>
          <a:bodyPr/>
          <a:lstStyle/>
          <a:p>
            <a:pPr marL="0" indent="0" algn="just">
              <a:lnSpc>
                <a:spcPct val="100000"/>
              </a:lnSpc>
              <a:spcBef>
                <a:spcPts val="400"/>
              </a:spcBef>
              <a:buNone/>
            </a:pPr>
            <a:r>
              <a:rPr lang="en-US" sz="2000" spc="-1" dirty="0">
                <a:solidFill>
                  <a:srgbClr val="000000"/>
                </a:solidFill>
              </a:rPr>
              <a:t>We do the simplification in 3 steps: Creating groups of 1’s, deriving terms from these groups, and generating the expression using these terms.</a:t>
            </a:r>
          </a:p>
          <a:p>
            <a:pPr marL="343080" indent="-342720" algn="just">
              <a:lnSpc>
                <a:spcPct val="100000"/>
              </a:lnSpc>
              <a:spcBef>
                <a:spcPts val="201"/>
              </a:spcBef>
            </a:pPr>
            <a:endParaRPr lang="en-US" sz="2000" spc="-1" dirty="0">
              <a:solidFill>
                <a:srgbClr val="000000"/>
              </a:solidFill>
            </a:endParaRPr>
          </a:p>
          <a:p>
            <a:pPr marL="0" indent="0" algn="just">
              <a:lnSpc>
                <a:spcPct val="100000"/>
              </a:lnSpc>
              <a:spcBef>
                <a:spcPts val="400"/>
              </a:spcBef>
              <a:buNone/>
            </a:pPr>
            <a:r>
              <a:rPr lang="en-US" sz="2000" b="1" u="sng" spc="-1" dirty="0">
                <a:solidFill>
                  <a:srgbClr val="000000"/>
                </a:solidFill>
              </a:rPr>
              <a:t>Grouping Rules</a:t>
            </a:r>
            <a:endParaRPr lang="en-US" sz="2000" spc="-1" dirty="0">
              <a:solidFill>
                <a:srgbClr val="000000"/>
              </a:solidFill>
            </a:endParaRPr>
          </a:p>
          <a:p>
            <a:pPr marL="343080" indent="-342720" algn="just">
              <a:lnSpc>
                <a:spcPct val="100000"/>
              </a:lnSpc>
              <a:spcBef>
                <a:spcPts val="400"/>
              </a:spcBef>
            </a:pPr>
            <a:r>
              <a:rPr lang="en-US" sz="2000" spc="-1" dirty="0" smtClean="0">
                <a:solidFill>
                  <a:srgbClr val="000000"/>
                </a:solidFill>
              </a:rPr>
              <a:t>We </a:t>
            </a:r>
            <a:r>
              <a:rPr lang="en-US" sz="2000" spc="-1" dirty="0">
                <a:solidFill>
                  <a:srgbClr val="000000"/>
                </a:solidFill>
              </a:rPr>
              <a:t>group only neighbor cells.</a:t>
            </a:r>
          </a:p>
          <a:p>
            <a:pPr marL="343080" indent="-342720" algn="just">
              <a:lnSpc>
                <a:spcPct val="100000"/>
              </a:lnSpc>
              <a:spcBef>
                <a:spcPts val="400"/>
              </a:spcBef>
            </a:pPr>
            <a:r>
              <a:rPr lang="en-US" sz="2000" spc="-1" dirty="0" smtClean="0">
                <a:solidFill>
                  <a:srgbClr val="000000"/>
                </a:solidFill>
              </a:rPr>
              <a:t>Groups </a:t>
            </a:r>
            <a:r>
              <a:rPr lang="en-US" sz="2000" spc="-1" dirty="0">
                <a:solidFill>
                  <a:srgbClr val="000000"/>
                </a:solidFill>
              </a:rPr>
              <a:t>must contain as more cells as possible.</a:t>
            </a:r>
          </a:p>
          <a:p>
            <a:pPr algn="just">
              <a:lnSpc>
                <a:spcPct val="100000"/>
              </a:lnSpc>
              <a:spcBef>
                <a:spcPts val="400"/>
              </a:spcBef>
            </a:pPr>
            <a:r>
              <a:rPr lang="en-US" sz="2000" spc="-1" dirty="0" smtClean="0">
                <a:solidFill>
                  <a:srgbClr val="000000"/>
                </a:solidFill>
              </a:rPr>
              <a:t>The </a:t>
            </a:r>
            <a:r>
              <a:rPr lang="en-US" sz="2000" spc="-1" dirty="0">
                <a:solidFill>
                  <a:srgbClr val="000000"/>
                </a:solidFill>
              </a:rPr>
              <a:t>number of cells in a group must be the power of 2. Groups can have 1,  2, 4, 8, 16, ... cells.</a:t>
            </a:r>
          </a:p>
          <a:p>
            <a:pPr algn="just">
              <a:lnSpc>
                <a:spcPct val="100000"/>
              </a:lnSpc>
              <a:spcBef>
                <a:spcPts val="400"/>
              </a:spcBef>
            </a:pPr>
            <a:r>
              <a:rPr lang="en-US" sz="2000" spc="-1" dirty="0" smtClean="0">
                <a:solidFill>
                  <a:srgbClr val="000000"/>
                </a:solidFill>
              </a:rPr>
              <a:t>Groups </a:t>
            </a:r>
            <a:r>
              <a:rPr lang="en-US" sz="2000" spc="-1" dirty="0">
                <a:solidFill>
                  <a:srgbClr val="000000"/>
                </a:solidFill>
              </a:rPr>
              <a:t>must have a </a:t>
            </a:r>
            <a:r>
              <a:rPr lang="en-US" sz="2000" spc="-1" dirty="0" smtClean="0">
                <a:solidFill>
                  <a:srgbClr val="000000"/>
                </a:solidFill>
              </a:rPr>
              <a:t>rectangular </a:t>
            </a:r>
            <a:r>
              <a:rPr lang="en-US" sz="2000" spc="-1" dirty="0">
                <a:solidFill>
                  <a:srgbClr val="000000"/>
                </a:solidFill>
              </a:rPr>
              <a:t>shape.</a:t>
            </a:r>
          </a:p>
          <a:p>
            <a:pPr algn="just">
              <a:lnSpc>
                <a:spcPct val="100000"/>
              </a:lnSpc>
              <a:spcBef>
                <a:spcPts val="400"/>
              </a:spcBef>
            </a:pPr>
            <a:r>
              <a:rPr lang="en-US" sz="2000" spc="-1" dirty="0" smtClean="0">
                <a:solidFill>
                  <a:srgbClr val="000000"/>
                </a:solidFill>
              </a:rPr>
              <a:t>All </a:t>
            </a:r>
            <a:r>
              <a:rPr lang="en-US" sz="2000" spc="-1" dirty="0">
                <a:solidFill>
                  <a:srgbClr val="000000"/>
                </a:solidFill>
              </a:rPr>
              <a:t>the 1’s on the K-Map must belong to at least 1 group.</a:t>
            </a:r>
          </a:p>
          <a:p>
            <a:pPr algn="just">
              <a:lnSpc>
                <a:spcPct val="100000"/>
              </a:lnSpc>
              <a:spcBef>
                <a:spcPts val="400"/>
              </a:spcBef>
            </a:pPr>
            <a:endParaRPr lang="en-US" sz="2000" spc="-1" dirty="0">
              <a:solidFill>
                <a:srgbClr val="000000"/>
              </a:solidFill>
            </a:endParaRPr>
          </a:p>
          <a:p>
            <a:pPr marL="343080" indent="-342720" algn="just">
              <a:lnSpc>
                <a:spcPct val="100000"/>
              </a:lnSpc>
              <a:spcBef>
                <a:spcPts val="400"/>
              </a:spcBef>
              <a:buClr>
                <a:srgbClr val="000000"/>
              </a:buClr>
              <a:buFont typeface="Wingdings" charset="2"/>
              <a:buChar char=""/>
            </a:pPr>
            <a:r>
              <a:rPr lang="en-US" sz="2000" spc="-1" dirty="0">
                <a:solidFill>
                  <a:srgbClr val="000000"/>
                </a:solidFill>
              </a:rPr>
              <a:t>The main goal is to form least, and largest groups.</a:t>
            </a:r>
          </a:p>
          <a:p>
            <a:pPr algn="just">
              <a:buNone/>
              <a:defRPr/>
            </a:pPr>
            <a:endParaRPr lang="tr-TR" sz="2000" dirty="0" smtClean="0"/>
          </a:p>
          <a:p>
            <a:pPr algn="just">
              <a:buFontTx/>
              <a:buNone/>
              <a:defRPr/>
            </a:pPr>
            <a:endParaRPr lang="tr-TR" sz="1000" dirty="0" smtClean="0"/>
          </a:p>
          <a:p>
            <a:pPr algn="just">
              <a:buFontTx/>
              <a:buNone/>
              <a:defRPr/>
            </a:pPr>
            <a:endParaRPr lang="tr-TR" sz="2000" dirty="0"/>
          </a:p>
        </p:txBody>
      </p:sp>
      <p:sp>
        <p:nvSpPr>
          <p:cNvPr id="11268" name="3 Altbilgi Yer Tutucusu"/>
          <p:cNvSpPr>
            <a:spLocks noGrp="1"/>
          </p:cNvSpPr>
          <p:nvPr>
            <p:ph type="ftr" sz="quarter" idx="10"/>
          </p:nvPr>
        </p:nvSpPr>
        <p:spPr>
          <a:noFill/>
        </p:spPr>
        <p:txBody>
          <a:bodyPr/>
          <a:lstStyle/>
          <a:p>
            <a:pPr>
              <a:defRPr/>
            </a:pPr>
            <a:r>
              <a:rPr lang="en-US" dirty="0"/>
              <a:t>Logic Circuits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Başlık"/>
          <p:cNvSpPr>
            <a:spLocks noGrp="1"/>
          </p:cNvSpPr>
          <p:nvPr>
            <p:ph type="title"/>
          </p:nvPr>
        </p:nvSpPr>
        <p:spPr/>
        <p:txBody>
          <a:bodyPr/>
          <a:lstStyle/>
          <a:p>
            <a:r>
              <a:rPr lang="en-US" sz="2400" b="1" spc="-1" dirty="0"/>
              <a:t>Grouping Cells and Deriving Simplified Terms in K-Maps</a:t>
            </a:r>
            <a:endParaRPr lang="en-US" sz="2400" spc="-1" dirty="0">
              <a:solidFill>
                <a:srgbClr val="000000"/>
              </a:solidFill>
            </a:endParaRPr>
          </a:p>
        </p:txBody>
      </p:sp>
      <p:sp>
        <p:nvSpPr>
          <p:cNvPr id="12291" name="2 İçerik Yer Tutucusu"/>
          <p:cNvSpPr>
            <a:spLocks noGrp="1"/>
          </p:cNvSpPr>
          <p:nvPr>
            <p:ph idx="1"/>
          </p:nvPr>
        </p:nvSpPr>
        <p:spPr>
          <a:xfrm>
            <a:off x="349250" y="887413"/>
            <a:ext cx="8375650" cy="5078412"/>
          </a:xfrm>
        </p:spPr>
        <p:txBody>
          <a:bodyPr/>
          <a:lstStyle/>
          <a:p>
            <a:pPr marL="0" indent="0" algn="just">
              <a:lnSpc>
                <a:spcPct val="100000"/>
              </a:lnSpc>
              <a:spcBef>
                <a:spcPts val="439"/>
              </a:spcBef>
              <a:buNone/>
            </a:pPr>
            <a:r>
              <a:rPr lang="en-US" sz="2200" spc="-1" dirty="0">
                <a:solidFill>
                  <a:srgbClr val="000000"/>
                </a:solidFill>
              </a:rPr>
              <a:t>After creating groups, we derive a term from each group. If a group contains both 0 and 1 for a variable, we ignore that variable and use other variables to form the term</a:t>
            </a:r>
            <a:r>
              <a:rPr lang="en-US" sz="2200" spc="-1" dirty="0" smtClean="0">
                <a:solidFill>
                  <a:srgbClr val="000000"/>
                </a:solidFill>
              </a:rPr>
              <a:t>.</a:t>
            </a:r>
          </a:p>
          <a:p>
            <a:pPr marL="0" indent="0" algn="just">
              <a:lnSpc>
                <a:spcPct val="100000"/>
              </a:lnSpc>
              <a:spcBef>
                <a:spcPts val="439"/>
              </a:spcBef>
              <a:buNone/>
            </a:pPr>
            <a:endParaRPr lang="en-US" sz="2200" spc="-1" dirty="0">
              <a:solidFill>
                <a:srgbClr val="000000"/>
              </a:solidFill>
            </a:endParaRPr>
          </a:p>
          <a:p>
            <a:pPr marL="0" indent="0" algn="just">
              <a:buFontTx/>
              <a:buNone/>
            </a:pPr>
            <a:endParaRPr lang="tr-TR" sz="2200" dirty="0" smtClean="0"/>
          </a:p>
          <a:p>
            <a:pPr marL="0" indent="0" algn="just">
              <a:buFontTx/>
              <a:buNone/>
            </a:pPr>
            <a:endParaRPr lang="tr-TR" sz="2200" dirty="0" smtClean="0"/>
          </a:p>
          <a:p>
            <a:pPr marL="0" indent="0" algn="just">
              <a:buFontTx/>
              <a:buNone/>
            </a:pPr>
            <a:endParaRPr lang="tr-TR" sz="2200" dirty="0" smtClean="0"/>
          </a:p>
          <a:p>
            <a:pPr marL="0" indent="0" algn="just">
              <a:buFontTx/>
              <a:buNone/>
            </a:pPr>
            <a:endParaRPr lang="tr-TR" sz="2200" dirty="0" smtClean="0"/>
          </a:p>
          <a:p>
            <a:pPr marL="0" indent="0" algn="just">
              <a:buFontTx/>
              <a:buNone/>
            </a:pPr>
            <a:endParaRPr lang="tr-TR" sz="1000" dirty="0" smtClean="0"/>
          </a:p>
          <a:p>
            <a:pPr marL="0" indent="0" algn="just">
              <a:buFontTx/>
              <a:buNone/>
            </a:pPr>
            <a:r>
              <a:rPr lang="tr-TR" sz="2400" dirty="0" smtClean="0"/>
              <a:t>             B’+A’</a:t>
            </a:r>
          </a:p>
          <a:p>
            <a:pPr marL="0" indent="0" algn="just">
              <a:buFontTx/>
              <a:buNone/>
            </a:pPr>
            <a:endParaRPr lang="tr-TR" sz="2200" dirty="0" smtClean="0"/>
          </a:p>
          <a:p>
            <a:pPr marL="0" indent="0" algn="just">
              <a:buFontTx/>
              <a:buNone/>
            </a:pPr>
            <a:r>
              <a:rPr lang="tr-TR" sz="2000" dirty="0" smtClean="0"/>
              <a:t>                                                            B’+AC 	           A’C’+B’C</a:t>
            </a:r>
          </a:p>
          <a:p>
            <a:pPr marL="0" indent="0">
              <a:buFontTx/>
              <a:buNone/>
            </a:pPr>
            <a:endParaRPr lang="tr-TR" sz="2200" dirty="0" smtClean="0"/>
          </a:p>
        </p:txBody>
      </p:sp>
      <p:sp>
        <p:nvSpPr>
          <p:cNvPr id="12292" name="3 Altbilgi Yer Tutucusu"/>
          <p:cNvSpPr>
            <a:spLocks noGrp="1"/>
          </p:cNvSpPr>
          <p:nvPr>
            <p:ph type="ftr" sz="quarter" idx="10"/>
          </p:nvPr>
        </p:nvSpPr>
        <p:spPr>
          <a:noFill/>
        </p:spPr>
        <p:txBody>
          <a:bodyPr/>
          <a:lstStyle/>
          <a:p>
            <a:pPr>
              <a:defRPr/>
            </a:pPr>
            <a:r>
              <a:rPr lang="en-US" dirty="0"/>
              <a:t>Logic Circuits</a:t>
            </a:r>
            <a:endParaRPr lang="en-US" dirty="0"/>
          </a:p>
        </p:txBody>
      </p:sp>
      <p:pic>
        <p:nvPicPr>
          <p:cNvPr id="12293" name="4 Resim"/>
          <p:cNvPicPr>
            <a:picLocks noChangeAspect="1"/>
          </p:cNvPicPr>
          <p:nvPr/>
        </p:nvPicPr>
        <p:blipFill>
          <a:blip r:embed="rId2" cstate="print"/>
          <a:srcRect/>
          <a:stretch>
            <a:fillRect/>
          </a:stretch>
        </p:blipFill>
        <p:spPr bwMode="auto">
          <a:xfrm>
            <a:off x="3948113" y="2295525"/>
            <a:ext cx="1631950" cy="2452688"/>
          </a:xfrm>
          <a:prstGeom prst="rect">
            <a:avLst/>
          </a:prstGeom>
          <a:noFill/>
          <a:ln w="9525">
            <a:noFill/>
            <a:miter lim="800000"/>
            <a:headEnd/>
            <a:tailEnd/>
          </a:ln>
        </p:spPr>
      </p:pic>
      <p:pic>
        <p:nvPicPr>
          <p:cNvPr id="12294" name="5 Resim"/>
          <p:cNvPicPr>
            <a:picLocks noChangeAspect="1"/>
          </p:cNvPicPr>
          <p:nvPr/>
        </p:nvPicPr>
        <p:blipFill>
          <a:blip r:embed="rId3" cstate="print"/>
          <a:srcRect/>
          <a:stretch>
            <a:fillRect/>
          </a:stretch>
        </p:blipFill>
        <p:spPr bwMode="auto">
          <a:xfrm>
            <a:off x="6310313" y="2346325"/>
            <a:ext cx="1643062" cy="2357438"/>
          </a:xfrm>
          <a:prstGeom prst="rect">
            <a:avLst/>
          </a:prstGeom>
          <a:noFill/>
          <a:ln w="9525">
            <a:noFill/>
            <a:miter lim="800000"/>
            <a:headEnd/>
            <a:tailEnd/>
          </a:ln>
        </p:spPr>
      </p:pic>
      <p:pic>
        <p:nvPicPr>
          <p:cNvPr id="12295" name="6 Resim"/>
          <p:cNvPicPr>
            <a:picLocks noChangeAspect="1" noChangeArrowheads="1"/>
          </p:cNvPicPr>
          <p:nvPr/>
        </p:nvPicPr>
        <p:blipFill>
          <a:blip r:embed="rId4" cstate="print"/>
          <a:srcRect/>
          <a:stretch>
            <a:fillRect/>
          </a:stretch>
        </p:blipFill>
        <p:spPr bwMode="auto">
          <a:xfrm>
            <a:off x="1103313" y="2422525"/>
            <a:ext cx="1400175" cy="1428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Başlık"/>
          <p:cNvSpPr>
            <a:spLocks noGrp="1"/>
          </p:cNvSpPr>
          <p:nvPr>
            <p:ph type="title"/>
          </p:nvPr>
        </p:nvSpPr>
        <p:spPr/>
        <p:txBody>
          <a:bodyPr/>
          <a:lstStyle/>
          <a:p>
            <a:r>
              <a:rPr lang="en-US" sz="2400" b="1" spc="-1" dirty="0"/>
              <a:t>Grouping Cells and Deriving Simplified Terms in K-Maps</a:t>
            </a:r>
            <a:endParaRPr lang="en-US" sz="2400" spc="-1" dirty="0">
              <a:solidFill>
                <a:srgbClr val="000000"/>
              </a:solidFill>
            </a:endParaRPr>
          </a:p>
        </p:txBody>
      </p:sp>
      <p:sp>
        <p:nvSpPr>
          <p:cNvPr id="13315" name="2 İçerik Yer Tutucusu"/>
          <p:cNvSpPr>
            <a:spLocks noGrp="1"/>
          </p:cNvSpPr>
          <p:nvPr>
            <p:ph idx="1"/>
          </p:nvPr>
        </p:nvSpPr>
        <p:spPr>
          <a:xfrm>
            <a:off x="374650" y="938213"/>
            <a:ext cx="8375650" cy="5078412"/>
          </a:xfrm>
        </p:spPr>
        <p:txBody>
          <a:bodyPr/>
          <a:lstStyle/>
          <a:p>
            <a:endParaRPr lang="tr-TR" smtClean="0"/>
          </a:p>
          <a:p>
            <a:endParaRPr lang="tr-TR" smtClean="0"/>
          </a:p>
          <a:p>
            <a:endParaRPr lang="tr-TR" smtClean="0"/>
          </a:p>
          <a:p>
            <a:endParaRPr lang="tr-TR" sz="1600" smtClean="0"/>
          </a:p>
          <a:p>
            <a:pPr>
              <a:buFontTx/>
              <a:buNone/>
            </a:pPr>
            <a:r>
              <a:rPr lang="tr-TR" sz="2200" smtClean="0"/>
              <a:t>		     A’B+ A’C +AB’C’ 		                  D’+BC’</a:t>
            </a:r>
          </a:p>
          <a:p>
            <a:endParaRPr lang="tr-TR" smtClean="0"/>
          </a:p>
          <a:p>
            <a:endParaRPr lang="tr-TR" smtClean="0"/>
          </a:p>
          <a:p>
            <a:endParaRPr lang="tr-TR" smtClean="0"/>
          </a:p>
          <a:p>
            <a:endParaRPr lang="tr-TR" sz="2000" smtClean="0"/>
          </a:p>
          <a:p>
            <a:pPr>
              <a:buFontTx/>
              <a:buNone/>
            </a:pPr>
            <a:r>
              <a:rPr lang="tr-TR" sz="2200" smtClean="0"/>
              <a:t>				          A’C’+A’D+BD </a:t>
            </a:r>
          </a:p>
        </p:txBody>
      </p:sp>
      <p:sp>
        <p:nvSpPr>
          <p:cNvPr id="13316" name="3 Altbilgi Yer Tutucusu"/>
          <p:cNvSpPr>
            <a:spLocks noGrp="1"/>
          </p:cNvSpPr>
          <p:nvPr>
            <p:ph type="ftr" sz="quarter" idx="10"/>
          </p:nvPr>
        </p:nvSpPr>
        <p:spPr>
          <a:noFill/>
        </p:spPr>
        <p:txBody>
          <a:bodyPr/>
          <a:lstStyle/>
          <a:p>
            <a:pPr>
              <a:defRPr/>
            </a:pPr>
            <a:r>
              <a:rPr lang="en-US" dirty="0"/>
              <a:t>Logic Circuits</a:t>
            </a:r>
            <a:endParaRPr lang="en-US" dirty="0"/>
          </a:p>
        </p:txBody>
      </p:sp>
      <p:pic>
        <p:nvPicPr>
          <p:cNvPr id="13317" name="4 Resim"/>
          <p:cNvPicPr>
            <a:picLocks noChangeAspect="1"/>
          </p:cNvPicPr>
          <p:nvPr/>
        </p:nvPicPr>
        <p:blipFill>
          <a:blip r:embed="rId2" cstate="print"/>
          <a:srcRect/>
          <a:stretch>
            <a:fillRect/>
          </a:stretch>
        </p:blipFill>
        <p:spPr bwMode="auto">
          <a:xfrm>
            <a:off x="1503363" y="1193800"/>
            <a:ext cx="2489200" cy="1738313"/>
          </a:xfrm>
          <a:prstGeom prst="rect">
            <a:avLst/>
          </a:prstGeom>
          <a:noFill/>
          <a:ln w="9525">
            <a:noFill/>
            <a:miter lim="800000"/>
            <a:headEnd/>
            <a:tailEnd/>
          </a:ln>
        </p:spPr>
      </p:pic>
      <p:pic>
        <p:nvPicPr>
          <p:cNvPr id="13318" name="5 Resim"/>
          <p:cNvPicPr>
            <a:picLocks noChangeAspect="1"/>
          </p:cNvPicPr>
          <p:nvPr/>
        </p:nvPicPr>
        <p:blipFill>
          <a:blip r:embed="rId3" cstate="print"/>
          <a:srcRect/>
          <a:stretch>
            <a:fillRect/>
          </a:stretch>
        </p:blipFill>
        <p:spPr bwMode="auto">
          <a:xfrm>
            <a:off x="3509963" y="3746500"/>
            <a:ext cx="2500312" cy="1774825"/>
          </a:xfrm>
          <a:prstGeom prst="rect">
            <a:avLst/>
          </a:prstGeom>
          <a:noFill/>
          <a:ln w="9525">
            <a:noFill/>
            <a:miter lim="800000"/>
            <a:headEnd/>
            <a:tailEnd/>
          </a:ln>
        </p:spPr>
      </p:pic>
      <p:pic>
        <p:nvPicPr>
          <p:cNvPr id="13319" name="6 Resim"/>
          <p:cNvPicPr>
            <a:picLocks noChangeAspect="1"/>
          </p:cNvPicPr>
          <p:nvPr/>
        </p:nvPicPr>
        <p:blipFill>
          <a:blip r:embed="rId4" cstate="print"/>
          <a:srcRect/>
          <a:stretch>
            <a:fillRect/>
          </a:stretch>
        </p:blipFill>
        <p:spPr bwMode="auto">
          <a:xfrm>
            <a:off x="5338763" y="1181100"/>
            <a:ext cx="2620962" cy="1809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Başlık"/>
          <p:cNvSpPr>
            <a:spLocks noGrp="1"/>
          </p:cNvSpPr>
          <p:nvPr>
            <p:ph type="title"/>
          </p:nvPr>
        </p:nvSpPr>
        <p:spPr/>
        <p:txBody>
          <a:bodyPr/>
          <a:lstStyle/>
          <a:p>
            <a:r>
              <a:rPr lang="en-US" sz="2400" b="1" spc="-1" dirty="0"/>
              <a:t>Grouping Cells and Deriving Simplified Terms in K-Maps</a:t>
            </a:r>
            <a:endParaRPr lang="en-US" sz="2400" spc="-1" dirty="0">
              <a:solidFill>
                <a:srgbClr val="000000"/>
              </a:solidFill>
            </a:endParaRPr>
          </a:p>
        </p:txBody>
      </p:sp>
      <p:sp>
        <p:nvSpPr>
          <p:cNvPr id="3" name="2 İçerik Yer Tutucusu"/>
          <p:cNvSpPr>
            <a:spLocks noGrp="1"/>
          </p:cNvSpPr>
          <p:nvPr>
            <p:ph idx="1"/>
          </p:nvPr>
        </p:nvSpPr>
        <p:spPr>
          <a:xfrm>
            <a:off x="349250" y="900113"/>
            <a:ext cx="8375650" cy="5078412"/>
          </a:xfrm>
        </p:spPr>
        <p:txBody>
          <a:bodyPr/>
          <a:lstStyle/>
          <a:p>
            <a:pPr marL="0" indent="0" algn="just">
              <a:lnSpc>
                <a:spcPct val="100000"/>
              </a:lnSpc>
              <a:spcBef>
                <a:spcPts val="439"/>
              </a:spcBef>
              <a:buNone/>
            </a:pPr>
            <a:r>
              <a:rPr lang="en-US" sz="2200" b="1" spc="-1" dirty="0">
                <a:solidFill>
                  <a:srgbClr val="000000"/>
                </a:solidFill>
              </a:rPr>
              <a:t>Example: </a:t>
            </a:r>
            <a:r>
              <a:rPr lang="en-US" sz="2200" spc="-1" dirty="0">
                <a:solidFill>
                  <a:srgbClr val="000000"/>
                </a:solidFill>
              </a:rPr>
              <a:t>Let’s simplify the expression given below using K-Map.</a:t>
            </a:r>
          </a:p>
          <a:p>
            <a:pPr marL="0" indent="0" algn="just">
              <a:lnSpc>
                <a:spcPct val="100000"/>
              </a:lnSpc>
              <a:spcBef>
                <a:spcPts val="439"/>
              </a:spcBef>
              <a:buNone/>
            </a:pPr>
            <a:r>
              <a:rPr lang="en-US" sz="2200" spc="-1" dirty="0">
                <a:solidFill>
                  <a:srgbClr val="000000"/>
                </a:solidFill>
              </a:rPr>
              <a:t>F(A,B,C,D,E) = ∑ (4,5,6,7,13,15,27,29,31)</a:t>
            </a:r>
          </a:p>
          <a:p>
            <a:pPr marL="0" indent="0" algn="just">
              <a:lnSpc>
                <a:spcPct val="100000"/>
              </a:lnSpc>
              <a:spcBef>
                <a:spcPts val="201"/>
              </a:spcBef>
              <a:buNone/>
            </a:pPr>
            <a:endParaRPr lang="en-US" sz="1000" spc="-1" dirty="0">
              <a:solidFill>
                <a:srgbClr val="000000"/>
              </a:solidFill>
            </a:endParaRPr>
          </a:p>
          <a:p>
            <a:pPr marL="0" indent="0" algn="just">
              <a:lnSpc>
                <a:spcPct val="100000"/>
              </a:lnSpc>
              <a:spcBef>
                <a:spcPts val="439"/>
              </a:spcBef>
              <a:buNone/>
            </a:pPr>
            <a:r>
              <a:rPr lang="en-US" sz="2200" spc="-1" dirty="0">
                <a:solidFill>
                  <a:srgbClr val="000000"/>
                </a:solidFill>
              </a:rPr>
              <a:t>We’ll handle the most significant variable (A) separately. First, we place the other variables on the headers of the maps. Then we place the </a:t>
            </a:r>
            <a:r>
              <a:rPr lang="en-US" sz="2200" spc="-1" dirty="0" err="1">
                <a:solidFill>
                  <a:srgbClr val="000000"/>
                </a:solidFill>
              </a:rPr>
              <a:t>minterms</a:t>
            </a:r>
            <a:r>
              <a:rPr lang="en-US" sz="2200" spc="-1" dirty="0">
                <a:solidFill>
                  <a:srgbClr val="000000"/>
                </a:solidFill>
              </a:rPr>
              <a:t> on the map. Overlapping cells are considered to be neighbors.</a:t>
            </a:r>
          </a:p>
          <a:p>
            <a:pPr marL="343080" indent="-342720" algn="just">
              <a:lnSpc>
                <a:spcPct val="100000"/>
              </a:lnSpc>
              <a:spcBef>
                <a:spcPts val="641"/>
              </a:spcBef>
            </a:pPr>
            <a:endParaRPr lang="en-US" sz="2200" spc="-1" dirty="0">
              <a:solidFill>
                <a:srgbClr val="000000"/>
              </a:solidFill>
            </a:endParaRPr>
          </a:p>
          <a:p>
            <a:pPr algn="just">
              <a:buFontTx/>
              <a:buNone/>
              <a:defRPr/>
            </a:pPr>
            <a:endParaRPr lang="tr-TR" dirty="0"/>
          </a:p>
        </p:txBody>
      </p:sp>
      <p:sp>
        <p:nvSpPr>
          <p:cNvPr id="14340" name="3 Altbilgi Yer Tutucusu"/>
          <p:cNvSpPr>
            <a:spLocks noGrp="1"/>
          </p:cNvSpPr>
          <p:nvPr>
            <p:ph type="ftr" sz="quarter" idx="10"/>
          </p:nvPr>
        </p:nvSpPr>
        <p:spPr>
          <a:noFill/>
        </p:spPr>
        <p:txBody>
          <a:bodyPr/>
          <a:lstStyle/>
          <a:p>
            <a:pPr>
              <a:defRPr/>
            </a:pPr>
            <a:r>
              <a:rPr lang="en-US" dirty="0"/>
              <a:t>Logic Circuits</a:t>
            </a:r>
            <a:endParaRPr lang="en-US" dirty="0"/>
          </a:p>
        </p:txBody>
      </p:sp>
      <p:pic>
        <p:nvPicPr>
          <p:cNvPr id="14341" name="4 Resim"/>
          <p:cNvPicPr>
            <a:picLocks noChangeAspect="1" noChangeArrowheads="1"/>
          </p:cNvPicPr>
          <p:nvPr/>
        </p:nvPicPr>
        <p:blipFill>
          <a:blip r:embed="rId2" cstate="print"/>
          <a:srcRect/>
          <a:stretch>
            <a:fillRect/>
          </a:stretch>
        </p:blipFill>
        <p:spPr bwMode="auto">
          <a:xfrm>
            <a:off x="452438" y="2973388"/>
            <a:ext cx="4957762" cy="3376612"/>
          </a:xfrm>
          <a:prstGeom prst="rect">
            <a:avLst/>
          </a:prstGeom>
          <a:noFill/>
          <a:ln w="9525">
            <a:noFill/>
            <a:miter lim="800000"/>
            <a:headEnd/>
            <a:tailEnd/>
          </a:ln>
        </p:spPr>
      </p:pic>
      <p:sp>
        <p:nvSpPr>
          <p:cNvPr id="14342" name="5 Dikdörtgen"/>
          <p:cNvSpPr>
            <a:spLocks noChangeArrowheads="1"/>
          </p:cNvSpPr>
          <p:nvPr/>
        </p:nvSpPr>
        <p:spPr bwMode="auto">
          <a:xfrm>
            <a:off x="571500" y="5380038"/>
            <a:ext cx="1117600" cy="339725"/>
          </a:xfrm>
          <a:prstGeom prst="rect">
            <a:avLst/>
          </a:prstGeom>
          <a:noFill/>
          <a:ln w="9525">
            <a:noFill/>
            <a:miter lim="800000"/>
            <a:headEnd/>
            <a:tailEnd/>
          </a:ln>
        </p:spPr>
        <p:txBody>
          <a:bodyPr wrap="none">
            <a:spAutoFit/>
          </a:bodyPr>
          <a:lstStyle/>
          <a:p>
            <a:r>
              <a:rPr lang="tr-TR"/>
              <a:t>f1= A’B’C </a:t>
            </a:r>
          </a:p>
        </p:txBody>
      </p:sp>
      <p:sp>
        <p:nvSpPr>
          <p:cNvPr id="14343" name="6 Dikdörtgen"/>
          <p:cNvSpPr>
            <a:spLocks noChangeArrowheads="1"/>
          </p:cNvSpPr>
          <p:nvPr/>
        </p:nvSpPr>
        <p:spPr bwMode="auto">
          <a:xfrm>
            <a:off x="1736725" y="5786438"/>
            <a:ext cx="996950" cy="339725"/>
          </a:xfrm>
          <a:prstGeom prst="rect">
            <a:avLst/>
          </a:prstGeom>
          <a:noFill/>
          <a:ln w="9525">
            <a:noFill/>
            <a:miter lim="800000"/>
            <a:headEnd/>
            <a:tailEnd/>
          </a:ln>
        </p:spPr>
        <p:txBody>
          <a:bodyPr wrap="none">
            <a:spAutoFit/>
          </a:bodyPr>
          <a:lstStyle/>
          <a:p>
            <a:r>
              <a:rPr lang="tr-TR"/>
              <a:t>f2= BCE </a:t>
            </a:r>
          </a:p>
        </p:txBody>
      </p:sp>
      <p:sp>
        <p:nvSpPr>
          <p:cNvPr id="14344" name="7 Dikdörtgen"/>
          <p:cNvSpPr>
            <a:spLocks noChangeArrowheads="1"/>
          </p:cNvSpPr>
          <p:nvPr/>
        </p:nvSpPr>
        <p:spPr bwMode="auto">
          <a:xfrm>
            <a:off x="5295900" y="6078538"/>
            <a:ext cx="1092200" cy="339725"/>
          </a:xfrm>
          <a:prstGeom prst="rect">
            <a:avLst/>
          </a:prstGeom>
          <a:noFill/>
          <a:ln w="9525">
            <a:noFill/>
            <a:miter lim="800000"/>
            <a:headEnd/>
            <a:tailEnd/>
          </a:ln>
        </p:spPr>
        <p:txBody>
          <a:bodyPr wrap="none">
            <a:spAutoFit/>
          </a:bodyPr>
          <a:lstStyle/>
          <a:p>
            <a:r>
              <a:rPr lang="tr-TR"/>
              <a:t>f3=ABDE </a:t>
            </a:r>
          </a:p>
        </p:txBody>
      </p:sp>
      <p:sp>
        <p:nvSpPr>
          <p:cNvPr id="14345" name="8 Dikdörtgen"/>
          <p:cNvSpPr>
            <a:spLocks noChangeArrowheads="1"/>
          </p:cNvSpPr>
          <p:nvPr/>
        </p:nvSpPr>
        <p:spPr bwMode="auto">
          <a:xfrm>
            <a:off x="5372100" y="3348038"/>
            <a:ext cx="3251200" cy="339725"/>
          </a:xfrm>
          <a:prstGeom prst="rect">
            <a:avLst/>
          </a:prstGeom>
          <a:noFill/>
          <a:ln w="9525">
            <a:noFill/>
            <a:miter lim="800000"/>
            <a:headEnd/>
            <a:tailEnd/>
          </a:ln>
        </p:spPr>
        <p:txBody>
          <a:bodyPr wrap="none">
            <a:spAutoFit/>
          </a:bodyPr>
          <a:lstStyle/>
          <a:p>
            <a:r>
              <a:rPr lang="tr-TR"/>
              <a:t>F=f1+f2+f3= A’B’C+ BCE+ ABDE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Başlık"/>
          <p:cNvSpPr>
            <a:spLocks noGrp="1"/>
          </p:cNvSpPr>
          <p:nvPr>
            <p:ph type="title"/>
          </p:nvPr>
        </p:nvSpPr>
        <p:spPr/>
        <p:txBody>
          <a:bodyPr/>
          <a:lstStyle/>
          <a:p>
            <a:r>
              <a:rPr lang="en-US" sz="2400" b="1" spc="-1" dirty="0"/>
              <a:t>Grouping Cells and Deriving Simplified Terms in K-Maps</a:t>
            </a:r>
            <a:endParaRPr lang="en-US" sz="2400" spc="-1" dirty="0">
              <a:solidFill>
                <a:srgbClr val="000000"/>
              </a:solidFill>
            </a:endParaRPr>
          </a:p>
        </p:txBody>
      </p:sp>
      <p:sp>
        <p:nvSpPr>
          <p:cNvPr id="3" name="2 İçerik Yer Tutucusu"/>
          <p:cNvSpPr>
            <a:spLocks noGrp="1"/>
          </p:cNvSpPr>
          <p:nvPr>
            <p:ph idx="1"/>
          </p:nvPr>
        </p:nvSpPr>
        <p:spPr>
          <a:xfrm>
            <a:off x="323850" y="900113"/>
            <a:ext cx="8375650" cy="5078412"/>
          </a:xfrm>
        </p:spPr>
        <p:txBody>
          <a:bodyPr/>
          <a:lstStyle/>
          <a:p>
            <a:pPr marL="0" indent="0" algn="just">
              <a:lnSpc>
                <a:spcPct val="100000"/>
              </a:lnSpc>
              <a:spcBef>
                <a:spcPts val="439"/>
              </a:spcBef>
              <a:buNone/>
            </a:pPr>
            <a:r>
              <a:rPr lang="en-US" sz="2200" b="1" spc="-1" dirty="0">
                <a:solidFill>
                  <a:srgbClr val="000000"/>
                </a:solidFill>
              </a:rPr>
              <a:t>Example: </a:t>
            </a:r>
            <a:r>
              <a:rPr lang="en-US" sz="2200" spc="-1" dirty="0">
                <a:solidFill>
                  <a:srgbClr val="000000"/>
                </a:solidFill>
              </a:rPr>
              <a:t>Let’s simplify the expression given below using K-Map.</a:t>
            </a:r>
          </a:p>
          <a:p>
            <a:pPr marL="0" indent="0" algn="just">
              <a:lnSpc>
                <a:spcPct val="100000"/>
              </a:lnSpc>
              <a:spcBef>
                <a:spcPts val="439"/>
              </a:spcBef>
              <a:buNone/>
            </a:pPr>
            <a:r>
              <a:rPr lang="en-US" sz="2200" spc="-1" dirty="0">
                <a:solidFill>
                  <a:srgbClr val="000000"/>
                </a:solidFill>
              </a:rPr>
              <a:t>F(A,B,C,D,E) = ∑(4,5,6,7,13,15,27,29,31)</a:t>
            </a:r>
          </a:p>
          <a:p>
            <a:pPr marL="343080" indent="-342720" algn="just">
              <a:lnSpc>
                <a:spcPct val="100000"/>
              </a:lnSpc>
              <a:spcBef>
                <a:spcPts val="201"/>
              </a:spcBef>
            </a:pPr>
            <a:endParaRPr lang="en-US" sz="1100" spc="-1" dirty="0">
              <a:solidFill>
                <a:srgbClr val="000000"/>
              </a:solidFill>
            </a:endParaRPr>
          </a:p>
          <a:p>
            <a:pPr marL="0" indent="0" algn="just">
              <a:lnSpc>
                <a:spcPct val="100000"/>
              </a:lnSpc>
              <a:spcBef>
                <a:spcPts val="439"/>
              </a:spcBef>
              <a:buNone/>
            </a:pPr>
            <a:r>
              <a:rPr lang="en-US" sz="2200" spc="-1" dirty="0">
                <a:solidFill>
                  <a:srgbClr val="000000"/>
                </a:solidFill>
              </a:rPr>
              <a:t>When grouping, we consider that we can bend the map vertically from the center. Overlapping cells are considered to be neighbors. In 6-variable K-Maps, we can bend the maps both vertically and horizontally. Likewise, overlapping cells are considered to be neighbors.</a:t>
            </a:r>
          </a:p>
          <a:p>
            <a:pPr algn="just">
              <a:buFontTx/>
              <a:buNone/>
              <a:defRPr/>
            </a:pPr>
            <a:endParaRPr lang="tr-TR" sz="2200" dirty="0"/>
          </a:p>
        </p:txBody>
      </p:sp>
      <p:sp>
        <p:nvSpPr>
          <p:cNvPr id="15364" name="3 Altbilgi Yer Tutucusu"/>
          <p:cNvSpPr>
            <a:spLocks noGrp="1"/>
          </p:cNvSpPr>
          <p:nvPr>
            <p:ph type="ftr" sz="quarter" idx="10"/>
          </p:nvPr>
        </p:nvSpPr>
        <p:spPr>
          <a:noFill/>
        </p:spPr>
        <p:txBody>
          <a:bodyPr/>
          <a:lstStyle/>
          <a:p>
            <a:pPr>
              <a:defRPr/>
            </a:pPr>
            <a:r>
              <a:rPr lang="en-US" dirty="0"/>
              <a:t>Logic Circuits</a:t>
            </a:r>
            <a:endParaRPr lang="en-US" dirty="0"/>
          </a:p>
        </p:txBody>
      </p:sp>
      <p:pic>
        <p:nvPicPr>
          <p:cNvPr id="15365" name="4 Resim"/>
          <p:cNvPicPr>
            <a:picLocks noChangeAspect="1" noChangeArrowheads="1"/>
          </p:cNvPicPr>
          <p:nvPr/>
        </p:nvPicPr>
        <p:blipFill>
          <a:blip r:embed="rId2" cstate="print"/>
          <a:srcRect/>
          <a:stretch>
            <a:fillRect/>
          </a:stretch>
        </p:blipFill>
        <p:spPr bwMode="auto">
          <a:xfrm>
            <a:off x="379413" y="3436938"/>
            <a:ext cx="4624387" cy="2227262"/>
          </a:xfrm>
          <a:prstGeom prst="rect">
            <a:avLst/>
          </a:prstGeom>
          <a:noFill/>
          <a:ln w="9525">
            <a:noFill/>
            <a:miter lim="800000"/>
            <a:headEnd/>
            <a:tailEnd/>
          </a:ln>
        </p:spPr>
      </p:pic>
      <p:sp>
        <p:nvSpPr>
          <p:cNvPr id="15366" name="Rectangle 1"/>
          <p:cNvSpPr>
            <a:spLocks noChangeArrowheads="1"/>
          </p:cNvSpPr>
          <p:nvPr/>
        </p:nvSpPr>
        <p:spPr bwMode="auto">
          <a:xfrm>
            <a:off x="5245100" y="3949700"/>
            <a:ext cx="1524000" cy="319088"/>
          </a:xfrm>
          <a:prstGeom prst="rect">
            <a:avLst/>
          </a:prstGeom>
          <a:noFill/>
          <a:ln w="9525">
            <a:noFill/>
            <a:miter lim="800000"/>
            <a:headEnd/>
            <a:tailEnd/>
          </a:ln>
        </p:spPr>
        <p:txBody>
          <a:bodyPr lIns="36000" tIns="36000" rIns="36000" bIns="36000" anchor="ctr">
            <a:spAutoFit/>
          </a:bodyPr>
          <a:lstStyle/>
          <a:p>
            <a:pPr eaLnBrk="0" hangingPunct="0">
              <a:tabLst>
                <a:tab pos="695325" algn="l"/>
              </a:tabLst>
            </a:pPr>
            <a:r>
              <a:rPr lang="tr-TR">
                <a:cs typeface="Times New Roman" pitchFamily="18" charset="0"/>
              </a:rPr>
              <a:t>f1 =  A</a:t>
            </a:r>
            <a:r>
              <a:rPr lang="tr-TR">
                <a:latin typeface="Calibri" pitchFamily="34" charset="0"/>
                <a:cs typeface="Times New Roman" pitchFamily="18" charset="0"/>
              </a:rPr>
              <a:t>’</a:t>
            </a:r>
            <a:r>
              <a:rPr lang="tr-TR">
                <a:cs typeface="Times New Roman" pitchFamily="18" charset="0"/>
              </a:rPr>
              <a:t>B</a:t>
            </a:r>
            <a:r>
              <a:rPr lang="tr-TR">
                <a:latin typeface="Calibri" pitchFamily="34" charset="0"/>
                <a:cs typeface="Times New Roman" pitchFamily="18" charset="0"/>
              </a:rPr>
              <a:t>’</a:t>
            </a:r>
            <a:r>
              <a:rPr lang="tr-TR">
                <a:cs typeface="Times New Roman" pitchFamily="18" charset="0"/>
              </a:rPr>
              <a:t>C</a:t>
            </a:r>
            <a:endParaRPr lang="tr-TR"/>
          </a:p>
        </p:txBody>
      </p:sp>
      <p:sp>
        <p:nvSpPr>
          <p:cNvPr id="15367" name="6 Dikdörtgen"/>
          <p:cNvSpPr>
            <a:spLocks noChangeArrowheads="1"/>
          </p:cNvSpPr>
          <p:nvPr/>
        </p:nvSpPr>
        <p:spPr bwMode="auto">
          <a:xfrm>
            <a:off x="5289550" y="5570538"/>
            <a:ext cx="1226618" cy="338554"/>
          </a:xfrm>
          <a:prstGeom prst="rect">
            <a:avLst/>
          </a:prstGeom>
          <a:noFill/>
          <a:ln w="9525">
            <a:noFill/>
            <a:miter lim="800000"/>
            <a:headEnd/>
            <a:tailEnd/>
          </a:ln>
        </p:spPr>
        <p:txBody>
          <a:bodyPr wrap="none">
            <a:spAutoFit/>
          </a:bodyPr>
          <a:lstStyle/>
          <a:p>
            <a:r>
              <a:rPr lang="tr-TR" dirty="0" smtClean="0">
                <a:cs typeface="Times New Roman" pitchFamily="18" charset="0"/>
              </a:rPr>
              <a:t>F=f1+f2+f3 </a:t>
            </a:r>
            <a:endParaRPr lang="tr-TR" dirty="0"/>
          </a:p>
        </p:txBody>
      </p:sp>
      <p:sp>
        <p:nvSpPr>
          <p:cNvPr id="15368" name="7 Dikdörtgen"/>
          <p:cNvSpPr>
            <a:spLocks noChangeArrowheads="1"/>
          </p:cNvSpPr>
          <p:nvPr/>
        </p:nvSpPr>
        <p:spPr bwMode="auto">
          <a:xfrm>
            <a:off x="5181600" y="4559300"/>
            <a:ext cx="1143000" cy="338138"/>
          </a:xfrm>
          <a:prstGeom prst="rect">
            <a:avLst/>
          </a:prstGeom>
          <a:noFill/>
          <a:ln w="9525">
            <a:noFill/>
            <a:miter lim="800000"/>
            <a:headEnd/>
            <a:tailEnd/>
          </a:ln>
        </p:spPr>
        <p:txBody>
          <a:bodyPr>
            <a:spAutoFit/>
          </a:bodyPr>
          <a:lstStyle/>
          <a:p>
            <a:pPr eaLnBrk="0" hangingPunct="0">
              <a:tabLst>
                <a:tab pos="695325" algn="l"/>
              </a:tabLst>
            </a:pPr>
            <a:r>
              <a:rPr lang="tr-TR">
                <a:cs typeface="Times New Roman" pitchFamily="18" charset="0"/>
              </a:rPr>
              <a:t>f2 = BCE	</a:t>
            </a:r>
            <a:endParaRPr lang="tr-TR"/>
          </a:p>
        </p:txBody>
      </p:sp>
      <p:sp>
        <p:nvSpPr>
          <p:cNvPr id="15369" name="8 Dikdörtgen"/>
          <p:cNvSpPr>
            <a:spLocks noChangeArrowheads="1"/>
          </p:cNvSpPr>
          <p:nvPr/>
        </p:nvSpPr>
        <p:spPr bwMode="auto">
          <a:xfrm>
            <a:off x="2260600" y="5672138"/>
            <a:ext cx="1143000" cy="339725"/>
          </a:xfrm>
          <a:prstGeom prst="rect">
            <a:avLst/>
          </a:prstGeom>
          <a:noFill/>
          <a:ln w="9525">
            <a:noFill/>
            <a:miter lim="800000"/>
            <a:headEnd/>
            <a:tailEnd/>
          </a:ln>
        </p:spPr>
        <p:txBody>
          <a:bodyPr wrap="none">
            <a:spAutoFit/>
          </a:bodyPr>
          <a:lstStyle/>
          <a:p>
            <a:pPr eaLnBrk="0" hangingPunct="0">
              <a:tabLst>
                <a:tab pos="695325" algn="l"/>
              </a:tabLst>
            </a:pPr>
            <a:r>
              <a:rPr lang="tr-TR">
                <a:cs typeface="Times New Roman" pitchFamily="18" charset="0"/>
              </a:rPr>
              <a:t>f3 =ABDE </a:t>
            </a:r>
            <a:endParaRPr lang="tr-T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spc="-1" dirty="0"/>
              <a:t>Grouping Cells and Deriving Simplified Terms in K-Maps</a:t>
            </a:r>
            <a:endParaRPr lang="en-US" sz="2400" spc="-1" dirty="0">
              <a:solidFill>
                <a:srgbClr val="000000"/>
              </a:solidFill>
            </a:endParaRPr>
          </a:p>
        </p:txBody>
      </p:sp>
      <p:sp>
        <p:nvSpPr>
          <p:cNvPr id="3" name="2 İçerik Yer Tutucusu"/>
          <p:cNvSpPr>
            <a:spLocks noGrp="1"/>
          </p:cNvSpPr>
          <p:nvPr>
            <p:ph idx="1"/>
          </p:nvPr>
        </p:nvSpPr>
        <p:spPr>
          <a:xfrm>
            <a:off x="374650" y="900113"/>
            <a:ext cx="8375650" cy="5078412"/>
          </a:xfrm>
        </p:spPr>
        <p:txBody>
          <a:bodyPr/>
          <a:lstStyle/>
          <a:p>
            <a:pPr marL="0" indent="0" algn="just">
              <a:lnSpc>
                <a:spcPct val="100000"/>
              </a:lnSpc>
              <a:spcBef>
                <a:spcPts val="400"/>
              </a:spcBef>
              <a:buNone/>
            </a:pPr>
            <a:r>
              <a:rPr lang="en-US" sz="2200" b="1" spc="-1" dirty="0">
                <a:solidFill>
                  <a:srgbClr val="000000"/>
                </a:solidFill>
              </a:rPr>
              <a:t>Example: </a:t>
            </a:r>
            <a:r>
              <a:rPr lang="en-US" sz="2200" spc="-1" dirty="0">
                <a:solidFill>
                  <a:srgbClr val="000000"/>
                </a:solidFill>
              </a:rPr>
              <a:t>Let’s simplify the expression given below using K-Map.</a:t>
            </a:r>
          </a:p>
          <a:p>
            <a:pPr marL="0" indent="0" algn="just">
              <a:lnSpc>
                <a:spcPct val="100000"/>
              </a:lnSpc>
              <a:spcBef>
                <a:spcPts val="400"/>
              </a:spcBef>
              <a:buNone/>
            </a:pPr>
            <a:r>
              <a:rPr lang="en-US" sz="2000" spc="-1" dirty="0">
                <a:solidFill>
                  <a:srgbClr val="000000"/>
                </a:solidFill>
              </a:rPr>
              <a:t>F(A,B,C,D,E) = ∑(0,2,4,6,9,13,25,29)</a:t>
            </a:r>
          </a:p>
          <a:p>
            <a:pPr algn="just">
              <a:lnSpc>
                <a:spcPct val="100000"/>
              </a:lnSpc>
              <a:spcBef>
                <a:spcPts val="400"/>
              </a:spcBef>
            </a:pPr>
            <a:endParaRPr lang="en-US" sz="2000" spc="-1" dirty="0">
              <a:solidFill>
                <a:srgbClr val="000000"/>
              </a:solidFill>
            </a:endParaRPr>
          </a:p>
          <a:p>
            <a:pPr algn="just">
              <a:lnSpc>
                <a:spcPct val="100000"/>
              </a:lnSpc>
              <a:spcBef>
                <a:spcPts val="400"/>
              </a:spcBef>
            </a:pPr>
            <a:endParaRPr lang="en-US" sz="2000" spc="-1" dirty="0">
              <a:solidFill>
                <a:srgbClr val="000000"/>
              </a:solidFill>
            </a:endParaRPr>
          </a:p>
          <a:p>
            <a:pPr algn="just">
              <a:lnSpc>
                <a:spcPct val="100000"/>
              </a:lnSpc>
              <a:spcBef>
                <a:spcPts val="400"/>
              </a:spcBef>
            </a:pPr>
            <a:endParaRPr lang="en-US" sz="2000" spc="-1" dirty="0">
              <a:solidFill>
                <a:srgbClr val="000000"/>
              </a:solidFill>
            </a:endParaRPr>
          </a:p>
          <a:p>
            <a:pPr algn="just">
              <a:lnSpc>
                <a:spcPct val="100000"/>
              </a:lnSpc>
              <a:spcBef>
                <a:spcPts val="400"/>
              </a:spcBef>
            </a:pPr>
            <a:endParaRPr lang="en-US" sz="2000" spc="-1" dirty="0">
              <a:solidFill>
                <a:srgbClr val="000000"/>
              </a:solidFill>
            </a:endParaRPr>
          </a:p>
          <a:p>
            <a:pPr algn="just">
              <a:lnSpc>
                <a:spcPct val="100000"/>
              </a:lnSpc>
              <a:spcBef>
                <a:spcPts val="400"/>
              </a:spcBef>
            </a:pPr>
            <a:endParaRPr lang="en-US" sz="2000" spc="-1" dirty="0">
              <a:solidFill>
                <a:srgbClr val="000000"/>
              </a:solidFill>
            </a:endParaRPr>
          </a:p>
          <a:p>
            <a:pPr algn="just">
              <a:lnSpc>
                <a:spcPct val="100000"/>
              </a:lnSpc>
              <a:spcBef>
                <a:spcPts val="400"/>
              </a:spcBef>
            </a:pPr>
            <a:endParaRPr lang="en-US" sz="2000" spc="-1" dirty="0">
              <a:solidFill>
                <a:srgbClr val="000000"/>
              </a:solidFill>
            </a:endParaRPr>
          </a:p>
          <a:p>
            <a:pPr algn="just">
              <a:lnSpc>
                <a:spcPct val="100000"/>
              </a:lnSpc>
              <a:spcBef>
                <a:spcPts val="400"/>
              </a:spcBef>
            </a:pPr>
            <a:endParaRPr lang="en-US" sz="2000" spc="-1" dirty="0">
              <a:solidFill>
                <a:srgbClr val="000000"/>
              </a:solidFill>
            </a:endParaRPr>
          </a:p>
          <a:p>
            <a:pPr marL="0" indent="0" algn="just">
              <a:lnSpc>
                <a:spcPct val="100000"/>
              </a:lnSpc>
              <a:spcBef>
                <a:spcPts val="400"/>
              </a:spcBef>
              <a:buNone/>
            </a:pPr>
            <a:r>
              <a:rPr lang="en-US" sz="2000" spc="-1" dirty="0">
                <a:solidFill>
                  <a:srgbClr val="000000"/>
                </a:solidFill>
              </a:rPr>
              <a:t>				      F=f1+f2=A’B’E’+BD’E</a:t>
            </a:r>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marL="0" indent="0" algn="just">
              <a:buNone/>
            </a:pPr>
            <a:endParaRPr lang="tr-TR" sz="2000" dirty="0" smtClean="0"/>
          </a:p>
          <a:p>
            <a:pPr>
              <a:buNone/>
            </a:pPr>
            <a:endParaRPr lang="tr-TR" dirty="0"/>
          </a:p>
        </p:txBody>
      </p:sp>
      <p:sp>
        <p:nvSpPr>
          <p:cNvPr id="4" name="3 Altbilgi Yer Tutucusu"/>
          <p:cNvSpPr>
            <a:spLocks noGrp="1"/>
          </p:cNvSpPr>
          <p:nvPr>
            <p:ph type="ftr" sz="quarter" idx="10"/>
          </p:nvPr>
        </p:nvSpPr>
        <p:spPr/>
        <p:txBody>
          <a:bodyPr/>
          <a:lstStyle/>
          <a:p>
            <a:pPr>
              <a:defRPr/>
            </a:pPr>
            <a:r>
              <a:rPr lang="en-US" dirty="0"/>
              <a:t>Logic Circuits</a:t>
            </a:r>
            <a:endParaRPr lang="en-US" dirty="0"/>
          </a:p>
        </p:txBody>
      </p:sp>
      <p:pic>
        <p:nvPicPr>
          <p:cNvPr id="5" name="3 Resim" descr="DENEME.bmp"/>
          <p:cNvPicPr>
            <a:picLocks noChangeAspect="1"/>
          </p:cNvPicPr>
          <p:nvPr/>
        </p:nvPicPr>
        <p:blipFill>
          <a:blip r:embed="rId2" cstate="print"/>
          <a:stretch>
            <a:fillRect/>
          </a:stretch>
        </p:blipFill>
        <p:spPr>
          <a:xfrm>
            <a:off x="2415004" y="1857304"/>
            <a:ext cx="5277506" cy="2001427"/>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Başlık"/>
          <p:cNvSpPr>
            <a:spLocks noGrp="1"/>
          </p:cNvSpPr>
          <p:nvPr>
            <p:ph type="title"/>
          </p:nvPr>
        </p:nvSpPr>
        <p:spPr/>
        <p:txBody>
          <a:bodyPr/>
          <a:lstStyle/>
          <a:p>
            <a:r>
              <a:rPr lang="en-US" sz="2400" b="1" spc="-1" dirty="0"/>
              <a:t>Creating K-Maps of Expressions in Standard </a:t>
            </a:r>
            <a:r>
              <a:rPr lang="en-US" sz="2400" b="1" spc="-1" dirty="0" err="1"/>
              <a:t>PoS</a:t>
            </a:r>
            <a:r>
              <a:rPr lang="en-US" sz="2400" b="1" spc="-1" dirty="0"/>
              <a:t> Form</a:t>
            </a:r>
            <a:endParaRPr lang="en-US" sz="2400" spc="-1" dirty="0">
              <a:solidFill>
                <a:srgbClr val="000000"/>
              </a:solidFill>
            </a:endParaRPr>
          </a:p>
        </p:txBody>
      </p:sp>
      <p:sp>
        <p:nvSpPr>
          <p:cNvPr id="3" name="2 İçerik Yer Tutucusu"/>
          <p:cNvSpPr>
            <a:spLocks noGrp="1"/>
          </p:cNvSpPr>
          <p:nvPr>
            <p:ph idx="1"/>
          </p:nvPr>
        </p:nvSpPr>
        <p:spPr>
          <a:xfrm>
            <a:off x="349250" y="874713"/>
            <a:ext cx="8375650" cy="5078412"/>
          </a:xfrm>
        </p:spPr>
        <p:txBody>
          <a:bodyPr/>
          <a:lstStyle/>
          <a:p>
            <a:pPr marL="0" indent="0" algn="just">
              <a:lnSpc>
                <a:spcPct val="100000"/>
              </a:lnSpc>
              <a:spcBef>
                <a:spcPts val="439"/>
              </a:spcBef>
              <a:buNone/>
            </a:pPr>
            <a:r>
              <a:rPr lang="en-US" sz="2200" spc="-1" dirty="0">
                <a:solidFill>
                  <a:srgbClr val="000000"/>
                </a:solidFill>
              </a:rPr>
              <a:t>In </a:t>
            </a:r>
            <a:r>
              <a:rPr lang="en-US" sz="2200" spc="-1" dirty="0" err="1">
                <a:solidFill>
                  <a:srgbClr val="000000"/>
                </a:solidFill>
              </a:rPr>
              <a:t>PoS</a:t>
            </a:r>
            <a:r>
              <a:rPr lang="en-US" sz="2200" spc="-1" dirty="0">
                <a:solidFill>
                  <a:srgbClr val="000000"/>
                </a:solidFill>
              </a:rPr>
              <a:t> form, we place 0’s to the cells that correspond to each term. We leave the other cells empty.</a:t>
            </a:r>
          </a:p>
          <a:p>
            <a:pPr marL="0" indent="0" algn="just">
              <a:lnSpc>
                <a:spcPct val="100000"/>
              </a:lnSpc>
              <a:spcBef>
                <a:spcPts val="439"/>
              </a:spcBef>
              <a:buNone/>
            </a:pPr>
            <a:r>
              <a:rPr lang="en-US" sz="2200" spc="-1" dirty="0">
                <a:solidFill>
                  <a:srgbClr val="000000"/>
                </a:solidFill>
              </a:rPr>
              <a:t>For example, in a 3-variable expression, we put 0 to the cell 101 that corresponds to the term  (A’+B+C’). </a:t>
            </a:r>
          </a:p>
          <a:p>
            <a:pPr marL="343080" indent="-342720" algn="just">
              <a:lnSpc>
                <a:spcPct val="100000"/>
              </a:lnSpc>
              <a:spcBef>
                <a:spcPts val="201"/>
              </a:spcBef>
            </a:pPr>
            <a:endParaRPr lang="en-US" sz="2200" spc="-1" dirty="0">
              <a:solidFill>
                <a:srgbClr val="000000"/>
              </a:solidFill>
            </a:endParaRPr>
          </a:p>
          <a:p>
            <a:pPr marL="360" indent="0" algn="just">
              <a:lnSpc>
                <a:spcPct val="100000"/>
              </a:lnSpc>
              <a:spcBef>
                <a:spcPts val="439"/>
              </a:spcBef>
              <a:buNone/>
            </a:pPr>
            <a:r>
              <a:rPr lang="en-US" sz="2200" b="1" spc="-1" dirty="0">
                <a:solidFill>
                  <a:srgbClr val="000000"/>
                </a:solidFill>
              </a:rPr>
              <a:t>Example: </a:t>
            </a:r>
            <a:r>
              <a:rPr lang="en-US" sz="2200" spc="-1" dirty="0">
                <a:solidFill>
                  <a:srgbClr val="000000"/>
                </a:solidFill>
              </a:rPr>
              <a:t>F(A,B,C)= (A’+B+C)(A+B’+C)(A+B’+C’) </a:t>
            </a:r>
          </a:p>
          <a:p>
            <a:pPr algn="just">
              <a:buFontTx/>
              <a:buNone/>
              <a:defRPr/>
            </a:pPr>
            <a:endParaRPr lang="tr-TR" sz="2200" dirty="0"/>
          </a:p>
        </p:txBody>
      </p:sp>
      <p:sp>
        <p:nvSpPr>
          <p:cNvPr id="16388" name="3 Altbilgi Yer Tutucusu"/>
          <p:cNvSpPr>
            <a:spLocks noGrp="1"/>
          </p:cNvSpPr>
          <p:nvPr>
            <p:ph type="ftr" sz="quarter" idx="10"/>
          </p:nvPr>
        </p:nvSpPr>
        <p:spPr>
          <a:noFill/>
        </p:spPr>
        <p:txBody>
          <a:bodyPr/>
          <a:lstStyle/>
          <a:p>
            <a:pPr>
              <a:defRPr/>
            </a:pPr>
            <a:r>
              <a:rPr lang="en-US" dirty="0"/>
              <a:t>Logic Circuits</a:t>
            </a:r>
            <a:endParaRPr lang="en-US" dirty="0"/>
          </a:p>
        </p:txBody>
      </p:sp>
      <p:pic>
        <p:nvPicPr>
          <p:cNvPr id="16389" name="4 Resim"/>
          <p:cNvPicPr>
            <a:picLocks noChangeAspect="1"/>
          </p:cNvPicPr>
          <p:nvPr/>
        </p:nvPicPr>
        <p:blipFill>
          <a:blip r:embed="rId2" cstate="print"/>
          <a:srcRect/>
          <a:stretch>
            <a:fillRect/>
          </a:stretch>
        </p:blipFill>
        <p:spPr bwMode="auto">
          <a:xfrm>
            <a:off x="3176588" y="3365881"/>
            <a:ext cx="2527300" cy="2378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Başlık"/>
          <p:cNvSpPr>
            <a:spLocks noGrp="1"/>
          </p:cNvSpPr>
          <p:nvPr>
            <p:ph type="title"/>
          </p:nvPr>
        </p:nvSpPr>
        <p:spPr>
          <a:xfrm>
            <a:off x="146304" y="76200"/>
            <a:ext cx="8827008" cy="790575"/>
          </a:xfrm>
        </p:spPr>
        <p:txBody>
          <a:bodyPr/>
          <a:lstStyle/>
          <a:p>
            <a:r>
              <a:rPr lang="en-US" sz="2400" b="1" spc="-1" dirty="0"/>
              <a:t>Simplification of expressions in standard </a:t>
            </a:r>
            <a:r>
              <a:rPr lang="en-US" sz="2400" b="1" spc="-1" dirty="0" err="1"/>
              <a:t>PoS</a:t>
            </a:r>
            <a:r>
              <a:rPr lang="en-US" sz="2400" b="1" spc="-1" dirty="0"/>
              <a:t> form using K-Maps</a:t>
            </a:r>
            <a:endParaRPr lang="en-US" sz="2400" spc="-1" dirty="0">
              <a:solidFill>
                <a:srgbClr val="000000"/>
              </a:solidFill>
            </a:endParaRPr>
          </a:p>
        </p:txBody>
      </p:sp>
      <p:sp>
        <p:nvSpPr>
          <p:cNvPr id="17411" name="2 İçerik Yer Tutucusu"/>
          <p:cNvSpPr>
            <a:spLocks noGrp="1"/>
          </p:cNvSpPr>
          <p:nvPr>
            <p:ph idx="1"/>
          </p:nvPr>
        </p:nvSpPr>
        <p:spPr>
          <a:xfrm>
            <a:off x="336550" y="887413"/>
            <a:ext cx="8375650" cy="5078412"/>
          </a:xfrm>
        </p:spPr>
        <p:txBody>
          <a:bodyPr/>
          <a:lstStyle/>
          <a:p>
            <a:pPr marL="0" indent="0" algn="just">
              <a:lnSpc>
                <a:spcPct val="100000"/>
              </a:lnSpc>
              <a:spcBef>
                <a:spcPts val="439"/>
              </a:spcBef>
              <a:buNone/>
            </a:pPr>
            <a:r>
              <a:rPr lang="en-US" sz="2200" spc="-1" dirty="0">
                <a:solidFill>
                  <a:srgbClr val="000000"/>
                </a:solidFill>
              </a:rPr>
              <a:t>Grouping procedure in </a:t>
            </a:r>
            <a:r>
              <a:rPr lang="en-US" sz="2200" spc="-1" dirty="0" err="1">
                <a:solidFill>
                  <a:srgbClr val="000000"/>
                </a:solidFill>
              </a:rPr>
              <a:t>PoS</a:t>
            </a:r>
            <a:r>
              <a:rPr lang="en-US" sz="2200" spc="-1" dirty="0">
                <a:solidFill>
                  <a:srgbClr val="000000"/>
                </a:solidFill>
              </a:rPr>
              <a:t> form is exactly the same as </a:t>
            </a:r>
            <a:r>
              <a:rPr lang="en-US" sz="2200" spc="-1" dirty="0" err="1">
                <a:solidFill>
                  <a:srgbClr val="000000"/>
                </a:solidFill>
              </a:rPr>
              <a:t>SoP</a:t>
            </a:r>
            <a:r>
              <a:rPr lang="en-US" sz="2200" spc="-1" dirty="0">
                <a:solidFill>
                  <a:srgbClr val="000000"/>
                </a:solidFill>
              </a:rPr>
              <a:t> form, except that we group 0’s instead of 1’s. After grouping, we derive sum terms from the groups, then form the expression by multiplying all the terms.</a:t>
            </a:r>
          </a:p>
          <a:p>
            <a:pPr algn="just">
              <a:lnSpc>
                <a:spcPct val="100000"/>
              </a:lnSpc>
              <a:spcBef>
                <a:spcPts val="201"/>
              </a:spcBef>
            </a:pPr>
            <a:endParaRPr lang="en-US" sz="2200" spc="-1" dirty="0">
              <a:solidFill>
                <a:srgbClr val="000000"/>
              </a:solidFill>
            </a:endParaRPr>
          </a:p>
          <a:p>
            <a:pPr marL="0" indent="0" algn="just">
              <a:lnSpc>
                <a:spcPct val="100000"/>
              </a:lnSpc>
              <a:spcBef>
                <a:spcPts val="439"/>
              </a:spcBef>
              <a:buNone/>
            </a:pPr>
            <a:r>
              <a:rPr lang="en-US" sz="2200" b="1" spc="-1" dirty="0">
                <a:solidFill>
                  <a:srgbClr val="000000"/>
                </a:solidFill>
              </a:rPr>
              <a:t>Example:  </a:t>
            </a:r>
            <a:r>
              <a:rPr lang="en-US" sz="2200" spc="-1" dirty="0">
                <a:solidFill>
                  <a:srgbClr val="000000"/>
                </a:solidFill>
              </a:rPr>
              <a:t>If we place </a:t>
            </a:r>
            <a:r>
              <a:rPr lang="en-US" sz="2200" spc="-1" dirty="0" err="1">
                <a:solidFill>
                  <a:srgbClr val="000000"/>
                </a:solidFill>
              </a:rPr>
              <a:t>SoP</a:t>
            </a:r>
            <a:r>
              <a:rPr lang="en-US" sz="2200" spc="-1" dirty="0">
                <a:solidFill>
                  <a:srgbClr val="000000"/>
                </a:solidFill>
              </a:rPr>
              <a:t> terms on a map, the empty cells are actually the </a:t>
            </a:r>
            <a:r>
              <a:rPr lang="en-US" sz="2200" spc="-1" dirty="0" err="1">
                <a:solidFill>
                  <a:srgbClr val="000000"/>
                </a:solidFill>
              </a:rPr>
              <a:t>PoS</a:t>
            </a:r>
            <a:r>
              <a:rPr lang="en-US" sz="2200" spc="-1" dirty="0">
                <a:solidFill>
                  <a:srgbClr val="000000"/>
                </a:solidFill>
              </a:rPr>
              <a:t> terms. If we simplify the </a:t>
            </a:r>
            <a:r>
              <a:rPr lang="en-US" sz="2200" spc="-1" dirty="0" err="1">
                <a:solidFill>
                  <a:srgbClr val="000000"/>
                </a:solidFill>
              </a:rPr>
              <a:t>PoS</a:t>
            </a:r>
            <a:r>
              <a:rPr lang="en-US" sz="2200" spc="-1" dirty="0">
                <a:solidFill>
                  <a:srgbClr val="000000"/>
                </a:solidFill>
              </a:rPr>
              <a:t> expression below, we can see that it will be equal to the </a:t>
            </a:r>
            <a:r>
              <a:rPr lang="en-US" sz="2200" spc="-1" dirty="0" err="1">
                <a:solidFill>
                  <a:srgbClr val="000000"/>
                </a:solidFill>
              </a:rPr>
              <a:t>SoP</a:t>
            </a:r>
            <a:r>
              <a:rPr lang="en-US" sz="2200" spc="-1" dirty="0">
                <a:solidFill>
                  <a:srgbClr val="000000"/>
                </a:solidFill>
              </a:rPr>
              <a:t> expression we derive from the K-Map.</a:t>
            </a:r>
          </a:p>
          <a:p>
            <a:pPr marL="0" indent="0" algn="just">
              <a:buFontTx/>
              <a:buNone/>
            </a:pPr>
            <a:endParaRPr lang="tr-TR" sz="2200" dirty="0" smtClean="0"/>
          </a:p>
          <a:p>
            <a:pPr marL="0" indent="0">
              <a:buFontTx/>
              <a:buNone/>
            </a:pPr>
            <a:endParaRPr lang="tr-TR" sz="2200" dirty="0" smtClean="0"/>
          </a:p>
        </p:txBody>
      </p:sp>
      <p:sp>
        <p:nvSpPr>
          <p:cNvPr id="17412" name="3 Altbilgi Yer Tutucusu"/>
          <p:cNvSpPr>
            <a:spLocks noGrp="1"/>
          </p:cNvSpPr>
          <p:nvPr>
            <p:ph type="ftr" sz="quarter" idx="10"/>
          </p:nvPr>
        </p:nvSpPr>
        <p:spPr>
          <a:noFill/>
        </p:spPr>
        <p:txBody>
          <a:bodyPr/>
          <a:lstStyle/>
          <a:p>
            <a:pPr>
              <a:defRPr/>
            </a:pPr>
            <a:r>
              <a:rPr lang="en-US" dirty="0"/>
              <a:t>Logic Circuits</a:t>
            </a:r>
            <a:endParaRPr lang="en-US" dirty="0"/>
          </a:p>
        </p:txBody>
      </p:sp>
      <p:pic>
        <p:nvPicPr>
          <p:cNvPr id="17413" name="6 Resim"/>
          <p:cNvPicPr>
            <a:picLocks noChangeAspect="1"/>
          </p:cNvPicPr>
          <p:nvPr/>
        </p:nvPicPr>
        <p:blipFill>
          <a:blip r:embed="rId2" cstate="print"/>
          <a:srcRect/>
          <a:stretch>
            <a:fillRect/>
          </a:stretch>
        </p:blipFill>
        <p:spPr bwMode="auto">
          <a:xfrm>
            <a:off x="4902200" y="3775075"/>
            <a:ext cx="3132138" cy="1155700"/>
          </a:xfrm>
          <a:prstGeom prst="rect">
            <a:avLst/>
          </a:prstGeom>
          <a:noFill/>
          <a:ln w="9525">
            <a:noFill/>
            <a:miter lim="800000"/>
            <a:headEnd/>
            <a:tailEnd/>
          </a:ln>
        </p:spPr>
      </p:pic>
      <p:pic>
        <p:nvPicPr>
          <p:cNvPr id="17414" name="7 Resim"/>
          <p:cNvPicPr>
            <a:picLocks noChangeAspect="1"/>
          </p:cNvPicPr>
          <p:nvPr/>
        </p:nvPicPr>
        <p:blipFill>
          <a:blip r:embed="rId3" cstate="print"/>
          <a:srcRect/>
          <a:stretch>
            <a:fillRect/>
          </a:stretch>
        </p:blipFill>
        <p:spPr bwMode="auto">
          <a:xfrm>
            <a:off x="1219200" y="3762375"/>
            <a:ext cx="3143250" cy="1131888"/>
          </a:xfrm>
          <a:prstGeom prst="rect">
            <a:avLst/>
          </a:prstGeom>
          <a:noFill/>
          <a:ln w="9525">
            <a:noFill/>
            <a:miter lim="800000"/>
            <a:headEnd/>
            <a:tailEnd/>
          </a:ln>
        </p:spPr>
      </p:pic>
      <p:sp>
        <p:nvSpPr>
          <p:cNvPr id="17415" name="8 Dikdörtgen"/>
          <p:cNvSpPr>
            <a:spLocks noChangeArrowheads="1"/>
          </p:cNvSpPr>
          <p:nvPr/>
        </p:nvSpPr>
        <p:spPr bwMode="auto">
          <a:xfrm>
            <a:off x="2201863" y="4999038"/>
            <a:ext cx="2032000" cy="369887"/>
          </a:xfrm>
          <a:prstGeom prst="rect">
            <a:avLst/>
          </a:prstGeom>
          <a:noFill/>
          <a:ln w="9525">
            <a:noFill/>
            <a:miter lim="800000"/>
            <a:headEnd/>
            <a:tailEnd/>
          </a:ln>
        </p:spPr>
        <p:txBody>
          <a:bodyPr wrap="none">
            <a:spAutoFit/>
          </a:bodyPr>
          <a:lstStyle/>
          <a:p>
            <a:r>
              <a:rPr lang="tr-TR" sz="1800"/>
              <a:t> B.(A’+C’)	</a:t>
            </a:r>
          </a:p>
        </p:txBody>
      </p:sp>
      <p:sp>
        <p:nvSpPr>
          <p:cNvPr id="17416" name="9 Dikdörtgen"/>
          <p:cNvSpPr>
            <a:spLocks noChangeArrowheads="1"/>
          </p:cNvSpPr>
          <p:nvPr/>
        </p:nvSpPr>
        <p:spPr bwMode="auto">
          <a:xfrm>
            <a:off x="5969000" y="5049838"/>
            <a:ext cx="1093788" cy="369887"/>
          </a:xfrm>
          <a:prstGeom prst="rect">
            <a:avLst/>
          </a:prstGeom>
          <a:noFill/>
          <a:ln w="9525">
            <a:noFill/>
            <a:miter lim="800000"/>
            <a:headEnd/>
            <a:tailEnd/>
          </a:ln>
        </p:spPr>
        <p:txBody>
          <a:bodyPr wrap="none">
            <a:spAutoFit/>
          </a:bodyPr>
          <a:lstStyle/>
          <a:p>
            <a:r>
              <a:rPr lang="tr-TR" sz="1800"/>
              <a:t>A’B+BC’</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Başlık"/>
          <p:cNvSpPr>
            <a:spLocks noGrp="1"/>
          </p:cNvSpPr>
          <p:nvPr>
            <p:ph type="title"/>
          </p:nvPr>
        </p:nvSpPr>
        <p:spPr/>
        <p:txBody>
          <a:bodyPr/>
          <a:lstStyle/>
          <a:p>
            <a:r>
              <a:rPr lang="en-US" sz="2400" b="1" spc="-1" dirty="0"/>
              <a:t>Don’t Care Situations</a:t>
            </a:r>
            <a:endParaRPr lang="en-US" sz="2400" spc="-1" dirty="0">
              <a:solidFill>
                <a:srgbClr val="000000"/>
              </a:solidFill>
            </a:endParaRPr>
          </a:p>
        </p:txBody>
      </p:sp>
      <p:sp>
        <p:nvSpPr>
          <p:cNvPr id="3" name="2 İçerik Yer Tutucusu"/>
          <p:cNvSpPr>
            <a:spLocks noGrp="1"/>
          </p:cNvSpPr>
          <p:nvPr>
            <p:ph idx="1"/>
          </p:nvPr>
        </p:nvSpPr>
        <p:spPr>
          <a:xfrm>
            <a:off x="323850" y="912813"/>
            <a:ext cx="8375650" cy="5078412"/>
          </a:xfrm>
        </p:spPr>
        <p:txBody>
          <a:bodyPr/>
          <a:lstStyle/>
          <a:p>
            <a:pPr marL="0" indent="0" algn="just">
              <a:lnSpc>
                <a:spcPct val="100000"/>
              </a:lnSpc>
              <a:spcBef>
                <a:spcPts val="439"/>
              </a:spcBef>
              <a:buNone/>
            </a:pPr>
            <a:r>
              <a:rPr lang="en-US" sz="2200" spc="-1" dirty="0">
                <a:solidFill>
                  <a:srgbClr val="000000"/>
                </a:solidFill>
              </a:rPr>
              <a:t>In some cases, variables may not be fully independent from each other. And in some other cases, it may not be possible for some combinations to occur. These situations are called “don’t care situations”.</a:t>
            </a:r>
          </a:p>
          <a:p>
            <a:pPr marL="0" indent="0" algn="just">
              <a:lnSpc>
                <a:spcPct val="100000"/>
              </a:lnSpc>
              <a:spcBef>
                <a:spcPts val="439"/>
              </a:spcBef>
              <a:buNone/>
            </a:pPr>
            <a:r>
              <a:rPr lang="en-US" sz="2200" spc="-1" dirty="0">
                <a:solidFill>
                  <a:srgbClr val="000000"/>
                </a:solidFill>
              </a:rPr>
              <a:t>For example, there are 6 don’t care situations in BCD code because 1010, 1011</a:t>
            </a:r>
            <a:r>
              <a:rPr lang="en-US" sz="2200" spc="-1" dirty="0" smtClean="0">
                <a:solidFill>
                  <a:srgbClr val="000000"/>
                </a:solidFill>
              </a:rPr>
              <a:t>, … </a:t>
            </a:r>
            <a:r>
              <a:rPr lang="en-US" sz="2200" spc="-1" dirty="0">
                <a:solidFill>
                  <a:srgbClr val="000000"/>
                </a:solidFill>
              </a:rPr>
              <a:t>are invalid BCD codes. A don’t care situation is considered as 1 if it helps simplifying the expression. But if it doesn’t help simplifying the expression, then it is considered as 0.</a:t>
            </a:r>
          </a:p>
          <a:p>
            <a:pPr marL="343080" indent="-342720" algn="just">
              <a:lnSpc>
                <a:spcPct val="100000"/>
              </a:lnSpc>
              <a:spcBef>
                <a:spcPts val="201"/>
              </a:spcBef>
            </a:pPr>
            <a:endParaRPr lang="en-US" sz="1100" spc="-1" dirty="0">
              <a:solidFill>
                <a:srgbClr val="000000"/>
              </a:solidFill>
            </a:endParaRPr>
          </a:p>
          <a:p>
            <a:pPr marL="0" indent="0" algn="just">
              <a:lnSpc>
                <a:spcPct val="100000"/>
              </a:lnSpc>
              <a:spcBef>
                <a:spcPts val="439"/>
              </a:spcBef>
              <a:buNone/>
            </a:pPr>
            <a:r>
              <a:rPr lang="en-US" sz="2200" b="1" spc="-1" dirty="0">
                <a:solidFill>
                  <a:srgbClr val="000000"/>
                </a:solidFill>
              </a:rPr>
              <a:t>Example: </a:t>
            </a:r>
            <a:r>
              <a:rPr lang="en-US" sz="2200" spc="-1" dirty="0">
                <a:solidFill>
                  <a:srgbClr val="000000"/>
                </a:solidFill>
              </a:rPr>
              <a:t>Consider a system that takes BCD code as input, and outputs 1 only when BCD input is 9 (1001). Let’s simplify this expression. </a:t>
            </a:r>
          </a:p>
          <a:p>
            <a:pPr algn="just">
              <a:defRPr/>
            </a:pPr>
            <a:endParaRPr lang="tr-TR" sz="2200" dirty="0"/>
          </a:p>
        </p:txBody>
      </p:sp>
      <p:sp>
        <p:nvSpPr>
          <p:cNvPr id="18436" name="3 Altbilgi Yer Tutucusu"/>
          <p:cNvSpPr>
            <a:spLocks noGrp="1"/>
          </p:cNvSpPr>
          <p:nvPr>
            <p:ph type="ftr" sz="quarter" idx="10"/>
          </p:nvPr>
        </p:nvSpPr>
        <p:spPr>
          <a:noFill/>
        </p:spPr>
        <p:txBody>
          <a:bodyPr/>
          <a:lstStyle/>
          <a:p>
            <a:pPr>
              <a:defRPr/>
            </a:pPr>
            <a:r>
              <a:rPr lang="en-US" dirty="0"/>
              <a:t>Logic Circuits</a:t>
            </a:r>
            <a:endParaRPr lang="en-US" dirty="0"/>
          </a:p>
        </p:txBody>
      </p:sp>
      <p:pic>
        <p:nvPicPr>
          <p:cNvPr id="18437" name="4 Resim"/>
          <p:cNvPicPr>
            <a:picLocks noChangeAspect="1" noChangeArrowheads="1"/>
          </p:cNvPicPr>
          <p:nvPr/>
        </p:nvPicPr>
        <p:blipFill>
          <a:blip r:embed="rId2" cstate="print"/>
          <a:srcRect/>
          <a:stretch>
            <a:fillRect/>
          </a:stretch>
        </p:blipFill>
        <p:spPr bwMode="auto">
          <a:xfrm>
            <a:off x="412750" y="4459351"/>
            <a:ext cx="2660650" cy="1736725"/>
          </a:xfrm>
          <a:prstGeom prst="rect">
            <a:avLst/>
          </a:prstGeom>
          <a:noFill/>
          <a:ln w="9525">
            <a:noFill/>
            <a:miter lim="800000"/>
            <a:headEnd/>
            <a:tailEnd/>
          </a:ln>
        </p:spPr>
      </p:pic>
      <p:sp>
        <p:nvSpPr>
          <p:cNvPr id="18438" name="Rectangle 4"/>
          <p:cNvSpPr>
            <a:spLocks noChangeArrowheads="1"/>
          </p:cNvSpPr>
          <p:nvPr/>
        </p:nvSpPr>
        <p:spPr bwMode="auto">
          <a:xfrm>
            <a:off x="3213100" y="4710472"/>
            <a:ext cx="5753100" cy="688256"/>
          </a:xfrm>
          <a:prstGeom prst="rect">
            <a:avLst/>
          </a:prstGeom>
          <a:noFill/>
          <a:ln w="9525">
            <a:noFill/>
            <a:miter lim="800000"/>
            <a:headEnd/>
            <a:tailEnd/>
          </a:ln>
        </p:spPr>
        <p:txBody>
          <a:bodyPr lIns="36000" tIns="36000" rIns="36000" bIns="36000" anchor="ctr">
            <a:spAutoFit/>
          </a:bodyPr>
          <a:lstStyle/>
          <a:p>
            <a:pPr>
              <a:lnSpc>
                <a:spcPct val="100000"/>
              </a:lnSpc>
            </a:pPr>
            <a:r>
              <a:rPr lang="en-US" sz="2000" b="0" spc="-1" dirty="0">
                <a:solidFill>
                  <a:srgbClr val="000000"/>
                </a:solidFill>
                <a:latin typeface="Times New Roman"/>
              </a:rPr>
              <a:t>The simplified logic expression will be</a:t>
            </a:r>
            <a:endParaRPr lang="en-US" sz="2000" b="0" spc="-1" dirty="0">
              <a:latin typeface="Arial"/>
            </a:endParaRPr>
          </a:p>
          <a:p>
            <a:pPr>
              <a:lnSpc>
                <a:spcPct val="100000"/>
              </a:lnSpc>
            </a:pPr>
            <a:r>
              <a:rPr lang="en-US" sz="2000" b="0" spc="-1" dirty="0">
                <a:solidFill>
                  <a:srgbClr val="000000"/>
                </a:solidFill>
                <a:latin typeface="Times New Roman"/>
              </a:rPr>
              <a:t>f(A,B,C,D) = A.D</a:t>
            </a:r>
            <a:endParaRPr lang="en-US" sz="2000" b="0" spc="-1" dirty="0">
              <a:latin typeface="Aria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spc="-1" dirty="0"/>
              <a:t>Don’t Care Situations</a:t>
            </a:r>
            <a:endParaRPr lang="en-US" sz="2400" spc="-1" dirty="0">
              <a:solidFill>
                <a:srgbClr val="000000"/>
              </a:solidFill>
            </a:endParaRPr>
          </a:p>
        </p:txBody>
      </p:sp>
      <p:sp>
        <p:nvSpPr>
          <p:cNvPr id="3" name="2 İçerik Yer Tutucusu"/>
          <p:cNvSpPr>
            <a:spLocks noGrp="1"/>
          </p:cNvSpPr>
          <p:nvPr>
            <p:ph idx="1"/>
          </p:nvPr>
        </p:nvSpPr>
        <p:spPr>
          <a:xfrm>
            <a:off x="387350" y="887413"/>
            <a:ext cx="8375650" cy="5078412"/>
          </a:xfrm>
        </p:spPr>
        <p:txBody>
          <a:bodyPr/>
          <a:lstStyle/>
          <a:p>
            <a:pPr marL="0" indent="0">
              <a:lnSpc>
                <a:spcPct val="100000"/>
              </a:lnSpc>
              <a:spcBef>
                <a:spcPts val="400"/>
              </a:spcBef>
              <a:buNone/>
            </a:pPr>
            <a:r>
              <a:rPr lang="en-US" sz="2200" b="1" spc="-1" dirty="0">
                <a:solidFill>
                  <a:srgbClr val="000000"/>
                </a:solidFill>
              </a:rPr>
              <a:t>Example: </a:t>
            </a:r>
            <a:r>
              <a:rPr lang="en-US" sz="2200" spc="-1" dirty="0">
                <a:solidFill>
                  <a:srgbClr val="000000"/>
                </a:solidFill>
              </a:rPr>
              <a:t>F(A,B,C,D) = ∑(1,5,8,12)</a:t>
            </a:r>
          </a:p>
          <a:p>
            <a:pPr marL="0" indent="0">
              <a:lnSpc>
                <a:spcPct val="100000"/>
              </a:lnSpc>
              <a:spcBef>
                <a:spcPts val="400"/>
              </a:spcBef>
              <a:buNone/>
            </a:pPr>
            <a:r>
              <a:rPr lang="en-US" sz="2200" spc="-1" dirty="0">
                <a:solidFill>
                  <a:srgbClr val="000000"/>
                </a:solidFill>
              </a:rPr>
              <a:t>Don’t care situations are </a:t>
            </a:r>
            <a:r>
              <a:rPr lang="en-US" sz="2200" spc="-1" dirty="0" err="1">
                <a:solidFill>
                  <a:srgbClr val="000000"/>
                </a:solidFill>
              </a:rPr>
              <a:t>F</a:t>
            </a:r>
            <a:r>
              <a:rPr lang="en-US" sz="2200" spc="-1" baseline="-25000" dirty="0" err="1">
                <a:solidFill>
                  <a:srgbClr val="000000"/>
                </a:solidFill>
              </a:rPr>
              <a:t>x</a:t>
            </a:r>
            <a:r>
              <a:rPr lang="en-US" sz="2200" spc="-1" dirty="0">
                <a:solidFill>
                  <a:srgbClr val="000000"/>
                </a:solidFill>
              </a:rPr>
              <a:t>(A,B,C,D) = ∑(2,3,6,7,10,11,14,15)</a:t>
            </a:r>
          </a:p>
          <a:p>
            <a:pPr marL="0" indent="0">
              <a:lnSpc>
                <a:spcPct val="100000"/>
              </a:lnSpc>
              <a:spcBef>
                <a:spcPts val="400"/>
              </a:spcBef>
              <a:buNone/>
            </a:pPr>
            <a:r>
              <a:rPr lang="en-US" sz="2200" spc="-1" dirty="0">
                <a:solidFill>
                  <a:srgbClr val="000000"/>
                </a:solidFill>
              </a:rPr>
              <a:t>Let’s simplify this expression.</a:t>
            </a:r>
          </a:p>
          <a:p>
            <a:pPr algn="just">
              <a:lnSpc>
                <a:spcPct val="100000"/>
              </a:lnSpc>
              <a:spcBef>
                <a:spcPts val="400"/>
              </a:spcBef>
            </a:pPr>
            <a:endParaRPr lang="en-US" sz="2200" spc="-1" dirty="0">
              <a:solidFill>
                <a:srgbClr val="000000"/>
              </a:solidFill>
            </a:endParaRPr>
          </a:p>
          <a:p>
            <a:pPr marL="343080" indent="-342720">
              <a:lnSpc>
                <a:spcPct val="100000"/>
              </a:lnSpc>
              <a:spcBef>
                <a:spcPts val="400"/>
              </a:spcBef>
            </a:pPr>
            <a:endParaRPr lang="en-US" spc="-1" dirty="0">
              <a:solidFill>
                <a:srgbClr val="000000"/>
              </a:solidFill>
            </a:endParaRPr>
          </a:p>
          <a:p>
            <a:pPr marL="343080" indent="-342720">
              <a:lnSpc>
                <a:spcPct val="100000"/>
              </a:lnSpc>
              <a:spcBef>
                <a:spcPts val="400"/>
              </a:spcBef>
            </a:pPr>
            <a:endParaRPr lang="en-US" sz="2200" spc="-1" dirty="0">
              <a:solidFill>
                <a:srgbClr val="000000"/>
              </a:solidFill>
            </a:endParaRPr>
          </a:p>
          <a:p>
            <a:pPr marL="343080" indent="-342720">
              <a:lnSpc>
                <a:spcPct val="100000"/>
              </a:lnSpc>
              <a:spcBef>
                <a:spcPts val="400"/>
              </a:spcBef>
            </a:pPr>
            <a:endParaRPr lang="en-US" sz="2200" spc="-1" dirty="0">
              <a:solidFill>
                <a:srgbClr val="000000"/>
              </a:solidFill>
            </a:endParaRPr>
          </a:p>
          <a:p>
            <a:pPr marL="343080" indent="-342720">
              <a:lnSpc>
                <a:spcPct val="100000"/>
              </a:lnSpc>
              <a:spcBef>
                <a:spcPts val="400"/>
              </a:spcBef>
            </a:pPr>
            <a:endParaRPr lang="en-US" sz="2200" spc="-1" dirty="0">
              <a:solidFill>
                <a:srgbClr val="000000"/>
              </a:solidFill>
            </a:endParaRPr>
          </a:p>
          <a:p>
            <a:pPr marL="343080" indent="-342720">
              <a:lnSpc>
                <a:spcPct val="100000"/>
              </a:lnSpc>
              <a:spcBef>
                <a:spcPts val="400"/>
              </a:spcBef>
            </a:pPr>
            <a:endParaRPr lang="en-US" sz="2200" spc="-1" dirty="0">
              <a:solidFill>
                <a:srgbClr val="000000"/>
              </a:solidFill>
            </a:endParaRPr>
          </a:p>
          <a:p>
            <a:pPr marL="360" indent="0">
              <a:lnSpc>
                <a:spcPct val="100000"/>
              </a:lnSpc>
              <a:spcBef>
                <a:spcPts val="400"/>
              </a:spcBef>
              <a:buNone/>
            </a:pPr>
            <a:r>
              <a:rPr lang="en-US" sz="2200" spc="-1" dirty="0">
                <a:solidFill>
                  <a:srgbClr val="000000"/>
                </a:solidFill>
              </a:rPr>
              <a:t>f1 = A’.D</a:t>
            </a:r>
          </a:p>
          <a:p>
            <a:pPr marL="360" indent="0">
              <a:lnSpc>
                <a:spcPct val="100000"/>
              </a:lnSpc>
              <a:spcBef>
                <a:spcPts val="400"/>
              </a:spcBef>
              <a:buNone/>
            </a:pPr>
            <a:r>
              <a:rPr lang="en-US" sz="2200" spc="-1" dirty="0">
                <a:solidFill>
                  <a:srgbClr val="000000"/>
                </a:solidFill>
              </a:rPr>
              <a:t>f2 = A.D’</a:t>
            </a:r>
          </a:p>
          <a:p>
            <a:pPr marL="360" indent="0">
              <a:lnSpc>
                <a:spcPct val="100000"/>
              </a:lnSpc>
              <a:spcBef>
                <a:spcPts val="400"/>
              </a:spcBef>
              <a:buNone/>
            </a:pPr>
            <a:r>
              <a:rPr lang="en-US" sz="2200" spc="-1" dirty="0">
                <a:solidFill>
                  <a:srgbClr val="000000"/>
                </a:solidFill>
              </a:rPr>
              <a:t>F = f1+f2 = A’D+AD’= A</a:t>
            </a:r>
            <a:r>
              <a:rPr lang="en-US" sz="2200" spc="-1" dirty="0">
                <a:solidFill>
                  <a:srgbClr val="000000"/>
                </a:solidFill>
                <a:latin typeface="Symbol"/>
              </a:rPr>
              <a:t></a:t>
            </a:r>
            <a:r>
              <a:rPr lang="en-US" sz="2200" spc="-1" dirty="0">
                <a:solidFill>
                  <a:srgbClr val="000000"/>
                </a:solidFill>
              </a:rPr>
              <a:t>D</a:t>
            </a:r>
          </a:p>
          <a:p>
            <a:pPr marL="0" indent="0" algn="just">
              <a:buNone/>
            </a:pPr>
            <a:endParaRPr lang="tr-TR" sz="2000" dirty="0" smtClean="0"/>
          </a:p>
          <a:p>
            <a:pPr marL="0" indent="0" algn="just">
              <a:buNone/>
            </a:pPr>
            <a:endParaRPr lang="tr-TR" sz="2000" dirty="0" smtClean="0"/>
          </a:p>
          <a:p>
            <a:pPr marL="0" indent="0" algn="just">
              <a:buNone/>
            </a:pPr>
            <a:r>
              <a:rPr lang="tr-TR" sz="2000" dirty="0" smtClean="0"/>
              <a:t>			</a:t>
            </a:r>
          </a:p>
          <a:p>
            <a:pPr>
              <a:buNone/>
            </a:pPr>
            <a:endParaRPr lang="tr-TR" dirty="0" smtClean="0"/>
          </a:p>
        </p:txBody>
      </p:sp>
      <p:sp>
        <p:nvSpPr>
          <p:cNvPr id="4" name="3 Altbilgi Yer Tutucusu"/>
          <p:cNvSpPr>
            <a:spLocks noGrp="1"/>
          </p:cNvSpPr>
          <p:nvPr>
            <p:ph type="ftr" sz="quarter" idx="10"/>
          </p:nvPr>
        </p:nvSpPr>
        <p:spPr/>
        <p:txBody>
          <a:bodyPr/>
          <a:lstStyle/>
          <a:p>
            <a:pPr>
              <a:defRPr/>
            </a:pPr>
            <a:r>
              <a:rPr lang="en-US" dirty="0"/>
              <a:t>Logic Circuits</a:t>
            </a:r>
            <a:endParaRPr lang="en-US" dirty="0"/>
          </a:p>
        </p:txBody>
      </p:sp>
      <p:pic>
        <p:nvPicPr>
          <p:cNvPr id="5" name="4 Resim"/>
          <p:cNvPicPr>
            <a:picLocks noChangeAspect="1"/>
          </p:cNvPicPr>
          <p:nvPr/>
        </p:nvPicPr>
        <p:blipFill>
          <a:blip r:embed="rId2" cstate="print"/>
          <a:srcRect/>
          <a:stretch>
            <a:fillRect/>
          </a:stretch>
        </p:blipFill>
        <p:spPr bwMode="auto">
          <a:xfrm>
            <a:off x="445518" y="2151301"/>
            <a:ext cx="2468572" cy="22177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verview">
  <a:themeElements>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verview">
      <a:majorFont>
        <a:latin typeface="Times New Roman"/>
        <a:ea typeface=""/>
        <a:cs typeface=""/>
      </a:majorFont>
      <a:minorFont>
        <a:latin typeface="Times New Roman"/>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verview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verview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verview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verview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verview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verview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class_new</Template>
  <TotalTime>6625</TotalTime>
  <Words>1762</Words>
  <Application>Microsoft Office PowerPoint</Application>
  <PresentationFormat>Ekran Gösterisi (4:3)</PresentationFormat>
  <Paragraphs>354</Paragraphs>
  <Slides>19</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19</vt:i4>
      </vt:variant>
    </vt:vector>
  </HeadingPairs>
  <TitlesOfParts>
    <vt:vector size="27" baseType="lpstr">
      <vt:lpstr>Arial</vt:lpstr>
      <vt:lpstr>Calibri</vt:lpstr>
      <vt:lpstr>Comic Sans MS</vt:lpstr>
      <vt:lpstr>Helvetica</vt:lpstr>
      <vt:lpstr>Symbol</vt:lpstr>
      <vt:lpstr>Times New Roman</vt:lpstr>
      <vt:lpstr>Wingdings</vt:lpstr>
      <vt:lpstr>overview</vt:lpstr>
      <vt:lpstr>KARNAUGH MAPS</vt:lpstr>
      <vt:lpstr>Karnaugh Maps (K-Maps)</vt:lpstr>
      <vt:lpstr>Karnaugh Maps (K-Maps)</vt:lpstr>
      <vt:lpstr>Karnaugh Maps with 2 and 3 Variables</vt:lpstr>
      <vt:lpstr>Karnaugh Maps with 4 Variables</vt:lpstr>
      <vt:lpstr>Karnaugh Maps with 5 Variables</vt:lpstr>
      <vt:lpstr>Neighborhood in K-Maps</vt:lpstr>
      <vt:lpstr>Creating K-Maps of Expressions in Standard SoP Form</vt:lpstr>
      <vt:lpstr>Creating K-Maps of Expressions in Standard SoP Form</vt:lpstr>
      <vt:lpstr>Simplification of Expressions in Standard SoP form</vt:lpstr>
      <vt:lpstr>Grouping Cells and Deriving Simplified Terms in K-Maps</vt:lpstr>
      <vt:lpstr>Grouping Cells and Deriving Simplified Terms in K-Maps</vt:lpstr>
      <vt:lpstr>Grouping Cells and Deriving Simplified Terms in K-Maps</vt:lpstr>
      <vt:lpstr>Grouping Cells and Deriving Simplified Terms in K-Maps</vt:lpstr>
      <vt:lpstr>Grouping Cells and Deriving Simplified Terms in K-Maps</vt:lpstr>
      <vt:lpstr>Creating K-Maps of Expressions in Standard PoS Form</vt:lpstr>
      <vt:lpstr>Simplification of expressions in standard PoS form using K-Maps</vt:lpstr>
      <vt:lpstr>Don’t Care Situations</vt:lpstr>
      <vt:lpstr>Don’t Care Situations</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dc:title>
  <dc:creator>Fred Kuhns</dc:creator>
  <cp:lastModifiedBy>Windows User</cp:lastModifiedBy>
  <cp:revision>220</cp:revision>
  <cp:lastPrinted>2001-01-30T20:22:47Z</cp:lastPrinted>
  <dcterms:created xsi:type="dcterms:W3CDTF">1999-07-07T12:46:17Z</dcterms:created>
  <dcterms:modified xsi:type="dcterms:W3CDTF">2019-09-22T10:47:23Z</dcterms:modified>
</cp:coreProperties>
</file>