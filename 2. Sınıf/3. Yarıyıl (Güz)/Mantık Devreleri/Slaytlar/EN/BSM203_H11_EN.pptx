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7" r:id="rId1"/>
  </p:sldMasterIdLst>
  <p:notesMasterIdLst>
    <p:notesMasterId r:id="rId18"/>
  </p:notesMasterIdLst>
  <p:handoutMasterIdLst>
    <p:handoutMasterId r:id="rId19"/>
  </p:handoutMasterIdLst>
  <p:sldIdLst>
    <p:sldId id="349" r:id="rId2"/>
    <p:sldId id="348" r:id="rId3"/>
    <p:sldId id="363" r:id="rId4"/>
    <p:sldId id="350" r:id="rId5"/>
    <p:sldId id="351" r:id="rId6"/>
    <p:sldId id="352" r:id="rId7"/>
    <p:sldId id="353" r:id="rId8"/>
    <p:sldId id="354" r:id="rId9"/>
    <p:sldId id="355" r:id="rId10"/>
    <p:sldId id="356" r:id="rId11"/>
    <p:sldId id="357" r:id="rId12"/>
    <p:sldId id="358" r:id="rId13"/>
    <p:sldId id="359" r:id="rId14"/>
    <p:sldId id="360" r:id="rId15"/>
    <p:sldId id="361" r:id="rId16"/>
    <p:sldId id="362" r:id="rId17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600" b="1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1600" b="1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1600" b="1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1600" b="1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A50021"/>
    <a:srgbClr val="990033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265" autoAdjust="0"/>
    <p:restoredTop sz="94660" autoAdjust="0"/>
  </p:normalViewPr>
  <p:slideViewPr>
    <p:cSldViewPr snapToGrid="0">
      <p:cViewPr varScale="1">
        <p:scale>
          <a:sx n="107" d="100"/>
          <a:sy n="107" d="100"/>
        </p:scale>
        <p:origin x="3456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557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2" d="100"/>
          <a:sy n="52" d="100"/>
        </p:scale>
        <p:origin x="-1782" y="-9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89288" cy="47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5288" tIns="47644" rIns="95288" bIns="47644" numCol="1" anchor="ctr" anchorCtr="0" compatLnSpc="1">
            <a:prstTxWarp prst="textNoShape">
              <a:avLst/>
            </a:prstTxWarp>
          </a:bodyPr>
          <a:lstStyle>
            <a:lvl1pPr defTabSz="954088" eaLnBrk="0" hangingPunct="0">
              <a:defRPr sz="1300" b="0">
                <a:latin typeface="Helvetic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8138" y="0"/>
            <a:ext cx="3186112" cy="47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5288" tIns="47644" rIns="95288" bIns="47644" numCol="1" anchor="ctr" anchorCtr="0" compatLnSpc="1">
            <a:prstTxWarp prst="textNoShape">
              <a:avLst/>
            </a:prstTxWarp>
          </a:bodyPr>
          <a:lstStyle>
            <a:lvl1pPr algn="r" defTabSz="954088" eaLnBrk="0" hangingPunct="0">
              <a:defRPr sz="1300" b="0">
                <a:latin typeface="Helvetic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4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45588"/>
            <a:ext cx="31892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5288" tIns="47644" rIns="95288" bIns="47644" numCol="1" anchor="b" anchorCtr="0" compatLnSpc="1">
            <a:prstTxWarp prst="textNoShape">
              <a:avLst/>
            </a:prstTxWarp>
          </a:bodyPr>
          <a:lstStyle>
            <a:lvl1pPr defTabSz="954088" eaLnBrk="0" hangingPunct="0">
              <a:defRPr sz="1300" b="0">
                <a:latin typeface="Helvetic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4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8138" y="9145588"/>
            <a:ext cx="3186112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5288" tIns="47644" rIns="95288" bIns="47644" numCol="1" anchor="b" anchorCtr="0" compatLnSpc="1">
            <a:prstTxWarp prst="textNoShape">
              <a:avLst/>
            </a:prstTxWarp>
          </a:bodyPr>
          <a:lstStyle>
            <a:lvl1pPr algn="r" defTabSz="954088" eaLnBrk="0" hangingPunct="0">
              <a:defRPr sz="1300" b="0">
                <a:latin typeface="Helvetica" pitchFamily="34" charset="0"/>
              </a:defRPr>
            </a:lvl1pPr>
          </a:lstStyle>
          <a:p>
            <a:pPr>
              <a:defRPr/>
            </a:pPr>
            <a:fld id="{DBF44D90-08A7-42D9-809D-962BD27AF1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7063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6898" tIns="48450" rIns="96898" bIns="48450" numCol="1" anchor="ctr" anchorCtr="0" compatLnSpc="1">
            <a:prstTxWarp prst="textNoShape">
              <a:avLst/>
            </a:prstTxWarp>
          </a:bodyPr>
          <a:lstStyle>
            <a:lvl1pPr defTabSz="969963" eaLnBrk="0" hangingPunct="0">
              <a:defRPr sz="13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8138" y="0"/>
            <a:ext cx="3167062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6898" tIns="48450" rIns="96898" bIns="48450" numCol="1" anchor="ctr" anchorCtr="0" compatLnSpc="1">
            <a:prstTxWarp prst="textNoShape">
              <a:avLst/>
            </a:prstTxWarp>
          </a:bodyPr>
          <a:lstStyle>
            <a:lvl1pPr algn="r" defTabSz="969963" eaLnBrk="0" hangingPunct="0">
              <a:defRPr sz="13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4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2188" cy="36020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59300"/>
            <a:ext cx="5365750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6898" tIns="48450" rIns="96898" bIns="48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3363"/>
            <a:ext cx="3167063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6898" tIns="48450" rIns="96898" bIns="48450" numCol="1" anchor="b" anchorCtr="0" compatLnSpc="1">
            <a:prstTxWarp prst="textNoShape">
              <a:avLst/>
            </a:prstTxWarp>
          </a:bodyPr>
          <a:lstStyle>
            <a:lvl1pPr defTabSz="969963" eaLnBrk="0" hangingPunct="0">
              <a:defRPr sz="13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8138" y="9123363"/>
            <a:ext cx="3167062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6898" tIns="48450" rIns="96898" bIns="48450" numCol="1" anchor="b" anchorCtr="0" compatLnSpc="1">
            <a:prstTxWarp prst="textNoShape">
              <a:avLst/>
            </a:prstTxWarp>
          </a:bodyPr>
          <a:lstStyle>
            <a:lvl1pPr algn="r" defTabSz="969963" eaLnBrk="0" hangingPunct="0">
              <a:defRPr sz="1300" b="0"/>
            </a:lvl1pPr>
          </a:lstStyle>
          <a:p>
            <a:pPr>
              <a:defRPr/>
            </a:pPr>
            <a:fld id="{ECE091EF-051E-432B-9959-C7E2FAA7F02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817563"/>
            <a:ext cx="7772400" cy="1614487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053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938588"/>
            <a:ext cx="6400800" cy="1752600"/>
          </a:xfrm>
        </p:spPr>
        <p:txBody>
          <a:bodyPr/>
          <a:lstStyle>
            <a:lvl1pPr marL="0" indent="0" algn="ctr">
              <a:spcBef>
                <a:spcPct val="0"/>
              </a:spcBef>
              <a:buFontTx/>
              <a:buNone/>
              <a:defRPr sz="28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tr-TR"/>
              <a:t>Mantık Devreleri 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tr-TR"/>
              <a:t>Mantık Devreleri 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374650" y="1141413"/>
            <a:ext cx="4111625" cy="5078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638675" y="1141413"/>
            <a:ext cx="4111625" cy="5078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tr-TR"/>
              <a:t>Mantık Devreleri 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tr-TR"/>
              <a:t>Mantık Devreleri 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tr-TR"/>
              <a:t>Mantık Devreleri 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tr-TR"/>
              <a:t>Mantık Devreleri </a:t>
            </a:r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tr-TR"/>
              <a:t>Mantık Devreleri 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tr-TR" noProof="0" smtClean="0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tr-TR"/>
              <a:t>Mantık Devreleri 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tr-TR"/>
              <a:t>Mantık Devreleri 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656388" y="76200"/>
            <a:ext cx="2093912" cy="6143625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374650" y="76200"/>
            <a:ext cx="6129338" cy="6143625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tr-TR"/>
              <a:t>Mantık Devreleri 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2625" y="76200"/>
            <a:ext cx="7772400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74650" y="1141413"/>
            <a:ext cx="8375650" cy="5078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4950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774950" y="6400800"/>
            <a:ext cx="3276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5720" tIns="45720" rIns="45720" bIns="45720" numCol="1" anchor="ctr" anchorCtr="1" compatLnSpc="1">
            <a:prstTxWarp prst="textNoShape">
              <a:avLst/>
            </a:prstTxWarp>
          </a:bodyPr>
          <a:lstStyle>
            <a:lvl1pPr algn="ctr">
              <a:defRPr sz="1200" b="0" i="1">
                <a:latin typeface="Comic Sans MS" pitchFamily="66" charset="0"/>
              </a:defRPr>
            </a:lvl1pPr>
          </a:lstStyle>
          <a:p>
            <a:pPr>
              <a:defRPr/>
            </a:pPr>
            <a:r>
              <a:rPr lang="tr-TR"/>
              <a:t>Mantık Devreleri </a:t>
            </a:r>
            <a:endParaRPr lang="en-US"/>
          </a:p>
        </p:txBody>
      </p:sp>
      <p:sp>
        <p:nvSpPr>
          <p:cNvPr id="149510" name="Line 6"/>
          <p:cNvSpPr>
            <a:spLocks noChangeShapeType="1"/>
          </p:cNvSpPr>
          <p:nvPr/>
        </p:nvSpPr>
        <p:spPr bwMode="auto">
          <a:xfrm>
            <a:off x="454025" y="881063"/>
            <a:ext cx="8229600" cy="0"/>
          </a:xfrm>
          <a:prstGeom prst="line">
            <a:avLst/>
          </a:prstGeom>
          <a:noFill/>
          <a:ln w="57150" cmpd="thinThick">
            <a:solidFill>
              <a:srgbClr val="00008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tr-TR"/>
          </a:p>
        </p:txBody>
      </p:sp>
      <p:sp>
        <p:nvSpPr>
          <p:cNvPr id="149511" name="Text Box 7"/>
          <p:cNvSpPr txBox="1">
            <a:spLocks noChangeArrowheads="1"/>
          </p:cNvSpPr>
          <p:nvPr/>
        </p:nvSpPr>
        <p:spPr bwMode="auto">
          <a:xfrm>
            <a:off x="8320088" y="6480175"/>
            <a:ext cx="430212" cy="274638"/>
          </a:xfrm>
          <a:prstGeom prst="rect">
            <a:avLst/>
          </a:prstGeom>
          <a:noFill/>
          <a:ln w="57150" cmpd="thinThick">
            <a:noFill/>
            <a:miter lim="800000"/>
            <a:headEnd/>
            <a:tailEnd/>
          </a:ln>
          <a:effectLst/>
        </p:spPr>
        <p:txBody>
          <a:bodyPr lIns="45720" rIns="45720" anchor="ctr" anchorCtr="1"/>
          <a:lstStyle/>
          <a:p>
            <a:pPr>
              <a:defRPr/>
            </a:pPr>
            <a:fld id="{20502C75-D1F4-401E-B4FE-97188D45A294}" type="slidenum">
              <a:rPr lang="en-US" sz="1200" b="0">
                <a:latin typeface="Comic Sans MS" pitchFamily="66" charset="0"/>
              </a:rPr>
              <a:pPr>
                <a:defRPr/>
              </a:pPr>
              <a:t>‹#›</a:t>
            </a:fld>
            <a:endParaRPr lang="en-US" sz="1200" b="0">
              <a:latin typeface="Comic Sans MS" pitchFamily="66" charset="0"/>
            </a:endParaRPr>
          </a:p>
        </p:txBody>
      </p:sp>
      <p:sp>
        <p:nvSpPr>
          <p:cNvPr id="149512" name="Rectangle 8"/>
          <p:cNvSpPr>
            <a:spLocks noChangeArrowheads="1"/>
          </p:cNvSpPr>
          <p:nvPr/>
        </p:nvSpPr>
        <p:spPr bwMode="auto">
          <a:xfrm>
            <a:off x="61554" y="6400800"/>
            <a:ext cx="3276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45720" rIns="45720" anchor="ctr" anchorCtr="1"/>
          <a:lstStyle/>
          <a:p>
            <a:pPr rtl="0"/>
            <a:r>
              <a:rPr lang="en-US" sz="1200" b="0" i="1" u="none" strike="noStrike" kern="1200" baseline="0" dirty="0" smtClean="0">
                <a:solidFill>
                  <a:schemeClr val="tx1"/>
                </a:solidFill>
                <a:latin typeface="Comic Sans MS" panose="030F0702030302020204" pitchFamily="66" charset="0"/>
                <a:ea typeface="+mn-ea"/>
                <a:cs typeface="+mn-cs"/>
              </a:rPr>
              <a:t>Ali </a:t>
            </a:r>
            <a:r>
              <a:rPr lang="en-US" sz="1200" b="0" i="1" u="none" strike="noStrike" kern="1200" baseline="0" dirty="0" err="1" smtClean="0">
                <a:solidFill>
                  <a:schemeClr val="tx1"/>
                </a:solidFill>
                <a:latin typeface="Comic Sans MS" panose="030F0702030302020204" pitchFamily="66" charset="0"/>
                <a:ea typeface="+mn-ea"/>
                <a:cs typeface="+mn-cs"/>
              </a:rPr>
              <a:t>Gülbağ</a:t>
            </a:r>
            <a:r>
              <a:rPr lang="en-US" sz="1200" b="0" i="1" u="none" strike="noStrike" kern="1200" baseline="0" dirty="0" smtClean="0">
                <a:solidFill>
                  <a:schemeClr val="tx1"/>
                </a:solidFill>
                <a:latin typeface="Comic Sans MS" panose="030F0702030302020204" pitchFamily="66" charset="0"/>
                <a:ea typeface="+mn-ea"/>
                <a:cs typeface="+mn-cs"/>
              </a:rPr>
              <a:t> (Translated by Sinan </a:t>
            </a:r>
            <a:r>
              <a:rPr lang="en-US" sz="1200" b="0" i="1" u="none" strike="noStrike" kern="1200" baseline="0" dirty="0" err="1" smtClean="0">
                <a:solidFill>
                  <a:schemeClr val="tx1"/>
                </a:solidFill>
                <a:latin typeface="Comic Sans MS" panose="030F0702030302020204" pitchFamily="66" charset="0"/>
                <a:ea typeface="+mn-ea"/>
                <a:cs typeface="+mn-cs"/>
              </a:rPr>
              <a:t>İlyas</a:t>
            </a:r>
            <a:r>
              <a:rPr lang="en-US" sz="1200" b="0" i="1" u="none" strike="noStrike" kern="1200" baseline="0" dirty="0" smtClean="0">
                <a:solidFill>
                  <a:schemeClr val="tx1"/>
                </a:solidFill>
                <a:latin typeface="Comic Sans MS" panose="030F0702030302020204" pitchFamily="66" charset="0"/>
                <a:ea typeface="+mn-ea"/>
                <a:cs typeface="+mn-cs"/>
              </a:rPr>
              <a:t>)</a:t>
            </a:r>
            <a:endParaRPr lang="en-US" sz="1200" b="0" i="0" u="none" strike="noStrike" kern="1200" baseline="0" dirty="0" smtClean="0">
              <a:solidFill>
                <a:schemeClr val="tx1"/>
              </a:solidFill>
              <a:latin typeface="Comic Sans MS" panose="030F0702030302020204" pitchFamily="66" charset="0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790" r:id="rId2"/>
    <p:sldLayoutId id="2147483791" r:id="rId3"/>
    <p:sldLayoutId id="2147483792" r:id="rId4"/>
    <p:sldLayoutId id="2147483793" r:id="rId5"/>
    <p:sldLayoutId id="2147483794" r:id="rId6"/>
    <p:sldLayoutId id="2147483795" r:id="rId7"/>
    <p:sldLayoutId id="2147483796" r:id="rId8"/>
    <p:sldLayoutId id="2147483797" r:id="rId9"/>
    <p:sldLayoutId id="2147483798" r:id="rId10"/>
    <p:sldLayoutId id="2147483799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000099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000099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000099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000099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000099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000099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000099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000099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000099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rgbClr val="0000CC"/>
          </a:solidFill>
          <a:latin typeface="Comic Sans MS" pitchFamily="66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990000"/>
          </a:solidFill>
          <a:latin typeface="Comic Sans MS" pitchFamily="66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006600"/>
          </a:solidFill>
          <a:latin typeface="Comic Sans MS" pitchFamily="66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rgbClr val="663300"/>
          </a:solidFill>
          <a:latin typeface="Comic Sans MS" pitchFamily="66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rgbClr val="663300"/>
          </a:solidFill>
          <a:latin typeface="Comic Sans MS" pitchFamily="66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rgbClr val="663300"/>
          </a:solidFill>
          <a:latin typeface="Comic Sans MS" pitchFamily="66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rgbClr val="663300"/>
          </a:solidFill>
          <a:latin typeface="Comic Sans MS" pitchFamily="66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rgbClr val="663300"/>
          </a:solidFill>
          <a:latin typeface="Comic Sans MS" pitchFamily="66" charset="0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3 Altbilgi Yer Tutucusu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 dirty="0" smtClean="0"/>
              <a:t>Logic Circuits</a:t>
            </a:r>
            <a:endParaRPr lang="en-US" dirty="0" smtClean="0"/>
          </a:p>
        </p:txBody>
      </p:sp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76200"/>
            <a:ext cx="8151813" cy="790575"/>
          </a:xfrm>
        </p:spPr>
        <p:txBody>
          <a:bodyPr/>
          <a:lstStyle/>
          <a:p>
            <a:r>
              <a:rPr lang="en-US" sz="2400" b="1" dirty="0" smtClean="0"/>
              <a:t>Quine-</a:t>
            </a:r>
            <a:r>
              <a:rPr lang="en-US" sz="2400" b="1" dirty="0" err="1" smtClean="0"/>
              <a:t>McCluskey</a:t>
            </a:r>
            <a:r>
              <a:rPr lang="en-US" sz="2400" b="1" dirty="0" smtClean="0"/>
              <a:t> Method</a:t>
            </a:r>
            <a:endParaRPr lang="tr-TR" sz="2400" b="1" dirty="0" smtClean="0"/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3213" y="912813"/>
            <a:ext cx="8375650" cy="5078412"/>
          </a:xfrm>
        </p:spPr>
        <p:txBody>
          <a:bodyPr/>
          <a:lstStyle/>
          <a:p>
            <a:pPr marL="0" indent="0" algn="just">
              <a:lnSpc>
                <a:spcPct val="90000"/>
              </a:lnSpc>
              <a:buFontTx/>
              <a:buNone/>
            </a:pPr>
            <a:endParaRPr lang="tr-TR" sz="2000" b="1" dirty="0" smtClean="0"/>
          </a:p>
          <a:p>
            <a:pPr marL="0" indent="0" algn="just">
              <a:lnSpc>
                <a:spcPct val="90000"/>
              </a:lnSpc>
              <a:buFontTx/>
              <a:buNone/>
            </a:pPr>
            <a:endParaRPr lang="tr-TR" sz="2000" b="1" dirty="0" smtClean="0"/>
          </a:p>
          <a:p>
            <a:pPr marL="0" indent="0" algn="just">
              <a:lnSpc>
                <a:spcPct val="90000"/>
              </a:lnSpc>
              <a:buFont typeface="Wingdings" pitchFamily="2" charset="2"/>
              <a:buChar char="v"/>
            </a:pPr>
            <a:r>
              <a:rPr lang="tr-TR" sz="2000" b="1" dirty="0" smtClean="0"/>
              <a:t> </a:t>
            </a:r>
            <a:r>
              <a:rPr lang="en-US" sz="2000" b="1" dirty="0" smtClean="0"/>
              <a:t>Simplification of logic expressions using Quine-</a:t>
            </a:r>
            <a:r>
              <a:rPr lang="en-US" sz="2000" b="1" dirty="0" err="1" smtClean="0"/>
              <a:t>McCluskey</a:t>
            </a:r>
            <a:r>
              <a:rPr lang="en-US" sz="2000" b="1" dirty="0" smtClean="0"/>
              <a:t> Method (</a:t>
            </a:r>
            <a:r>
              <a:rPr lang="tr-TR" sz="2000" b="1" dirty="0" err="1" smtClean="0"/>
              <a:t>Tabulation</a:t>
            </a:r>
            <a:r>
              <a:rPr lang="tr-TR" sz="2000" b="1" dirty="0" smtClean="0"/>
              <a:t> </a:t>
            </a:r>
            <a:r>
              <a:rPr lang="tr-TR" sz="2000" b="1" dirty="0" err="1" smtClean="0"/>
              <a:t>Method</a:t>
            </a:r>
            <a:r>
              <a:rPr lang="en-US" sz="2000" b="1" dirty="0" smtClean="0"/>
              <a:t>)</a:t>
            </a:r>
            <a:endParaRPr lang="tr-TR" sz="2000" b="1" dirty="0" smtClean="0"/>
          </a:p>
          <a:p>
            <a:pPr marL="0" indent="0" algn="just">
              <a:lnSpc>
                <a:spcPct val="90000"/>
              </a:lnSpc>
              <a:buNone/>
            </a:pPr>
            <a:endParaRPr lang="tr-TR" sz="1000" b="1" dirty="0" smtClean="0"/>
          </a:p>
          <a:p>
            <a:pPr marL="0" indent="0" algn="just">
              <a:lnSpc>
                <a:spcPct val="90000"/>
              </a:lnSpc>
              <a:buFont typeface="Wingdings" pitchFamily="2" charset="2"/>
              <a:buChar char="Ø"/>
            </a:pPr>
            <a:r>
              <a:rPr lang="tr-TR" sz="2000" b="1" dirty="0" smtClean="0"/>
              <a:t> </a:t>
            </a:r>
            <a:r>
              <a:rPr lang="en-US" sz="2000" b="1" dirty="0" smtClean="0"/>
              <a:t>Deriving “Prime </a:t>
            </a:r>
            <a:r>
              <a:rPr lang="en-US" sz="2000" b="1" dirty="0" err="1" smtClean="0"/>
              <a:t>Implicants</a:t>
            </a:r>
            <a:r>
              <a:rPr lang="en-US" sz="2000" b="1" dirty="0" smtClean="0"/>
              <a:t>”</a:t>
            </a:r>
            <a:endParaRPr lang="tr-TR" sz="2000" b="1" dirty="0" smtClean="0"/>
          </a:p>
          <a:p>
            <a:pPr marL="0" indent="0" algn="just">
              <a:lnSpc>
                <a:spcPct val="90000"/>
              </a:lnSpc>
              <a:buFont typeface="Wingdings" pitchFamily="2" charset="2"/>
              <a:buChar char="Ø"/>
            </a:pPr>
            <a:r>
              <a:rPr lang="tr-TR" sz="2000" b="1" dirty="0" smtClean="0"/>
              <a:t> </a:t>
            </a:r>
            <a:r>
              <a:rPr lang="en-US" sz="2000" b="1" dirty="0"/>
              <a:t>Deriving </a:t>
            </a:r>
            <a:r>
              <a:rPr lang="en-US" sz="2000" b="1" dirty="0" smtClean="0"/>
              <a:t>“Essential Prime </a:t>
            </a:r>
            <a:r>
              <a:rPr lang="en-US" sz="2000" b="1" dirty="0" err="1" smtClean="0"/>
              <a:t>Implicants</a:t>
            </a:r>
            <a:r>
              <a:rPr lang="en-US" sz="2000" b="1" dirty="0" smtClean="0"/>
              <a:t>”</a:t>
            </a:r>
            <a:endParaRPr lang="tr-TR" sz="2000" b="1" dirty="0" smtClean="0"/>
          </a:p>
          <a:p>
            <a:pPr marL="0" indent="0" algn="just">
              <a:lnSpc>
                <a:spcPct val="90000"/>
              </a:lnSpc>
              <a:buNone/>
            </a:pPr>
            <a:endParaRPr lang="tr-TR" sz="2000" b="1" dirty="0" smtClean="0"/>
          </a:p>
          <a:p>
            <a:pPr marL="0" indent="0" algn="just">
              <a:lnSpc>
                <a:spcPct val="90000"/>
              </a:lnSpc>
              <a:buNone/>
            </a:pPr>
            <a:endParaRPr lang="tr-TR" sz="2000" b="1" dirty="0" smtClean="0"/>
          </a:p>
          <a:p>
            <a:pPr marL="0" indent="0" algn="just">
              <a:lnSpc>
                <a:spcPct val="90000"/>
              </a:lnSpc>
              <a:buFont typeface="Wingdings" pitchFamily="2" charset="2"/>
              <a:buChar char="v"/>
            </a:pPr>
            <a:r>
              <a:rPr lang="tr-TR" sz="2000" b="1" dirty="0" smtClean="0"/>
              <a:t> </a:t>
            </a:r>
            <a:r>
              <a:rPr lang="en-US" sz="2000" b="1" dirty="0" smtClean="0"/>
              <a:t>Using </a:t>
            </a:r>
            <a:r>
              <a:rPr lang="tr-TR" sz="2000" b="1" dirty="0" smtClean="0"/>
              <a:t>NAND </a:t>
            </a:r>
            <a:r>
              <a:rPr lang="en-US" sz="2000" b="1" dirty="0" smtClean="0"/>
              <a:t>and </a:t>
            </a:r>
            <a:r>
              <a:rPr lang="tr-TR" sz="2000" b="1" dirty="0" smtClean="0"/>
              <a:t>NOR </a:t>
            </a:r>
            <a:r>
              <a:rPr lang="en-US" sz="2000" b="1" dirty="0" smtClean="0"/>
              <a:t>gates as universal gates</a:t>
            </a:r>
            <a:endParaRPr lang="tr-TR" sz="2000" b="1" dirty="0" smtClean="0"/>
          </a:p>
          <a:p>
            <a:pPr marL="0" indent="0" algn="just">
              <a:lnSpc>
                <a:spcPct val="90000"/>
              </a:lnSpc>
              <a:buNone/>
            </a:pPr>
            <a:endParaRPr lang="tr-TR" sz="1000" b="1" dirty="0" smtClean="0"/>
          </a:p>
          <a:p>
            <a:pPr marL="0" indent="0" algn="just">
              <a:lnSpc>
                <a:spcPct val="90000"/>
              </a:lnSpc>
              <a:buFont typeface="Wingdings" pitchFamily="2" charset="2"/>
              <a:buChar char="Ø"/>
            </a:pPr>
            <a:r>
              <a:rPr lang="tr-TR" sz="2000" b="1" dirty="0" smtClean="0"/>
              <a:t> </a:t>
            </a:r>
            <a:r>
              <a:rPr lang="en-US" sz="2000" b="1" dirty="0" smtClean="0"/>
              <a:t>Implementation of logical gates using universal gates</a:t>
            </a:r>
            <a:endParaRPr lang="tr-TR" sz="2000" b="1" dirty="0" smtClean="0"/>
          </a:p>
          <a:p>
            <a:pPr marL="0" indent="0" algn="just">
              <a:lnSpc>
                <a:spcPct val="90000"/>
              </a:lnSpc>
              <a:buFont typeface="Wingdings" pitchFamily="2" charset="2"/>
              <a:buChar char="Ø"/>
            </a:pPr>
            <a:r>
              <a:rPr lang="tr-TR" sz="2000" b="1" dirty="0" smtClean="0"/>
              <a:t> </a:t>
            </a:r>
            <a:r>
              <a:rPr lang="en-US" sz="2000" b="1" dirty="0" smtClean="0"/>
              <a:t>Converting logical expressions to NAND and NOR forms using Boolean algebra</a:t>
            </a:r>
            <a:endParaRPr lang="tr-TR" sz="2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3 Altbilgi Yer Tutucusu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 dirty="0"/>
              <a:t>Logic Circuits</a:t>
            </a:r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0" indent="0">
              <a:lnSpc>
                <a:spcPct val="90000"/>
              </a:lnSpc>
            </a:pPr>
            <a:r>
              <a:rPr lang="en-US" sz="2400" b="1" dirty="0"/>
              <a:t>Simplification of logic expressions </a:t>
            </a:r>
            <a:r>
              <a:rPr lang="en-US" sz="2400" b="1" dirty="0" smtClean="0"/>
              <a:t>using</a:t>
            </a:r>
            <a:br>
              <a:rPr lang="en-US" sz="2400" b="1" dirty="0" smtClean="0"/>
            </a:br>
            <a:r>
              <a:rPr lang="en-US" sz="2400" b="1" dirty="0" smtClean="0"/>
              <a:t>Quine-</a:t>
            </a:r>
            <a:r>
              <a:rPr lang="en-US" sz="2400" b="1" dirty="0" err="1" smtClean="0"/>
              <a:t>McCluskey</a:t>
            </a:r>
            <a:r>
              <a:rPr lang="en-US" sz="2400" b="1" dirty="0" smtClean="0"/>
              <a:t> </a:t>
            </a:r>
            <a:r>
              <a:rPr lang="en-US" sz="2400" b="1" dirty="0"/>
              <a:t>Method (</a:t>
            </a:r>
            <a:r>
              <a:rPr lang="tr-TR" sz="2400" b="1" dirty="0" err="1"/>
              <a:t>Tabulation</a:t>
            </a:r>
            <a:r>
              <a:rPr lang="tr-TR" sz="2400" b="1" dirty="0"/>
              <a:t> </a:t>
            </a:r>
            <a:r>
              <a:rPr lang="tr-TR" sz="2400" b="1" dirty="0" err="1"/>
              <a:t>Method</a:t>
            </a:r>
            <a:r>
              <a:rPr lang="en-US" sz="2400" b="1" dirty="0"/>
              <a:t>)</a:t>
            </a:r>
            <a:endParaRPr lang="tr-TR" sz="2400" b="1" dirty="0"/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8775" y="879476"/>
            <a:ext cx="8390778" cy="2007160"/>
          </a:xfrm>
        </p:spPr>
        <p:txBody>
          <a:bodyPr/>
          <a:lstStyle/>
          <a:p>
            <a:pPr marL="0" indent="0" algn="just">
              <a:buFontTx/>
              <a:buNone/>
            </a:pPr>
            <a:r>
              <a:rPr lang="en-US" sz="2100" dirty="0" smtClean="0"/>
              <a:t>Quine-</a:t>
            </a:r>
            <a:r>
              <a:rPr lang="en-US" sz="2100" dirty="0" err="1" smtClean="0"/>
              <a:t>McCluskey</a:t>
            </a:r>
            <a:r>
              <a:rPr lang="en-US" sz="2100" dirty="0" smtClean="0"/>
              <a:t> method (A.K.A. Tabulation Method) is an algorithmic approach to simplification of logic circuits which has many (especially more than 5) variables.</a:t>
            </a:r>
          </a:p>
          <a:p>
            <a:pPr marL="0" indent="0" algn="just">
              <a:buFontTx/>
              <a:buNone/>
            </a:pPr>
            <a:endParaRPr lang="tr-TR" sz="1000" dirty="0" smtClean="0"/>
          </a:p>
          <a:p>
            <a:pPr marL="0" indent="0" algn="just">
              <a:buFontTx/>
              <a:buNone/>
            </a:pPr>
            <a:r>
              <a:rPr lang="en-US" sz="2100" dirty="0" smtClean="0"/>
              <a:t>First, we group </a:t>
            </a:r>
            <a:r>
              <a:rPr lang="en-US" sz="2100" dirty="0" err="1" smtClean="0"/>
              <a:t>minterm</a:t>
            </a:r>
            <a:r>
              <a:rPr lang="en-US" sz="2100" dirty="0" err="1" smtClean="0"/>
              <a:t>s</a:t>
            </a:r>
            <a:r>
              <a:rPr lang="en-US" sz="2100" dirty="0" smtClean="0"/>
              <a:t> according to the number of 1’s they have.</a:t>
            </a:r>
            <a:r>
              <a:rPr lang="en-US" sz="2100" dirty="0" smtClean="0"/>
              <a:t> We include the don’t care situations when grouping.</a:t>
            </a:r>
            <a:endParaRPr lang="tr-TR" sz="2100" dirty="0" smtClean="0"/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7790" y="3012141"/>
            <a:ext cx="1843335" cy="2492188"/>
          </a:xfrm>
          <a:prstGeom prst="rect">
            <a:avLst/>
          </a:prstGeo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7640" y="3012141"/>
            <a:ext cx="1661459" cy="2492188"/>
          </a:xfrm>
          <a:prstGeom prst="rect">
            <a:avLst/>
          </a:prstGeom>
        </p:spPr>
      </p:pic>
      <p:sp>
        <p:nvSpPr>
          <p:cNvPr id="4" name="Metin kutusu 3"/>
          <p:cNvSpPr txBox="1"/>
          <p:nvPr/>
        </p:nvSpPr>
        <p:spPr>
          <a:xfrm>
            <a:off x="1900517" y="5629835"/>
            <a:ext cx="23577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0" dirty="0" smtClean="0"/>
              <a:t>Villard Van </a:t>
            </a:r>
            <a:r>
              <a:rPr lang="en-US" b="0" dirty="0" err="1" smtClean="0"/>
              <a:t>Orman</a:t>
            </a:r>
            <a:r>
              <a:rPr lang="en-US" b="0" dirty="0" smtClean="0"/>
              <a:t> Quine</a:t>
            </a:r>
            <a:endParaRPr lang="tr-TR" b="0" dirty="0"/>
          </a:p>
        </p:txBody>
      </p:sp>
      <p:sp>
        <p:nvSpPr>
          <p:cNvPr id="8" name="Metin kutusu 7"/>
          <p:cNvSpPr txBox="1"/>
          <p:nvPr/>
        </p:nvSpPr>
        <p:spPr>
          <a:xfrm>
            <a:off x="4473383" y="5629835"/>
            <a:ext cx="23577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0" dirty="0"/>
              <a:t>Edward J. </a:t>
            </a:r>
            <a:r>
              <a:rPr lang="en-US" b="0" dirty="0" err="1"/>
              <a:t>McCluskey</a:t>
            </a:r>
            <a:endParaRPr lang="tr-TR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3 Altbilgi Yer Tutucusu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 dirty="0"/>
              <a:t>Logic Circuits</a:t>
            </a:r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0" indent="0">
              <a:lnSpc>
                <a:spcPct val="90000"/>
              </a:lnSpc>
            </a:pPr>
            <a:r>
              <a:rPr lang="en-US" sz="2400" b="1" dirty="0"/>
              <a:t>Simplification of logic expressions </a:t>
            </a:r>
            <a:r>
              <a:rPr lang="en-US" sz="2400" b="1" dirty="0" smtClean="0"/>
              <a:t>using</a:t>
            </a:r>
            <a:br>
              <a:rPr lang="en-US" sz="2400" b="1" dirty="0" smtClean="0"/>
            </a:br>
            <a:r>
              <a:rPr lang="en-US" sz="2400" b="1" dirty="0" smtClean="0"/>
              <a:t>Quine-</a:t>
            </a:r>
            <a:r>
              <a:rPr lang="en-US" sz="2400" b="1" dirty="0" err="1" smtClean="0"/>
              <a:t>McCluskey</a:t>
            </a:r>
            <a:r>
              <a:rPr lang="en-US" sz="2400" b="1" dirty="0" smtClean="0"/>
              <a:t> </a:t>
            </a:r>
            <a:r>
              <a:rPr lang="en-US" sz="2400" b="1" dirty="0"/>
              <a:t>Method (</a:t>
            </a:r>
            <a:r>
              <a:rPr lang="tr-TR" sz="2400" b="1" dirty="0" err="1"/>
              <a:t>Tabulation</a:t>
            </a:r>
            <a:r>
              <a:rPr lang="tr-TR" sz="2400" b="1" dirty="0"/>
              <a:t> </a:t>
            </a:r>
            <a:r>
              <a:rPr lang="tr-TR" sz="2400" b="1" dirty="0" err="1"/>
              <a:t>Method</a:t>
            </a:r>
            <a:r>
              <a:rPr lang="en-US" sz="2400" b="1" dirty="0"/>
              <a:t>)</a:t>
            </a:r>
            <a:endParaRPr lang="tr-TR" sz="2400" b="1" dirty="0"/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8775" y="879475"/>
            <a:ext cx="8375650" cy="5078413"/>
          </a:xfrm>
        </p:spPr>
        <p:txBody>
          <a:bodyPr/>
          <a:lstStyle/>
          <a:p>
            <a:pPr marL="0" indent="0" algn="just">
              <a:buFontTx/>
              <a:buNone/>
            </a:pPr>
            <a:r>
              <a:rPr lang="en-US" sz="2100" dirty="0" smtClean="0"/>
              <a:t>Then, we combine neighbor </a:t>
            </a:r>
            <a:r>
              <a:rPr lang="en-US" sz="2100" dirty="0" err="1" smtClean="0"/>
              <a:t>minterms</a:t>
            </a:r>
            <a:r>
              <a:rPr lang="en-US" sz="2100" dirty="0" smtClean="0"/>
              <a:t> by putting </a:t>
            </a:r>
            <a:r>
              <a:rPr lang="en-US" sz="2100" dirty="0" smtClean="0"/>
              <a:t>a dash (</a:t>
            </a:r>
            <a:r>
              <a:rPr lang="tr-TR" sz="2100" dirty="0"/>
              <a:t>–</a:t>
            </a:r>
            <a:r>
              <a:rPr lang="en-US" sz="2100" dirty="0" smtClean="0"/>
              <a:t>) in place of the different bit and keep the others as they are. </a:t>
            </a:r>
            <a:r>
              <a:rPr lang="en-US" sz="2100" dirty="0" smtClean="0"/>
              <a:t>And we mark the grouped </a:t>
            </a:r>
            <a:r>
              <a:rPr lang="en-US" sz="2100" dirty="0" err="1" smtClean="0"/>
              <a:t>minterms</a:t>
            </a:r>
            <a:r>
              <a:rPr lang="en-US" sz="2100" dirty="0" smtClean="0"/>
              <a:t> with a tick (</a:t>
            </a:r>
            <a:r>
              <a:rPr lang="tr-TR" sz="2100" dirty="0" smtClean="0">
                <a:sym typeface="Symbol" pitchFamily="18" charset="2"/>
              </a:rPr>
              <a:t></a:t>
            </a:r>
            <a:r>
              <a:rPr lang="en-US" sz="2100" dirty="0" smtClean="0">
                <a:sym typeface="Symbol" pitchFamily="18" charset="2"/>
              </a:rPr>
              <a:t>).</a:t>
            </a:r>
            <a:endParaRPr lang="tr-TR" sz="1000" dirty="0" smtClean="0"/>
          </a:p>
          <a:p>
            <a:pPr marL="0" indent="0" algn="just">
              <a:buFontTx/>
              <a:buNone/>
            </a:pPr>
            <a:endParaRPr lang="en-US" sz="2100" dirty="0" smtClean="0"/>
          </a:p>
          <a:p>
            <a:pPr marL="0" indent="0" algn="just">
              <a:buFontTx/>
              <a:buNone/>
            </a:pPr>
            <a:r>
              <a:rPr lang="en-US" sz="2100" dirty="0" smtClean="0"/>
              <a:t>The terms which don’t have a neighbor are the prime </a:t>
            </a:r>
            <a:r>
              <a:rPr lang="en-US" sz="2100" dirty="0" err="1" smtClean="0"/>
              <a:t>implicants</a:t>
            </a:r>
            <a:r>
              <a:rPr lang="en-US" sz="2100" dirty="0" smtClean="0"/>
              <a:t>. </a:t>
            </a:r>
            <a:r>
              <a:rPr lang="en-US" sz="2100" dirty="0" smtClean="0"/>
              <a:t>We also combine </a:t>
            </a:r>
            <a:r>
              <a:rPr lang="en-US" sz="2100" dirty="0" smtClean="0"/>
              <a:t>the previously combined terms if possible. We continue combining until there’s nothing more to combine.</a:t>
            </a:r>
          </a:p>
          <a:p>
            <a:pPr marL="0" indent="0" algn="just">
              <a:buFontTx/>
              <a:buNone/>
            </a:pPr>
            <a:endParaRPr lang="en-US" sz="2100" dirty="0"/>
          </a:p>
          <a:p>
            <a:pPr marL="0" indent="0" algn="just">
              <a:buFontTx/>
              <a:buNone/>
            </a:pPr>
            <a:r>
              <a:rPr lang="en-US" sz="2100" dirty="0" smtClean="0"/>
              <a:t>Then, we continue to step 2 to find out the essential prime </a:t>
            </a:r>
            <a:r>
              <a:rPr lang="en-US" sz="2100" dirty="0" err="1" smtClean="0"/>
              <a:t>implicants</a:t>
            </a:r>
            <a:r>
              <a:rPr lang="en-US" sz="2100" dirty="0" smtClean="0"/>
              <a:t>.</a:t>
            </a:r>
            <a:endParaRPr lang="tr-TR" sz="2100" dirty="0" smtClean="0"/>
          </a:p>
        </p:txBody>
      </p:sp>
    </p:spTree>
    <p:extLst>
      <p:ext uri="{BB962C8B-B14F-4D97-AF65-F5344CB8AC3E}">
        <p14:creationId xmlns:p14="http://schemas.microsoft.com/office/powerpoint/2010/main" val="152210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1" dirty="0" smtClean="0"/>
              <a:t>Example</a:t>
            </a:r>
            <a:endParaRPr lang="tr-TR" sz="2400" b="1" dirty="0" smtClean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11150" y="887413"/>
            <a:ext cx="8375650" cy="5078412"/>
          </a:xfrm>
        </p:spPr>
        <p:txBody>
          <a:bodyPr/>
          <a:lstStyle/>
          <a:p>
            <a:pPr marL="0" indent="0" algn="just">
              <a:buFontTx/>
              <a:buNone/>
              <a:defRPr/>
            </a:pPr>
            <a:r>
              <a:rPr lang="en-US" sz="2200" b="1" dirty="0" smtClean="0"/>
              <a:t>Example</a:t>
            </a:r>
            <a:r>
              <a:rPr lang="tr-TR" sz="2200" b="1" dirty="0" smtClean="0"/>
              <a:t>: </a:t>
            </a:r>
            <a:r>
              <a:rPr lang="en-US" sz="2200" dirty="0" smtClean="0"/>
              <a:t>Let’s simplify the expression below using tabulation method.</a:t>
            </a:r>
          </a:p>
          <a:p>
            <a:pPr marL="0" indent="0" algn="just">
              <a:buFontTx/>
              <a:buNone/>
              <a:defRPr/>
            </a:pPr>
            <a:r>
              <a:rPr lang="tr-TR" sz="2200" dirty="0" smtClean="0"/>
              <a:t>f(A,B,C,D</a:t>
            </a:r>
            <a:r>
              <a:rPr lang="tr-TR" sz="2200" dirty="0" smtClean="0"/>
              <a:t>)=</a:t>
            </a:r>
            <a:r>
              <a:rPr lang="tr-TR" sz="2200" dirty="0" smtClean="0">
                <a:sym typeface="Symbol"/>
              </a:rPr>
              <a:t></a:t>
            </a:r>
            <a:r>
              <a:rPr lang="tr-TR" sz="2200" dirty="0" smtClean="0"/>
              <a:t>(4,8,10,11,12,15</a:t>
            </a:r>
            <a:r>
              <a:rPr lang="tr-TR" sz="2200" dirty="0" smtClean="0"/>
              <a:t>)</a:t>
            </a:r>
            <a:endParaRPr lang="tr-TR" sz="2200" dirty="0" smtClean="0"/>
          </a:p>
          <a:p>
            <a:pPr marL="0" indent="0" algn="just">
              <a:buFontTx/>
              <a:buNone/>
              <a:defRPr/>
            </a:pPr>
            <a:r>
              <a:rPr lang="tr-TR" sz="2200" dirty="0" smtClean="0"/>
              <a:t>- </a:t>
            </a:r>
            <a:r>
              <a:rPr lang="en-US" sz="2200" dirty="0" smtClean="0"/>
              <a:t>First, we group </a:t>
            </a:r>
            <a:r>
              <a:rPr lang="en-US" sz="2200" dirty="0" err="1" smtClean="0"/>
              <a:t>minterms</a:t>
            </a:r>
            <a:r>
              <a:rPr lang="en-US" sz="2200" dirty="0" smtClean="0"/>
              <a:t> according to the number of 1’s they contain.</a:t>
            </a:r>
            <a:endParaRPr lang="tr-TR" sz="2200" dirty="0" smtClean="0"/>
          </a:p>
          <a:p>
            <a:pPr>
              <a:buFontTx/>
              <a:buNone/>
              <a:defRPr/>
            </a:pPr>
            <a:endParaRPr lang="tr-TR" dirty="0"/>
          </a:p>
        </p:txBody>
      </p:sp>
      <p:sp>
        <p:nvSpPr>
          <p:cNvPr id="5124" name="3 Altbilgi Yer Tutucusu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 dirty="0"/>
              <a:t>Logic Circuits</a:t>
            </a:r>
          </a:p>
        </p:txBody>
      </p:sp>
      <p:graphicFrame>
        <p:nvGraphicFramePr>
          <p:cNvPr id="5" name="4 Tabl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5159535"/>
              </p:ext>
            </p:extLst>
          </p:nvPr>
        </p:nvGraphicFramePr>
        <p:xfrm>
          <a:off x="1731963" y="2527300"/>
          <a:ext cx="5646737" cy="2715768"/>
        </p:xfrm>
        <a:graphic>
          <a:graphicData uri="http://schemas.openxmlformats.org/drawingml/2006/table">
            <a:tbl>
              <a:tblPr/>
              <a:tblGrid>
                <a:gridCol w="1849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Number of 1’s in the terms</a:t>
                      </a:r>
                      <a:endParaRPr kumimoji="0" lang="tr-TR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r>
                        <a:rPr kumimoji="0" lang="tr-T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Minterm</a:t>
                      </a: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</a:t>
                      </a:r>
                      <a:endParaRPr kumimoji="0" lang="tr-TR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Binary Representation of </a:t>
                      </a:r>
                      <a:r>
                        <a:rPr kumimoji="0" lang="en-US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Minterms</a:t>
                      </a:r>
                      <a:endParaRPr kumimoji="0" lang="tr-TR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r>
                        <a:rPr kumimoji="0" lang="tr-T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r>
                        <a:rPr kumimoji="0" lang="tr-T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</a:t>
                      </a:r>
                      <a:r>
                        <a:rPr kumimoji="0" lang="tr-TR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kumimoji="0" lang="tr-T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r>
                        <a:rPr kumimoji="0" lang="tr-T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0100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r>
                        <a:rPr kumimoji="0" lang="tr-T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</a:t>
                      </a:r>
                      <a:r>
                        <a:rPr kumimoji="0" lang="tr-TR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kumimoji="0" lang="tr-T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r>
                        <a:rPr kumimoji="0" lang="tr-T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1000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r>
                        <a:rPr kumimoji="0" lang="tr-T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68580" marR="68580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r>
                        <a:rPr kumimoji="0" lang="tr-T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</a:t>
                      </a:r>
                      <a:r>
                        <a:rPr kumimoji="0" lang="tr-TR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kumimoji="0" lang="tr-T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r>
                        <a:rPr kumimoji="0" lang="tr-T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1010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r>
                        <a:rPr kumimoji="0" lang="tr-T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</a:t>
                      </a:r>
                      <a:r>
                        <a:rPr kumimoji="0" lang="tr-TR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</a:t>
                      </a:r>
                      <a:endParaRPr kumimoji="0" lang="tr-T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r>
                        <a:rPr kumimoji="0" lang="tr-T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1100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r>
                        <a:rPr kumimoji="0" lang="tr-T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68580" marR="68580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r>
                        <a:rPr kumimoji="0" lang="tr-T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</a:t>
                      </a:r>
                      <a:r>
                        <a:rPr kumimoji="0" lang="tr-TR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</a:t>
                      </a:r>
                      <a:endParaRPr kumimoji="0" lang="tr-T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r>
                        <a:rPr kumimoji="0" lang="tr-T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1011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r>
                        <a:rPr kumimoji="0" lang="tr-T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68580" marR="68580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r>
                        <a:rPr kumimoji="0" lang="tr-T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</a:t>
                      </a:r>
                      <a:r>
                        <a:rPr kumimoji="0" lang="tr-TR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15</a:t>
                      </a:r>
                      <a:endParaRPr kumimoji="0" lang="tr-T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r>
                        <a:rPr kumimoji="0" lang="tr-TR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1111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1 Başlık"/>
          <p:cNvSpPr>
            <a:spLocks noGrp="1"/>
          </p:cNvSpPr>
          <p:nvPr>
            <p:ph type="title"/>
          </p:nvPr>
        </p:nvSpPr>
        <p:spPr>
          <a:xfrm>
            <a:off x="365125" y="203200"/>
            <a:ext cx="7772400" cy="790575"/>
          </a:xfrm>
        </p:spPr>
        <p:txBody>
          <a:bodyPr/>
          <a:lstStyle/>
          <a:p>
            <a:r>
              <a:rPr lang="en-US" sz="2400" b="1" dirty="0"/>
              <a:t>Example</a:t>
            </a:r>
            <a:endParaRPr lang="tr-TR" sz="2400" b="1" dirty="0" smtClean="0"/>
          </a:p>
        </p:txBody>
      </p:sp>
      <p:graphicFrame>
        <p:nvGraphicFramePr>
          <p:cNvPr id="5" name="4 İçerik Yer Tutucusu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0617608"/>
              </p:ext>
            </p:extLst>
          </p:nvPr>
        </p:nvGraphicFramePr>
        <p:xfrm>
          <a:off x="500063" y="1287463"/>
          <a:ext cx="8079161" cy="2715768"/>
        </p:xfrm>
        <a:graphic>
          <a:graphicData uri="http://schemas.openxmlformats.org/drawingml/2006/table">
            <a:tbl>
              <a:tblPr/>
              <a:tblGrid>
                <a:gridCol w="19085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6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96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Number of 1’s in the terms</a:t>
                      </a:r>
                      <a:endParaRPr kumimoji="0" lang="tr-TR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r>
                        <a:rPr kumimoji="0" lang="tr-TR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Minterm</a:t>
                      </a: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</a:t>
                      </a:r>
                      <a:endParaRPr kumimoji="0" lang="tr-TR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Binary Values of </a:t>
                      </a:r>
                      <a:r>
                        <a:rPr kumimoji="0" lang="en-US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Minterms</a:t>
                      </a:r>
                      <a:endParaRPr kumimoji="0" lang="tr-TR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Grouped </a:t>
                      </a:r>
                      <a:r>
                        <a:rPr kumimoji="0" lang="en-US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Minterms</a:t>
                      </a:r>
                      <a:endParaRPr kumimoji="0" lang="tr-TR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Binary Values of Grouped </a:t>
                      </a:r>
                      <a:r>
                        <a:rPr kumimoji="0" lang="en-US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Minterms</a:t>
                      </a:r>
                      <a:endParaRPr kumimoji="0" lang="tr-TR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r>
                        <a:rPr kumimoji="0" lang="tr-T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r>
                        <a:rPr kumimoji="0" lang="tr-T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</a:t>
                      </a:r>
                      <a:r>
                        <a:rPr kumimoji="0" lang="tr-TR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kumimoji="0" lang="tr-T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r>
                        <a:rPr kumimoji="0" lang="tr-TR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0100 </a:t>
                      </a:r>
                      <a:r>
                        <a:rPr kumimoji="0" lang="tr-TR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</a:t>
                      </a:r>
                      <a:endParaRPr kumimoji="0" lang="tr-TR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r>
                        <a:rPr kumimoji="0" lang="tr-T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m(4,12)</a:t>
                      </a:r>
                    </a:p>
                  </a:txBody>
                  <a:tcPr marL="68580" marR="68580" marT="0" marB="0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r>
                        <a:rPr kumimoji="0" lang="tr-T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-100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r>
                        <a:rPr kumimoji="0" lang="tr-T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</a:t>
                      </a:r>
                      <a:r>
                        <a:rPr kumimoji="0" lang="tr-TR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kumimoji="0" lang="tr-T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r>
                        <a:rPr kumimoji="0" lang="tr-TR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  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 </a:t>
                      </a:r>
                      <a:r>
                        <a:rPr kumimoji="0" lang="tr-TR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1000 </a:t>
                      </a:r>
                      <a:r>
                        <a:rPr kumimoji="0" lang="tr-TR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</a:t>
                      </a:r>
                      <a:endParaRPr kumimoji="0" lang="tr-TR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r>
                        <a:rPr kumimoji="0" lang="tr-T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m(8,10)</a:t>
                      </a:r>
                    </a:p>
                  </a:txBody>
                  <a:tcPr marL="68580" marR="68580" marT="0" marB="0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r>
                        <a:rPr kumimoji="0" lang="tr-T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10-0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r>
                        <a:rPr kumimoji="0" lang="tr-T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68580" marR="68580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r>
                        <a:rPr kumimoji="0" lang="tr-T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</a:t>
                      </a:r>
                      <a:r>
                        <a:rPr kumimoji="0" lang="tr-TR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kumimoji="0" lang="tr-T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r>
                        <a:rPr kumimoji="0" lang="tr-TR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  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 </a:t>
                      </a:r>
                      <a:r>
                        <a:rPr kumimoji="0" lang="tr-TR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1010 </a:t>
                      </a:r>
                      <a:r>
                        <a:rPr kumimoji="0" lang="tr-TR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</a:t>
                      </a:r>
                      <a:endParaRPr kumimoji="0" lang="tr-TR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r>
                        <a:rPr kumimoji="0" lang="tr-T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m(8,12)</a:t>
                      </a:r>
                    </a:p>
                  </a:txBody>
                  <a:tcPr marL="68580" marR="68580" marT="0" marB="0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r>
                        <a:rPr kumimoji="0" lang="tr-T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1-00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r>
                        <a:rPr kumimoji="0" lang="tr-TR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</a:t>
                      </a:r>
                      <a:r>
                        <a:rPr kumimoji="0" lang="tr-TR" sz="18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</a:t>
                      </a:r>
                      <a:endParaRPr kumimoji="0" lang="tr-TR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r>
                        <a:rPr kumimoji="0" lang="tr-TR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1100 </a:t>
                      </a:r>
                      <a:r>
                        <a:rPr kumimoji="0" lang="tr-TR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</a:t>
                      </a:r>
                      <a:endParaRPr kumimoji="0" lang="tr-TR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r>
                        <a:rPr kumimoji="0" lang="tr-T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m(10,11)</a:t>
                      </a:r>
                    </a:p>
                  </a:txBody>
                  <a:tcPr marL="68580" marR="68580" marT="0" marB="0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r>
                        <a:rPr kumimoji="0" lang="tr-T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101-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r>
                        <a:rPr kumimoji="0" lang="tr-T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68580" marR="68580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r>
                        <a:rPr kumimoji="0" lang="tr-T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</a:t>
                      </a:r>
                      <a:r>
                        <a:rPr kumimoji="0" lang="tr-TR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</a:t>
                      </a:r>
                      <a:endParaRPr kumimoji="0" lang="tr-T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r>
                        <a:rPr kumimoji="0" lang="tr-T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1011 </a:t>
                      </a:r>
                      <a:r>
                        <a:rPr kumimoji="0" lang="tr-T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</a:t>
                      </a:r>
                      <a:endParaRPr kumimoji="0" lang="tr-T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r>
                        <a:rPr kumimoji="0" lang="tr-T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m(11,15)</a:t>
                      </a:r>
                    </a:p>
                  </a:txBody>
                  <a:tcPr marL="68580" marR="68580" marT="0" marB="0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r>
                        <a:rPr kumimoji="0" lang="tr-T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1-11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r>
                        <a:rPr kumimoji="0" lang="tr-T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68580" marR="68580" marT="0" marB="0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r>
                        <a:rPr kumimoji="0" lang="tr-T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</a:t>
                      </a:r>
                      <a:r>
                        <a:rPr kumimoji="0" lang="tr-TR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15</a:t>
                      </a:r>
                      <a:endParaRPr kumimoji="0" lang="tr-T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r>
                        <a:rPr kumimoji="0" lang="tr-T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1111 </a:t>
                      </a:r>
                      <a:r>
                        <a:rPr kumimoji="0" lang="tr-T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Symbol" pitchFamily="18" charset="2"/>
                        </a:rPr>
                        <a:t></a:t>
                      </a:r>
                      <a:endParaRPr kumimoji="0" lang="tr-T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endParaRPr kumimoji="0" lang="tr-T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endParaRPr kumimoji="0" lang="tr-TR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198" name="3 Altbilgi Yer Tutucusu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 dirty="0"/>
              <a:t>Logic Circuits</a:t>
            </a:r>
          </a:p>
        </p:txBody>
      </p:sp>
      <p:sp>
        <p:nvSpPr>
          <p:cNvPr id="6199" name="6 Dikdörtgen"/>
          <p:cNvSpPr>
            <a:spLocks noChangeArrowheads="1"/>
          </p:cNvSpPr>
          <p:nvPr/>
        </p:nvSpPr>
        <p:spPr bwMode="auto">
          <a:xfrm>
            <a:off x="3899647" y="5032188"/>
            <a:ext cx="4761753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dirty="0" smtClean="0"/>
              <a:t>Unchecked binary values are the prime </a:t>
            </a:r>
            <a:r>
              <a:rPr lang="en-US" dirty="0" err="1" smtClean="0"/>
              <a:t>implicants</a:t>
            </a:r>
            <a:endParaRPr lang="tr-TR" dirty="0"/>
          </a:p>
        </p:txBody>
      </p:sp>
      <p:cxnSp>
        <p:nvCxnSpPr>
          <p:cNvPr id="6202" name="10 Düz Ok Bağlayıcısı"/>
          <p:cNvCxnSpPr>
            <a:cxnSpLocks noChangeShapeType="1"/>
          </p:cNvCxnSpPr>
          <p:nvPr/>
        </p:nvCxnSpPr>
        <p:spPr bwMode="auto">
          <a:xfrm rot="5400000" flipH="1" flipV="1">
            <a:off x="7478433" y="4569652"/>
            <a:ext cx="673100" cy="317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7" name="10 Düz Ok Bağlayıcısı"/>
          <p:cNvCxnSpPr>
            <a:cxnSpLocks noChangeShapeType="1"/>
          </p:cNvCxnSpPr>
          <p:nvPr/>
        </p:nvCxnSpPr>
        <p:spPr bwMode="auto">
          <a:xfrm rot="5400000" flipH="1" flipV="1">
            <a:off x="4502152" y="4515571"/>
            <a:ext cx="673100" cy="317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1 Başlık"/>
          <p:cNvSpPr>
            <a:spLocks noGrp="1"/>
          </p:cNvSpPr>
          <p:nvPr>
            <p:ph type="title"/>
          </p:nvPr>
        </p:nvSpPr>
        <p:spPr>
          <a:xfrm>
            <a:off x="365125" y="228600"/>
            <a:ext cx="7772400" cy="790575"/>
          </a:xfrm>
        </p:spPr>
        <p:txBody>
          <a:bodyPr/>
          <a:lstStyle/>
          <a:p>
            <a:r>
              <a:rPr lang="en-US" sz="2400" b="1" dirty="0"/>
              <a:t>Example</a:t>
            </a:r>
            <a:endParaRPr lang="tr-TR" sz="2400" dirty="0" smtClean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61950" y="887413"/>
            <a:ext cx="8375650" cy="5526087"/>
          </a:xfrm>
        </p:spPr>
        <p:txBody>
          <a:bodyPr/>
          <a:lstStyle/>
          <a:p>
            <a:pPr marL="0" indent="0" algn="just">
              <a:buFontTx/>
              <a:buNone/>
              <a:defRPr/>
            </a:pPr>
            <a:r>
              <a:rPr lang="en-US" sz="2100" dirty="0" smtClean="0"/>
              <a:t>Now we need to find out the “essential prime </a:t>
            </a:r>
            <a:r>
              <a:rPr lang="en-US" sz="2100" dirty="0" err="1" smtClean="0"/>
              <a:t>implicants</a:t>
            </a:r>
            <a:r>
              <a:rPr lang="en-US" sz="2100" dirty="0" smtClean="0"/>
              <a:t>” out of “prime </a:t>
            </a:r>
            <a:r>
              <a:rPr lang="en-US" sz="2100" dirty="0" err="1" smtClean="0"/>
              <a:t>implicants</a:t>
            </a:r>
            <a:r>
              <a:rPr lang="en-US" sz="2100" dirty="0" smtClean="0"/>
              <a:t>”. </a:t>
            </a:r>
            <a:r>
              <a:rPr lang="en-US" sz="2100" dirty="0" smtClean="0"/>
              <a:t>In the essential prime </a:t>
            </a:r>
            <a:r>
              <a:rPr lang="en-US" sz="2100" dirty="0" err="1" smtClean="0"/>
              <a:t>implicants</a:t>
            </a:r>
            <a:r>
              <a:rPr lang="en-US" sz="2100" dirty="0" smtClean="0"/>
              <a:t> table</a:t>
            </a:r>
            <a:r>
              <a:rPr lang="tr-TR" sz="2100" dirty="0" smtClean="0"/>
              <a:t>,</a:t>
            </a:r>
            <a:r>
              <a:rPr lang="en-US" sz="2100" dirty="0" smtClean="0"/>
              <a:t> the rows consist of the prime </a:t>
            </a:r>
            <a:r>
              <a:rPr lang="en-US" sz="2100" dirty="0" err="1" smtClean="0"/>
              <a:t>implicants</a:t>
            </a:r>
            <a:r>
              <a:rPr lang="en-US" sz="2100" dirty="0" smtClean="0"/>
              <a:t>, and the columns consist of the </a:t>
            </a:r>
            <a:r>
              <a:rPr lang="en-US" sz="2100" dirty="0" err="1" smtClean="0"/>
              <a:t>minterms</a:t>
            </a:r>
            <a:r>
              <a:rPr lang="en-US" sz="2100" dirty="0" smtClean="0"/>
              <a:t> in the expression. We put an “X” mark to the cells where prime </a:t>
            </a:r>
            <a:r>
              <a:rPr lang="en-US" sz="2100" dirty="0" err="1" smtClean="0"/>
              <a:t>implicants</a:t>
            </a:r>
            <a:r>
              <a:rPr lang="en-US" sz="2100" dirty="0" smtClean="0"/>
              <a:t> contain the corresponding </a:t>
            </a:r>
            <a:r>
              <a:rPr lang="en-US" sz="2100" dirty="0" err="1" smtClean="0"/>
              <a:t>minterm</a:t>
            </a:r>
            <a:r>
              <a:rPr lang="en-US" sz="2100" dirty="0" smtClean="0"/>
              <a:t>.</a:t>
            </a:r>
            <a:r>
              <a:rPr lang="tr-TR" sz="2100" dirty="0" smtClean="0"/>
              <a:t> </a:t>
            </a:r>
            <a:r>
              <a:rPr lang="en-US" sz="2100" dirty="0" smtClean="0"/>
              <a:t>Then, we scan all the columns and mark the cells where there’s only one “X” mark.</a:t>
            </a:r>
            <a:endParaRPr lang="tr-TR" sz="2100" dirty="0" smtClean="0"/>
          </a:p>
          <a:p>
            <a:pPr marL="0" indent="0" algn="just">
              <a:buFontTx/>
              <a:buNone/>
              <a:defRPr/>
            </a:pPr>
            <a:endParaRPr lang="tr-TR" sz="2200" dirty="0" smtClean="0"/>
          </a:p>
          <a:p>
            <a:pPr marL="0" indent="0" algn="just">
              <a:buFontTx/>
              <a:buNone/>
              <a:defRPr/>
            </a:pPr>
            <a:endParaRPr lang="tr-TR" sz="2200" dirty="0" smtClean="0"/>
          </a:p>
          <a:p>
            <a:pPr marL="0" indent="0" algn="just">
              <a:buFontTx/>
              <a:buNone/>
              <a:defRPr/>
            </a:pPr>
            <a:endParaRPr lang="tr-TR" sz="2200" dirty="0" smtClean="0"/>
          </a:p>
          <a:p>
            <a:pPr marL="0" indent="0" algn="just">
              <a:buFontTx/>
              <a:buNone/>
              <a:defRPr/>
            </a:pPr>
            <a:endParaRPr lang="tr-TR" sz="2200" dirty="0" smtClean="0"/>
          </a:p>
          <a:p>
            <a:pPr marL="0" indent="0" algn="just">
              <a:buFontTx/>
              <a:buNone/>
              <a:defRPr/>
            </a:pPr>
            <a:endParaRPr lang="tr-TR" sz="2600" dirty="0" smtClean="0"/>
          </a:p>
          <a:p>
            <a:pPr marL="0" indent="0" algn="just">
              <a:buFontTx/>
              <a:buNone/>
              <a:defRPr/>
            </a:pPr>
            <a:endParaRPr lang="tr-TR" sz="1000" dirty="0" smtClean="0"/>
          </a:p>
          <a:p>
            <a:pPr marL="0" indent="0" algn="just">
              <a:buFontTx/>
              <a:buNone/>
              <a:defRPr/>
            </a:pPr>
            <a:endParaRPr lang="tr-TR" sz="2100" dirty="0" smtClean="0"/>
          </a:p>
          <a:p>
            <a:pPr marL="0" indent="0" algn="just">
              <a:buFontTx/>
              <a:buNone/>
              <a:defRPr/>
            </a:pPr>
            <a:r>
              <a:rPr lang="tr-TR" sz="2100" dirty="0" smtClean="0"/>
              <a:t>F (A,B,C,D) = BC’D’+ACD+AB’D’</a:t>
            </a:r>
          </a:p>
          <a:p>
            <a:pPr marL="0" indent="0" algn="just">
              <a:buFontTx/>
              <a:buNone/>
              <a:defRPr/>
            </a:pPr>
            <a:endParaRPr lang="tr-TR" sz="2200" dirty="0" smtClean="0"/>
          </a:p>
          <a:p>
            <a:pPr>
              <a:buFontTx/>
              <a:buNone/>
              <a:defRPr/>
            </a:pPr>
            <a:endParaRPr lang="tr-TR" dirty="0"/>
          </a:p>
        </p:txBody>
      </p:sp>
      <p:sp>
        <p:nvSpPr>
          <p:cNvPr id="7172" name="3 Altbilgi Yer Tutucusu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 dirty="0"/>
              <a:t>Logic Circuits</a:t>
            </a:r>
          </a:p>
        </p:txBody>
      </p:sp>
      <p:graphicFrame>
        <p:nvGraphicFramePr>
          <p:cNvPr id="5" name="4 Tabl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4579357"/>
              </p:ext>
            </p:extLst>
          </p:nvPr>
        </p:nvGraphicFramePr>
        <p:xfrm>
          <a:off x="488950" y="3084886"/>
          <a:ext cx="5441950" cy="2208276"/>
        </p:xfrm>
        <a:graphic>
          <a:graphicData uri="http://schemas.openxmlformats.org/drawingml/2006/table">
            <a:tbl>
              <a:tblPr/>
              <a:tblGrid>
                <a:gridCol w="121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1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6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16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32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32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323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endParaRPr kumimoji="0" lang="tr-TR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Prime </a:t>
                      </a:r>
                      <a:r>
                        <a:rPr kumimoji="0" lang="en-US" sz="1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Implicants</a:t>
                      </a:r>
                      <a:endParaRPr kumimoji="0" lang="tr-TR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r>
                        <a:rPr kumimoji="0" lang="tr-T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r>
                        <a:rPr kumimoji="0" lang="tr-TR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r>
                        <a:rPr kumimoji="0" lang="tr-TR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r>
                        <a:rPr kumimoji="0" lang="tr-T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r>
                        <a:rPr kumimoji="0" lang="tr-T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r>
                        <a:rPr kumimoji="0" lang="tr-T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15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r>
                        <a:rPr kumimoji="0" lang="tr-T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m(4,12)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r>
                        <a:rPr kumimoji="0" lang="tr-TR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-100 (BC’D’)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r>
                        <a:rPr kumimoji="0" lang="tr-T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endParaRPr kumimoji="0" lang="tr-T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endParaRPr kumimoji="0" lang="tr-T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endParaRPr kumimoji="0" lang="tr-T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r>
                        <a:rPr kumimoji="0" lang="tr-T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endParaRPr kumimoji="0" lang="tr-T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r>
                        <a:rPr kumimoji="0" lang="tr-T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m(8,10)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r>
                        <a:rPr kumimoji="0" lang="tr-TR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10-0 (AB’D’)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endParaRPr kumimoji="0" lang="tr-T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r>
                        <a:rPr kumimoji="0" lang="tr-TR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r>
                        <a:rPr kumimoji="0" lang="tr-TR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endParaRPr kumimoji="0" lang="tr-T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endParaRPr kumimoji="0" lang="tr-T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endParaRPr kumimoji="0" lang="tr-T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r>
                        <a:rPr kumimoji="0" lang="tr-T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m(8,12)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r>
                        <a:rPr kumimoji="0" lang="tr-TR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1-00 (AC’D’)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endParaRPr kumimoji="0" lang="tr-T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r>
                        <a:rPr kumimoji="0" lang="tr-TR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endParaRPr kumimoji="0" lang="tr-T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endParaRPr kumimoji="0" lang="tr-T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r>
                        <a:rPr kumimoji="0" lang="tr-T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endParaRPr kumimoji="0" lang="tr-T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r>
                        <a:rPr kumimoji="0" lang="tr-T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m(10,11)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r>
                        <a:rPr kumimoji="0" lang="tr-TR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101- (AB’C)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endParaRPr kumimoji="0" lang="tr-T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endParaRPr kumimoji="0" lang="tr-T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r>
                        <a:rPr kumimoji="0" lang="tr-TR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r>
                        <a:rPr kumimoji="0" lang="tr-T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endParaRPr kumimoji="0" lang="tr-T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endParaRPr kumimoji="0" lang="tr-T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r>
                        <a:rPr kumimoji="0" lang="tr-T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m(11,15)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r>
                        <a:rPr kumimoji="0" lang="tr-TR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1-11 (ACD)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endParaRPr kumimoji="0" lang="tr-T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endParaRPr kumimoji="0" lang="tr-T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endParaRPr kumimoji="0" lang="tr-T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r>
                        <a:rPr kumimoji="0" lang="tr-T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endParaRPr kumimoji="0" lang="tr-T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95325" algn="l"/>
                        </a:tabLst>
                      </a:pPr>
                      <a:r>
                        <a:rPr kumimoji="0" lang="tr-TR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238" name="5 Sağ Ok"/>
          <p:cNvSpPr>
            <a:spLocks noChangeArrowheads="1"/>
          </p:cNvSpPr>
          <p:nvPr/>
        </p:nvSpPr>
        <p:spPr bwMode="auto">
          <a:xfrm>
            <a:off x="6070600" y="3759199"/>
            <a:ext cx="419100" cy="127000"/>
          </a:xfrm>
          <a:prstGeom prst="rightArrow">
            <a:avLst>
              <a:gd name="adj1" fmla="val 50000"/>
              <a:gd name="adj2" fmla="val 50004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36000" tIns="36000" rIns="36000" bIns="36000"/>
          <a:lstStyle/>
          <a:p>
            <a:endParaRPr lang="tr-TR"/>
          </a:p>
        </p:txBody>
      </p:sp>
      <p:sp>
        <p:nvSpPr>
          <p:cNvPr id="7239" name="6 Sağ Ok"/>
          <p:cNvSpPr>
            <a:spLocks noChangeArrowheads="1"/>
          </p:cNvSpPr>
          <p:nvPr/>
        </p:nvSpPr>
        <p:spPr bwMode="auto">
          <a:xfrm>
            <a:off x="6083300" y="5041899"/>
            <a:ext cx="419100" cy="127000"/>
          </a:xfrm>
          <a:prstGeom prst="rightArrow">
            <a:avLst>
              <a:gd name="adj1" fmla="val 50000"/>
              <a:gd name="adj2" fmla="val 50004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36000" tIns="36000" rIns="36000" bIns="36000"/>
          <a:lstStyle/>
          <a:p>
            <a:endParaRPr lang="tr-TR"/>
          </a:p>
        </p:txBody>
      </p:sp>
      <p:sp>
        <p:nvSpPr>
          <p:cNvPr id="7240" name="7 Sağ Ok"/>
          <p:cNvSpPr>
            <a:spLocks noChangeArrowheads="1"/>
          </p:cNvSpPr>
          <p:nvPr/>
        </p:nvSpPr>
        <p:spPr bwMode="auto">
          <a:xfrm>
            <a:off x="6070600" y="4063999"/>
            <a:ext cx="419100" cy="127000"/>
          </a:xfrm>
          <a:prstGeom prst="rightArrow">
            <a:avLst>
              <a:gd name="adj1" fmla="val 50000"/>
              <a:gd name="adj2" fmla="val 50004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36000" tIns="36000" rIns="36000" bIns="36000"/>
          <a:lstStyle/>
          <a:p>
            <a:endParaRPr lang="tr-TR"/>
          </a:p>
        </p:txBody>
      </p:sp>
      <p:sp>
        <p:nvSpPr>
          <p:cNvPr id="7241" name="AutoShape 2"/>
          <p:cNvSpPr>
            <a:spLocks/>
          </p:cNvSpPr>
          <p:nvPr/>
        </p:nvSpPr>
        <p:spPr bwMode="auto">
          <a:xfrm>
            <a:off x="6642100" y="3732213"/>
            <a:ext cx="138113" cy="1449387"/>
          </a:xfrm>
          <a:prstGeom prst="rightBrace">
            <a:avLst>
              <a:gd name="adj1" fmla="val 49701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tr-TR"/>
          </a:p>
        </p:txBody>
      </p:sp>
      <p:sp>
        <p:nvSpPr>
          <p:cNvPr id="7242" name="9 Metin kutusu"/>
          <p:cNvSpPr txBox="1">
            <a:spLocks noChangeArrowheads="1"/>
          </p:cNvSpPr>
          <p:nvPr/>
        </p:nvSpPr>
        <p:spPr bwMode="auto">
          <a:xfrm>
            <a:off x="6832600" y="4163359"/>
            <a:ext cx="158525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dirty="0" smtClean="0"/>
              <a:t>Essential Prime </a:t>
            </a:r>
            <a:r>
              <a:rPr lang="en-US" dirty="0" err="1" smtClean="0"/>
              <a:t>Implicants</a:t>
            </a:r>
            <a:endParaRPr lang="tr-T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1 Başlık"/>
          <p:cNvSpPr>
            <a:spLocks noGrp="1"/>
          </p:cNvSpPr>
          <p:nvPr>
            <p:ph type="title"/>
          </p:nvPr>
        </p:nvSpPr>
        <p:spPr>
          <a:xfrm>
            <a:off x="339725" y="241300"/>
            <a:ext cx="7772400" cy="790575"/>
          </a:xfrm>
        </p:spPr>
        <p:txBody>
          <a:bodyPr/>
          <a:lstStyle/>
          <a:p>
            <a:r>
              <a:rPr lang="en-US" sz="2400" b="1" dirty="0"/>
              <a:t>Example</a:t>
            </a:r>
            <a:endParaRPr lang="tr-TR" sz="2400" dirty="0" smtClean="0"/>
          </a:p>
        </p:txBody>
      </p:sp>
      <p:sp>
        <p:nvSpPr>
          <p:cNvPr id="8195" name="2 İçerik Yer Tutucusu"/>
          <p:cNvSpPr>
            <a:spLocks noGrp="1"/>
          </p:cNvSpPr>
          <p:nvPr>
            <p:ph idx="1"/>
          </p:nvPr>
        </p:nvSpPr>
        <p:spPr>
          <a:xfrm>
            <a:off x="349250" y="887413"/>
            <a:ext cx="8375650" cy="5078412"/>
          </a:xfrm>
        </p:spPr>
        <p:txBody>
          <a:bodyPr/>
          <a:lstStyle/>
          <a:p>
            <a:pPr marL="0" indent="0" algn="just">
              <a:buFontTx/>
              <a:buNone/>
            </a:pPr>
            <a:r>
              <a:rPr lang="en-US" sz="2100" dirty="0" smtClean="0"/>
              <a:t>Let’s create the K-Map of the same expression and find out all the possible groups that can be create. We can see that, these groups are the prime </a:t>
            </a:r>
            <a:r>
              <a:rPr lang="en-US" sz="2100" dirty="0" err="1" smtClean="0"/>
              <a:t>implicants</a:t>
            </a:r>
            <a:r>
              <a:rPr lang="en-US" sz="2100" dirty="0" smtClean="0"/>
              <a:t> we have found in the tabulation method. And, the prime </a:t>
            </a:r>
            <a:r>
              <a:rPr lang="en-US" sz="2100" dirty="0" err="1" smtClean="0"/>
              <a:t>implicants</a:t>
            </a:r>
            <a:r>
              <a:rPr lang="en-US" sz="2100" dirty="0" smtClean="0"/>
              <a:t> are the groups we select to form the simplified expression.</a:t>
            </a:r>
            <a:endParaRPr lang="tr-TR" sz="2100" dirty="0" smtClean="0"/>
          </a:p>
          <a:p>
            <a:pPr marL="0" indent="0" algn="just">
              <a:buFontTx/>
              <a:buNone/>
            </a:pPr>
            <a:endParaRPr lang="tr-TR" sz="2100" dirty="0" smtClean="0"/>
          </a:p>
          <a:p>
            <a:pPr marL="0" indent="0" algn="just">
              <a:buFontTx/>
              <a:buNone/>
            </a:pPr>
            <a:endParaRPr lang="tr-TR" sz="2100" dirty="0" smtClean="0"/>
          </a:p>
          <a:p>
            <a:pPr marL="0" indent="0" algn="just">
              <a:buFontTx/>
              <a:buNone/>
            </a:pPr>
            <a:endParaRPr lang="tr-TR" sz="2100" dirty="0" smtClean="0"/>
          </a:p>
          <a:p>
            <a:pPr marL="0" indent="0" algn="just">
              <a:buFontTx/>
              <a:buNone/>
            </a:pPr>
            <a:endParaRPr lang="tr-TR" sz="2100" dirty="0" smtClean="0"/>
          </a:p>
          <a:p>
            <a:pPr marL="0" indent="0" algn="just">
              <a:buFontTx/>
              <a:buNone/>
            </a:pPr>
            <a:endParaRPr lang="tr-TR" sz="2100" dirty="0" smtClean="0"/>
          </a:p>
          <a:p>
            <a:pPr marL="0" indent="0" algn="just">
              <a:buFontTx/>
              <a:buNone/>
            </a:pPr>
            <a:endParaRPr lang="tr-TR" sz="2100" dirty="0" smtClean="0"/>
          </a:p>
          <a:p>
            <a:pPr marL="0" indent="0" algn="just">
              <a:buNone/>
            </a:pPr>
            <a:r>
              <a:rPr lang="en-US" sz="21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gray and brown groups are essential prime </a:t>
            </a:r>
            <a:r>
              <a:rPr lang="en-US" sz="21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implicants</a:t>
            </a:r>
            <a:r>
              <a:rPr lang="en-US" sz="21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because they both have a “1” that is covered only in that group</a:t>
            </a:r>
            <a:r>
              <a:rPr lang="tr-TR" sz="21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21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These </a:t>
            </a:r>
            <a:r>
              <a:rPr lang="en-US" sz="21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minterms</a:t>
            </a:r>
            <a:r>
              <a:rPr lang="en-US" sz="2100" dirty="0"/>
              <a:t> are </a:t>
            </a:r>
            <a:r>
              <a:rPr lang="tr-TR" sz="2100" dirty="0" smtClean="0"/>
              <a:t>m</a:t>
            </a:r>
            <a:r>
              <a:rPr lang="tr-TR" sz="2100" baseline="-25000" dirty="0" smtClean="0"/>
              <a:t>4 </a:t>
            </a:r>
            <a:r>
              <a:rPr lang="en-US" sz="2100" dirty="0"/>
              <a:t>and</a:t>
            </a:r>
            <a:r>
              <a:rPr lang="tr-TR" sz="2100" dirty="0"/>
              <a:t> </a:t>
            </a:r>
            <a:r>
              <a:rPr lang="tr-TR" sz="2100" dirty="0" smtClean="0"/>
              <a:t>m</a:t>
            </a:r>
            <a:r>
              <a:rPr lang="tr-TR" sz="2100" baseline="-25000" dirty="0" smtClean="0"/>
              <a:t>15</a:t>
            </a:r>
            <a:r>
              <a:rPr lang="en-US" sz="2100" dirty="0" smtClean="0"/>
              <a:t>. </a:t>
            </a:r>
            <a:r>
              <a:rPr lang="en-US" sz="21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other essential prime </a:t>
            </a:r>
            <a:r>
              <a:rPr lang="en-US" sz="21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implicant</a:t>
            </a:r>
            <a:r>
              <a:rPr lang="en-US" sz="21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is the blue group.</a:t>
            </a:r>
            <a:endParaRPr lang="tr-TR" sz="21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 algn="just">
              <a:buFontTx/>
              <a:buNone/>
            </a:pPr>
            <a:endParaRPr lang="tr-TR" sz="2200" dirty="0" smtClean="0"/>
          </a:p>
          <a:p>
            <a:pPr marL="0" indent="0" algn="just">
              <a:buFontTx/>
              <a:buNone/>
            </a:pPr>
            <a:endParaRPr lang="tr-TR" sz="2200" dirty="0" smtClean="0"/>
          </a:p>
        </p:txBody>
      </p:sp>
      <p:sp>
        <p:nvSpPr>
          <p:cNvPr id="8196" name="3 Altbilgi Yer Tutucusu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 dirty="0"/>
              <a:t>Logic Circuits</a:t>
            </a:r>
          </a:p>
        </p:txBody>
      </p:sp>
      <p:pic>
        <p:nvPicPr>
          <p:cNvPr id="8197" name="4 Resim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49613" y="2397125"/>
            <a:ext cx="2173287" cy="193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1 Başlık"/>
          <p:cNvSpPr>
            <a:spLocks noGrp="1"/>
          </p:cNvSpPr>
          <p:nvPr>
            <p:ph type="title"/>
          </p:nvPr>
        </p:nvSpPr>
        <p:spPr>
          <a:xfrm>
            <a:off x="279400" y="76200"/>
            <a:ext cx="8547100" cy="790575"/>
          </a:xfrm>
        </p:spPr>
        <p:txBody>
          <a:bodyPr/>
          <a:lstStyle/>
          <a:p>
            <a:r>
              <a:rPr lang="en-US" sz="2400" b="1" dirty="0"/>
              <a:t>Using </a:t>
            </a:r>
            <a:r>
              <a:rPr lang="tr-TR" sz="2400" b="1" dirty="0"/>
              <a:t>NAND </a:t>
            </a:r>
            <a:r>
              <a:rPr lang="en-US" sz="2400" b="1" dirty="0"/>
              <a:t>and </a:t>
            </a:r>
            <a:r>
              <a:rPr lang="tr-TR" sz="2400" b="1" dirty="0"/>
              <a:t>NOR </a:t>
            </a:r>
            <a:r>
              <a:rPr lang="en-US" sz="2400" b="1" dirty="0" smtClean="0"/>
              <a:t>Gates </a:t>
            </a:r>
            <a:r>
              <a:rPr lang="en-US" sz="2400" b="1" dirty="0"/>
              <a:t>as </a:t>
            </a:r>
            <a:r>
              <a:rPr lang="en-US" sz="2400" b="1" dirty="0" smtClean="0"/>
              <a:t>Universal Gates</a:t>
            </a:r>
            <a:endParaRPr lang="tr-TR" sz="2400" dirty="0" smtClean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49250" y="862013"/>
            <a:ext cx="8375650" cy="5538787"/>
          </a:xfrm>
        </p:spPr>
        <p:txBody>
          <a:bodyPr/>
          <a:lstStyle/>
          <a:p>
            <a:pPr marL="0" indent="0" algn="just">
              <a:buNone/>
            </a:pPr>
            <a:r>
              <a:rPr lang="en-US" sz="21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have built combinational circuits using </a:t>
            </a:r>
            <a:r>
              <a:rPr lang="tr-TR" sz="21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</a:t>
            </a:r>
            <a:r>
              <a:rPr lang="tr-TR" sz="21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AND </a:t>
            </a:r>
            <a:r>
              <a:rPr lang="en-US" sz="21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tr-TR" sz="21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tr-TR" sz="21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 </a:t>
            </a:r>
            <a:r>
              <a:rPr lang="en-US" sz="21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gates so far</a:t>
            </a:r>
            <a:r>
              <a:rPr lang="tr-TR" sz="21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  <a:r>
              <a:rPr lang="en-US" sz="21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fact, it is possible to implement any gate using only NAND gates or only NOR gates. Thus, we can implement logic circuits using a single type of gate and in a more economic way.</a:t>
            </a:r>
            <a:endParaRPr lang="en-US" sz="1000" dirty="0"/>
          </a:p>
          <a:p>
            <a:pPr marL="0" indent="0" algn="just">
              <a:buFontTx/>
              <a:buNone/>
              <a:defRPr/>
            </a:pPr>
            <a:endParaRPr lang="tr-TR" sz="1000" dirty="0" smtClean="0"/>
          </a:p>
          <a:p>
            <a:pPr marL="0" indent="0" algn="just">
              <a:buFontTx/>
              <a:buNone/>
              <a:defRPr/>
            </a:pPr>
            <a:r>
              <a:rPr lang="en-US" sz="2200" b="1" dirty="0" smtClean="0"/>
              <a:t>Implementing other gates using NAND gates</a:t>
            </a:r>
            <a:endParaRPr lang="tr-TR" sz="2200" dirty="0" smtClean="0"/>
          </a:p>
          <a:p>
            <a:pPr algn="just">
              <a:defRPr/>
            </a:pPr>
            <a:r>
              <a:rPr lang="en-US" sz="2100" dirty="0" smtClean="0"/>
              <a:t>Considering that </a:t>
            </a:r>
            <a:r>
              <a:rPr lang="tr-TR" sz="2100" dirty="0" smtClean="0"/>
              <a:t>(A.A</a:t>
            </a:r>
            <a:r>
              <a:rPr lang="tr-TR" sz="2100" dirty="0" smtClean="0"/>
              <a:t>)’ = A</a:t>
            </a:r>
            <a:r>
              <a:rPr lang="tr-TR" sz="2100" dirty="0" smtClean="0"/>
              <a:t>’</a:t>
            </a:r>
            <a:r>
              <a:rPr lang="en-US" sz="2100" dirty="0" smtClean="0"/>
              <a:t>, we can implement a NOT gate as depicted below</a:t>
            </a:r>
            <a:r>
              <a:rPr lang="tr-TR" sz="2100" dirty="0" smtClean="0"/>
              <a:t>.</a:t>
            </a:r>
            <a:endParaRPr lang="tr-TR" sz="2100" dirty="0" smtClean="0"/>
          </a:p>
          <a:p>
            <a:pPr>
              <a:buFontTx/>
              <a:buNone/>
              <a:defRPr/>
            </a:pPr>
            <a:r>
              <a:rPr lang="tr-TR" sz="2100" dirty="0" smtClean="0"/>
              <a:t> </a:t>
            </a:r>
          </a:p>
          <a:p>
            <a:pPr>
              <a:buFontTx/>
              <a:buNone/>
              <a:defRPr/>
            </a:pPr>
            <a:endParaRPr lang="tr-TR" sz="1500" dirty="0" smtClean="0"/>
          </a:p>
          <a:p>
            <a:pPr algn="just">
              <a:defRPr/>
            </a:pPr>
            <a:r>
              <a:rPr lang="en-US" sz="2100" dirty="0" smtClean="0"/>
              <a:t>Considering that </a:t>
            </a:r>
            <a:r>
              <a:rPr lang="tr-TR" sz="2100" dirty="0" smtClean="0"/>
              <a:t>((</a:t>
            </a:r>
            <a:r>
              <a:rPr lang="tr-TR" sz="2100" dirty="0" smtClean="0"/>
              <a:t>A.B)’)’ = </a:t>
            </a:r>
            <a:r>
              <a:rPr lang="tr-TR" sz="2100" dirty="0" smtClean="0"/>
              <a:t>A.B, </a:t>
            </a:r>
            <a:r>
              <a:rPr lang="en-US" sz="2100" dirty="0" smtClean="0"/>
              <a:t>we can implement an AND gate as depicted below.</a:t>
            </a:r>
            <a:endParaRPr lang="tr-TR" sz="2100" dirty="0" smtClean="0"/>
          </a:p>
          <a:p>
            <a:pPr>
              <a:buFontTx/>
              <a:buNone/>
              <a:defRPr/>
            </a:pPr>
            <a:r>
              <a:rPr lang="tr-TR" sz="2100" dirty="0" smtClean="0"/>
              <a:t> </a:t>
            </a:r>
          </a:p>
          <a:p>
            <a:pPr>
              <a:buFontTx/>
              <a:buNone/>
              <a:defRPr/>
            </a:pPr>
            <a:endParaRPr lang="tr-TR" dirty="0"/>
          </a:p>
        </p:txBody>
      </p:sp>
      <p:sp>
        <p:nvSpPr>
          <p:cNvPr id="9220" name="3 Altbilgi Yer Tutucusu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 dirty="0"/>
              <a:t>Logic Circuits</a:t>
            </a:r>
          </a:p>
        </p:txBody>
      </p:sp>
      <p:pic>
        <p:nvPicPr>
          <p:cNvPr id="9221" name="4 Resim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38525" y="3453086"/>
            <a:ext cx="1793875" cy="631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2" name="5 Resim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49625" y="5022478"/>
            <a:ext cx="2632075" cy="6163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1 Başlık"/>
          <p:cNvSpPr>
            <a:spLocks noGrp="1"/>
          </p:cNvSpPr>
          <p:nvPr>
            <p:ph type="title"/>
          </p:nvPr>
        </p:nvSpPr>
        <p:spPr>
          <a:xfrm>
            <a:off x="657225" y="76200"/>
            <a:ext cx="7772400" cy="790575"/>
          </a:xfrm>
        </p:spPr>
        <p:txBody>
          <a:bodyPr/>
          <a:lstStyle/>
          <a:p>
            <a:r>
              <a:rPr lang="en-US" sz="2400" b="1" dirty="0"/>
              <a:t>Using </a:t>
            </a:r>
            <a:r>
              <a:rPr lang="tr-TR" sz="2400" b="1" dirty="0"/>
              <a:t>NAND </a:t>
            </a:r>
            <a:r>
              <a:rPr lang="en-US" sz="2400" b="1" dirty="0"/>
              <a:t>and </a:t>
            </a:r>
            <a:r>
              <a:rPr lang="tr-TR" sz="2400" b="1" dirty="0"/>
              <a:t>NOR </a:t>
            </a:r>
            <a:r>
              <a:rPr lang="en-US" sz="2400" b="1" dirty="0"/>
              <a:t>Gates as Universal Gates</a:t>
            </a:r>
            <a:endParaRPr lang="tr-TR" sz="2400" dirty="0" smtClean="0"/>
          </a:p>
        </p:txBody>
      </p:sp>
      <p:sp>
        <p:nvSpPr>
          <p:cNvPr id="10243" name="2 İçerik Yer Tutucusu"/>
          <p:cNvSpPr>
            <a:spLocks noGrp="1"/>
          </p:cNvSpPr>
          <p:nvPr>
            <p:ph idx="1"/>
          </p:nvPr>
        </p:nvSpPr>
        <p:spPr>
          <a:xfrm>
            <a:off x="336550" y="900113"/>
            <a:ext cx="8375650" cy="5078412"/>
          </a:xfrm>
        </p:spPr>
        <p:txBody>
          <a:bodyPr/>
          <a:lstStyle/>
          <a:p>
            <a:pPr algn="just"/>
            <a:r>
              <a:rPr lang="en-US" sz="2400" dirty="0"/>
              <a:t>Considering that </a:t>
            </a:r>
            <a:r>
              <a:rPr lang="tr-TR" sz="2400" dirty="0"/>
              <a:t>(A’.B’)’ = </a:t>
            </a:r>
            <a:r>
              <a:rPr lang="tr-TR" sz="2400" dirty="0" smtClean="0"/>
              <a:t>A+B, </a:t>
            </a:r>
            <a:r>
              <a:rPr lang="en-US" sz="2400" dirty="0"/>
              <a:t>we can implement an </a:t>
            </a:r>
            <a:r>
              <a:rPr lang="en-US" sz="2400" dirty="0" smtClean="0"/>
              <a:t>OR </a:t>
            </a:r>
            <a:r>
              <a:rPr lang="en-US" sz="2400" dirty="0"/>
              <a:t>gate as depicted below.</a:t>
            </a:r>
            <a:endParaRPr lang="tr-TR" sz="2400" dirty="0"/>
          </a:p>
          <a:p>
            <a:pPr algn="just"/>
            <a:endParaRPr lang="tr-TR" sz="2200" dirty="0" smtClean="0"/>
          </a:p>
          <a:p>
            <a:pPr algn="just"/>
            <a:endParaRPr lang="tr-TR" sz="2200" dirty="0" smtClean="0"/>
          </a:p>
          <a:p>
            <a:pPr algn="just"/>
            <a:endParaRPr lang="tr-TR" sz="2200" dirty="0" smtClean="0"/>
          </a:p>
          <a:p>
            <a:pPr algn="just"/>
            <a:endParaRPr lang="tr-TR" sz="2200" dirty="0" smtClean="0"/>
          </a:p>
          <a:p>
            <a:pPr algn="just"/>
            <a:r>
              <a:rPr lang="en-US" sz="2000" dirty="0"/>
              <a:t>Considering that </a:t>
            </a:r>
            <a:r>
              <a:rPr lang="en-US" sz="2000" dirty="0" smtClean="0"/>
              <a:t>[ </a:t>
            </a:r>
            <a:r>
              <a:rPr lang="tr-TR" sz="2000" dirty="0" smtClean="0"/>
              <a:t>(</a:t>
            </a:r>
            <a:r>
              <a:rPr lang="tr-TR" sz="2000" dirty="0"/>
              <a:t>A’.B</a:t>
            </a:r>
            <a:r>
              <a:rPr lang="tr-TR" sz="2000" dirty="0" smtClean="0"/>
              <a:t>’)’</a:t>
            </a:r>
            <a:r>
              <a:rPr lang="en-US" sz="2000" dirty="0" smtClean="0"/>
              <a:t> ]’</a:t>
            </a:r>
            <a:r>
              <a:rPr lang="tr-TR" sz="2000" dirty="0" smtClean="0"/>
              <a:t> </a:t>
            </a:r>
            <a:r>
              <a:rPr lang="tr-TR" sz="2000" dirty="0"/>
              <a:t>= </a:t>
            </a:r>
            <a:r>
              <a:rPr lang="en-US" sz="2000" dirty="0" smtClean="0"/>
              <a:t>(</a:t>
            </a:r>
            <a:r>
              <a:rPr lang="tr-TR" sz="2000" dirty="0" smtClean="0"/>
              <a:t>A+B</a:t>
            </a:r>
            <a:r>
              <a:rPr lang="en-US" sz="2000" dirty="0" smtClean="0"/>
              <a:t>)’</a:t>
            </a:r>
            <a:r>
              <a:rPr lang="tr-TR" sz="2000" dirty="0" smtClean="0"/>
              <a:t>, </a:t>
            </a:r>
            <a:r>
              <a:rPr lang="en-US" sz="2000" dirty="0"/>
              <a:t>we can implement </a:t>
            </a:r>
            <a:r>
              <a:rPr lang="en-US" sz="2000" dirty="0" smtClean="0"/>
              <a:t>a NOR </a:t>
            </a:r>
            <a:r>
              <a:rPr lang="en-US" sz="2000" dirty="0"/>
              <a:t>gate as depicted below.</a:t>
            </a:r>
            <a:endParaRPr lang="tr-TR" sz="2000" dirty="0"/>
          </a:p>
          <a:p>
            <a:pPr marL="0" indent="0" algn="just">
              <a:buNone/>
            </a:pPr>
            <a:endParaRPr lang="tr-TR" sz="2200" dirty="0" smtClean="0"/>
          </a:p>
          <a:p>
            <a:pPr algn="just">
              <a:buFontTx/>
              <a:buNone/>
            </a:pPr>
            <a:endParaRPr lang="tr-TR" dirty="0" smtClean="0"/>
          </a:p>
        </p:txBody>
      </p:sp>
      <p:sp>
        <p:nvSpPr>
          <p:cNvPr id="10244" name="3 Altbilgi Yer Tutucusu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 dirty="0"/>
              <a:t>Logic Circuits</a:t>
            </a:r>
          </a:p>
        </p:txBody>
      </p:sp>
      <p:pic>
        <p:nvPicPr>
          <p:cNvPr id="10245" name="4 Resim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97213" y="1992313"/>
            <a:ext cx="2947987" cy="1068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6" name="5 Resim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89225" y="4254500"/>
            <a:ext cx="3749675" cy="1079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7" name="AutoShape 2"/>
          <p:cNvSpPr>
            <a:spLocks/>
          </p:cNvSpPr>
          <p:nvPr/>
        </p:nvSpPr>
        <p:spPr bwMode="auto">
          <a:xfrm rot="-5400000">
            <a:off x="3937794" y="4471194"/>
            <a:ext cx="79375" cy="1874837"/>
          </a:xfrm>
          <a:prstGeom prst="leftBrace">
            <a:avLst>
              <a:gd name="adj1" fmla="val 101916"/>
              <a:gd name="adj2" fmla="val 50037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tr-TR"/>
          </a:p>
        </p:txBody>
      </p:sp>
      <p:sp>
        <p:nvSpPr>
          <p:cNvPr id="10248" name="7 Dikdörtgen"/>
          <p:cNvSpPr>
            <a:spLocks noChangeArrowheads="1"/>
          </p:cNvSpPr>
          <p:nvPr/>
        </p:nvSpPr>
        <p:spPr bwMode="auto">
          <a:xfrm>
            <a:off x="3703638" y="5519738"/>
            <a:ext cx="542925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tr-TR"/>
              <a:t> OR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2 İçerik Yer Tutucusu"/>
          <p:cNvSpPr>
            <a:spLocks noGrp="1"/>
          </p:cNvSpPr>
          <p:nvPr>
            <p:ph idx="1"/>
          </p:nvPr>
        </p:nvSpPr>
        <p:spPr>
          <a:xfrm>
            <a:off x="349250" y="887413"/>
            <a:ext cx="8375650" cy="5564187"/>
          </a:xfrm>
        </p:spPr>
        <p:txBody>
          <a:bodyPr/>
          <a:lstStyle/>
          <a:p>
            <a:pPr marL="0" indent="0" algn="just">
              <a:buFontTx/>
              <a:buNone/>
              <a:defRPr/>
            </a:pPr>
            <a:r>
              <a:rPr lang="en-US" sz="2200" b="1" dirty="0"/>
              <a:t>Implementing other gates using </a:t>
            </a:r>
            <a:r>
              <a:rPr lang="en-US" sz="2200" b="1" dirty="0" smtClean="0"/>
              <a:t>NOR gates</a:t>
            </a:r>
            <a:endParaRPr lang="tr-TR" sz="2200" dirty="0"/>
          </a:p>
          <a:p>
            <a:pPr algn="just"/>
            <a:r>
              <a:rPr lang="en-US" sz="2100" dirty="0" smtClean="0"/>
              <a:t>Considering that </a:t>
            </a:r>
            <a:r>
              <a:rPr lang="tr-TR" sz="2100" dirty="0" smtClean="0"/>
              <a:t>(A+A)’ = A’</a:t>
            </a:r>
            <a:r>
              <a:rPr lang="en-US" sz="2100" dirty="0"/>
              <a:t>, we can implement a NOT gate as depicted below.</a:t>
            </a:r>
          </a:p>
          <a:p>
            <a:pPr marL="0" indent="0" algn="just">
              <a:buNone/>
            </a:pPr>
            <a:endParaRPr lang="tr-TR" sz="1000" dirty="0" smtClean="0"/>
          </a:p>
          <a:p>
            <a:pPr algn="just"/>
            <a:endParaRPr lang="tr-TR" sz="1200" dirty="0" smtClean="0"/>
          </a:p>
          <a:p>
            <a:pPr algn="just"/>
            <a:r>
              <a:rPr lang="en-US" sz="2100" dirty="0"/>
              <a:t>Considering </a:t>
            </a:r>
            <a:r>
              <a:rPr lang="en-US" sz="2100" dirty="0" smtClean="0"/>
              <a:t>that </a:t>
            </a:r>
            <a:r>
              <a:rPr lang="tr-TR" sz="2100" dirty="0" smtClean="0"/>
              <a:t>((</a:t>
            </a:r>
            <a:r>
              <a:rPr lang="tr-TR" sz="2100" dirty="0" smtClean="0"/>
              <a:t>A+B)’)’ = </a:t>
            </a:r>
            <a:r>
              <a:rPr lang="tr-TR" sz="2100" dirty="0" smtClean="0"/>
              <a:t>A+B</a:t>
            </a:r>
            <a:r>
              <a:rPr lang="tr-TR" sz="2000" dirty="0"/>
              <a:t> , </a:t>
            </a:r>
            <a:r>
              <a:rPr lang="en-US" sz="2000" dirty="0"/>
              <a:t>we can implement an OR gate as depicted below.</a:t>
            </a:r>
            <a:endParaRPr lang="tr-TR" sz="2100" dirty="0" smtClean="0"/>
          </a:p>
          <a:p>
            <a:pPr algn="just"/>
            <a:endParaRPr lang="tr-TR" sz="1000" dirty="0" smtClean="0"/>
          </a:p>
          <a:p>
            <a:pPr algn="just"/>
            <a:endParaRPr lang="tr-TR" sz="1200" dirty="0" smtClean="0"/>
          </a:p>
          <a:p>
            <a:pPr algn="just"/>
            <a:r>
              <a:rPr lang="en-US" sz="2100" dirty="0"/>
              <a:t>Considering </a:t>
            </a:r>
            <a:r>
              <a:rPr lang="en-US" sz="2100" dirty="0" smtClean="0"/>
              <a:t>that </a:t>
            </a:r>
            <a:r>
              <a:rPr lang="tr-TR" sz="2100" dirty="0" smtClean="0"/>
              <a:t>(A</a:t>
            </a:r>
            <a:r>
              <a:rPr lang="tr-TR" sz="2100" dirty="0" smtClean="0"/>
              <a:t>’+B’)’ = </a:t>
            </a:r>
            <a:r>
              <a:rPr lang="tr-TR" sz="2100" dirty="0" smtClean="0"/>
              <a:t>A.B</a:t>
            </a:r>
            <a:r>
              <a:rPr lang="en-US" sz="2100" dirty="0"/>
              <a:t>, we can implement an </a:t>
            </a:r>
            <a:r>
              <a:rPr lang="en-US" sz="2100" dirty="0" smtClean="0"/>
              <a:t>AND </a:t>
            </a:r>
            <a:r>
              <a:rPr lang="en-US" sz="2100" dirty="0"/>
              <a:t>gate as depicted below</a:t>
            </a:r>
            <a:r>
              <a:rPr lang="en-US" sz="2100" dirty="0" smtClean="0"/>
              <a:t>.</a:t>
            </a:r>
            <a:endParaRPr lang="tr-TR" sz="2100" dirty="0" smtClean="0"/>
          </a:p>
          <a:p>
            <a:pPr algn="just">
              <a:buNone/>
            </a:pPr>
            <a:endParaRPr lang="tr-TR" sz="2100" dirty="0" smtClean="0"/>
          </a:p>
          <a:p>
            <a:pPr algn="just"/>
            <a:endParaRPr lang="tr-TR" sz="100" dirty="0" smtClean="0"/>
          </a:p>
          <a:p>
            <a:pPr algn="just"/>
            <a:endParaRPr lang="en-US" sz="1800" dirty="0" smtClean="0"/>
          </a:p>
          <a:p>
            <a:pPr algn="just"/>
            <a:r>
              <a:rPr lang="en-US" sz="2100" dirty="0"/>
              <a:t>Considering that </a:t>
            </a:r>
            <a:r>
              <a:rPr lang="en-US" sz="2100" dirty="0" smtClean="0"/>
              <a:t>[ </a:t>
            </a:r>
            <a:r>
              <a:rPr lang="tr-TR" sz="2100" dirty="0" smtClean="0"/>
              <a:t>(</a:t>
            </a:r>
            <a:r>
              <a:rPr lang="tr-TR" sz="2100" dirty="0"/>
              <a:t>A’+B</a:t>
            </a:r>
            <a:r>
              <a:rPr lang="tr-TR" sz="2100" dirty="0" smtClean="0"/>
              <a:t>’)’</a:t>
            </a:r>
            <a:r>
              <a:rPr lang="en-US" sz="2100" dirty="0" smtClean="0"/>
              <a:t> ]’</a:t>
            </a:r>
            <a:r>
              <a:rPr lang="tr-TR" sz="2100" dirty="0" smtClean="0"/>
              <a:t> </a:t>
            </a:r>
            <a:r>
              <a:rPr lang="tr-TR" sz="2100" dirty="0"/>
              <a:t>= </a:t>
            </a:r>
            <a:r>
              <a:rPr lang="en-US" sz="2100" dirty="0" smtClean="0"/>
              <a:t>(</a:t>
            </a:r>
            <a:r>
              <a:rPr lang="tr-TR" sz="2100" dirty="0" smtClean="0"/>
              <a:t>A.B</a:t>
            </a:r>
            <a:r>
              <a:rPr lang="en-US" sz="2100" dirty="0" smtClean="0"/>
              <a:t>)’, </a:t>
            </a:r>
            <a:r>
              <a:rPr lang="en-US" sz="2100" dirty="0"/>
              <a:t>we can implement </a:t>
            </a:r>
            <a:r>
              <a:rPr lang="en-US" sz="2100" dirty="0" smtClean="0"/>
              <a:t>a NAND </a:t>
            </a:r>
            <a:r>
              <a:rPr lang="en-US" sz="2100" dirty="0"/>
              <a:t>gate as depicted below.</a:t>
            </a:r>
            <a:endParaRPr lang="tr-TR" sz="2100" dirty="0" smtClean="0"/>
          </a:p>
          <a:p>
            <a:pPr algn="just"/>
            <a:endParaRPr lang="tr-TR" sz="2100" dirty="0" smtClean="0"/>
          </a:p>
          <a:p>
            <a:pPr>
              <a:buFontTx/>
              <a:buNone/>
            </a:pPr>
            <a:endParaRPr lang="tr-TR" sz="2200" dirty="0" smtClean="0"/>
          </a:p>
        </p:txBody>
      </p:sp>
      <p:sp>
        <p:nvSpPr>
          <p:cNvPr id="11267" name="3 Altbilgi Yer Tutucusu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 dirty="0"/>
              <a:t>Logic Circuits</a:t>
            </a:r>
          </a:p>
        </p:txBody>
      </p:sp>
      <p:sp>
        <p:nvSpPr>
          <p:cNvPr id="11268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1" dirty="0"/>
              <a:t>Using </a:t>
            </a:r>
            <a:r>
              <a:rPr lang="tr-TR" sz="2400" b="1" dirty="0"/>
              <a:t>NAND </a:t>
            </a:r>
            <a:r>
              <a:rPr lang="en-US" sz="2400" b="1" dirty="0"/>
              <a:t>and </a:t>
            </a:r>
            <a:r>
              <a:rPr lang="tr-TR" sz="2400" b="1" dirty="0"/>
              <a:t>NOR </a:t>
            </a:r>
            <a:r>
              <a:rPr lang="en-US" sz="2400" b="1" dirty="0"/>
              <a:t>Gates as Universal Gates</a:t>
            </a:r>
            <a:endParaRPr lang="tr-TR" sz="2400" dirty="0" smtClean="0"/>
          </a:p>
        </p:txBody>
      </p:sp>
      <p:pic>
        <p:nvPicPr>
          <p:cNvPr id="11269" name="5 Resim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98875" y="1792939"/>
            <a:ext cx="1660525" cy="4646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70" name="6 Resim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70263" y="2939114"/>
            <a:ext cx="2484437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71" name="8 Resim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21013" y="5606583"/>
            <a:ext cx="3506787" cy="877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72" name="8 Resim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370263" y="4040373"/>
            <a:ext cx="2286000" cy="753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1" dirty="0" smtClean="0"/>
              <a:t>Implementing Logic Expressions with </a:t>
            </a:r>
            <a:r>
              <a:rPr lang="tr-TR" sz="2400" b="1" dirty="0" smtClean="0"/>
              <a:t>NAND </a:t>
            </a:r>
            <a:r>
              <a:rPr lang="en-US" sz="2400" b="1" dirty="0" smtClean="0"/>
              <a:t>Gates</a:t>
            </a:r>
            <a:endParaRPr lang="tr-TR" sz="2400" b="1" dirty="0" smtClean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36550" y="900113"/>
            <a:ext cx="8375650" cy="5078412"/>
          </a:xfrm>
        </p:spPr>
        <p:txBody>
          <a:bodyPr/>
          <a:lstStyle/>
          <a:p>
            <a:pPr marL="0" indent="0" algn="just">
              <a:buFontTx/>
              <a:buNone/>
              <a:defRPr/>
            </a:pPr>
            <a:r>
              <a:rPr lang="en-US" sz="2100" b="1" dirty="0" smtClean="0"/>
              <a:t>Example</a:t>
            </a:r>
            <a:r>
              <a:rPr lang="tr-TR" sz="2100" b="1" dirty="0" smtClean="0"/>
              <a:t>: </a:t>
            </a:r>
            <a:r>
              <a:rPr lang="en-US" sz="2100" dirty="0" smtClean="0"/>
              <a:t>Let’s implement </a:t>
            </a:r>
            <a:r>
              <a:rPr lang="tr-TR" sz="2100" dirty="0" smtClean="0"/>
              <a:t>F(A,B,C,D</a:t>
            </a:r>
            <a:r>
              <a:rPr lang="tr-TR" sz="2100" dirty="0" smtClean="0"/>
              <a:t>) = A’B+(C+D)’ </a:t>
            </a:r>
            <a:r>
              <a:rPr lang="en-US" sz="2100" dirty="0" smtClean="0"/>
              <a:t>using only NAND gates. What we need to do is to replace </a:t>
            </a:r>
            <a:r>
              <a:rPr lang="tr-TR" sz="2100" dirty="0" smtClean="0"/>
              <a:t>NOT</a:t>
            </a:r>
            <a:r>
              <a:rPr lang="tr-TR" sz="2100" dirty="0" smtClean="0"/>
              <a:t>, AND, OR </a:t>
            </a:r>
            <a:r>
              <a:rPr lang="en-US" sz="2100" dirty="0" smtClean="0"/>
              <a:t>and</a:t>
            </a:r>
            <a:r>
              <a:rPr lang="tr-TR" sz="2100" dirty="0" smtClean="0"/>
              <a:t> </a:t>
            </a:r>
            <a:r>
              <a:rPr lang="en-US" sz="2100" dirty="0" smtClean="0"/>
              <a:t>NOR gates </a:t>
            </a:r>
            <a:r>
              <a:rPr lang="en-US" sz="2100" dirty="0"/>
              <a:t>with their </a:t>
            </a:r>
            <a:r>
              <a:rPr lang="en-US" sz="2100" dirty="0" smtClean="0"/>
              <a:t>NAND gate equivalents.</a:t>
            </a:r>
            <a:endParaRPr lang="tr-TR" sz="2100" dirty="0" smtClean="0"/>
          </a:p>
          <a:p>
            <a:pPr marL="0" indent="0" algn="just">
              <a:buFontTx/>
              <a:buNone/>
              <a:defRPr/>
            </a:pPr>
            <a:endParaRPr lang="tr-TR" sz="2200" dirty="0" smtClean="0"/>
          </a:p>
          <a:p>
            <a:pPr marL="0" indent="0" algn="just">
              <a:buFontTx/>
              <a:buNone/>
              <a:defRPr/>
            </a:pPr>
            <a:endParaRPr lang="tr-TR" sz="2200" dirty="0" smtClean="0"/>
          </a:p>
          <a:p>
            <a:pPr marL="0" indent="0" algn="just">
              <a:buFontTx/>
              <a:buNone/>
              <a:defRPr/>
            </a:pPr>
            <a:endParaRPr lang="tr-TR" sz="2200" dirty="0" smtClean="0"/>
          </a:p>
          <a:p>
            <a:pPr marL="0" indent="0" algn="just">
              <a:buFontTx/>
              <a:buNone/>
              <a:defRPr/>
            </a:pPr>
            <a:endParaRPr lang="tr-TR" sz="2200" dirty="0" smtClean="0"/>
          </a:p>
          <a:p>
            <a:pPr marL="0" indent="0" algn="just">
              <a:buFontTx/>
              <a:buNone/>
              <a:defRPr/>
            </a:pPr>
            <a:r>
              <a:rPr lang="en-US" sz="2100" dirty="0" smtClean="0"/>
              <a:t>Then, we eliminate s</a:t>
            </a:r>
            <a:r>
              <a:rPr lang="en-US" sz="2100" dirty="0" smtClean="0"/>
              <a:t>equential NOT gates.</a:t>
            </a:r>
            <a:endParaRPr lang="tr-TR" sz="2100" dirty="0" smtClean="0"/>
          </a:p>
          <a:p>
            <a:pPr marL="0" indent="0" algn="just">
              <a:buFontTx/>
              <a:buNone/>
              <a:defRPr/>
            </a:pPr>
            <a:endParaRPr lang="tr-TR" sz="2200" dirty="0" smtClean="0"/>
          </a:p>
          <a:p>
            <a:pPr>
              <a:buFontTx/>
              <a:buNone/>
              <a:defRPr/>
            </a:pPr>
            <a:endParaRPr lang="tr-TR" dirty="0"/>
          </a:p>
        </p:txBody>
      </p:sp>
      <p:sp>
        <p:nvSpPr>
          <p:cNvPr id="12292" name="3 Altbilgi Yer Tutucusu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 dirty="0"/>
              <a:t>Logic Circuits</a:t>
            </a:r>
          </a:p>
        </p:txBody>
      </p:sp>
      <p:pic>
        <p:nvPicPr>
          <p:cNvPr id="12293" name="4 Resim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79638" y="2100263"/>
            <a:ext cx="4678362" cy="1239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4" name="5 Resim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19325" y="4279900"/>
            <a:ext cx="3762375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1" dirty="0"/>
              <a:t>Implementing Logic </a:t>
            </a:r>
            <a:r>
              <a:rPr lang="en-US" sz="2400" b="1" dirty="0" smtClean="0"/>
              <a:t>Expressions </a:t>
            </a:r>
            <a:r>
              <a:rPr lang="en-US" sz="2400" b="1" dirty="0"/>
              <a:t>with </a:t>
            </a:r>
            <a:r>
              <a:rPr lang="tr-TR" sz="2400" b="1" dirty="0" smtClean="0"/>
              <a:t>N</a:t>
            </a:r>
            <a:r>
              <a:rPr lang="en-US" sz="2400" b="1" dirty="0" smtClean="0"/>
              <a:t>OR</a:t>
            </a:r>
            <a:r>
              <a:rPr lang="tr-TR" sz="2400" b="1" dirty="0" smtClean="0"/>
              <a:t> </a:t>
            </a:r>
            <a:r>
              <a:rPr lang="en-US" sz="2400" b="1" dirty="0" smtClean="0"/>
              <a:t>Gates</a:t>
            </a:r>
            <a:endParaRPr lang="tr-TR" sz="2400" dirty="0" smtClean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23850" y="938213"/>
            <a:ext cx="8375650" cy="5078412"/>
          </a:xfrm>
        </p:spPr>
        <p:txBody>
          <a:bodyPr/>
          <a:lstStyle/>
          <a:p>
            <a:pPr marL="0" indent="0" algn="just">
              <a:buFontTx/>
              <a:buNone/>
              <a:defRPr/>
            </a:pPr>
            <a:r>
              <a:rPr lang="en-US" sz="2100" b="1" dirty="0" smtClean="0"/>
              <a:t>Example</a:t>
            </a:r>
            <a:r>
              <a:rPr lang="tr-TR" sz="2100" b="1" dirty="0" smtClean="0"/>
              <a:t>: </a:t>
            </a:r>
            <a:r>
              <a:rPr lang="en-US" sz="2100" dirty="0" smtClean="0"/>
              <a:t>Let’s implement the same expression using NOR gates.</a:t>
            </a:r>
            <a:endParaRPr lang="tr-TR" sz="2100" dirty="0" smtClean="0"/>
          </a:p>
          <a:p>
            <a:pPr marL="0" indent="0" algn="just">
              <a:buFontTx/>
              <a:buNone/>
              <a:defRPr/>
            </a:pPr>
            <a:r>
              <a:rPr lang="tr-TR" sz="2100" dirty="0" smtClean="0"/>
              <a:t>F(A,B,C,D) = A’B+(C+D)’</a:t>
            </a:r>
          </a:p>
          <a:p>
            <a:pPr marL="0" indent="0" algn="just">
              <a:buFontTx/>
              <a:buNone/>
              <a:defRPr/>
            </a:pPr>
            <a:endParaRPr lang="tr-TR" sz="2100" dirty="0" smtClean="0"/>
          </a:p>
          <a:p>
            <a:pPr marL="0" indent="0" algn="just">
              <a:buFontTx/>
              <a:buNone/>
              <a:defRPr/>
            </a:pPr>
            <a:endParaRPr lang="tr-TR" sz="2100" dirty="0" smtClean="0"/>
          </a:p>
          <a:p>
            <a:pPr marL="0" indent="0" algn="just">
              <a:buFontTx/>
              <a:buNone/>
              <a:defRPr/>
            </a:pPr>
            <a:endParaRPr lang="tr-TR" sz="2100" dirty="0" smtClean="0"/>
          </a:p>
          <a:p>
            <a:pPr marL="0" indent="0" algn="just">
              <a:buFontTx/>
              <a:buNone/>
              <a:defRPr/>
            </a:pPr>
            <a:endParaRPr lang="tr-TR" sz="2100" dirty="0" smtClean="0"/>
          </a:p>
          <a:p>
            <a:pPr marL="0" indent="0" algn="just">
              <a:buFontTx/>
              <a:buNone/>
              <a:defRPr/>
            </a:pPr>
            <a:endParaRPr lang="tr-TR" sz="2100" dirty="0" smtClean="0"/>
          </a:p>
          <a:p>
            <a:pPr marL="0" indent="0" algn="just">
              <a:buFontTx/>
              <a:buNone/>
              <a:defRPr/>
            </a:pPr>
            <a:r>
              <a:rPr lang="en-US" sz="2100" dirty="0" smtClean="0"/>
              <a:t>Again, we eliminate sequential NOT gates.</a:t>
            </a:r>
            <a:endParaRPr lang="tr-TR" sz="2100" dirty="0" smtClean="0"/>
          </a:p>
          <a:p>
            <a:pPr marL="0" indent="0" algn="just">
              <a:buFontTx/>
              <a:buNone/>
              <a:defRPr/>
            </a:pPr>
            <a:endParaRPr lang="tr-TR" sz="2100" dirty="0" smtClean="0"/>
          </a:p>
          <a:p>
            <a:pPr>
              <a:buFontTx/>
              <a:buNone/>
              <a:defRPr/>
            </a:pPr>
            <a:endParaRPr lang="tr-TR" sz="2100" dirty="0"/>
          </a:p>
        </p:txBody>
      </p:sp>
      <p:sp>
        <p:nvSpPr>
          <p:cNvPr id="13316" name="3 Altbilgi Yer Tutucusu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 dirty="0"/>
              <a:t>Logic Circuits</a:t>
            </a:r>
          </a:p>
        </p:txBody>
      </p:sp>
      <p:pic>
        <p:nvPicPr>
          <p:cNvPr id="13317" name="4 Resim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25638" y="1952625"/>
            <a:ext cx="5287962" cy="1362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8" name="5 Resim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57400" y="4325938"/>
            <a:ext cx="4991100" cy="1071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1" dirty="0"/>
              <a:t>Converting </a:t>
            </a:r>
            <a:r>
              <a:rPr lang="en-US" sz="2400" b="1" dirty="0" smtClean="0"/>
              <a:t>Logic Expressions </a:t>
            </a:r>
            <a:r>
              <a:rPr lang="en-US" sz="2400" b="1" dirty="0"/>
              <a:t>to NAND and NOR </a:t>
            </a:r>
            <a:r>
              <a:rPr lang="en-US" sz="2400" b="1" dirty="0" smtClean="0"/>
              <a:t>Forms </a:t>
            </a:r>
            <a:r>
              <a:rPr lang="en-US" sz="2400" b="1" dirty="0"/>
              <a:t>using Boolean </a:t>
            </a:r>
            <a:r>
              <a:rPr lang="en-US" sz="2400" b="1" dirty="0" smtClean="0"/>
              <a:t>Algebra</a:t>
            </a:r>
            <a:endParaRPr lang="en-US" sz="2400" b="1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36550" y="900113"/>
            <a:ext cx="8375650" cy="5078412"/>
          </a:xfrm>
        </p:spPr>
        <p:txBody>
          <a:bodyPr/>
          <a:lstStyle/>
          <a:p>
            <a:pPr marL="0" indent="0" algn="just">
              <a:buFontTx/>
              <a:buNone/>
              <a:defRPr/>
            </a:pPr>
            <a:r>
              <a:rPr lang="en-US" sz="2100" dirty="0" smtClean="0"/>
              <a:t>We can convert logic expressions to NAND or NOR form using </a:t>
            </a:r>
            <a:r>
              <a:rPr lang="en-US" sz="2100" dirty="0" err="1" smtClean="0"/>
              <a:t>DeMorgan</a:t>
            </a:r>
            <a:r>
              <a:rPr lang="en-US" sz="2100" dirty="0" smtClean="0"/>
              <a:t> rules.</a:t>
            </a:r>
          </a:p>
          <a:p>
            <a:pPr algn="just">
              <a:defRPr/>
            </a:pPr>
            <a:r>
              <a:rPr lang="en-US" sz="2100" dirty="0" smtClean="0"/>
              <a:t>By double negating a logic expression in </a:t>
            </a:r>
            <a:r>
              <a:rPr lang="en-US" sz="2100" dirty="0" err="1" smtClean="0"/>
              <a:t>SoP</a:t>
            </a:r>
            <a:r>
              <a:rPr lang="en-US" sz="2100" dirty="0" smtClean="0"/>
              <a:t> form, we can obtain the NAND form of that expression.</a:t>
            </a:r>
          </a:p>
          <a:p>
            <a:pPr algn="just">
              <a:defRPr/>
            </a:pPr>
            <a:r>
              <a:rPr lang="en-US" sz="2100" dirty="0"/>
              <a:t>By double negating </a:t>
            </a:r>
            <a:r>
              <a:rPr lang="en-US" sz="2100" dirty="0" smtClean="0"/>
              <a:t>a logic expression </a:t>
            </a:r>
            <a:r>
              <a:rPr lang="en-US" sz="2100" dirty="0"/>
              <a:t>in </a:t>
            </a:r>
            <a:r>
              <a:rPr lang="en-US" sz="2100" dirty="0" err="1" smtClean="0"/>
              <a:t>PoS</a:t>
            </a:r>
            <a:r>
              <a:rPr lang="en-US" sz="2100" dirty="0" smtClean="0"/>
              <a:t> </a:t>
            </a:r>
            <a:r>
              <a:rPr lang="en-US" sz="2100" dirty="0"/>
              <a:t>form, we can obtain the </a:t>
            </a:r>
            <a:r>
              <a:rPr lang="en-US" sz="2100" dirty="0" smtClean="0"/>
              <a:t>NOR </a:t>
            </a:r>
            <a:r>
              <a:rPr lang="en-US" sz="2100" dirty="0"/>
              <a:t>form </a:t>
            </a:r>
            <a:r>
              <a:rPr lang="en-US" sz="2100" dirty="0" smtClean="0"/>
              <a:t>of </a:t>
            </a:r>
            <a:r>
              <a:rPr lang="en-US" sz="2100" dirty="0"/>
              <a:t>that expression.</a:t>
            </a:r>
          </a:p>
          <a:p>
            <a:pPr marL="0" indent="0" algn="just">
              <a:buFontTx/>
              <a:buNone/>
              <a:defRPr/>
            </a:pPr>
            <a:endParaRPr lang="tr-TR" sz="1000" dirty="0" smtClean="0"/>
          </a:p>
          <a:p>
            <a:pPr marL="0" indent="0" algn="just">
              <a:buFontTx/>
              <a:buNone/>
              <a:defRPr/>
            </a:pPr>
            <a:r>
              <a:rPr lang="en-US" sz="2100" b="1" dirty="0" smtClean="0"/>
              <a:t>Example</a:t>
            </a:r>
            <a:r>
              <a:rPr lang="tr-TR" sz="2100" b="1" dirty="0" smtClean="0"/>
              <a:t>: </a:t>
            </a:r>
            <a:r>
              <a:rPr lang="en-US" sz="2100" dirty="0" smtClean="0"/>
              <a:t>Let’s convert </a:t>
            </a:r>
            <a:r>
              <a:rPr lang="tr-TR" sz="2100" dirty="0" smtClean="0"/>
              <a:t>f(</a:t>
            </a:r>
            <a:r>
              <a:rPr lang="tr-TR" sz="2100" dirty="0" err="1" smtClean="0"/>
              <a:t>a,b,c,d</a:t>
            </a:r>
            <a:r>
              <a:rPr lang="tr-TR" sz="2100" dirty="0" smtClean="0"/>
              <a:t>)</a:t>
            </a:r>
            <a:r>
              <a:rPr lang="tr-TR" sz="2100" b="1" dirty="0" smtClean="0"/>
              <a:t> = </a:t>
            </a:r>
            <a:r>
              <a:rPr lang="tr-TR" sz="2100" dirty="0" smtClean="0"/>
              <a:t>ab’+</a:t>
            </a:r>
            <a:r>
              <a:rPr lang="tr-TR" sz="2100" dirty="0" err="1" smtClean="0"/>
              <a:t>c’d</a:t>
            </a:r>
            <a:r>
              <a:rPr lang="tr-TR" sz="2100" dirty="0" smtClean="0"/>
              <a:t> </a:t>
            </a:r>
            <a:r>
              <a:rPr lang="en-US" sz="2100" dirty="0" smtClean="0"/>
              <a:t>to NAND form.</a:t>
            </a:r>
            <a:endParaRPr lang="tr-TR" sz="2100" dirty="0" smtClean="0"/>
          </a:p>
          <a:p>
            <a:pPr marL="0" indent="0" algn="just">
              <a:buFontTx/>
              <a:buNone/>
              <a:defRPr/>
            </a:pPr>
            <a:endParaRPr lang="tr-TR" sz="1000" dirty="0" smtClean="0"/>
          </a:p>
          <a:p>
            <a:pPr algn="just">
              <a:buFontTx/>
              <a:buNone/>
              <a:defRPr/>
            </a:pPr>
            <a:r>
              <a:rPr lang="tr-TR" sz="2100" dirty="0" smtClean="0"/>
              <a:t>(f </a:t>
            </a:r>
            <a:r>
              <a:rPr lang="tr-TR" sz="2100" dirty="0" smtClean="0"/>
              <a:t>’)’ = </a:t>
            </a:r>
            <a:r>
              <a:rPr lang="tr-TR" sz="2100" dirty="0" smtClean="0"/>
              <a:t>f</a:t>
            </a:r>
            <a:r>
              <a:rPr lang="en-US" sz="2100" dirty="0" smtClean="0"/>
              <a:t>. So, </a:t>
            </a:r>
            <a:r>
              <a:rPr lang="tr-TR" sz="2100" dirty="0" smtClean="0"/>
              <a:t>f </a:t>
            </a:r>
            <a:r>
              <a:rPr lang="tr-TR" sz="2100" dirty="0" smtClean="0"/>
              <a:t>=[(ab’+</a:t>
            </a:r>
            <a:r>
              <a:rPr lang="tr-TR" sz="2100" dirty="0" err="1" smtClean="0"/>
              <a:t>c’d</a:t>
            </a:r>
            <a:r>
              <a:rPr lang="tr-TR" sz="2100" dirty="0" smtClean="0"/>
              <a:t>)’]’ = [</a:t>
            </a:r>
            <a:r>
              <a:rPr lang="tr-TR" sz="2100" dirty="0" smtClean="0">
                <a:solidFill>
                  <a:srgbClr val="00B050"/>
                </a:solidFill>
              </a:rPr>
              <a:t>(ab’)’</a:t>
            </a:r>
            <a:r>
              <a:rPr lang="tr-TR" sz="2100" dirty="0" smtClean="0"/>
              <a:t>.</a:t>
            </a:r>
            <a:r>
              <a:rPr lang="tr-TR" sz="2100" dirty="0" smtClean="0">
                <a:solidFill>
                  <a:srgbClr val="00B050"/>
                </a:solidFill>
              </a:rPr>
              <a:t>(</a:t>
            </a:r>
            <a:r>
              <a:rPr lang="tr-TR" sz="2100" dirty="0" err="1" smtClean="0">
                <a:solidFill>
                  <a:srgbClr val="00B050"/>
                </a:solidFill>
              </a:rPr>
              <a:t>c’d</a:t>
            </a:r>
            <a:r>
              <a:rPr lang="tr-TR" sz="2100" dirty="0" smtClean="0">
                <a:solidFill>
                  <a:srgbClr val="00B050"/>
                </a:solidFill>
              </a:rPr>
              <a:t>)’</a:t>
            </a:r>
            <a:r>
              <a:rPr lang="tr-TR" sz="2100" dirty="0" smtClean="0"/>
              <a:t>]’ </a:t>
            </a:r>
          </a:p>
          <a:p>
            <a:pPr algn="just">
              <a:buFontTx/>
              <a:buNone/>
              <a:defRPr/>
            </a:pPr>
            <a:endParaRPr lang="tr-TR" sz="1000" dirty="0" smtClean="0"/>
          </a:p>
          <a:p>
            <a:pPr marL="0" indent="0" algn="just">
              <a:buFontTx/>
              <a:buNone/>
              <a:defRPr/>
            </a:pPr>
            <a:r>
              <a:rPr lang="en-US" sz="2100" b="1" dirty="0" smtClean="0"/>
              <a:t>Example</a:t>
            </a:r>
            <a:r>
              <a:rPr lang="tr-TR" sz="2100" b="1" dirty="0" smtClean="0"/>
              <a:t>: </a:t>
            </a:r>
            <a:r>
              <a:rPr lang="en-US" sz="2100" dirty="0" smtClean="0"/>
              <a:t>Let’s convert </a:t>
            </a:r>
            <a:r>
              <a:rPr lang="tr-TR" sz="2100" dirty="0" smtClean="0"/>
              <a:t>f(</a:t>
            </a:r>
            <a:r>
              <a:rPr lang="tr-TR" sz="2100" dirty="0" err="1" smtClean="0"/>
              <a:t>a,b,c,d</a:t>
            </a:r>
            <a:r>
              <a:rPr lang="tr-TR" sz="2100" dirty="0" smtClean="0"/>
              <a:t>)</a:t>
            </a:r>
            <a:r>
              <a:rPr lang="tr-TR" sz="2100" b="1" dirty="0" smtClean="0"/>
              <a:t> = </a:t>
            </a:r>
            <a:r>
              <a:rPr lang="tr-TR" sz="2100" dirty="0" smtClean="0"/>
              <a:t>(a+b’)(c’+d) </a:t>
            </a:r>
            <a:r>
              <a:rPr lang="en-US" sz="2100" dirty="0" smtClean="0"/>
              <a:t>to NOR form.</a:t>
            </a:r>
            <a:endParaRPr lang="tr-TR" sz="2100" dirty="0" smtClean="0"/>
          </a:p>
          <a:p>
            <a:pPr marL="0" indent="0" algn="just">
              <a:buFontTx/>
              <a:buNone/>
              <a:defRPr/>
            </a:pPr>
            <a:endParaRPr lang="tr-TR" sz="1000" dirty="0" smtClean="0"/>
          </a:p>
          <a:p>
            <a:pPr algn="just">
              <a:buFontTx/>
              <a:buNone/>
              <a:defRPr/>
            </a:pPr>
            <a:r>
              <a:rPr lang="tr-TR" sz="2100" dirty="0" smtClean="0"/>
              <a:t>(f ’)’ = </a:t>
            </a:r>
            <a:r>
              <a:rPr lang="tr-TR" sz="2100" dirty="0" smtClean="0"/>
              <a:t>f</a:t>
            </a:r>
            <a:r>
              <a:rPr lang="en-US" sz="2100" dirty="0" smtClean="0"/>
              <a:t>. So,</a:t>
            </a:r>
            <a:r>
              <a:rPr lang="tr-TR" sz="2100" dirty="0" smtClean="0"/>
              <a:t> f </a:t>
            </a:r>
            <a:r>
              <a:rPr lang="tr-TR" sz="2100" dirty="0" smtClean="0"/>
              <a:t>= ([(a+b’)(c’+d)]’)’ = [</a:t>
            </a:r>
            <a:r>
              <a:rPr lang="tr-TR" sz="2100" dirty="0" smtClean="0">
                <a:solidFill>
                  <a:srgbClr val="00B050"/>
                </a:solidFill>
              </a:rPr>
              <a:t>(a+b’)’</a:t>
            </a:r>
            <a:r>
              <a:rPr lang="tr-TR" sz="2100" dirty="0" smtClean="0"/>
              <a:t>+</a:t>
            </a:r>
            <a:r>
              <a:rPr lang="tr-TR" sz="2100" dirty="0" smtClean="0">
                <a:solidFill>
                  <a:srgbClr val="00B050"/>
                </a:solidFill>
              </a:rPr>
              <a:t>(c’+d)’</a:t>
            </a:r>
            <a:r>
              <a:rPr lang="tr-TR" sz="2100" dirty="0" smtClean="0"/>
              <a:t>]’</a:t>
            </a:r>
          </a:p>
          <a:p>
            <a:pPr algn="just">
              <a:buFontTx/>
              <a:buNone/>
              <a:defRPr/>
            </a:pPr>
            <a:endParaRPr lang="tr-TR" sz="2100" dirty="0"/>
          </a:p>
        </p:txBody>
      </p:sp>
      <p:sp>
        <p:nvSpPr>
          <p:cNvPr id="14340" name="3 Altbilgi Yer Tutucusu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 dirty="0"/>
              <a:t>Logic Circuits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1" dirty="0"/>
              <a:t>Converting Logic Expressions to NAND and NOR Forms using Boolean Algebra</a:t>
            </a:r>
            <a:endParaRPr lang="tr-TR" sz="2400" dirty="0" smtClean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23850" y="900113"/>
            <a:ext cx="8375650" cy="5078412"/>
          </a:xfrm>
        </p:spPr>
        <p:txBody>
          <a:bodyPr/>
          <a:lstStyle/>
          <a:p>
            <a:pPr algn="just">
              <a:buFontTx/>
              <a:buNone/>
              <a:defRPr/>
            </a:pPr>
            <a:r>
              <a:rPr lang="en-US" sz="2100" b="1" dirty="0" smtClean="0"/>
              <a:t>Example</a:t>
            </a:r>
            <a:r>
              <a:rPr lang="tr-TR" sz="2100" b="1" dirty="0" smtClean="0"/>
              <a:t>: </a:t>
            </a:r>
            <a:r>
              <a:rPr lang="en-US" sz="2100" dirty="0" smtClean="0"/>
              <a:t>Let’s convert </a:t>
            </a:r>
            <a:r>
              <a:rPr lang="tr-TR" sz="2100" dirty="0" smtClean="0"/>
              <a:t>f(</a:t>
            </a:r>
            <a:r>
              <a:rPr lang="tr-TR" sz="2100" dirty="0" err="1" smtClean="0"/>
              <a:t>a,b,c,d</a:t>
            </a:r>
            <a:r>
              <a:rPr lang="tr-TR" sz="2100" dirty="0" smtClean="0"/>
              <a:t>)</a:t>
            </a:r>
            <a:r>
              <a:rPr lang="tr-TR" sz="2100" b="1" dirty="0" smtClean="0"/>
              <a:t> = </a:t>
            </a:r>
            <a:r>
              <a:rPr lang="tr-TR" sz="2100" dirty="0" smtClean="0"/>
              <a:t>ab’+</a:t>
            </a:r>
            <a:r>
              <a:rPr lang="tr-TR" sz="2100" dirty="0" err="1" smtClean="0"/>
              <a:t>c’d</a:t>
            </a:r>
            <a:r>
              <a:rPr lang="en-US" sz="2100" dirty="0" smtClean="0"/>
              <a:t> to NOR form.</a:t>
            </a:r>
            <a:endParaRPr lang="tr-TR" sz="2100" dirty="0" smtClean="0"/>
          </a:p>
          <a:p>
            <a:pPr marL="0" indent="0" algn="just">
              <a:buFontTx/>
              <a:buNone/>
              <a:defRPr/>
            </a:pPr>
            <a:r>
              <a:rPr lang="en-US" sz="2100" dirty="0" smtClean="0"/>
              <a:t>What we need to do first, is to double negate each term in the expression.</a:t>
            </a:r>
            <a:endParaRPr lang="tr-TR" sz="2100" dirty="0" smtClean="0"/>
          </a:p>
          <a:p>
            <a:pPr algn="just">
              <a:buFontTx/>
              <a:buNone/>
              <a:defRPr/>
            </a:pPr>
            <a:r>
              <a:rPr lang="tr-TR" sz="2100" dirty="0" smtClean="0"/>
              <a:t>f(</a:t>
            </a:r>
            <a:r>
              <a:rPr lang="tr-TR" sz="2100" dirty="0" err="1" smtClean="0"/>
              <a:t>a,b,c,d</a:t>
            </a:r>
            <a:r>
              <a:rPr lang="tr-TR" sz="2100" dirty="0" smtClean="0"/>
              <a:t>)</a:t>
            </a:r>
            <a:r>
              <a:rPr lang="tr-TR" sz="2100" b="1" dirty="0" smtClean="0"/>
              <a:t> = </a:t>
            </a:r>
            <a:r>
              <a:rPr lang="tr-TR" sz="2100" b="1" dirty="0" smtClean="0">
                <a:solidFill>
                  <a:srgbClr val="FF0000"/>
                </a:solidFill>
              </a:rPr>
              <a:t>[</a:t>
            </a:r>
            <a:r>
              <a:rPr lang="tr-TR" sz="2100" dirty="0" smtClean="0"/>
              <a:t>(ab’)</a:t>
            </a:r>
            <a:r>
              <a:rPr lang="tr-TR" sz="2100" dirty="0" smtClean="0">
                <a:solidFill>
                  <a:srgbClr val="FF0000"/>
                </a:solidFill>
              </a:rPr>
              <a:t>’]’</a:t>
            </a:r>
            <a:r>
              <a:rPr lang="tr-TR" sz="2100" dirty="0" smtClean="0"/>
              <a:t>+</a:t>
            </a:r>
            <a:r>
              <a:rPr lang="tr-TR" sz="2100" dirty="0" smtClean="0">
                <a:solidFill>
                  <a:srgbClr val="FF0000"/>
                </a:solidFill>
              </a:rPr>
              <a:t>[</a:t>
            </a:r>
            <a:r>
              <a:rPr lang="tr-TR" sz="2100" dirty="0" smtClean="0"/>
              <a:t>(</a:t>
            </a:r>
            <a:r>
              <a:rPr lang="tr-TR" sz="2100" dirty="0" err="1" smtClean="0"/>
              <a:t>c’d</a:t>
            </a:r>
            <a:r>
              <a:rPr lang="tr-TR" sz="2100" dirty="0" smtClean="0"/>
              <a:t>)</a:t>
            </a:r>
            <a:r>
              <a:rPr lang="tr-TR" sz="2100" dirty="0" smtClean="0">
                <a:solidFill>
                  <a:srgbClr val="FF0000"/>
                </a:solidFill>
              </a:rPr>
              <a:t>’]’</a:t>
            </a:r>
            <a:r>
              <a:rPr lang="tr-TR" sz="2100" dirty="0" smtClean="0"/>
              <a:t> = (a’+b)’+(c+d’)’</a:t>
            </a:r>
          </a:p>
          <a:p>
            <a:pPr marL="0" indent="0" algn="just">
              <a:buNone/>
              <a:defRPr/>
            </a:pPr>
            <a:endParaRPr lang="tr-TR" sz="1000" dirty="0" smtClean="0"/>
          </a:p>
          <a:p>
            <a:pPr marL="0" indent="0" algn="just">
              <a:spcBef>
                <a:spcPts val="0"/>
              </a:spcBef>
              <a:buNone/>
              <a:defRPr/>
            </a:pPr>
            <a:r>
              <a:rPr lang="en-US" sz="2100" dirty="0" smtClean="0"/>
              <a:t>Then, we need to double negate the whole expression.</a:t>
            </a:r>
            <a:endParaRPr lang="tr-TR" sz="2100" dirty="0" smtClean="0"/>
          </a:p>
          <a:p>
            <a:pPr algn="just">
              <a:spcBef>
                <a:spcPts val="0"/>
              </a:spcBef>
              <a:buFontTx/>
              <a:buNone/>
              <a:defRPr/>
            </a:pPr>
            <a:endParaRPr lang="tr-TR" sz="1000" dirty="0" smtClean="0"/>
          </a:p>
          <a:p>
            <a:pPr algn="just">
              <a:spcBef>
                <a:spcPts val="0"/>
              </a:spcBef>
              <a:buFontTx/>
              <a:buNone/>
              <a:defRPr/>
            </a:pPr>
            <a:r>
              <a:rPr lang="tr-TR" sz="2100" dirty="0" smtClean="0"/>
              <a:t>f(a,b,c,d)</a:t>
            </a:r>
            <a:r>
              <a:rPr lang="tr-TR" sz="2100" b="1" dirty="0" smtClean="0"/>
              <a:t> = </a:t>
            </a:r>
            <a:r>
              <a:rPr lang="tr-TR" sz="2100" dirty="0" smtClean="0">
                <a:solidFill>
                  <a:srgbClr val="FF0000"/>
                </a:solidFill>
              </a:rPr>
              <a:t>(</a:t>
            </a:r>
            <a:r>
              <a:rPr lang="tr-TR" sz="2100" dirty="0" smtClean="0"/>
              <a:t>[(a’+b)’+(c+d’)’]</a:t>
            </a:r>
            <a:r>
              <a:rPr lang="tr-TR" sz="2100" dirty="0" smtClean="0">
                <a:solidFill>
                  <a:srgbClr val="FF0000"/>
                </a:solidFill>
              </a:rPr>
              <a:t>’)’ </a:t>
            </a:r>
          </a:p>
          <a:p>
            <a:pPr marL="0" indent="0" algn="just">
              <a:buFontTx/>
              <a:buNone/>
              <a:defRPr/>
            </a:pPr>
            <a:endParaRPr lang="tr-TR" sz="1000" b="1" dirty="0" smtClean="0"/>
          </a:p>
          <a:p>
            <a:pPr marL="0" indent="0" algn="just">
              <a:buFontTx/>
              <a:buNone/>
              <a:defRPr/>
            </a:pPr>
            <a:r>
              <a:rPr lang="en-US" sz="2100" b="1" dirty="0" smtClean="0"/>
              <a:t>Example</a:t>
            </a:r>
            <a:r>
              <a:rPr lang="tr-TR" sz="2100" b="1" dirty="0" smtClean="0"/>
              <a:t>: </a:t>
            </a:r>
            <a:r>
              <a:rPr lang="en-US" sz="2100" dirty="0" smtClean="0"/>
              <a:t>Let’s convert </a:t>
            </a:r>
            <a:r>
              <a:rPr lang="tr-TR" sz="2100" dirty="0" smtClean="0"/>
              <a:t>f(</a:t>
            </a:r>
            <a:r>
              <a:rPr lang="tr-TR" sz="2100" dirty="0" err="1" smtClean="0"/>
              <a:t>a,b,c,d</a:t>
            </a:r>
            <a:r>
              <a:rPr lang="tr-TR" sz="2100" dirty="0" smtClean="0"/>
              <a:t>)</a:t>
            </a:r>
            <a:r>
              <a:rPr lang="tr-TR" sz="2100" b="1" dirty="0" smtClean="0"/>
              <a:t> = </a:t>
            </a:r>
            <a:r>
              <a:rPr lang="tr-TR" sz="2100" dirty="0" smtClean="0"/>
              <a:t>(a+b’)(</a:t>
            </a:r>
            <a:r>
              <a:rPr lang="tr-TR" sz="2100" dirty="0" err="1" smtClean="0"/>
              <a:t>c’+d</a:t>
            </a:r>
            <a:r>
              <a:rPr lang="tr-TR" sz="2100" dirty="0" smtClean="0"/>
              <a:t>)</a:t>
            </a:r>
            <a:r>
              <a:rPr lang="en-US" sz="2100" dirty="0" smtClean="0"/>
              <a:t> to NAND form.</a:t>
            </a:r>
          </a:p>
          <a:p>
            <a:pPr marL="0" indent="0" algn="just">
              <a:buNone/>
              <a:defRPr/>
            </a:pPr>
            <a:r>
              <a:rPr lang="en-US" sz="2100" dirty="0" smtClean="0"/>
              <a:t>Again, what </a:t>
            </a:r>
            <a:r>
              <a:rPr lang="en-US" sz="2100" dirty="0"/>
              <a:t>we need to do first, is to double negate each term in the expression.</a:t>
            </a:r>
            <a:endParaRPr lang="tr-TR" sz="2100" dirty="0"/>
          </a:p>
          <a:p>
            <a:pPr algn="just">
              <a:buFontTx/>
              <a:buNone/>
              <a:defRPr/>
            </a:pPr>
            <a:r>
              <a:rPr lang="tr-TR" sz="2100" dirty="0" smtClean="0"/>
              <a:t>f(</a:t>
            </a:r>
            <a:r>
              <a:rPr lang="tr-TR" sz="2100" dirty="0" err="1" smtClean="0"/>
              <a:t>a,b,c,d</a:t>
            </a:r>
            <a:r>
              <a:rPr lang="tr-TR" sz="2100" dirty="0" smtClean="0"/>
              <a:t>)</a:t>
            </a:r>
            <a:r>
              <a:rPr lang="tr-TR" sz="2100" b="1" dirty="0" smtClean="0"/>
              <a:t> = </a:t>
            </a:r>
            <a:r>
              <a:rPr lang="tr-TR" sz="2100" dirty="0" smtClean="0"/>
              <a:t>(a+b’)(c’+d) = </a:t>
            </a:r>
            <a:r>
              <a:rPr lang="tr-TR" sz="2100" dirty="0" smtClean="0">
                <a:solidFill>
                  <a:srgbClr val="FF0000"/>
                </a:solidFill>
              </a:rPr>
              <a:t>(</a:t>
            </a:r>
            <a:r>
              <a:rPr lang="tr-TR" sz="2100" dirty="0" smtClean="0"/>
              <a:t>[(a+b’)]</a:t>
            </a:r>
            <a:r>
              <a:rPr lang="tr-TR" sz="2100" dirty="0" smtClean="0">
                <a:solidFill>
                  <a:srgbClr val="FF0000"/>
                </a:solidFill>
              </a:rPr>
              <a:t>’)’</a:t>
            </a:r>
            <a:r>
              <a:rPr lang="tr-TR" sz="2100" dirty="0" smtClean="0"/>
              <a:t>.</a:t>
            </a:r>
            <a:r>
              <a:rPr lang="tr-TR" sz="2100" dirty="0" smtClean="0">
                <a:solidFill>
                  <a:srgbClr val="FF0000"/>
                </a:solidFill>
              </a:rPr>
              <a:t>(</a:t>
            </a:r>
            <a:r>
              <a:rPr lang="tr-TR" sz="2100" dirty="0" smtClean="0"/>
              <a:t>[(c’+d)]</a:t>
            </a:r>
            <a:r>
              <a:rPr lang="tr-TR" sz="2100" dirty="0" smtClean="0">
                <a:solidFill>
                  <a:srgbClr val="FF0000"/>
                </a:solidFill>
              </a:rPr>
              <a:t>’)’</a:t>
            </a:r>
            <a:r>
              <a:rPr lang="tr-TR" sz="2100" dirty="0" smtClean="0"/>
              <a:t> = (</a:t>
            </a:r>
            <a:r>
              <a:rPr lang="tr-TR" sz="2100" dirty="0" err="1" smtClean="0"/>
              <a:t>a’b</a:t>
            </a:r>
            <a:r>
              <a:rPr lang="tr-TR" sz="2100" dirty="0" smtClean="0"/>
              <a:t>)’.(cd’)’</a:t>
            </a:r>
          </a:p>
          <a:p>
            <a:pPr marL="0" indent="0" algn="just">
              <a:buNone/>
              <a:defRPr/>
            </a:pPr>
            <a:endParaRPr lang="tr-TR" sz="1000" dirty="0" smtClean="0"/>
          </a:p>
          <a:p>
            <a:pPr marL="0" indent="0" algn="just">
              <a:spcBef>
                <a:spcPts val="0"/>
              </a:spcBef>
              <a:buNone/>
              <a:defRPr/>
            </a:pPr>
            <a:r>
              <a:rPr lang="en-US" sz="2100" dirty="0"/>
              <a:t>Then, we need to double negate the whole expression.</a:t>
            </a:r>
            <a:endParaRPr lang="tr-TR" sz="2100" dirty="0"/>
          </a:p>
          <a:p>
            <a:pPr algn="just">
              <a:spcBef>
                <a:spcPts val="0"/>
              </a:spcBef>
              <a:buFontTx/>
              <a:buNone/>
              <a:defRPr/>
            </a:pPr>
            <a:endParaRPr lang="tr-TR" sz="1000" dirty="0" smtClean="0"/>
          </a:p>
          <a:p>
            <a:pPr marL="0" indent="0" algn="just">
              <a:spcBef>
                <a:spcPts val="0"/>
              </a:spcBef>
              <a:buFontTx/>
              <a:buNone/>
              <a:defRPr/>
            </a:pPr>
            <a:r>
              <a:rPr lang="tr-TR" sz="2100" dirty="0" smtClean="0"/>
              <a:t>f(a,b,c,d)</a:t>
            </a:r>
            <a:r>
              <a:rPr lang="tr-TR" sz="2100" b="1" dirty="0" smtClean="0"/>
              <a:t> = </a:t>
            </a:r>
            <a:r>
              <a:rPr lang="tr-TR" sz="2100" dirty="0" smtClean="0">
                <a:solidFill>
                  <a:srgbClr val="FF0000"/>
                </a:solidFill>
              </a:rPr>
              <a:t>(</a:t>
            </a:r>
            <a:r>
              <a:rPr lang="tr-TR" sz="2100" dirty="0" smtClean="0"/>
              <a:t>[</a:t>
            </a:r>
            <a:r>
              <a:rPr lang="tr-TR" sz="2100" dirty="0" smtClean="0">
                <a:solidFill>
                  <a:srgbClr val="00B050"/>
                </a:solidFill>
              </a:rPr>
              <a:t>(</a:t>
            </a:r>
            <a:r>
              <a:rPr lang="tr-TR" sz="2100" dirty="0" err="1" smtClean="0">
                <a:solidFill>
                  <a:srgbClr val="00B050"/>
                </a:solidFill>
              </a:rPr>
              <a:t>a’b</a:t>
            </a:r>
            <a:r>
              <a:rPr lang="tr-TR" sz="2100" dirty="0" smtClean="0">
                <a:solidFill>
                  <a:srgbClr val="00B050"/>
                </a:solidFill>
              </a:rPr>
              <a:t>)’</a:t>
            </a:r>
            <a:r>
              <a:rPr lang="tr-TR" sz="2100" dirty="0" smtClean="0"/>
              <a:t>.</a:t>
            </a:r>
            <a:r>
              <a:rPr lang="tr-TR" sz="2100" dirty="0" smtClean="0">
                <a:solidFill>
                  <a:srgbClr val="00B050"/>
                </a:solidFill>
              </a:rPr>
              <a:t>(</a:t>
            </a:r>
            <a:r>
              <a:rPr lang="tr-TR" sz="2100" dirty="0" err="1" smtClean="0">
                <a:solidFill>
                  <a:srgbClr val="00B050"/>
                </a:solidFill>
              </a:rPr>
              <a:t>cd</a:t>
            </a:r>
            <a:r>
              <a:rPr lang="tr-TR" sz="2100" dirty="0" smtClean="0">
                <a:solidFill>
                  <a:srgbClr val="00B050"/>
                </a:solidFill>
              </a:rPr>
              <a:t>’)’</a:t>
            </a:r>
            <a:r>
              <a:rPr lang="tr-TR" sz="2100" dirty="0" smtClean="0"/>
              <a:t>]</a:t>
            </a:r>
            <a:r>
              <a:rPr lang="tr-TR" sz="2100" dirty="0" smtClean="0">
                <a:solidFill>
                  <a:srgbClr val="FF0000"/>
                </a:solidFill>
              </a:rPr>
              <a:t>’)’</a:t>
            </a:r>
          </a:p>
          <a:p>
            <a:pPr algn="just">
              <a:buFontTx/>
              <a:buNone/>
              <a:defRPr/>
            </a:pPr>
            <a:endParaRPr lang="tr-TR" sz="2100" dirty="0"/>
          </a:p>
        </p:txBody>
      </p:sp>
      <p:sp>
        <p:nvSpPr>
          <p:cNvPr id="15364" name="3 Altbilgi Yer Tutucusu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 dirty="0"/>
              <a:t>Logic Circuits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1 Başlık"/>
          <p:cNvSpPr>
            <a:spLocks noGrp="1"/>
          </p:cNvSpPr>
          <p:nvPr>
            <p:ph type="title"/>
          </p:nvPr>
        </p:nvSpPr>
        <p:spPr>
          <a:xfrm>
            <a:off x="664695" y="49305"/>
            <a:ext cx="7772400" cy="790575"/>
          </a:xfrm>
        </p:spPr>
        <p:txBody>
          <a:bodyPr/>
          <a:lstStyle/>
          <a:p>
            <a:r>
              <a:rPr lang="en-US" sz="2400" b="1" dirty="0" smtClean="0"/>
              <a:t>Converting Logic Expressions Given </a:t>
            </a:r>
            <a:r>
              <a:rPr lang="en-US" sz="2400" b="1" dirty="0" smtClean="0"/>
              <a:t>as </a:t>
            </a:r>
            <a:r>
              <a:rPr lang="en-US" sz="2400" b="1" dirty="0" err="1" smtClean="0"/>
              <a:t>Minterms</a:t>
            </a:r>
            <a:r>
              <a:rPr lang="en-US" sz="2400" b="1" dirty="0" smtClean="0"/>
              <a:t> to NAND and NOR Forms Using </a:t>
            </a:r>
            <a:r>
              <a:rPr lang="en-US" sz="2400" b="1" dirty="0" err="1" smtClean="0"/>
              <a:t>Karnaugh</a:t>
            </a:r>
            <a:r>
              <a:rPr lang="en-US" sz="2400" b="1" dirty="0" smtClean="0"/>
              <a:t> Maps</a:t>
            </a:r>
            <a:endParaRPr lang="tr-TR" sz="2400" dirty="0" smtClean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49250" y="912813"/>
            <a:ext cx="8375650" cy="5487987"/>
          </a:xfrm>
        </p:spPr>
        <p:txBody>
          <a:bodyPr/>
          <a:lstStyle/>
          <a:p>
            <a:pPr marL="0" indent="0" algn="just">
              <a:buFontTx/>
              <a:buNone/>
              <a:defRPr/>
            </a:pPr>
            <a:r>
              <a:rPr lang="en-US" sz="2100" b="1" dirty="0" smtClean="0"/>
              <a:t>Example</a:t>
            </a:r>
            <a:r>
              <a:rPr lang="tr-TR" sz="2100" b="1" dirty="0" smtClean="0"/>
              <a:t>: </a:t>
            </a:r>
            <a:r>
              <a:rPr lang="en-US" sz="2100" dirty="0" smtClean="0"/>
              <a:t>Let’s implement </a:t>
            </a:r>
            <a:r>
              <a:rPr lang="tr-TR" sz="2100" dirty="0" smtClean="0"/>
              <a:t>f(</a:t>
            </a:r>
            <a:r>
              <a:rPr lang="tr-TR" sz="2100" dirty="0" err="1" smtClean="0"/>
              <a:t>a,b,c</a:t>
            </a:r>
            <a:r>
              <a:rPr lang="tr-TR" sz="2100" dirty="0" smtClean="0"/>
              <a:t>) = ∑(0,1,3,5,6,7) </a:t>
            </a:r>
            <a:r>
              <a:rPr lang="en-US" sz="2100" dirty="0" smtClean="0"/>
              <a:t>using NAND and NOR gates.</a:t>
            </a:r>
            <a:endParaRPr lang="tr-TR" sz="2100" dirty="0" smtClean="0"/>
          </a:p>
          <a:p>
            <a:pPr algn="just">
              <a:buFontTx/>
              <a:buNone/>
              <a:defRPr/>
            </a:pPr>
            <a:endParaRPr lang="tr-TR" sz="1000" dirty="0" smtClean="0"/>
          </a:p>
          <a:p>
            <a:pPr marL="0" indent="0" algn="just">
              <a:buFontTx/>
              <a:buNone/>
              <a:defRPr/>
            </a:pPr>
            <a:r>
              <a:rPr lang="en-US" sz="2100" dirty="0" smtClean="0"/>
              <a:t>First, we create the K-Map.</a:t>
            </a:r>
            <a:endParaRPr lang="tr-TR" sz="2100" dirty="0" smtClean="0"/>
          </a:p>
          <a:p>
            <a:pPr marL="0" indent="0" algn="just">
              <a:buFontTx/>
              <a:buNone/>
              <a:defRPr/>
            </a:pPr>
            <a:endParaRPr lang="tr-TR" sz="2100" dirty="0" smtClean="0"/>
          </a:p>
          <a:p>
            <a:pPr marL="0" indent="0" algn="just">
              <a:buFontTx/>
              <a:buNone/>
              <a:defRPr/>
            </a:pPr>
            <a:endParaRPr lang="tr-TR" sz="2100" dirty="0" smtClean="0"/>
          </a:p>
          <a:p>
            <a:pPr marL="0" indent="0" algn="just">
              <a:buFontTx/>
              <a:buNone/>
              <a:defRPr/>
            </a:pPr>
            <a:endParaRPr lang="tr-TR" sz="2100" dirty="0" smtClean="0"/>
          </a:p>
          <a:p>
            <a:pPr marL="0" indent="0" algn="just">
              <a:buFontTx/>
              <a:buNone/>
              <a:defRPr/>
            </a:pPr>
            <a:endParaRPr lang="tr-TR" sz="2100" dirty="0" smtClean="0"/>
          </a:p>
          <a:p>
            <a:pPr marL="0" indent="0" algn="just">
              <a:buFontTx/>
              <a:buNone/>
              <a:defRPr/>
            </a:pPr>
            <a:r>
              <a:rPr lang="en-US" sz="2100" dirty="0" smtClean="0"/>
              <a:t>The simplified logic expression will be </a:t>
            </a:r>
            <a:r>
              <a:rPr lang="tr-TR" sz="2100" dirty="0" smtClean="0"/>
              <a:t>f(</a:t>
            </a:r>
            <a:r>
              <a:rPr lang="tr-TR" sz="2100" dirty="0" err="1" smtClean="0"/>
              <a:t>a,b,c</a:t>
            </a:r>
            <a:r>
              <a:rPr lang="tr-TR" sz="2100" dirty="0" smtClean="0"/>
              <a:t>) = </a:t>
            </a:r>
            <a:r>
              <a:rPr lang="tr-TR" sz="2100" dirty="0" err="1" smtClean="0"/>
              <a:t>c+a’b’+</a:t>
            </a:r>
            <a:r>
              <a:rPr lang="tr-TR" sz="2100" dirty="0" err="1" smtClean="0"/>
              <a:t>ab</a:t>
            </a:r>
            <a:r>
              <a:rPr lang="en-US" sz="2100" dirty="0" smtClean="0"/>
              <a:t>.</a:t>
            </a:r>
            <a:r>
              <a:rPr lang="en-US" sz="2100" dirty="0" smtClean="0"/>
              <a:t> We need to double negate the whole expression to convert it to NAND form.</a:t>
            </a:r>
            <a:endParaRPr lang="tr-TR" sz="1000" dirty="0" smtClean="0"/>
          </a:p>
          <a:p>
            <a:pPr algn="just">
              <a:buFontTx/>
              <a:buNone/>
              <a:defRPr/>
            </a:pPr>
            <a:r>
              <a:rPr lang="tr-TR" sz="2100" dirty="0" smtClean="0"/>
              <a:t>f(a,b,c) = [(c+</a:t>
            </a:r>
            <a:r>
              <a:rPr lang="tr-TR" sz="2100" dirty="0" err="1" smtClean="0"/>
              <a:t>a’b</a:t>
            </a:r>
            <a:r>
              <a:rPr lang="tr-TR" sz="2100" dirty="0" smtClean="0"/>
              <a:t>’+ab)’]’ = [c’.(</a:t>
            </a:r>
            <a:r>
              <a:rPr lang="tr-TR" sz="2100" dirty="0" err="1" smtClean="0"/>
              <a:t>a’b</a:t>
            </a:r>
            <a:r>
              <a:rPr lang="tr-TR" sz="2100" dirty="0" smtClean="0"/>
              <a:t>’)’.(ab)’]’</a:t>
            </a:r>
          </a:p>
          <a:p>
            <a:pPr algn="just">
              <a:buFontTx/>
              <a:buNone/>
              <a:defRPr/>
            </a:pPr>
            <a:endParaRPr lang="tr-TR" sz="1000" dirty="0" smtClean="0"/>
          </a:p>
          <a:p>
            <a:pPr marL="0" indent="0" algn="just">
              <a:buFontTx/>
              <a:buNone/>
              <a:defRPr/>
            </a:pPr>
            <a:r>
              <a:rPr lang="en-US" sz="2100" dirty="0" smtClean="0"/>
              <a:t>In real life, we use 2-input NAND gates to implement the circuits. So, we need to double negate 2</a:t>
            </a:r>
            <a:r>
              <a:rPr lang="en-US" sz="2100" baseline="30000" dirty="0" smtClean="0"/>
              <a:t>nd</a:t>
            </a:r>
            <a:r>
              <a:rPr lang="en-US" sz="2100" dirty="0" smtClean="0"/>
              <a:t> and 3</a:t>
            </a:r>
            <a:r>
              <a:rPr lang="en-US" sz="2100" baseline="30000" dirty="0" smtClean="0"/>
              <a:t>rd</a:t>
            </a:r>
            <a:r>
              <a:rPr lang="en-US" sz="2100" dirty="0" smtClean="0"/>
              <a:t> terms inside the brackets.</a:t>
            </a:r>
            <a:endParaRPr lang="tr-TR" sz="2100" dirty="0" smtClean="0"/>
          </a:p>
          <a:p>
            <a:pPr algn="just">
              <a:buFontTx/>
              <a:buNone/>
              <a:defRPr/>
            </a:pPr>
            <a:r>
              <a:rPr lang="tr-TR" sz="2400" dirty="0" smtClean="0"/>
              <a:t>f(a,b,c) = [c’.(</a:t>
            </a:r>
            <a:r>
              <a:rPr lang="tr-TR" sz="2400" dirty="0" err="1" smtClean="0"/>
              <a:t>a’b</a:t>
            </a:r>
            <a:r>
              <a:rPr lang="tr-TR" sz="2400" dirty="0" smtClean="0"/>
              <a:t>’)’.(ab)’]’ = [c’. </a:t>
            </a:r>
            <a:r>
              <a:rPr lang="tr-TR" sz="2400" dirty="0" smtClean="0">
                <a:solidFill>
                  <a:srgbClr val="FF0000"/>
                </a:solidFill>
              </a:rPr>
              <a:t>(</a:t>
            </a:r>
            <a:r>
              <a:rPr lang="tr-TR" sz="2400" dirty="0" smtClean="0">
                <a:solidFill>
                  <a:srgbClr val="00B050"/>
                </a:solidFill>
              </a:rPr>
              <a:t>[(</a:t>
            </a:r>
            <a:r>
              <a:rPr lang="tr-TR" sz="2400" dirty="0" err="1" smtClean="0">
                <a:solidFill>
                  <a:srgbClr val="00B050"/>
                </a:solidFill>
              </a:rPr>
              <a:t>a’b</a:t>
            </a:r>
            <a:r>
              <a:rPr lang="tr-TR" sz="2400" dirty="0" smtClean="0">
                <a:solidFill>
                  <a:srgbClr val="00B050"/>
                </a:solidFill>
              </a:rPr>
              <a:t>’)’.(ab)’]</a:t>
            </a:r>
            <a:r>
              <a:rPr lang="tr-TR" sz="2400" dirty="0" smtClean="0">
                <a:solidFill>
                  <a:srgbClr val="FF0000"/>
                </a:solidFill>
              </a:rPr>
              <a:t>’)’</a:t>
            </a:r>
            <a:r>
              <a:rPr lang="tr-TR" sz="2400" dirty="0" smtClean="0"/>
              <a:t>]’   </a:t>
            </a:r>
          </a:p>
          <a:p>
            <a:pPr algn="just">
              <a:buFontTx/>
              <a:buNone/>
              <a:defRPr/>
            </a:pPr>
            <a:endParaRPr lang="tr-TR" sz="2100" dirty="0" smtClean="0"/>
          </a:p>
          <a:p>
            <a:pPr marL="0" indent="0" algn="just">
              <a:buFontTx/>
              <a:buNone/>
              <a:defRPr/>
            </a:pPr>
            <a:endParaRPr lang="tr-TR" sz="2100" dirty="0" smtClean="0"/>
          </a:p>
          <a:p>
            <a:pPr algn="just">
              <a:buFontTx/>
              <a:buNone/>
              <a:defRPr/>
            </a:pPr>
            <a:endParaRPr lang="tr-TR" sz="2100" dirty="0"/>
          </a:p>
        </p:txBody>
      </p:sp>
      <p:sp>
        <p:nvSpPr>
          <p:cNvPr id="16388" name="3 Altbilgi Yer Tutucusu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 dirty="0"/>
              <a:t>Logic Circuits</a:t>
            </a:r>
          </a:p>
        </p:txBody>
      </p:sp>
      <p:pic>
        <p:nvPicPr>
          <p:cNvPr id="16389" name="4 Resim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27288" y="2363788"/>
            <a:ext cx="2703512" cy="1192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1 Başlık"/>
          <p:cNvSpPr>
            <a:spLocks noGrp="1"/>
          </p:cNvSpPr>
          <p:nvPr>
            <p:ph type="title"/>
          </p:nvPr>
        </p:nvSpPr>
        <p:spPr>
          <a:xfrm>
            <a:off x="659468" y="52290"/>
            <a:ext cx="7772400" cy="790575"/>
          </a:xfrm>
        </p:spPr>
        <p:txBody>
          <a:bodyPr/>
          <a:lstStyle/>
          <a:p>
            <a:r>
              <a:rPr lang="en-US" sz="2400" b="1" dirty="0"/>
              <a:t>Converting Logic Expressions Given as </a:t>
            </a:r>
            <a:r>
              <a:rPr lang="en-US" sz="2400" b="1" dirty="0" err="1"/>
              <a:t>Minterms</a:t>
            </a:r>
            <a:r>
              <a:rPr lang="en-US" sz="2400" b="1" dirty="0"/>
              <a:t> to NAND and NOR Forms Using </a:t>
            </a:r>
            <a:r>
              <a:rPr lang="en-US" sz="2400" b="1" dirty="0" err="1"/>
              <a:t>Karnaugh</a:t>
            </a:r>
            <a:r>
              <a:rPr lang="en-US" sz="2400" b="1" dirty="0"/>
              <a:t> Maps</a:t>
            </a:r>
            <a:endParaRPr lang="tr-TR" sz="2400" b="1" dirty="0" smtClean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49250" y="900113"/>
            <a:ext cx="8375650" cy="5513387"/>
          </a:xfrm>
        </p:spPr>
        <p:txBody>
          <a:bodyPr/>
          <a:lstStyle/>
          <a:p>
            <a:pPr marL="0" indent="0" algn="just">
              <a:buFontTx/>
              <a:buNone/>
              <a:defRPr/>
            </a:pPr>
            <a:r>
              <a:rPr lang="en-US" sz="2100" dirty="0" smtClean="0"/>
              <a:t>To implement f using NOR gates in a practical way, we first create the K-Map of f’, then negate it to find out f in </a:t>
            </a:r>
            <a:r>
              <a:rPr lang="en-US" sz="2100" dirty="0" err="1" smtClean="0"/>
              <a:t>PoS</a:t>
            </a:r>
            <a:r>
              <a:rPr lang="en-US" sz="2100" dirty="0" smtClean="0"/>
              <a:t> form.</a:t>
            </a:r>
          </a:p>
          <a:p>
            <a:pPr marL="0" indent="0" algn="just">
              <a:buFontTx/>
              <a:buNone/>
              <a:defRPr/>
            </a:pPr>
            <a:endParaRPr lang="en-US" sz="2100" dirty="0"/>
          </a:p>
          <a:p>
            <a:pPr marL="0" indent="0" algn="just">
              <a:buFontTx/>
              <a:buNone/>
              <a:defRPr/>
            </a:pPr>
            <a:endParaRPr lang="tr-TR" sz="2100" dirty="0" smtClean="0"/>
          </a:p>
          <a:p>
            <a:pPr marL="0" indent="0" algn="just">
              <a:buFontTx/>
              <a:buNone/>
              <a:defRPr/>
            </a:pPr>
            <a:r>
              <a:rPr lang="tr-TR" sz="2100" dirty="0" smtClean="0"/>
              <a:t>        f                                                        f ’</a:t>
            </a:r>
          </a:p>
          <a:p>
            <a:pPr>
              <a:buFontTx/>
              <a:buNone/>
              <a:defRPr/>
            </a:pPr>
            <a:endParaRPr lang="tr-TR" sz="800" dirty="0" smtClean="0"/>
          </a:p>
          <a:p>
            <a:pPr>
              <a:buFontTx/>
              <a:buNone/>
              <a:defRPr/>
            </a:pPr>
            <a:r>
              <a:rPr lang="tr-TR" sz="2100" dirty="0" smtClean="0"/>
              <a:t>						    f ’(a,b,c) = </a:t>
            </a:r>
            <a:r>
              <a:rPr lang="tr-TR" sz="2100" dirty="0" err="1" smtClean="0"/>
              <a:t>ab’c</a:t>
            </a:r>
            <a:r>
              <a:rPr lang="tr-TR" sz="2100" dirty="0" smtClean="0"/>
              <a:t>’+</a:t>
            </a:r>
            <a:r>
              <a:rPr lang="tr-TR" sz="2100" dirty="0" err="1" smtClean="0"/>
              <a:t>a’bc</a:t>
            </a:r>
            <a:r>
              <a:rPr lang="tr-TR" sz="2100" dirty="0" smtClean="0"/>
              <a:t>’</a:t>
            </a:r>
          </a:p>
          <a:p>
            <a:pPr>
              <a:buFontTx/>
              <a:buNone/>
              <a:defRPr/>
            </a:pPr>
            <a:r>
              <a:rPr lang="tr-TR" sz="2100" dirty="0" smtClean="0"/>
              <a:t>					            f = (f ‘)’ =(a’+b+c).(a+b’+c)</a:t>
            </a:r>
          </a:p>
          <a:p>
            <a:pPr>
              <a:buFontTx/>
              <a:buNone/>
              <a:defRPr/>
            </a:pPr>
            <a:endParaRPr lang="tr-TR" sz="1000" dirty="0" smtClean="0"/>
          </a:p>
          <a:p>
            <a:pPr marL="0" indent="0" algn="just">
              <a:buNone/>
            </a:pPr>
            <a:r>
              <a:rPr lang="en-US" sz="2100" dirty="0" smtClean="0"/>
              <a:t>Then we double negate the expression in </a:t>
            </a:r>
            <a:r>
              <a:rPr lang="en-US" sz="2100" dirty="0" err="1" smtClean="0"/>
              <a:t>PoS</a:t>
            </a:r>
            <a:r>
              <a:rPr lang="en-US" sz="2100" dirty="0" smtClean="0"/>
              <a:t> form to convert it to NOR form.</a:t>
            </a:r>
            <a:endParaRPr lang="tr-TR" sz="1000" dirty="0" smtClean="0"/>
          </a:p>
          <a:p>
            <a:pPr>
              <a:buFontTx/>
              <a:buNone/>
              <a:defRPr/>
            </a:pPr>
            <a:r>
              <a:rPr lang="tr-TR" sz="2100" dirty="0" smtClean="0"/>
              <a:t>f = [(a’+b+c)’+(a+b’+c)’]’ </a:t>
            </a:r>
          </a:p>
          <a:p>
            <a:pPr>
              <a:buFontTx/>
              <a:buNone/>
              <a:defRPr/>
            </a:pPr>
            <a:endParaRPr lang="tr-TR" sz="1000" dirty="0" smtClean="0"/>
          </a:p>
          <a:p>
            <a:pPr>
              <a:buFontTx/>
              <a:buNone/>
              <a:defRPr/>
            </a:pPr>
            <a:r>
              <a:rPr lang="en-US" sz="2100" dirty="0" smtClean="0"/>
              <a:t>Then, we convert it to 2-input NOR gates form.</a:t>
            </a:r>
            <a:endParaRPr lang="tr-TR" sz="2100" dirty="0" smtClean="0"/>
          </a:p>
          <a:p>
            <a:pPr>
              <a:buFontTx/>
              <a:buNone/>
              <a:defRPr/>
            </a:pPr>
            <a:r>
              <a:rPr lang="tr-TR" sz="2100" dirty="0" smtClean="0"/>
              <a:t>f = ([</a:t>
            </a:r>
            <a:r>
              <a:rPr lang="tr-TR" sz="2100" dirty="0" smtClean="0">
                <a:solidFill>
                  <a:srgbClr val="FF0000"/>
                </a:solidFill>
              </a:rPr>
              <a:t>(</a:t>
            </a:r>
            <a:r>
              <a:rPr lang="tr-TR" sz="2100" dirty="0" smtClean="0">
                <a:solidFill>
                  <a:srgbClr val="00B050"/>
                </a:solidFill>
              </a:rPr>
              <a:t>(a’+b)</a:t>
            </a:r>
            <a:r>
              <a:rPr lang="tr-TR" sz="2100" dirty="0" smtClean="0">
                <a:solidFill>
                  <a:srgbClr val="FF0000"/>
                </a:solidFill>
              </a:rPr>
              <a:t>’)’</a:t>
            </a:r>
            <a:r>
              <a:rPr lang="tr-TR" sz="2100" dirty="0" smtClean="0"/>
              <a:t>+c]’ + [</a:t>
            </a:r>
            <a:r>
              <a:rPr lang="tr-TR" sz="2100" dirty="0" smtClean="0">
                <a:solidFill>
                  <a:srgbClr val="FF0000"/>
                </a:solidFill>
              </a:rPr>
              <a:t>(</a:t>
            </a:r>
            <a:r>
              <a:rPr lang="tr-TR" sz="2100" dirty="0" smtClean="0">
                <a:solidFill>
                  <a:srgbClr val="00B050"/>
                </a:solidFill>
              </a:rPr>
              <a:t>(a+b’)</a:t>
            </a:r>
            <a:r>
              <a:rPr lang="tr-TR" sz="2100" dirty="0" smtClean="0">
                <a:solidFill>
                  <a:srgbClr val="FF0000"/>
                </a:solidFill>
              </a:rPr>
              <a:t>’)’</a:t>
            </a:r>
            <a:r>
              <a:rPr lang="tr-TR" sz="2100" dirty="0" smtClean="0"/>
              <a:t>+c]’)’</a:t>
            </a:r>
          </a:p>
          <a:p>
            <a:pPr algn="just">
              <a:buFontTx/>
              <a:buNone/>
              <a:defRPr/>
            </a:pPr>
            <a:endParaRPr lang="tr-TR" sz="2100" dirty="0"/>
          </a:p>
        </p:txBody>
      </p:sp>
      <p:sp>
        <p:nvSpPr>
          <p:cNvPr id="17412" name="3 Altbilgi Yer Tutucusu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 dirty="0"/>
              <a:t>Logic Circuits</a:t>
            </a:r>
          </a:p>
        </p:txBody>
      </p:sp>
      <p:pic>
        <p:nvPicPr>
          <p:cNvPr id="17413" name="4 Resim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33975" y="1679293"/>
            <a:ext cx="2663825" cy="1106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14" name="5 Resim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46188" y="1631668"/>
            <a:ext cx="2703512" cy="1192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verview">
  <a:themeElements>
    <a:clrScheme name="overview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verview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36000" tIns="36000" rIns="36000" bIns="3600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36000" tIns="36000" rIns="36000" bIns="3600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overview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verview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verview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verview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verview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verview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verview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is Teması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is Teması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class_new</Template>
  <TotalTime>10897</TotalTime>
  <Words>1412</Words>
  <Application>Microsoft Office PowerPoint</Application>
  <PresentationFormat>Ekran Gösterisi (4:3)</PresentationFormat>
  <Paragraphs>246</Paragraphs>
  <Slides>16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16</vt:i4>
      </vt:variant>
    </vt:vector>
  </HeadingPairs>
  <TitlesOfParts>
    <vt:vector size="22" baseType="lpstr">
      <vt:lpstr>Comic Sans MS</vt:lpstr>
      <vt:lpstr>Helvetica</vt:lpstr>
      <vt:lpstr>Symbol</vt:lpstr>
      <vt:lpstr>Times New Roman</vt:lpstr>
      <vt:lpstr>Wingdings</vt:lpstr>
      <vt:lpstr>overview</vt:lpstr>
      <vt:lpstr>Quine-McCluskey Method</vt:lpstr>
      <vt:lpstr>Simplification of logic expressions using Quine-McCluskey Method (Tabulation Method)</vt:lpstr>
      <vt:lpstr>Simplification of logic expressions using Quine-McCluskey Method (Tabulation Method)</vt:lpstr>
      <vt:lpstr>Example</vt:lpstr>
      <vt:lpstr>Example</vt:lpstr>
      <vt:lpstr>Example</vt:lpstr>
      <vt:lpstr>Example</vt:lpstr>
      <vt:lpstr>Using NAND and NOR Gates as Universal Gates</vt:lpstr>
      <vt:lpstr>Using NAND and NOR Gates as Universal Gates</vt:lpstr>
      <vt:lpstr>Using NAND and NOR Gates as Universal Gates</vt:lpstr>
      <vt:lpstr>Implementing Logic Expressions with NAND Gates</vt:lpstr>
      <vt:lpstr>Implementing Logic Expressions with NOR Gates</vt:lpstr>
      <vt:lpstr>Converting Logic Expressions to NAND and NOR Forms using Boolean Algebra</vt:lpstr>
      <vt:lpstr>Converting Logic Expressions to NAND and NOR Forms using Boolean Algebra</vt:lpstr>
      <vt:lpstr>Converting Logic Expressions Given as Minterms to NAND and NOR Forms Using Karnaugh Maps</vt:lpstr>
      <vt:lpstr>Converting Logic Expressions Given as Minterms to NAND and NOR Forms Using Karnaugh Maps</vt:lpstr>
    </vt:vector>
  </TitlesOfParts>
  <Company>Washington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IPC</dc:title>
  <dc:creator>Fred Kuhns</dc:creator>
  <cp:lastModifiedBy>Windows User</cp:lastModifiedBy>
  <cp:revision>313</cp:revision>
  <cp:lastPrinted>2001-01-30T20:22:47Z</cp:lastPrinted>
  <dcterms:created xsi:type="dcterms:W3CDTF">1999-07-07T12:46:17Z</dcterms:created>
  <dcterms:modified xsi:type="dcterms:W3CDTF">2019-09-26T07:29:26Z</dcterms:modified>
</cp:coreProperties>
</file>