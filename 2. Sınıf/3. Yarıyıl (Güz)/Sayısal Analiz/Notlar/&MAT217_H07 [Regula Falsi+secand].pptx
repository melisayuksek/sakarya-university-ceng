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09" r:id="rId1"/>
  </p:sldMasterIdLst>
  <p:notesMasterIdLst>
    <p:notesMasterId r:id="rId14"/>
  </p:notesMasterIdLst>
  <p:handoutMasterIdLst>
    <p:handoutMasterId r:id="rId15"/>
  </p:handoutMasterIdLst>
  <p:sldIdLst>
    <p:sldId id="256" r:id="rId2"/>
    <p:sldId id="270" r:id="rId3"/>
    <p:sldId id="278" r:id="rId4"/>
    <p:sldId id="279" r:id="rId5"/>
    <p:sldId id="284" r:id="rId6"/>
    <p:sldId id="285" r:id="rId7"/>
    <p:sldId id="288" r:id="rId8"/>
    <p:sldId id="290" r:id="rId9"/>
    <p:sldId id="292" r:id="rId10"/>
    <p:sldId id="287" r:id="rId11"/>
    <p:sldId id="294" r:id="rId12"/>
    <p:sldId id="258" r:id="rId1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5F5F5F"/>
    <a:srgbClr val="FFFFFF"/>
    <a:srgbClr val="F8F8F8"/>
    <a:srgbClr val="EAEAEA"/>
    <a:srgbClr val="DDDDDD"/>
    <a:srgbClr val="C0C0C0"/>
    <a:srgbClr val="969696"/>
    <a:srgbClr val="3C605F"/>
    <a:srgbClr val="85BA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47" autoAdjust="0"/>
    <p:restoredTop sz="85075" autoAdjust="0"/>
  </p:normalViewPr>
  <p:slideViewPr>
    <p:cSldViewPr>
      <p:cViewPr varScale="1">
        <p:scale>
          <a:sx n="100" d="100"/>
          <a:sy n="100" d="100"/>
        </p:scale>
        <p:origin x="-241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2526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tr-TR"/>
          </a:p>
        </p:txBody>
      </p:sp>
      <p:sp>
        <p:nvSpPr>
          <p:cNvPr id="116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tr-TR"/>
          </a:p>
        </p:txBody>
      </p:sp>
      <p:sp>
        <p:nvSpPr>
          <p:cNvPr id="116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tr-TR"/>
          </a:p>
        </p:txBody>
      </p:sp>
      <p:sp>
        <p:nvSpPr>
          <p:cNvPr id="116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B7A8066-7E68-4D30-B2C1-61A668CE483C}" type="slidenum">
              <a:rPr lang="tr-TR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0961911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tr-TR"/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tr-TR"/>
          </a:p>
        </p:txBody>
      </p:sp>
      <p:sp>
        <p:nvSpPr>
          <p:cNvPr id="1177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177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</a:p>
        </p:txBody>
      </p:sp>
      <p:sp>
        <p:nvSpPr>
          <p:cNvPr id="1177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tr-TR"/>
          </a:p>
        </p:txBody>
      </p:sp>
      <p:sp>
        <p:nvSpPr>
          <p:cNvPr id="1177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FA2BFB0-25B4-4D96-A77A-383ABC758268}" type="slidenum">
              <a:rPr lang="tr-TR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29978326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B3C50B7-AF34-4A62-97C4-13169690B673}" type="slidenum">
              <a:rPr lang="tr-TR"/>
              <a:pPr/>
              <a:t>1</a:t>
            </a:fld>
            <a:endParaRPr lang="tr-TR"/>
          </a:p>
        </p:txBody>
      </p:sp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r-TR" sz="1200" kern="1200" smtClean="0">
              <a:solidFill>
                <a:schemeClr val="tx1"/>
              </a:solidFill>
              <a:latin typeface="Times New Roman" pitchFamily="18" charset="0"/>
              <a:ea typeface="+mn-ea"/>
              <a:cs typeface="+mn-cs"/>
              <a:sym typeface="Wingdings" pitchFamily="2" charset="2"/>
            </a:endParaRPr>
          </a:p>
        </p:txBody>
      </p:sp>
      <p:sp>
        <p:nvSpPr>
          <p:cNvPr id="8" name="7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8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endParaRPr lang="tr-TR" sz="1200" b="1" dirty="0" smtClean="0">
              <a:solidFill>
                <a:srgbClr val="002060"/>
              </a:solidFill>
              <a:latin typeface="Agency FB" pitchFamily="34" charset="0"/>
            </a:endParaRPr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2</a:t>
            </a:fld>
            <a:endParaRPr lang="tr-T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1200" kern="120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Bu yöntemde gerçek köke</a:t>
            </a:r>
            <a:r>
              <a:rPr kumimoji="1" lang="tr-TR" sz="1200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 yakınsama yavaştır, fakat daima yakınsama olduğundan basit İterasyon ve N-R  yöntemlerine göre daha avantajlıdır. Bu yöntemin kullanılabilmesi için iki tane başlangıç değeri verilmesi gerekir.</a:t>
            </a:r>
            <a:endParaRPr kumimoji="1" lang="tr-TR" sz="1200" kern="1200" dirty="0" smtClean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3</a:t>
            </a:fld>
            <a:endParaRPr lang="tr-T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tr-TR" sz="1200" kern="1200" dirty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4</a:t>
            </a:fld>
            <a:endParaRPr lang="tr-T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tr-TR" sz="1200" kern="1200" dirty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5</a:t>
            </a:fld>
            <a:endParaRPr lang="tr-T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tr-TR" sz="1200" kern="1200" dirty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6</a:t>
            </a:fld>
            <a:endParaRPr lang="tr-T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tr-TR" sz="1200" kern="1200" dirty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10</a:t>
            </a:fld>
            <a:endParaRPr lang="tr-T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tr-TR" sz="1200" kern="1200" dirty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11</a:t>
            </a:fld>
            <a:endParaRPr lang="tr-T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13 Başlık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22" name="21 Alt Başlık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tr-TR" smtClean="0"/>
              <a:t>Asıl alt başlık stilini düzenlemek için tıklatın</a:t>
            </a:r>
            <a:endParaRPr kumimoji="0" lang="en-US"/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20" name="19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10" name="9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73751C7-D8B0-49E9-A6B0-B08BA81E385A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8" name="7 Oval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8 Oval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C6896E4-35C4-4741-8A69-D49CDAA919B9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Dikdörtgen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6E08E03-CBA5-420D-86FB-7DF12D12D6CF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10" name="9 Dikdörtgen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7 Oval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8 Oval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E887F6D-74AF-4C97-AB36-9D486FAFEC9D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5" name="4 İçerik Yer Tutucusu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5CEFBEA-62D8-40CD-A836-12C755D5691F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2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0D0DD8D-94BE-46CD-B195-BB07F56D2C37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Dikdörtgen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2580765-CA1E-49FB-9913-CFC5C9FD115E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6" name="5 Dikdörtgen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2 Metin Yer Tutucusu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B1E048B-EE2C-4801-A93E-9CCC1CE44209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C21CAA1-4B5B-46E7-B225-5361E635197D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8" name="7 Dikdörtgen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tr-TR" smtClean="0"/>
              <a:t>Resim eklemek için simgeyi tıklatın</a:t>
            </a:r>
            <a:endParaRPr kumimoji="0" lang="en-US" dirty="0"/>
          </a:p>
        </p:txBody>
      </p:sp>
      <p:sp>
        <p:nvSpPr>
          <p:cNvPr id="9" name="8 Akış Çizelgesi: İşlem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9 Akış Çizelgesi: İşlem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D6474DD-0F94-435A-8A30-215C9A7EADC4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B6793C7-B4F9-440E-960C-4179A869FEFA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Pasta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7 Oval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10 Halka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11 Dikdörtgen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4 Başlık Yer Tutucusu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9" name="8 Metin Yer Tutucusu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  <a:p>
            <a:pPr lvl="1" eaLnBrk="1" latinLnBrk="0" hangingPunct="1"/>
            <a:r>
              <a:rPr kumimoji="0" lang="tr-TR" smtClean="0"/>
              <a:t>İkinci düzey</a:t>
            </a:r>
          </a:p>
          <a:p>
            <a:pPr lvl="2" eaLnBrk="1" latinLnBrk="0" hangingPunct="1"/>
            <a:r>
              <a:rPr kumimoji="0" lang="tr-TR" smtClean="0"/>
              <a:t>Üçüncü düzey</a:t>
            </a:r>
          </a:p>
          <a:p>
            <a:pPr lvl="3" eaLnBrk="1" latinLnBrk="0" hangingPunct="1"/>
            <a:r>
              <a:rPr kumimoji="0" lang="tr-TR" smtClean="0"/>
              <a:t>Dördüncü düzey</a:t>
            </a:r>
          </a:p>
          <a:p>
            <a:pPr lvl="4" eaLnBrk="1" latinLnBrk="0" hangingPunct="1"/>
            <a:r>
              <a:rPr kumimoji="0" lang="tr-TR" smtClean="0"/>
              <a:t>Beşinci düzey</a:t>
            </a:r>
            <a:endParaRPr kumimoji="0" lang="en-US"/>
          </a:p>
        </p:txBody>
      </p:sp>
      <p:sp>
        <p:nvSpPr>
          <p:cNvPr id="24" name="23 Veri Yer Tutucusu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10" name="9 Altbilgi Yer Tutucusu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22" name="21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06E49F00-3D9E-4CFE-A554-658867EA9789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15" name="14 Dikdörtgen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transition>
    <p:pull dir="r"/>
  </p:transition>
  <p:timing>
    <p:tnLst>
      <p:par>
        <p:cTn id="1" dur="indefinite" restart="never" nodeType="tmRoot"/>
      </p:par>
    </p:tnLst>
  </p:timing>
  <p:hf hdr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tr-TR" sz="3600" b="1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50800" dist="88900" dir="5400000" algn="ctr" rotWithShape="0">
                    <a:srgbClr val="000000">
                      <a:alpha val="42000"/>
                    </a:srgbClr>
                  </a:outerShdw>
                </a:effectLst>
                <a:latin typeface="Harrington" pitchFamily="82" charset="0"/>
              </a:rPr>
              <a:t>Sayısal Analiz</a:t>
            </a:r>
            <a:endParaRPr lang="tr-TR" sz="3600" b="1" dirty="0">
              <a:solidFill>
                <a:schemeClr val="accent2">
                  <a:lumMod val="75000"/>
                </a:schemeClr>
              </a:solidFill>
              <a:effectLst>
                <a:outerShdw blurRad="50800" dist="88900" dir="5400000" algn="ctr" rotWithShape="0">
                  <a:srgbClr val="000000">
                    <a:alpha val="42000"/>
                  </a:srgbClr>
                </a:outerShdw>
              </a:effectLst>
              <a:latin typeface="Harrington" pitchFamily="82" charset="0"/>
            </a:endParaRPr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04800" y="5143512"/>
            <a:ext cx="7924800" cy="72388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tr-TR" sz="2000" b="1" dirty="0" smtClean="0">
                <a:effectLst>
                  <a:outerShdw blurRad="50800" dist="88900" dir="5400000" algn="ctr" rotWithShape="0">
                    <a:srgbClr val="000000">
                      <a:alpha val="42000"/>
                    </a:srgbClr>
                  </a:outerShdw>
                </a:effectLst>
                <a:latin typeface="Harrington" pitchFamily="82" charset="0"/>
                <a:ea typeface="+mj-ea"/>
                <a:cs typeface="+mj-cs"/>
              </a:rPr>
              <a:t>Lineer Olmayan </a:t>
            </a:r>
          </a:p>
          <a:p>
            <a:pPr>
              <a:spcBef>
                <a:spcPct val="0"/>
              </a:spcBef>
            </a:pPr>
            <a:r>
              <a:rPr lang="tr-TR" sz="2000" b="1" dirty="0" smtClean="0">
                <a:effectLst>
                  <a:outerShdw blurRad="50800" dist="88900" dir="5400000" algn="ctr" rotWithShape="0">
                    <a:srgbClr val="000000">
                      <a:alpha val="42000"/>
                    </a:srgbClr>
                  </a:outerShdw>
                </a:effectLst>
                <a:latin typeface="Harrington" pitchFamily="82" charset="0"/>
                <a:ea typeface="+mj-ea"/>
                <a:cs typeface="+mj-cs"/>
              </a:rPr>
              <a:t>Denklem Sistemlerinin Çözüm Yöntemleri</a:t>
            </a:r>
            <a:endParaRPr lang="tr-TR" sz="2000" b="1" dirty="0">
              <a:effectLst>
                <a:outerShdw blurRad="50800" dist="88900" dir="5400000" algn="ctr" rotWithShape="0">
                  <a:srgbClr val="000000">
                    <a:alpha val="42000"/>
                  </a:srgbClr>
                </a:outerShdw>
              </a:effectLst>
              <a:latin typeface="Harrington" pitchFamily="82" charset="0"/>
              <a:ea typeface="+mj-ea"/>
              <a:cs typeface="+mj-cs"/>
            </a:endParaRPr>
          </a:p>
        </p:txBody>
      </p:sp>
      <p:sp>
        <p:nvSpPr>
          <p:cNvPr id="11" name="10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smtClean="0"/>
              <a:t>7.  </a:t>
            </a:r>
            <a:r>
              <a:rPr lang="tr-TR" dirty="0" smtClean="0"/>
              <a:t>Hafta</a:t>
            </a:r>
            <a:endParaRPr lang="tr-TR" dirty="0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751C7-D8B0-49E9-A6B0-B08BA81E385A}" type="slidenum">
              <a:rPr lang="tr-TR" smtClean="0"/>
              <a:pPr/>
              <a:t>1</a:t>
            </a:fld>
            <a:endParaRPr lang="tr-TR"/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14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1500166" y="714356"/>
            <a:ext cx="7391400" cy="5767406"/>
          </a:xfrm>
        </p:spPr>
        <p:txBody>
          <a:bodyPr/>
          <a:lstStyle/>
          <a:p>
            <a:pPr>
              <a:buNone/>
            </a:pPr>
            <a:r>
              <a:rPr lang="tr-TR" sz="1600" b="1" dirty="0" smtClean="0">
                <a:solidFill>
                  <a:srgbClr val="5F5F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Ders İçeriği</a:t>
            </a:r>
          </a:p>
          <a:p>
            <a:pPr>
              <a:buFont typeface="Wingdings" pitchFamily="2" charset="2"/>
              <a:buChar char="v"/>
            </a:pPr>
            <a:endParaRPr lang="tr-TR" sz="2000" dirty="0" smtClean="0"/>
          </a:p>
          <a:p>
            <a:pPr>
              <a:buFont typeface="Wingdings" pitchFamily="2" charset="2"/>
              <a:buChar char="v"/>
            </a:pPr>
            <a:endParaRPr lang="tr-TR" sz="2000" b="1" dirty="0" smtClean="0">
              <a:solidFill>
                <a:srgbClr val="000099"/>
              </a:solidFill>
              <a:latin typeface="Agency FB" pitchFamily="34" charset="0"/>
            </a:endParaRPr>
          </a:p>
          <a:p>
            <a:pPr>
              <a:buFont typeface="Wingdings" pitchFamily="2" charset="2"/>
              <a:buChar char="v"/>
            </a:pPr>
            <a:endParaRPr lang="tr-TR" sz="2000" b="1" dirty="0" smtClean="0">
              <a:solidFill>
                <a:srgbClr val="000099"/>
              </a:solidFill>
              <a:latin typeface="Agency FB" pitchFamily="34" charset="0"/>
            </a:endParaRPr>
          </a:p>
          <a:p>
            <a:pPr>
              <a:buFont typeface="Wingdings" pitchFamily="2" charset="2"/>
              <a:buChar char="v"/>
            </a:pPr>
            <a:r>
              <a:rPr lang="tr-TR" sz="2000" b="1" dirty="0" err="1" smtClean="0">
                <a:solidFill>
                  <a:srgbClr val="002060"/>
                </a:solidFill>
                <a:latin typeface="Agency FB" pitchFamily="34" charset="0"/>
              </a:rPr>
              <a:t>Regula</a:t>
            </a:r>
            <a:r>
              <a:rPr lang="tr-TR" sz="2000" b="1" dirty="0" smtClean="0">
                <a:solidFill>
                  <a:srgbClr val="002060"/>
                </a:solidFill>
                <a:latin typeface="Agency FB" pitchFamily="34" charset="0"/>
              </a:rPr>
              <a:t> </a:t>
            </a:r>
            <a:r>
              <a:rPr lang="tr-TR" sz="2000" b="1" dirty="0" err="1" smtClean="0">
                <a:solidFill>
                  <a:srgbClr val="002060"/>
                </a:solidFill>
                <a:latin typeface="Agency FB" pitchFamily="34" charset="0"/>
              </a:rPr>
              <a:t>Falsi</a:t>
            </a:r>
            <a:r>
              <a:rPr lang="tr-TR" sz="2000" b="1" dirty="0" smtClean="0">
                <a:solidFill>
                  <a:srgbClr val="002060"/>
                </a:solidFill>
                <a:latin typeface="Agency FB" pitchFamily="34" charset="0"/>
              </a:rPr>
              <a:t> Yöntemi</a:t>
            </a:r>
          </a:p>
          <a:p>
            <a:pPr>
              <a:buFont typeface="Wingdings" pitchFamily="2" charset="2"/>
              <a:buChar char="v"/>
            </a:pPr>
            <a:r>
              <a:rPr lang="tr-TR" sz="2000" b="1" dirty="0" err="1" smtClean="0">
                <a:solidFill>
                  <a:srgbClr val="002060"/>
                </a:solidFill>
                <a:latin typeface="Agency FB" pitchFamily="34" charset="0"/>
              </a:rPr>
              <a:t>Secant</a:t>
            </a:r>
            <a:r>
              <a:rPr lang="tr-TR" sz="2000" b="1" dirty="0" smtClean="0">
                <a:solidFill>
                  <a:srgbClr val="002060"/>
                </a:solidFill>
                <a:latin typeface="Agency FB" pitchFamily="34" charset="0"/>
              </a:rPr>
              <a:t> </a:t>
            </a:r>
            <a:r>
              <a:rPr lang="tr-TR" sz="2000" b="1" dirty="0" smtClean="0">
                <a:solidFill>
                  <a:srgbClr val="002060"/>
                </a:solidFill>
                <a:latin typeface="Agency FB" pitchFamily="34" charset="0"/>
              </a:rPr>
              <a:t>Yöntemi </a:t>
            </a:r>
          </a:p>
          <a:p>
            <a:pPr>
              <a:buFont typeface="Wingdings" pitchFamily="2" charset="2"/>
              <a:buChar char="v"/>
            </a:pPr>
            <a:r>
              <a:rPr lang="tr-TR" sz="2000" b="1" dirty="0" smtClean="0">
                <a:solidFill>
                  <a:srgbClr val="002060"/>
                </a:solidFill>
                <a:latin typeface="Agency FB" pitchFamily="34" charset="0"/>
              </a:rPr>
              <a:t>Örnekler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>
          <a:xfrm>
            <a:off x="357158" y="5929330"/>
            <a:ext cx="714380" cy="476250"/>
          </a:xfrm>
        </p:spPr>
        <p:txBody>
          <a:bodyPr/>
          <a:lstStyle/>
          <a:p>
            <a:pPr algn="ctr"/>
            <a:r>
              <a:rPr lang="tr-TR" smtClean="0"/>
              <a:t>2.  Sayfa</a:t>
            </a:r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96E4-35C4-4741-8A69-D49CDAA919B9}" type="slidenum">
              <a:rPr lang="tr-TR" smtClean="0"/>
              <a:pPr/>
              <a:t>2</a:t>
            </a:fld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7.  Hafta</a:t>
            </a:r>
            <a:endParaRPr kumimoji="0" lang="tr-TR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>
          <a:xfrm>
            <a:off x="3124200" y="6565945"/>
            <a:ext cx="2895600" cy="363517"/>
          </a:xfrm>
        </p:spPr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285720" y="6000768"/>
            <a:ext cx="642942" cy="476250"/>
          </a:xfrm>
        </p:spPr>
        <p:txBody>
          <a:bodyPr/>
          <a:lstStyle/>
          <a:p>
            <a:pPr algn="ctr"/>
            <a:fld id="{5C6896E4-35C4-4741-8A69-D49CDAA919B9}" type="slidenum">
              <a:rPr lang="tr-TR" smtClean="0"/>
              <a:pPr algn="ctr"/>
              <a:t>3</a:t>
            </a:fld>
            <a:r>
              <a:rPr lang="tr-TR" smtClean="0"/>
              <a:t>.</a:t>
            </a:r>
          </a:p>
          <a:p>
            <a:pPr algn="ctr"/>
            <a:r>
              <a:rPr lang="tr-TR" smtClean="0"/>
              <a:t>Sayfa</a:t>
            </a:r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214282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7.  Hafta</a:t>
            </a:r>
            <a:endParaRPr kumimoji="0" lang="tr-TR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4" name="2 İçerik Yer Tutucusu"/>
          <p:cNvSpPr txBox="1">
            <a:spLocks/>
          </p:cNvSpPr>
          <p:nvPr/>
        </p:nvSpPr>
        <p:spPr bwMode="white">
          <a:xfrm>
            <a:off x="1115616" y="620688"/>
            <a:ext cx="4857784" cy="4685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eaLnBrk="1" hangingPunct="1">
              <a:spcBef>
                <a:spcPct val="20000"/>
              </a:spcBef>
              <a:buClr>
                <a:srgbClr val="3C605F"/>
              </a:buClr>
              <a:buSzPct val="75000"/>
            </a:pPr>
            <a:r>
              <a:rPr kumimoji="1" lang="tr-TR" sz="1600" b="1" kern="0" dirty="0" smtClean="0">
                <a:solidFill>
                  <a:srgbClr val="5F5F5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Regula Falsi Yöntemi </a:t>
            </a:r>
          </a:p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Char char="v"/>
              <a:tabLst/>
              <a:defRPr/>
            </a:pPr>
            <a:endParaRPr kumimoji="1" lang="tr-TR" sz="1600" b="0" i="0" u="none" strike="noStrike" kern="0" cap="none" spc="0" normalizeH="0" baseline="0" noProof="0" dirty="0" smtClean="0">
              <a:ln>
                <a:noFill/>
              </a:ln>
              <a:solidFill>
                <a:srgbClr val="5F5F5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None/>
              <a:tabLst/>
              <a:defRPr/>
            </a:pPr>
            <a:endParaRPr kumimoji="1" lang="tr-TR" sz="1600" b="0" i="0" u="none" strike="noStrike" kern="0" cap="none" spc="0" normalizeH="0" baseline="0" noProof="0" dirty="0" smtClean="0">
              <a:ln>
                <a:noFill/>
              </a:ln>
              <a:solidFill>
                <a:srgbClr val="5F5F5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2976" y="1142984"/>
            <a:ext cx="7557893" cy="550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10 Resim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86578" y="2571744"/>
            <a:ext cx="2143140" cy="18573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2 İçerik Yer Tutucusu"/>
          <p:cNvSpPr txBox="1">
            <a:spLocks/>
          </p:cNvSpPr>
          <p:nvPr/>
        </p:nvSpPr>
        <p:spPr>
          <a:xfrm>
            <a:off x="2443178" y="-24"/>
            <a:ext cx="6700854" cy="611410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365760" marR="0" lvl="0" indent="-283464" algn="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tr-TR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gency FB" pitchFamily="34" charset="0"/>
                <a:ea typeface="+mn-ea"/>
                <a:cs typeface="+mn-cs"/>
              </a:rPr>
              <a:t>Lineer Olmayan </a:t>
            </a:r>
          </a:p>
          <a:p>
            <a:pPr marL="365760" marR="0" lvl="0" indent="-283464" algn="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tr-TR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gency FB" pitchFamily="34" charset="0"/>
                <a:ea typeface="+mn-ea"/>
                <a:cs typeface="+mn-cs"/>
              </a:rPr>
              <a:t>Denklem Sistemlerinin Çözüm Yöntemleri</a:t>
            </a:r>
          </a:p>
          <a:p>
            <a:pPr marL="822960" lvl="1" indent="-283464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itchFamily="2" charset="2"/>
              <a:buChar char="v"/>
            </a:pPr>
            <a:endParaRPr kumimoji="0" lang="tr-TR" sz="1600" b="0" i="0" u="none" strike="noStrike" kern="1200" cap="none" spc="0" normalizeH="0" baseline="0" noProof="0" dirty="0" smtClean="0">
              <a:ln>
                <a:noFill/>
              </a:ln>
              <a:solidFill>
                <a:schemeClr val="accent2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gency FB" pitchFamily="34" charset="0"/>
              <a:ea typeface="+mn-ea"/>
              <a:cs typeface="+mn-cs"/>
            </a:endParaRP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endParaRPr kumimoji="0" lang="tr-TR" sz="1600" b="0" i="0" u="none" strike="noStrike" kern="1200" cap="none" spc="0" normalizeH="0" baseline="0" noProof="0" dirty="0" smtClean="0">
              <a:ln>
                <a:noFill/>
              </a:ln>
              <a:solidFill>
                <a:schemeClr val="accent2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>
          <a:xfrm>
            <a:off x="3124200" y="6565945"/>
            <a:ext cx="2895600" cy="363517"/>
          </a:xfrm>
        </p:spPr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285720" y="6000768"/>
            <a:ext cx="642942" cy="476250"/>
          </a:xfrm>
        </p:spPr>
        <p:txBody>
          <a:bodyPr/>
          <a:lstStyle/>
          <a:p>
            <a:pPr algn="ctr"/>
            <a:fld id="{5C6896E4-35C4-4741-8A69-D49CDAA919B9}" type="slidenum">
              <a:rPr lang="tr-TR" smtClean="0"/>
              <a:pPr algn="ctr"/>
              <a:t>4</a:t>
            </a:fld>
            <a:r>
              <a:rPr lang="tr-TR" smtClean="0"/>
              <a:t>.</a:t>
            </a:r>
          </a:p>
          <a:p>
            <a:pPr algn="ctr"/>
            <a:r>
              <a:rPr lang="tr-TR" smtClean="0"/>
              <a:t>Sayfa</a:t>
            </a:r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214282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7.  Hafta</a:t>
            </a:r>
            <a:endParaRPr kumimoji="0" lang="tr-TR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4" name="2 İçerik Yer Tutucusu"/>
          <p:cNvSpPr txBox="1">
            <a:spLocks/>
          </p:cNvSpPr>
          <p:nvPr/>
        </p:nvSpPr>
        <p:spPr bwMode="white">
          <a:xfrm>
            <a:off x="1115616" y="548680"/>
            <a:ext cx="4857784" cy="4685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eaLnBrk="1" hangingPunct="1">
              <a:spcBef>
                <a:spcPct val="20000"/>
              </a:spcBef>
              <a:buClr>
                <a:srgbClr val="3C605F"/>
              </a:buClr>
              <a:buSzPct val="75000"/>
            </a:pPr>
            <a:r>
              <a:rPr kumimoji="1" lang="tr-TR" sz="1600" b="1" kern="0" dirty="0" smtClean="0"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Regula Falsi Yöntemi </a:t>
            </a:r>
          </a:p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Char char="v"/>
              <a:tabLst/>
              <a:defRPr/>
            </a:pPr>
            <a:endParaRPr kumimoji="1" lang="tr-TR" sz="1600" b="0" i="0" u="none" strike="noStrike" kern="0" cap="none" spc="0" normalizeH="0" baseline="0" noProof="0" dirty="0" smtClean="0">
              <a:ln>
                <a:noFill/>
              </a:ln>
              <a:solidFill>
                <a:schemeClr val="accent2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None/>
              <a:tabLst/>
              <a:defRPr/>
            </a:pPr>
            <a:endParaRPr kumimoji="1" lang="tr-TR" sz="1600" b="0" i="0" u="none" strike="noStrike" kern="0" cap="none" spc="0" normalizeH="0" baseline="0" noProof="0" dirty="0" smtClean="0">
              <a:ln>
                <a:noFill/>
              </a:ln>
              <a:solidFill>
                <a:schemeClr val="accent2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07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69822" y="1142985"/>
            <a:ext cx="7386793" cy="4429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2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14546" y="5715015"/>
            <a:ext cx="6388648" cy="8229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2 İçerik Yer Tutucusu"/>
          <p:cNvSpPr txBox="1">
            <a:spLocks/>
          </p:cNvSpPr>
          <p:nvPr/>
        </p:nvSpPr>
        <p:spPr>
          <a:xfrm>
            <a:off x="2443178" y="-24"/>
            <a:ext cx="6700854" cy="611410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365760" marR="0" lvl="0" indent="-283464" algn="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tr-TR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gency FB" pitchFamily="34" charset="0"/>
                <a:ea typeface="+mn-ea"/>
                <a:cs typeface="+mn-cs"/>
              </a:rPr>
              <a:t>Lineer Olmayan </a:t>
            </a:r>
          </a:p>
          <a:p>
            <a:pPr marL="365760" marR="0" lvl="0" indent="-283464" algn="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tr-TR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gency FB" pitchFamily="34" charset="0"/>
                <a:ea typeface="+mn-ea"/>
                <a:cs typeface="+mn-cs"/>
              </a:rPr>
              <a:t>Denklem Sistemlerinin Çözüm Yöntemleri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itchFamily="2" charset="2"/>
              <a:buChar char="v"/>
              <a:tabLst/>
              <a:defRPr/>
            </a:pPr>
            <a:endParaRPr kumimoji="0" lang="tr-TR" sz="1600" b="0" i="0" u="none" strike="noStrike" kern="1200" cap="none" spc="0" normalizeH="0" baseline="0" noProof="0" dirty="0" smtClean="0">
              <a:ln>
                <a:noFill/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gency FB" pitchFamily="34" charset="0"/>
              <a:ea typeface="+mn-ea"/>
              <a:cs typeface="+mn-cs"/>
            </a:endParaRP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endParaRPr kumimoji="0" lang="tr-TR" sz="1600" b="0" i="0" u="none" strike="noStrike" kern="1200" cap="none" spc="0" normalizeH="0" baseline="0" noProof="0" dirty="0" smtClean="0">
              <a:ln>
                <a:noFill/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9 Dikdörtgen"/>
          <p:cNvSpPr/>
          <p:nvPr/>
        </p:nvSpPr>
        <p:spPr>
          <a:xfrm>
            <a:off x="4355976" y="3501008"/>
            <a:ext cx="1872208" cy="360040"/>
          </a:xfrm>
          <a:prstGeom prst="rect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1" name="10 Dikdörtgen"/>
          <p:cNvSpPr/>
          <p:nvPr/>
        </p:nvSpPr>
        <p:spPr>
          <a:xfrm>
            <a:off x="2771800" y="3501008"/>
            <a:ext cx="1512168" cy="360040"/>
          </a:xfrm>
          <a:prstGeom prst="rect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 cstate="print">
            <a:lum bright="16000" contrast="18000"/>
          </a:blip>
          <a:srcRect/>
          <a:stretch>
            <a:fillRect/>
          </a:stretch>
        </p:blipFill>
        <p:spPr bwMode="auto">
          <a:xfrm>
            <a:off x="7039231" y="1628800"/>
            <a:ext cx="2104769" cy="6202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12 Dikdörtgen"/>
          <p:cNvSpPr/>
          <p:nvPr/>
        </p:nvSpPr>
        <p:spPr>
          <a:xfrm>
            <a:off x="6547280" y="5877272"/>
            <a:ext cx="689016" cy="360040"/>
          </a:xfrm>
          <a:prstGeom prst="rect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>
          <a:xfrm>
            <a:off x="3124200" y="6565945"/>
            <a:ext cx="2895600" cy="363517"/>
          </a:xfrm>
        </p:spPr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285720" y="6000768"/>
            <a:ext cx="642942" cy="476250"/>
          </a:xfrm>
        </p:spPr>
        <p:txBody>
          <a:bodyPr/>
          <a:lstStyle/>
          <a:p>
            <a:pPr algn="ctr"/>
            <a:fld id="{5C6896E4-35C4-4741-8A69-D49CDAA919B9}" type="slidenum">
              <a:rPr lang="tr-TR" smtClean="0"/>
              <a:pPr algn="ctr"/>
              <a:t>5</a:t>
            </a:fld>
            <a:r>
              <a:rPr lang="tr-TR" smtClean="0"/>
              <a:t>.</a:t>
            </a:r>
          </a:p>
          <a:p>
            <a:pPr algn="ctr"/>
            <a:r>
              <a:rPr lang="tr-TR" smtClean="0"/>
              <a:t>Sayfa</a:t>
            </a:r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214282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7.  Hafta</a:t>
            </a:r>
            <a:endParaRPr kumimoji="0" lang="tr-TR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4" name="2 İçerik Yer Tutucusu"/>
          <p:cNvSpPr txBox="1">
            <a:spLocks/>
          </p:cNvSpPr>
          <p:nvPr/>
        </p:nvSpPr>
        <p:spPr bwMode="white">
          <a:xfrm>
            <a:off x="1115616" y="548680"/>
            <a:ext cx="4857784" cy="4685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eaLnBrk="1" hangingPunct="1">
              <a:spcBef>
                <a:spcPct val="20000"/>
              </a:spcBef>
              <a:buClr>
                <a:srgbClr val="3C605F"/>
              </a:buClr>
              <a:buSzPct val="75000"/>
            </a:pPr>
            <a:r>
              <a:rPr kumimoji="1" lang="tr-TR" sz="1600" b="1" kern="0" dirty="0" smtClean="0"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Regula Falsi Yöntemi </a:t>
            </a:r>
          </a:p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Char char="v"/>
              <a:tabLst/>
              <a:defRPr/>
            </a:pPr>
            <a:endParaRPr kumimoji="1" lang="tr-TR" sz="1600" b="0" i="0" u="none" strike="noStrike" kern="0" cap="none" spc="0" normalizeH="0" baseline="0" noProof="0" dirty="0" smtClean="0">
              <a:ln>
                <a:noFill/>
              </a:ln>
              <a:solidFill>
                <a:schemeClr val="accent2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None/>
              <a:tabLst/>
              <a:defRPr/>
            </a:pPr>
            <a:endParaRPr kumimoji="1" lang="tr-TR" sz="1600" b="0" i="0" u="none" strike="noStrike" kern="0" cap="none" spc="0" normalizeH="0" baseline="0" noProof="0" dirty="0" smtClean="0">
              <a:ln>
                <a:noFill/>
              </a:ln>
              <a:solidFill>
                <a:schemeClr val="accent2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32897" y="1214423"/>
            <a:ext cx="6194504" cy="5143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2 İçerik Yer Tutucusu"/>
          <p:cNvSpPr txBox="1">
            <a:spLocks/>
          </p:cNvSpPr>
          <p:nvPr/>
        </p:nvSpPr>
        <p:spPr>
          <a:xfrm>
            <a:off x="2443178" y="-24"/>
            <a:ext cx="6700854" cy="611410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365760" marR="0" lvl="0" indent="-283464" algn="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tr-TR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gency FB" pitchFamily="34" charset="0"/>
                <a:ea typeface="+mn-ea"/>
                <a:cs typeface="+mn-cs"/>
              </a:rPr>
              <a:t>Lineer Olmayan </a:t>
            </a:r>
          </a:p>
          <a:p>
            <a:pPr marL="365760" marR="0" lvl="0" indent="-283464" algn="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tr-TR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gency FB" pitchFamily="34" charset="0"/>
                <a:ea typeface="+mn-ea"/>
                <a:cs typeface="+mn-cs"/>
              </a:rPr>
              <a:t>Denklem Sistemlerinin Çözüm Yöntemleri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itchFamily="2" charset="2"/>
              <a:buChar char="v"/>
              <a:tabLst/>
              <a:defRPr/>
            </a:pPr>
            <a:endParaRPr kumimoji="0" lang="tr-TR" sz="1600" b="0" i="0" u="none" strike="noStrike" kern="1200" cap="none" spc="0" normalizeH="0" baseline="0" noProof="0" dirty="0" smtClean="0">
              <a:ln>
                <a:noFill/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gency FB" pitchFamily="34" charset="0"/>
              <a:ea typeface="+mn-ea"/>
              <a:cs typeface="+mn-cs"/>
            </a:endParaRP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endParaRPr kumimoji="0" lang="tr-TR" sz="1600" b="0" i="0" u="none" strike="noStrike" kern="1200" cap="none" spc="0" normalizeH="0" baseline="0" noProof="0" dirty="0" smtClean="0">
              <a:ln>
                <a:noFill/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>
          <a:xfrm>
            <a:off x="3124200" y="6565945"/>
            <a:ext cx="2895600" cy="363517"/>
          </a:xfrm>
        </p:spPr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285720" y="6000768"/>
            <a:ext cx="642942" cy="476250"/>
          </a:xfrm>
        </p:spPr>
        <p:txBody>
          <a:bodyPr/>
          <a:lstStyle/>
          <a:p>
            <a:pPr algn="ctr"/>
            <a:fld id="{5C6896E4-35C4-4741-8A69-D49CDAA919B9}" type="slidenum">
              <a:rPr lang="tr-TR" smtClean="0"/>
              <a:pPr algn="ctr"/>
              <a:t>6</a:t>
            </a:fld>
            <a:r>
              <a:rPr lang="tr-TR" dirty="0" smtClean="0"/>
              <a:t>.</a:t>
            </a:r>
          </a:p>
          <a:p>
            <a:pPr algn="ctr"/>
            <a:r>
              <a:rPr lang="tr-TR" dirty="0" smtClean="0"/>
              <a:t>Sayfa</a:t>
            </a:r>
            <a:endParaRPr lang="tr-TR" dirty="0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214282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7.  Hafta</a:t>
            </a:r>
            <a:endParaRPr kumimoji="0" lang="tr-TR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4" name="2 İçerik Yer Tutucusu"/>
          <p:cNvSpPr txBox="1">
            <a:spLocks/>
          </p:cNvSpPr>
          <p:nvPr/>
        </p:nvSpPr>
        <p:spPr bwMode="white">
          <a:xfrm>
            <a:off x="1187624" y="620688"/>
            <a:ext cx="4857784" cy="4685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eaLnBrk="1" hangingPunct="1">
              <a:spcBef>
                <a:spcPct val="20000"/>
              </a:spcBef>
              <a:buClr>
                <a:srgbClr val="3C605F"/>
              </a:buClr>
              <a:buSzPct val="75000"/>
            </a:pPr>
            <a:r>
              <a:rPr kumimoji="1" lang="tr-TR" sz="1600" b="1" kern="0" dirty="0" smtClean="0"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Regula Falsi Yöntemi </a:t>
            </a:r>
          </a:p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Char char="v"/>
              <a:tabLst/>
              <a:defRPr/>
            </a:pPr>
            <a:endParaRPr kumimoji="1" lang="tr-TR" sz="1600" b="0" i="0" u="none" strike="noStrike" kern="0" cap="none" spc="0" normalizeH="0" baseline="0" noProof="0" dirty="0" smtClean="0">
              <a:ln>
                <a:noFill/>
              </a:ln>
              <a:solidFill>
                <a:schemeClr val="accent2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None/>
              <a:tabLst/>
              <a:defRPr/>
            </a:pPr>
            <a:endParaRPr kumimoji="1" lang="tr-TR" sz="1600" b="0" i="0" u="none" strike="noStrike" kern="0" cap="none" spc="0" normalizeH="0" baseline="0" noProof="0" dirty="0" smtClean="0">
              <a:ln>
                <a:noFill/>
              </a:ln>
              <a:solidFill>
                <a:schemeClr val="accent2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57290" y="1222796"/>
            <a:ext cx="6200775" cy="534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2 İçerik Yer Tutucusu"/>
          <p:cNvSpPr txBox="1">
            <a:spLocks/>
          </p:cNvSpPr>
          <p:nvPr/>
        </p:nvSpPr>
        <p:spPr>
          <a:xfrm>
            <a:off x="2443178" y="-24"/>
            <a:ext cx="6700854" cy="611410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365760" marR="0" lvl="0" indent="-283464" algn="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tr-TR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gency FB" pitchFamily="34" charset="0"/>
                <a:ea typeface="+mn-ea"/>
                <a:cs typeface="+mn-cs"/>
              </a:rPr>
              <a:t>Lineer Olmayan </a:t>
            </a:r>
          </a:p>
          <a:p>
            <a:pPr marL="365760" marR="0" lvl="0" indent="-283464" algn="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tr-TR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gency FB" pitchFamily="34" charset="0"/>
                <a:ea typeface="+mn-ea"/>
                <a:cs typeface="+mn-cs"/>
              </a:rPr>
              <a:t>Denklem Sistemlerinin Çözüm Yöntemleri</a:t>
            </a: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" pitchFamily="2" charset="2"/>
              <a:buChar char="v"/>
              <a:tabLst/>
              <a:defRPr/>
            </a:pPr>
            <a:endParaRPr kumimoji="0" lang="tr-TR" sz="1600" b="0" i="0" u="none" strike="noStrike" kern="1200" cap="none" spc="0" normalizeH="0" baseline="0" noProof="0" dirty="0" smtClean="0">
              <a:ln>
                <a:noFill/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gency FB" pitchFamily="34" charset="0"/>
              <a:ea typeface="+mn-ea"/>
              <a:cs typeface="+mn-cs"/>
            </a:endParaRPr>
          </a:p>
          <a:p>
            <a:pPr marL="365760" marR="0" lvl="0" indent="-283464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endParaRPr kumimoji="0" lang="tr-TR" sz="1600" b="0" i="0" u="none" strike="noStrike" kern="1200" cap="none" spc="0" normalizeH="0" baseline="0" noProof="0" dirty="0" smtClean="0">
              <a:ln>
                <a:noFill/>
              </a:ln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96E4-35C4-4741-8A69-D49CDAA919B9}" type="slidenum">
              <a:rPr lang="tr-TR" smtClean="0"/>
              <a:pPr/>
              <a:t>7</a:t>
            </a:fld>
            <a:endParaRPr lang="tr-TR"/>
          </a:p>
        </p:txBody>
      </p:sp>
      <p:sp>
        <p:nvSpPr>
          <p:cNvPr id="11" name="5 Slayt Numarası Yer Tutucusu"/>
          <p:cNvSpPr txBox="1">
            <a:spLocks/>
          </p:cNvSpPr>
          <p:nvPr/>
        </p:nvSpPr>
        <p:spPr>
          <a:xfrm>
            <a:off x="285720" y="6000768"/>
            <a:ext cx="642942" cy="476250"/>
          </a:xfrm>
          <a:prstGeom prst="rect">
            <a:avLst/>
          </a:prstGeom>
        </p:spPr>
        <p:txBody>
          <a:bodyPr anchor="b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C6896E4-35C4-4741-8A69-D49CDAA919B9}" type="slidenum">
              <a:rPr kumimoji="0" lang="tr-TR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shade val="50000"/>
                    <a:satMod val="200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r>
              <a:rPr kumimoji="0" lang="tr-TR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shade val="50000"/>
                    <a:satMod val="200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shade val="50000"/>
                    <a:satMod val="200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Sayfa</a:t>
            </a:r>
            <a:endParaRPr kumimoji="0" lang="tr-TR" sz="12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2" name="6 Veri Yer Tutucusu"/>
          <p:cNvSpPr txBox="1">
            <a:spLocks/>
          </p:cNvSpPr>
          <p:nvPr/>
        </p:nvSpPr>
        <p:spPr bwMode="auto">
          <a:xfrm>
            <a:off x="214282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7.  Hafta</a:t>
            </a:r>
            <a:endParaRPr kumimoji="0" lang="tr-TR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3" name="1 Başlık"/>
          <p:cNvSpPr txBox="1">
            <a:spLocks/>
          </p:cNvSpPr>
          <p:nvPr/>
        </p:nvSpPr>
        <p:spPr bwMode="auto">
          <a:xfrm rot="16200000">
            <a:off x="-1446744" y="2319633"/>
            <a:ext cx="4036431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6374" y="3294521"/>
            <a:ext cx="4366115" cy="31920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567" y="767543"/>
            <a:ext cx="7980807" cy="2526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pull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96E4-35C4-4741-8A69-D49CDAA919B9}" type="slidenum">
              <a:rPr lang="tr-TR" smtClean="0"/>
              <a:pPr/>
              <a:t>8</a:t>
            </a:fld>
            <a:endParaRPr lang="tr-TR"/>
          </a:p>
        </p:txBody>
      </p:sp>
      <p:sp>
        <p:nvSpPr>
          <p:cNvPr id="11" name="5 Slayt Numarası Yer Tutucusu"/>
          <p:cNvSpPr txBox="1">
            <a:spLocks/>
          </p:cNvSpPr>
          <p:nvPr/>
        </p:nvSpPr>
        <p:spPr>
          <a:xfrm>
            <a:off x="285720" y="6000768"/>
            <a:ext cx="642942" cy="476250"/>
          </a:xfrm>
          <a:prstGeom prst="rect">
            <a:avLst/>
          </a:prstGeom>
        </p:spPr>
        <p:txBody>
          <a:bodyPr anchor="b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C6896E4-35C4-4741-8A69-D49CDAA919B9}" type="slidenum">
              <a:rPr kumimoji="0" lang="tr-TR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shade val="50000"/>
                    <a:satMod val="200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r>
              <a:rPr kumimoji="0" lang="tr-TR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shade val="50000"/>
                    <a:satMod val="200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shade val="50000"/>
                    <a:satMod val="200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Sayfa</a:t>
            </a:r>
            <a:endParaRPr kumimoji="0" lang="tr-TR" sz="12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2" name="6 Veri Yer Tutucusu"/>
          <p:cNvSpPr txBox="1">
            <a:spLocks/>
          </p:cNvSpPr>
          <p:nvPr/>
        </p:nvSpPr>
        <p:spPr bwMode="auto">
          <a:xfrm>
            <a:off x="214282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7.  Hafta</a:t>
            </a:r>
            <a:endParaRPr kumimoji="0" lang="tr-TR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799" y="1700808"/>
            <a:ext cx="8075490" cy="3705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Yuvarlatılmış Dikdörtgen 1"/>
          <p:cNvSpPr/>
          <p:nvPr/>
        </p:nvSpPr>
        <p:spPr>
          <a:xfrm>
            <a:off x="3311277" y="4035560"/>
            <a:ext cx="3816424" cy="864096"/>
          </a:xfrm>
          <a:prstGeom prst="roundRect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4" name="1 Başlık"/>
          <p:cNvSpPr txBox="1">
            <a:spLocks/>
          </p:cNvSpPr>
          <p:nvPr/>
        </p:nvSpPr>
        <p:spPr bwMode="auto">
          <a:xfrm rot="16200000">
            <a:off x="-1446744" y="2319633"/>
            <a:ext cx="4036431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pull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96E4-35C4-4741-8A69-D49CDAA919B9}" type="slidenum">
              <a:rPr lang="tr-TR" smtClean="0"/>
              <a:pPr/>
              <a:t>9</a:t>
            </a:fld>
            <a:endParaRPr lang="tr-TR"/>
          </a:p>
        </p:txBody>
      </p:sp>
      <p:sp>
        <p:nvSpPr>
          <p:cNvPr id="11" name="5 Slayt Numarası Yer Tutucusu"/>
          <p:cNvSpPr txBox="1">
            <a:spLocks/>
          </p:cNvSpPr>
          <p:nvPr/>
        </p:nvSpPr>
        <p:spPr>
          <a:xfrm>
            <a:off x="285720" y="6000768"/>
            <a:ext cx="642942" cy="476250"/>
          </a:xfrm>
          <a:prstGeom prst="rect">
            <a:avLst/>
          </a:prstGeom>
        </p:spPr>
        <p:txBody>
          <a:bodyPr anchor="b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C6896E4-35C4-4741-8A69-D49CDAA919B9}" type="slidenum">
              <a:rPr kumimoji="0" lang="tr-TR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shade val="50000"/>
                    <a:satMod val="200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r>
              <a:rPr kumimoji="0" lang="tr-TR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shade val="50000"/>
                    <a:satMod val="200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2">
                    <a:shade val="50000"/>
                    <a:satMod val="200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Sayfa</a:t>
            </a:r>
            <a:endParaRPr kumimoji="0" lang="tr-TR" sz="12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shade val="50000"/>
                  <a:satMod val="200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2" name="6 Veri Yer Tutucusu"/>
          <p:cNvSpPr txBox="1">
            <a:spLocks/>
          </p:cNvSpPr>
          <p:nvPr/>
        </p:nvSpPr>
        <p:spPr bwMode="auto">
          <a:xfrm>
            <a:off x="214282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7.  Hafta</a:t>
            </a:r>
            <a:endParaRPr kumimoji="0" lang="tr-TR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0" name="1 Başlık"/>
          <p:cNvSpPr txBox="1">
            <a:spLocks/>
          </p:cNvSpPr>
          <p:nvPr/>
        </p:nvSpPr>
        <p:spPr bwMode="auto">
          <a:xfrm rot="16200000">
            <a:off x="-1446744" y="2319633"/>
            <a:ext cx="4036431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423" y="504255"/>
            <a:ext cx="7620000" cy="583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1747984"/>
            <a:ext cx="3014663" cy="566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pull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>
          <a:xfrm>
            <a:off x="3124200" y="6565945"/>
            <a:ext cx="2895600" cy="363517"/>
          </a:xfrm>
        </p:spPr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285720" y="6000768"/>
            <a:ext cx="642942" cy="476250"/>
          </a:xfrm>
        </p:spPr>
        <p:txBody>
          <a:bodyPr/>
          <a:lstStyle/>
          <a:p>
            <a:pPr algn="ctr"/>
            <a:fld id="{5C6896E4-35C4-4741-8A69-D49CDAA919B9}" type="slidenum">
              <a:rPr lang="tr-TR" smtClean="0"/>
              <a:pPr algn="ctr"/>
              <a:t>10</a:t>
            </a:fld>
            <a:r>
              <a:rPr lang="tr-TR" smtClean="0"/>
              <a:t>.</a:t>
            </a:r>
          </a:p>
          <a:p>
            <a:pPr algn="ctr"/>
            <a:r>
              <a:rPr lang="tr-TR" smtClean="0"/>
              <a:t>Sayfa</a:t>
            </a:r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214282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7.  Hafta</a:t>
            </a:r>
            <a:endParaRPr kumimoji="0" lang="tr-TR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7624" y="476672"/>
            <a:ext cx="7639050" cy="611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1 Başlık"/>
          <p:cNvSpPr txBox="1">
            <a:spLocks/>
          </p:cNvSpPr>
          <p:nvPr/>
        </p:nvSpPr>
        <p:spPr bwMode="auto">
          <a:xfrm rot="16200000">
            <a:off x="-1446744" y="2319633"/>
            <a:ext cx="4036431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>
          <a:xfrm>
            <a:off x="3124200" y="6565945"/>
            <a:ext cx="2895600" cy="363517"/>
          </a:xfrm>
        </p:spPr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285720" y="6000768"/>
            <a:ext cx="642942" cy="476250"/>
          </a:xfrm>
        </p:spPr>
        <p:txBody>
          <a:bodyPr/>
          <a:lstStyle/>
          <a:p>
            <a:pPr algn="ctr"/>
            <a:fld id="{5C6896E4-35C4-4741-8A69-D49CDAA919B9}" type="slidenum">
              <a:rPr lang="tr-TR" smtClean="0"/>
              <a:pPr algn="ctr"/>
              <a:t>11</a:t>
            </a:fld>
            <a:r>
              <a:rPr lang="tr-TR" smtClean="0"/>
              <a:t>.</a:t>
            </a:r>
          </a:p>
          <a:p>
            <a:pPr algn="ctr"/>
            <a:r>
              <a:rPr lang="tr-TR" smtClean="0"/>
              <a:t>Sayfa</a:t>
            </a:r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214282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7.  Hafta</a:t>
            </a:r>
            <a:endParaRPr kumimoji="0" lang="tr-TR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4" name="2 İçerik Yer Tutucusu"/>
          <p:cNvSpPr txBox="1">
            <a:spLocks/>
          </p:cNvSpPr>
          <p:nvPr/>
        </p:nvSpPr>
        <p:spPr bwMode="white">
          <a:xfrm>
            <a:off x="4499992" y="0"/>
            <a:ext cx="4464496" cy="4685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eaLnBrk="1" hangingPunct="1">
              <a:spcBef>
                <a:spcPct val="20000"/>
              </a:spcBef>
              <a:buClr>
                <a:srgbClr val="3C605F"/>
              </a:buClr>
              <a:buSzPct val="75000"/>
            </a:pPr>
            <a:r>
              <a:rPr kumimoji="1" lang="tr-TR" sz="1600" b="1" kern="0" dirty="0" smtClean="0"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Sekant Yöntemi </a:t>
            </a:r>
          </a:p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Char char="v"/>
              <a:tabLst/>
              <a:defRPr/>
            </a:pPr>
            <a:endParaRPr kumimoji="1" lang="tr-TR" sz="1600" b="0" i="0" u="none" strike="noStrike" kern="0" cap="none" spc="0" normalizeH="0" baseline="0" noProof="0" dirty="0" smtClean="0">
              <a:ln>
                <a:noFill/>
              </a:ln>
              <a:solidFill>
                <a:schemeClr val="accent2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C605F"/>
              </a:buClr>
              <a:buSzPct val="75000"/>
              <a:buFont typeface="Wingdings" pitchFamily="2" charset="2"/>
              <a:buNone/>
              <a:tabLst/>
              <a:defRPr/>
            </a:pPr>
            <a:endParaRPr kumimoji="1" lang="tr-TR" sz="1600" b="0" i="0" u="none" strike="noStrike" kern="0" cap="none" spc="0" normalizeH="0" baseline="0" noProof="0" dirty="0" smtClean="0">
              <a:ln>
                <a:noFill/>
              </a:ln>
              <a:solidFill>
                <a:schemeClr val="accent2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7 Metin kutusu"/>
          <p:cNvSpPr txBox="1"/>
          <p:nvPr/>
        </p:nvSpPr>
        <p:spPr>
          <a:xfrm>
            <a:off x="1979712" y="1700808"/>
            <a:ext cx="15167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 smtClean="0"/>
              <a:t>Matlab</a:t>
            </a:r>
            <a:r>
              <a:rPr lang="tr-TR" dirty="0" smtClean="0"/>
              <a:t> … </a:t>
            </a:r>
            <a:endParaRPr lang="tr-TR" dirty="0"/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-32" y="-24"/>
            <a:ext cx="7381875" cy="490540"/>
          </a:xfrm>
        </p:spPr>
        <p:txBody>
          <a:bodyPr/>
          <a:lstStyle/>
          <a:p>
            <a:r>
              <a:rPr lang="tr-TR" sz="2400" smtClean="0">
                <a:latin typeface="Harrington" pitchFamily="82" charset="0"/>
              </a:rPr>
              <a:t>Sayısal Analiz</a:t>
            </a:r>
            <a:endParaRPr lang="tr-TR" sz="2400"/>
          </a:p>
        </p:txBody>
      </p:sp>
      <p:sp>
        <p:nvSpPr>
          <p:cNvPr id="10" name="9 Veri Yer Tutucusu"/>
          <p:cNvSpPr>
            <a:spLocks noGrp="1"/>
          </p:cNvSpPr>
          <p:nvPr>
            <p:ph type="dt" sz="half" idx="10"/>
          </p:nvPr>
        </p:nvSpPr>
        <p:spPr>
          <a:xfrm>
            <a:off x="357158" y="5000636"/>
            <a:ext cx="714380" cy="642942"/>
          </a:xfrm>
        </p:spPr>
        <p:txBody>
          <a:bodyPr/>
          <a:lstStyle/>
          <a:p>
            <a:pPr algn="ctr"/>
            <a:r>
              <a:rPr lang="tr-TR" smtClean="0"/>
              <a:t>7.  </a:t>
            </a:r>
            <a:r>
              <a:rPr lang="tr-TR" dirty="0" smtClean="0"/>
              <a:t>Hafta</a:t>
            </a:r>
            <a:endParaRPr lang="tr-TR" dirty="0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>
          <a:xfrm>
            <a:off x="3143240" y="6557988"/>
            <a:ext cx="2895600" cy="476250"/>
          </a:xfrm>
        </p:spPr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357158" y="5929330"/>
            <a:ext cx="714380" cy="571504"/>
          </a:xfrm>
        </p:spPr>
        <p:txBody>
          <a:bodyPr/>
          <a:lstStyle/>
          <a:p>
            <a:pPr algn="ctr"/>
            <a:fld id="{5C6896E4-35C4-4741-8A69-D49CDAA919B9}" type="slidenum">
              <a:rPr lang="tr-TR" smtClean="0"/>
              <a:pPr algn="ctr"/>
              <a:t>12</a:t>
            </a:fld>
            <a:r>
              <a:rPr lang="tr-TR" smtClean="0"/>
              <a:t>. Sayfa</a:t>
            </a:r>
            <a:endParaRPr lang="tr-TR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00166" y="857232"/>
            <a:ext cx="7643834" cy="5643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/>
          <a:lstStyle/>
          <a:p>
            <a:pPr marL="342900" indent="-342900" eaLnBrk="1" hangingPunct="1">
              <a:spcBef>
                <a:spcPct val="20000"/>
              </a:spcBef>
              <a:buClr>
                <a:srgbClr val="3C605F"/>
              </a:buClr>
              <a:buSzPct val="75000"/>
            </a:pPr>
            <a:r>
              <a:rPr kumimoji="1" lang="tr-TR" sz="1600" dirty="0" smtClean="0">
                <a:solidFill>
                  <a:schemeClr val="bg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Kaynaklar</a:t>
            </a:r>
          </a:p>
          <a:p>
            <a:endParaRPr lang="tr-TR" sz="16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tr-TR" sz="1600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Sayısal Analiz S.Akpınar</a:t>
            </a:r>
            <a:endParaRPr lang="tr-TR" sz="16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tr-TR" sz="1600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  </a:t>
            </a:r>
            <a:endParaRPr lang="tr-TR" sz="1600" dirty="0" smtClean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  <a:p>
            <a:r>
              <a:rPr lang="tr-TR" sz="1200" dirty="0" smtClean="0">
                <a:solidFill>
                  <a:srgbClr val="EAEAE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   Sonraki Hafta :</a:t>
            </a:r>
          </a:p>
          <a:p>
            <a:r>
              <a:rPr lang="tr-TR" sz="1600" dirty="0">
                <a:solidFill>
                  <a:srgbClr val="EAEAE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endParaRPr lang="tr-TR" sz="1600" dirty="0" smtClean="0">
              <a:solidFill>
                <a:srgbClr val="EAEAE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  <a:p>
            <a:endParaRPr lang="tr-TR" sz="1600" dirty="0">
              <a:solidFill>
                <a:srgbClr val="EAEAE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  <a:p>
            <a:r>
              <a:rPr lang="tr-TR" sz="1600" smtClean="0">
                <a:solidFill>
                  <a:srgbClr val="EAEAE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      Eğri uydurma, aradeğer ve dış değer bulma yöntemleri…</a:t>
            </a:r>
            <a:endParaRPr lang="tr-TR" sz="1600" dirty="0" smtClean="0">
              <a:solidFill>
                <a:srgbClr val="EAEAE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  <a:p>
            <a:endParaRPr lang="en-US" sz="14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1" name="10 Resim"/>
          <p:cNvPicPr/>
          <p:nvPr/>
        </p:nvPicPr>
        <p:blipFill>
          <a:blip r:embed="rId3" cstate="print"/>
          <a:srcRect l="437"/>
          <a:stretch>
            <a:fillRect/>
          </a:stretch>
        </p:blipFill>
        <p:spPr bwMode="auto">
          <a:xfrm rot="1333662">
            <a:off x="5270905" y="2207528"/>
            <a:ext cx="3157643" cy="2804623"/>
          </a:xfrm>
          <a:prstGeom prst="round2DiagRect">
            <a:avLst>
              <a:gd name="adj1" fmla="val 20420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Picture 4" descr="http://www.gtsav.gatech.edu/people/ffedele/cee3000/Fall08/CEE3000Fall08_files/matlab_logo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72330" y="1142984"/>
            <a:ext cx="1811838" cy="135732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13" name="2 İçerik Yer Tutucusu"/>
          <p:cNvSpPr>
            <a:spLocks noGrp="1"/>
          </p:cNvSpPr>
          <p:nvPr>
            <p:ph idx="1"/>
          </p:nvPr>
        </p:nvSpPr>
        <p:spPr>
          <a:xfrm>
            <a:off x="2443178" y="-24"/>
            <a:ext cx="6700854" cy="611410"/>
          </a:xfrm>
        </p:spPr>
        <p:txBody>
          <a:bodyPr>
            <a:normAutofit lnSpcReduction="10000"/>
          </a:bodyPr>
          <a:lstStyle/>
          <a:p>
            <a:pPr lvl="0" algn="r">
              <a:buNone/>
            </a:pPr>
            <a:r>
              <a:rPr lang="tr-TR" sz="16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Lineer Olmayan </a:t>
            </a:r>
          </a:p>
          <a:p>
            <a:pPr lvl="0" algn="r">
              <a:buNone/>
            </a:pPr>
            <a:r>
              <a:rPr lang="tr-TR" sz="16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Denklem Sistemlerinin Çözüm Yöntemleri</a:t>
            </a:r>
          </a:p>
          <a:p>
            <a:pPr>
              <a:buFont typeface="Wingdings" pitchFamily="2" charset="2"/>
              <a:buChar char="v"/>
            </a:pPr>
            <a:endParaRPr lang="tr-TR" sz="1600" dirty="0" smtClean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itchFamily="34" charset="0"/>
            </a:endParaRPr>
          </a:p>
          <a:p>
            <a:pPr>
              <a:buNone/>
            </a:pPr>
            <a:endParaRPr lang="tr-TR" sz="1600" dirty="0" smtClean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Gündönümü">
  <a:themeElements>
    <a:clrScheme name="Gündönümü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Gündönümü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Gündönümü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>
    <a:spDef>
      <a:spPr>
        <a:solidFill>
          <a:schemeClr val="accent1">
            <a:alpha val="1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is Teması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is Teması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3016</TotalTime>
  <Words>251</Words>
  <Application>Microsoft Office PowerPoint</Application>
  <PresentationFormat>Ekran Gösterisi (4:3)</PresentationFormat>
  <Paragraphs>117</Paragraphs>
  <Slides>12</Slides>
  <Notes>9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3" baseType="lpstr">
      <vt:lpstr>Gündönümü</vt:lpstr>
      <vt:lpstr>Sayısal Analiz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Sayısal Analiz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Sayısal Analiz</dc:title>
  <dc:creator>Sau;YYurtaY</dc:creator>
  <cp:keywords>YYurtaY_SA/2009</cp:keywords>
  <cp:lastModifiedBy>Sau</cp:lastModifiedBy>
  <cp:revision>235</cp:revision>
  <dcterms:created xsi:type="dcterms:W3CDTF">2009-08-30T08:05:20Z</dcterms:created>
  <dcterms:modified xsi:type="dcterms:W3CDTF">2013-11-23T07:51:34Z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TC011408341055</vt:lpwstr>
  </property>
</Properties>
</file>