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5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9.10.2014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tr-TR" dirty="0"/>
              <a:t/>
            </a:r>
            <a:br>
              <a:rPr lang="tr-TR" dirty="0"/>
            </a:br>
            <a:r>
              <a:rPr lang="tr-TR" sz="1600" dirty="0"/>
              <a:t>DETERMİNANT VE HESAPLANMASI</a:t>
            </a:r>
            <a:br>
              <a:rPr lang="tr-TR" sz="1600" dirty="0"/>
            </a:br>
            <a:r>
              <a:rPr lang="tr-TR" sz="1600" dirty="0"/>
              <a:t>VE </a:t>
            </a:r>
            <a:br>
              <a:rPr lang="tr-TR" sz="1600" dirty="0"/>
            </a:br>
            <a:r>
              <a:rPr lang="tr-TR" sz="1600" dirty="0"/>
              <a:t>HESAPLAMADA KULLANILAN NÜMERİK YÖNTEMLER</a:t>
            </a:r>
            <a:endParaRPr lang="tr-TR" sz="1600" dirty="0"/>
          </a:p>
        </p:txBody>
      </p:sp>
      <p:sp>
        <p:nvSpPr>
          <p:cNvPr id="4" name="Başlık 1"/>
          <p:cNvSpPr txBox="1">
            <a:spLocks/>
          </p:cNvSpPr>
          <p:nvPr/>
        </p:nvSpPr>
        <p:spPr>
          <a:xfrm>
            <a:off x="683568" y="321103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 smtClean="0"/>
              <a:t>Chio</a:t>
            </a:r>
            <a:r>
              <a:rPr lang="tr-TR" dirty="0" smtClean="0"/>
              <a:t> </a:t>
            </a:r>
            <a:r>
              <a:rPr lang="tr-TR" dirty="0" err="1" smtClean="0"/>
              <a:t>method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259797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Chio</a:t>
            </a:r>
            <a:r>
              <a:rPr lang="tr-TR" dirty="0" smtClean="0"/>
              <a:t> Yöntemi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600200"/>
            <a:ext cx="7704856" cy="45259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tr-TR" dirty="0" smtClean="0"/>
              <a:t>Yöntemde determinant </a:t>
            </a:r>
            <a:r>
              <a:rPr lang="tr-TR" dirty="0"/>
              <a:t>hesabı, hesaplanacak matrisin her bir adımda bir mertebe indirgenmesiyle hesaplanır.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(mertebe= </a:t>
            </a:r>
            <a:r>
              <a:rPr lang="tr-TR" dirty="0"/>
              <a:t>verilen kare matrisin satır ya da sütun </a:t>
            </a:r>
            <a:r>
              <a:rPr lang="tr-TR" dirty="0" smtClean="0"/>
              <a:t>sayısı) 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smtClean="0"/>
              <a:t>(</a:t>
            </a:r>
            <a:r>
              <a:rPr lang="tr-TR" dirty="0"/>
              <a:t>Örneğin 4x4 lük bir matrisin mertebesi  4tür.) Matris indirgenirken 2x2lik determinant hesaplarıyla matris indirgenir. </a:t>
            </a:r>
            <a:endParaRPr lang="tr-TR" dirty="0" smtClean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          n x n tipinde bir matris alarak bu yöntemin çalışma şeklini inceleyelim.</a:t>
            </a:r>
          </a:p>
          <a:p>
            <a:pPr marL="0" indent="0">
              <a:buNone/>
            </a:pPr>
            <a:r>
              <a:rPr lang="tr-TR" dirty="0"/>
              <a:t> </a:t>
            </a:r>
            <a:endParaRPr lang="tr-TR" dirty="0" smtClean="0"/>
          </a:p>
          <a:p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          A =                                                 </a:t>
            </a:r>
            <a:r>
              <a:rPr lang="tr-TR" dirty="0"/>
              <a:t>tipinde </a:t>
            </a:r>
            <a:r>
              <a:rPr lang="tr-TR" dirty="0" smtClean="0"/>
              <a:t>   </a:t>
            </a:r>
            <a:r>
              <a:rPr lang="tr-TR" b="1" dirty="0" smtClean="0"/>
              <a:t>n</a:t>
            </a:r>
            <a:r>
              <a:rPr lang="tr-TR" dirty="0" smtClean="0"/>
              <a:t>    </a:t>
            </a:r>
            <a:r>
              <a:rPr lang="tr-TR" dirty="0" err="1" smtClean="0"/>
              <a:t>mertebeli</a:t>
            </a:r>
            <a:r>
              <a:rPr lang="tr-TR" dirty="0" smtClean="0"/>
              <a:t> </a:t>
            </a:r>
            <a:r>
              <a:rPr lang="tr-TR" dirty="0"/>
              <a:t>bir matris olsun.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 smtClean="0"/>
              <a:t>det</a:t>
            </a:r>
            <a:r>
              <a:rPr lang="tr-TR" dirty="0" smtClean="0"/>
              <a:t> </a:t>
            </a:r>
            <a:r>
              <a:rPr lang="tr-TR" dirty="0"/>
              <a:t>(A) </a:t>
            </a:r>
            <a:r>
              <a:rPr lang="tr-TR" dirty="0" smtClean="0"/>
              <a:t>=                                           şu </a:t>
            </a:r>
            <a:r>
              <a:rPr lang="tr-TR" dirty="0"/>
              <a:t>şekilde hesaplanır; 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A matrisinin    determinantını</a:t>
            </a:r>
            <a:r>
              <a:rPr lang="tr-TR" dirty="0"/>
              <a:t> </a:t>
            </a:r>
            <a:r>
              <a:rPr lang="tr-TR" dirty="0" smtClean="0"/>
              <a:t> </a:t>
            </a:r>
            <a:r>
              <a:rPr lang="tr-TR" sz="3500" dirty="0" smtClean="0"/>
              <a:t>a</a:t>
            </a:r>
            <a:r>
              <a:rPr lang="tr-TR" sz="3500" baseline="-25000" dirty="0" smtClean="0"/>
              <a:t>11</a:t>
            </a:r>
            <a:r>
              <a:rPr lang="tr-TR" sz="3500" dirty="0" smtClean="0"/>
              <a:t>≠0</a:t>
            </a:r>
            <a:r>
              <a:rPr lang="tr-TR" dirty="0" smtClean="0"/>
              <a:t>  olmak üzere ;</a:t>
            </a:r>
            <a:endParaRPr lang="tr-TR" dirty="0"/>
          </a:p>
          <a:p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367" y="3140968"/>
            <a:ext cx="140017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819" y="4293493"/>
            <a:ext cx="119062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483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pPr algn="l"/>
            <a:r>
              <a:rPr lang="tr-TR" sz="2400" dirty="0" err="1" smtClean="0">
                <a:solidFill>
                  <a:schemeClr val="bg1">
                    <a:lumMod val="85000"/>
                  </a:schemeClr>
                </a:solidFill>
              </a:rPr>
              <a:t>Chio</a:t>
            </a:r>
            <a:r>
              <a:rPr lang="tr-TR" sz="2400" dirty="0" smtClean="0">
                <a:solidFill>
                  <a:schemeClr val="bg1">
                    <a:lumMod val="85000"/>
                  </a:schemeClr>
                </a:solidFill>
              </a:rPr>
              <a:t> Yöntemi</a:t>
            </a:r>
            <a:endParaRPr lang="tr-T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r>
              <a:rPr lang="tr-TR" sz="1800" dirty="0" err="1" smtClean="0"/>
              <a:t>det</a:t>
            </a:r>
            <a:r>
              <a:rPr lang="tr-TR" sz="1800" dirty="0" smtClean="0"/>
              <a:t> </a:t>
            </a:r>
            <a:r>
              <a:rPr lang="tr-TR" sz="1800" dirty="0"/>
              <a:t>(A) = </a:t>
            </a:r>
            <a:r>
              <a:rPr lang="tr-TR" sz="1800" dirty="0" smtClean="0"/>
              <a:t>           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r>
              <a:rPr lang="tr-TR" sz="1800" dirty="0" smtClean="0"/>
              <a:t>şeklinde </a:t>
            </a:r>
            <a:r>
              <a:rPr lang="tr-TR" sz="1800" dirty="0"/>
              <a:t>bir determinanta dönüştürdük. Bu matrisin içindeki 2x2lik determinantları hesaplarsak;</a:t>
            </a:r>
          </a:p>
          <a:p>
            <a:pPr marL="0" indent="0">
              <a:buNone/>
            </a:pPr>
            <a:endParaRPr lang="tr-TR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589" y="2636912"/>
            <a:ext cx="648073" cy="709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658309"/>
            <a:ext cx="3960440" cy="2865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970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pPr algn="l"/>
            <a:r>
              <a:rPr lang="tr-TR" sz="2400" dirty="0" err="1" smtClean="0">
                <a:solidFill>
                  <a:schemeClr val="bg1">
                    <a:lumMod val="85000"/>
                  </a:schemeClr>
                </a:solidFill>
              </a:rPr>
              <a:t>Chio</a:t>
            </a:r>
            <a:r>
              <a:rPr lang="tr-TR" sz="2400" dirty="0" smtClean="0">
                <a:solidFill>
                  <a:schemeClr val="bg1">
                    <a:lumMod val="85000"/>
                  </a:schemeClr>
                </a:solidFill>
              </a:rPr>
              <a:t> Yöntemi</a:t>
            </a:r>
            <a:endParaRPr lang="tr-T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76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 err="1" smtClean="0"/>
              <a:t>det</a:t>
            </a:r>
            <a:r>
              <a:rPr lang="tr-TR" sz="1800" dirty="0" smtClean="0"/>
              <a:t>(A</a:t>
            </a:r>
            <a:r>
              <a:rPr lang="tr-TR" sz="1800" dirty="0"/>
              <a:t>)= </a:t>
            </a: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r>
              <a:rPr lang="tr-TR" sz="1800" dirty="0" smtClean="0"/>
              <a:t>tipinde </a:t>
            </a:r>
            <a:r>
              <a:rPr lang="tr-TR" sz="1800" dirty="0"/>
              <a:t>ve mertebesi bir mertebe indirgenmiş bir matris elde ederiz. </a:t>
            </a:r>
            <a:endParaRPr lang="tr-TR" sz="1800" dirty="0" smtClean="0"/>
          </a:p>
          <a:p>
            <a:pPr marL="0" indent="0">
              <a:buNone/>
            </a:pPr>
            <a:r>
              <a:rPr lang="tr-TR" sz="1800" dirty="0" smtClean="0"/>
              <a:t>Bu </a:t>
            </a:r>
            <a:r>
              <a:rPr lang="tr-TR" sz="1800" dirty="0"/>
              <a:t>determinantta da aynı yöntemi uygularsak;</a:t>
            </a:r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r>
              <a:rPr lang="tr-TR" sz="1800" dirty="0" err="1" smtClean="0"/>
              <a:t>det</a:t>
            </a:r>
            <a:r>
              <a:rPr lang="tr-TR" sz="1800" dirty="0" smtClean="0"/>
              <a:t> </a:t>
            </a:r>
            <a:r>
              <a:rPr lang="tr-TR" sz="1800" dirty="0"/>
              <a:t>(A) = </a:t>
            </a: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r>
              <a:rPr lang="tr-TR" sz="1800" dirty="0" smtClean="0"/>
              <a:t>elde </a:t>
            </a:r>
            <a:r>
              <a:rPr lang="tr-TR" sz="1800" dirty="0"/>
              <a:t>ederiz.</a:t>
            </a:r>
            <a:endParaRPr lang="tr-TR" sz="1800" dirty="0" smtClean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5" y="1070458"/>
            <a:ext cx="2982985" cy="1278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55622"/>
            <a:ext cx="648072" cy="709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658" y="4365104"/>
            <a:ext cx="524061" cy="57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19" y="4365104"/>
            <a:ext cx="673793" cy="57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867620"/>
            <a:ext cx="2664296" cy="178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27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pPr algn="l"/>
            <a:r>
              <a:rPr lang="tr-TR" sz="2400" dirty="0" err="1" smtClean="0">
                <a:solidFill>
                  <a:schemeClr val="bg1">
                    <a:lumMod val="85000"/>
                  </a:schemeClr>
                </a:solidFill>
              </a:rPr>
              <a:t>Chio</a:t>
            </a:r>
            <a:r>
              <a:rPr lang="tr-TR" sz="2400" dirty="0" smtClean="0">
                <a:solidFill>
                  <a:schemeClr val="bg1">
                    <a:lumMod val="85000"/>
                  </a:schemeClr>
                </a:solidFill>
              </a:rPr>
              <a:t> Yöntemi</a:t>
            </a:r>
            <a:endParaRPr lang="tr-T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İçerik Yer Tutucusu 3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000" dirty="0"/>
              <a:t>artık determinantımız (n-2) </a:t>
            </a:r>
            <a:r>
              <a:rPr lang="tr-TR" sz="2000" dirty="0" err="1"/>
              <a:t>mertebeli</a:t>
            </a:r>
            <a:r>
              <a:rPr lang="tr-TR" sz="2000" dirty="0"/>
              <a:t> oldu. </a:t>
            </a:r>
            <a:endParaRPr lang="tr-TR" sz="2000" dirty="0" smtClean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 smtClean="0"/>
              <a:t>Bu </a:t>
            </a:r>
            <a:r>
              <a:rPr lang="tr-TR" sz="2000" dirty="0"/>
              <a:t>şekilde işlemlere devam ederek determinantı 2x2lik bir determinanta dönüştürürüz ve hesaplarız. </a:t>
            </a:r>
            <a:endParaRPr lang="tr-TR" sz="2000" dirty="0" smtClean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 smtClean="0"/>
              <a:t>Bu </a:t>
            </a:r>
            <a:r>
              <a:rPr lang="tr-TR" sz="2000" dirty="0"/>
              <a:t>hesaplama yönteminde </a:t>
            </a:r>
            <a:r>
              <a:rPr lang="tr-TR" sz="2000" dirty="0" smtClean="0"/>
              <a:t>                      olmalıdır.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 smtClean="0"/>
          </a:p>
          <a:p>
            <a:pPr marL="0" indent="0">
              <a:buNone/>
            </a:pPr>
            <a:r>
              <a:rPr lang="tr-TR" sz="2000" b="1" u="sng" dirty="0"/>
              <a:t>Örnek </a:t>
            </a:r>
            <a:r>
              <a:rPr lang="tr-TR" sz="2000" b="1" u="sng" dirty="0" smtClean="0"/>
              <a:t>: </a:t>
            </a:r>
          </a:p>
          <a:p>
            <a:pPr marL="0" indent="0">
              <a:buNone/>
            </a:pPr>
            <a:r>
              <a:rPr lang="tr-TR" sz="2000" dirty="0" smtClean="0"/>
              <a:t>                           A  =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 smtClean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 smtClean="0"/>
              <a:t>matrisinin </a:t>
            </a:r>
            <a:r>
              <a:rPr lang="tr-TR" sz="2000" dirty="0"/>
              <a:t>determinantını CHIO yöntemi ile hesaplayınız.</a:t>
            </a:r>
          </a:p>
          <a:p>
            <a:pPr marL="0" indent="0">
              <a:buNone/>
            </a:pPr>
            <a:endParaRPr lang="tr-TR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49" y="2628116"/>
            <a:ext cx="829532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=</a:t>
            </a: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Nesne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650008"/>
              </p:ext>
            </p:extLst>
          </p:nvPr>
        </p:nvGraphicFramePr>
        <p:xfrm>
          <a:off x="2627784" y="3429000"/>
          <a:ext cx="2160241" cy="1870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r:id="rId4" imgW="1066800" imgH="1117600" progId="Equation.DSMT4">
                  <p:embed/>
                </p:oleObj>
              </mc:Choice>
              <mc:Fallback>
                <p:oleObj r:id="rId4" imgW="1066800" imgH="1117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429000"/>
                        <a:ext cx="2160241" cy="18706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1114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537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pPr algn="l"/>
            <a:r>
              <a:rPr lang="tr-TR" sz="2400" dirty="0" err="1" smtClean="0">
                <a:solidFill>
                  <a:schemeClr val="bg1">
                    <a:lumMod val="85000"/>
                  </a:schemeClr>
                </a:solidFill>
              </a:rPr>
              <a:t>Chio</a:t>
            </a:r>
            <a:r>
              <a:rPr lang="tr-TR" sz="2400" dirty="0" smtClean="0">
                <a:solidFill>
                  <a:schemeClr val="bg1">
                    <a:lumMod val="85000"/>
                  </a:schemeClr>
                </a:solidFill>
              </a:rPr>
              <a:t> Yöntemi</a:t>
            </a:r>
            <a:endParaRPr lang="tr-T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 err="1" smtClean="0"/>
              <a:t>det</a:t>
            </a:r>
            <a:r>
              <a:rPr lang="tr-TR" sz="1800" dirty="0" smtClean="0"/>
              <a:t> </a:t>
            </a:r>
            <a:r>
              <a:rPr lang="tr-TR" sz="1800" dirty="0"/>
              <a:t>(A) = </a:t>
            </a:r>
            <a:r>
              <a:rPr lang="tr-TR" sz="1800" dirty="0" smtClean="0"/>
              <a:t>                                   </a:t>
            </a:r>
            <a:r>
              <a:rPr lang="tr-TR" sz="1800" dirty="0"/>
              <a:t>	</a:t>
            </a:r>
            <a:r>
              <a:rPr lang="tr-TR" sz="1800" dirty="0" smtClean="0"/>
              <a:t>=                                          =    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 smtClean="0"/>
              <a:t>bir </a:t>
            </a:r>
            <a:r>
              <a:rPr lang="tr-TR" sz="1800" dirty="0"/>
              <a:t>mertebe daha </a:t>
            </a:r>
            <a:r>
              <a:rPr lang="tr-TR" sz="1800" dirty="0" smtClean="0"/>
              <a:t>indirgenirse </a:t>
            </a:r>
            <a:r>
              <a:rPr lang="tr-TR" sz="1800" dirty="0"/>
              <a:t>;</a:t>
            </a:r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 smtClean="0"/>
              <a:t>            </a:t>
            </a:r>
          </a:p>
          <a:p>
            <a:pPr marL="0" lvl="0" indent="0">
              <a:buNone/>
            </a:pPr>
            <a:r>
              <a:rPr lang="tr-TR" sz="1800" dirty="0"/>
              <a:t> </a:t>
            </a:r>
            <a:r>
              <a:rPr lang="tr-TR" sz="1800" dirty="0" smtClean="0"/>
              <a:t>                              =                                       =                        = 0  </a:t>
            </a:r>
            <a:r>
              <a:rPr lang="tr-TR" sz="16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bulunmuş olur.</a:t>
            </a:r>
            <a:endParaRPr lang="tr-TR" sz="7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r>
              <a:rPr lang="tr-TR" sz="1800" dirty="0" err="1"/>
              <a:t>d</a:t>
            </a:r>
            <a:r>
              <a:rPr lang="tr-TR" sz="1800" dirty="0" err="1" smtClean="0"/>
              <a:t>et</a:t>
            </a:r>
            <a:r>
              <a:rPr lang="tr-TR" sz="1800" dirty="0" smtClean="0"/>
              <a:t>(A)=0</a:t>
            </a:r>
            <a:endParaRPr lang="tr-TR" sz="1800" dirty="0"/>
          </a:p>
        </p:txBody>
      </p:sp>
      <p:graphicFrame>
        <p:nvGraphicFramePr>
          <p:cNvPr id="4" name="Nesne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158502"/>
              </p:ext>
            </p:extLst>
          </p:nvPr>
        </p:nvGraphicFramePr>
        <p:xfrm>
          <a:off x="2385575" y="4005064"/>
          <a:ext cx="458233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r:id="rId3" imgW="380835" imgH="418918" progId="Equation.DSMT4">
                  <p:embed/>
                </p:oleObj>
              </mc:Choice>
              <mc:Fallback>
                <p:oleObj r:id="rId3" imgW="380835" imgH="41891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575" y="4005064"/>
                        <a:ext cx="458233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Nesne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348400"/>
              </p:ext>
            </p:extLst>
          </p:nvPr>
        </p:nvGraphicFramePr>
        <p:xfrm>
          <a:off x="3077542" y="3789040"/>
          <a:ext cx="12096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r:id="rId5" imgW="1206500" imgH="965200" progId="Equation.DSMT4">
                  <p:embed/>
                </p:oleObj>
              </mc:Choice>
              <mc:Fallback>
                <p:oleObj r:id="rId5" imgW="1206500" imgH="965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542" y="3789040"/>
                        <a:ext cx="1209675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Nesne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18230"/>
              </p:ext>
            </p:extLst>
          </p:nvPr>
        </p:nvGraphicFramePr>
        <p:xfrm>
          <a:off x="4716016" y="4005064"/>
          <a:ext cx="288032" cy="513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r:id="rId7" imgW="215713" imgH="393359" progId="Equation.DSMT4">
                  <p:embed/>
                </p:oleObj>
              </mc:Choice>
              <mc:Fallback>
                <p:oleObj r:id="rId7" imgW="215713" imgH="39335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4005064"/>
                        <a:ext cx="288032" cy="5134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Nesne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971206"/>
              </p:ext>
            </p:extLst>
          </p:nvPr>
        </p:nvGraphicFramePr>
        <p:xfrm>
          <a:off x="5076056" y="4005064"/>
          <a:ext cx="429578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r:id="rId9" imgW="393529" imgH="457002" progId="Equation.DSMT4">
                  <p:embed/>
                </p:oleObj>
              </mc:Choice>
              <mc:Fallback>
                <p:oleObj r:id="rId9" imgW="393529" imgH="45700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4005064"/>
                        <a:ext cx="429578" cy="502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graphicFrame>
        <p:nvGraphicFramePr>
          <p:cNvPr id="14" name="Nesne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684870"/>
              </p:ext>
            </p:extLst>
          </p:nvPr>
        </p:nvGraphicFramePr>
        <p:xfrm>
          <a:off x="611560" y="3789040"/>
          <a:ext cx="1335508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r:id="rId11" imgW="1016000" imgH="711200" progId="Equation.DSMT4">
                  <p:embed/>
                </p:oleObj>
              </mc:Choice>
              <mc:Fallback>
                <p:oleObj r:id="rId11" imgW="1016000" imgH="711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789040"/>
                        <a:ext cx="1335508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Nesne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273776"/>
              </p:ext>
            </p:extLst>
          </p:nvPr>
        </p:nvGraphicFramePr>
        <p:xfrm>
          <a:off x="3851920" y="888901"/>
          <a:ext cx="1656183" cy="142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r:id="rId13" imgW="1168400" imgH="1447800" progId="Equation.DSMT4">
                  <p:embed/>
                </p:oleObj>
              </mc:Choice>
              <mc:Fallback>
                <p:oleObj r:id="rId13" imgW="1168400" imgH="14478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888901"/>
                        <a:ext cx="1656183" cy="14237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0" name="Nesne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665791"/>
              </p:ext>
            </p:extLst>
          </p:nvPr>
        </p:nvGraphicFramePr>
        <p:xfrm>
          <a:off x="1475656" y="1033214"/>
          <a:ext cx="1368152" cy="1191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r:id="rId15" imgW="825500" imgH="914400" progId="Equation.DSMT4">
                  <p:embed/>
                </p:oleObj>
              </mc:Choice>
              <mc:Fallback>
                <p:oleObj r:id="rId15" imgW="825500" imgH="914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033214"/>
                        <a:ext cx="1368152" cy="11918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3" name="Nesne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835444"/>
              </p:ext>
            </p:extLst>
          </p:nvPr>
        </p:nvGraphicFramePr>
        <p:xfrm>
          <a:off x="3491880" y="1250851"/>
          <a:ext cx="324991" cy="701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r:id="rId17" imgW="177646" imgH="393359" progId="Equation.DSMT4">
                  <p:embed/>
                </p:oleObj>
              </mc:Choice>
              <mc:Fallback>
                <p:oleObj r:id="rId17" imgW="177646" imgH="39335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1250851"/>
                        <a:ext cx="324991" cy="7012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7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graphicFrame>
        <p:nvGraphicFramePr>
          <p:cNvPr id="26" name="Nesne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955352"/>
              </p:ext>
            </p:extLst>
          </p:nvPr>
        </p:nvGraphicFramePr>
        <p:xfrm>
          <a:off x="5940152" y="1196752"/>
          <a:ext cx="1296144" cy="90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r:id="rId19" imgW="1016000" imgH="711200" progId="Equation.DSMT4">
                  <p:embed/>
                </p:oleObj>
              </mc:Choice>
              <mc:Fallback>
                <p:oleObj r:id="rId19" imgW="1016000" imgH="711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196752"/>
                        <a:ext cx="1296144" cy="908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0" y="714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tr-T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74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163</Words>
  <Application>Microsoft Office PowerPoint</Application>
  <PresentationFormat>Ekran Gösterisi (4:3)</PresentationFormat>
  <Paragraphs>102</Paragraphs>
  <Slides>6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Katıştırılmış OLE Hizmet Programları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8" baseType="lpstr">
      <vt:lpstr>Ofis Teması</vt:lpstr>
      <vt:lpstr>Equation.DSMT4</vt:lpstr>
      <vt:lpstr> DETERMİNANT VE HESAPLANMASI VE  HESAPLAMADA KULLANILAN NÜMERİK YÖNTEMLER</vt:lpstr>
      <vt:lpstr>Chio Yöntemi</vt:lpstr>
      <vt:lpstr>Chio Yöntemi</vt:lpstr>
      <vt:lpstr>Chio Yöntemi</vt:lpstr>
      <vt:lpstr>Chio Yöntemi</vt:lpstr>
      <vt:lpstr>Chio Yöntemi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Chio method</dc:title>
  <dc:creator>User</dc:creator>
  <cp:lastModifiedBy>User</cp:lastModifiedBy>
  <cp:revision>6</cp:revision>
  <dcterms:created xsi:type="dcterms:W3CDTF">2014-10-09T06:36:33Z</dcterms:created>
  <dcterms:modified xsi:type="dcterms:W3CDTF">2014-10-09T07:39:39Z</dcterms:modified>
</cp:coreProperties>
</file>