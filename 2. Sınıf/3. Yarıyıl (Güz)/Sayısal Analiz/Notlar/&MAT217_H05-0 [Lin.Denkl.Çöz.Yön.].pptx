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18"/>
  </p:notesMasterIdLst>
  <p:handoutMasterIdLst>
    <p:handoutMasterId r:id="rId19"/>
  </p:handoutMasterIdLst>
  <p:sldIdLst>
    <p:sldId id="256" r:id="rId2"/>
    <p:sldId id="270" r:id="rId3"/>
    <p:sldId id="282" r:id="rId4"/>
    <p:sldId id="285" r:id="rId5"/>
    <p:sldId id="286" r:id="rId6"/>
    <p:sldId id="287" r:id="rId7"/>
    <p:sldId id="288" r:id="rId8"/>
    <p:sldId id="292" r:id="rId9"/>
    <p:sldId id="291" r:id="rId10"/>
    <p:sldId id="293" r:id="rId11"/>
    <p:sldId id="294" r:id="rId12"/>
    <p:sldId id="295" r:id="rId13"/>
    <p:sldId id="289" r:id="rId14"/>
    <p:sldId id="290" r:id="rId15"/>
    <p:sldId id="296" r:id="rId16"/>
    <p:sldId id="258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8F8F8"/>
    <a:srgbClr val="EAEAEA"/>
    <a:srgbClr val="DDDDDD"/>
    <a:srgbClr val="C0C0C0"/>
    <a:srgbClr val="5F5F5F"/>
    <a:srgbClr val="969696"/>
    <a:srgbClr val="3C605F"/>
    <a:srgbClr val="85BA68"/>
    <a:srgbClr val="0000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84" autoAdjust="0"/>
    <p:restoredTop sz="93714" autoAdjust="0"/>
  </p:normalViewPr>
  <p:slideViewPr>
    <p:cSldViewPr>
      <p:cViewPr>
        <p:scale>
          <a:sx n="80" d="100"/>
          <a:sy n="80" d="100"/>
        </p:scale>
        <p:origin x="-136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526" y="-78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tr-TR"/>
          </a:p>
        </p:txBody>
      </p:sp>
      <p:sp>
        <p:nvSpPr>
          <p:cNvPr id="116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16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B7A8066-7E68-4D30-B2C1-61A668CE483C}" type="slidenum">
              <a:rPr lang="tr-TR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tr-TR"/>
          </a:p>
        </p:txBody>
      </p:sp>
      <p:sp>
        <p:nvSpPr>
          <p:cNvPr id="1177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177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</a:p>
        </p:txBody>
      </p:sp>
      <p:sp>
        <p:nvSpPr>
          <p:cNvPr id="1177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177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FA2BFB0-25B4-4D96-A77A-383ABC758268}" type="slidenum">
              <a:rPr lang="tr-TR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3C50B7-AF34-4A62-97C4-13169690B673}" type="slidenum">
              <a:rPr lang="tr-TR"/>
              <a:pPr/>
              <a:t>1</a:t>
            </a:fld>
            <a:endParaRPr lang="tr-TR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kern="120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Merhaba Arkadaşlar </a:t>
            </a:r>
            <a:r>
              <a:rPr lang="tr-TR" sz="1200" kern="120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  <a:sym typeface="Wingdings" pitchFamily="2" charset="2"/>
              </a:rPr>
              <a:t></a:t>
            </a:r>
          </a:p>
        </p:txBody>
      </p:sp>
      <p:sp>
        <p:nvSpPr>
          <p:cNvPr id="8" name="7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2</a:t>
            </a:fld>
            <a:endParaRPr lang="tr-T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3</a:t>
            </a:fld>
            <a:endParaRPr lang="tr-T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4</a:t>
            </a:fld>
            <a:endParaRPr lang="tr-T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5</a:t>
            </a:fld>
            <a:endParaRPr lang="tr-T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6</a:t>
            </a:fld>
            <a:endParaRPr lang="tr-T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7</a:t>
            </a:fld>
            <a:endParaRPr lang="tr-T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8</a:t>
            </a:fld>
            <a:endParaRPr lang="tr-T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9</a:t>
            </a:fld>
            <a:endParaRPr lang="tr-T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10</a:t>
            </a:fld>
            <a:endParaRPr lang="tr-T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11</a:t>
            </a:fld>
            <a:endParaRPr lang="tr-T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12</a:t>
            </a:fld>
            <a:endParaRPr lang="tr-T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13</a:t>
            </a:fld>
            <a:endParaRPr lang="tr-T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14</a:t>
            </a:fld>
            <a:endParaRPr lang="tr-T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15</a:t>
            </a:fld>
            <a:endParaRPr lang="tr-T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16</a:t>
            </a:fld>
            <a:endParaRPr lang="tr-TR"/>
          </a:p>
        </p:txBody>
      </p:sp>
      <p:sp>
        <p:nvSpPr>
          <p:cNvPr id="5" name="4 Üstbilgi Yer Tutucusu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ctrTitle"/>
          </p:nvPr>
        </p:nvSpPr>
        <p:spPr>
          <a:xfrm>
            <a:off x="304800" y="4038600"/>
            <a:ext cx="7924800" cy="947738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304800" y="4972050"/>
            <a:ext cx="7924800" cy="89535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600"/>
            </a:lvl1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3104" name="Rectangle 32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3105" name="Rectangle 33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3106" name="Rectangle 34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73751C7-D8B0-49E9-A6B0-B08BA81E385A}" type="slidenum">
              <a:rPr lang="tr-TR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6896E4-35C4-4741-8A69-D49CDAA919B9}" type="slidenum">
              <a:rPr lang="tr-TR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E08E03-CBA5-420D-86FB-7DF12D12D6CF}" type="slidenum">
              <a:rPr lang="tr-TR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524000" y="1295400"/>
            <a:ext cx="36195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295900" y="1295400"/>
            <a:ext cx="36195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887F6D-74AF-4C97-AB36-9D486FAFEC9D}" type="slidenum">
              <a:rPr lang="tr-TR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CEFBEA-62D8-40CD-A836-12C755D5691F}" type="slidenum">
              <a:rPr lang="tr-TR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D0DD8D-94BE-46CD-B195-BB07F56D2C37}" type="slidenum">
              <a:rPr lang="tr-TR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580765-CA1E-49FB-9913-CFC5C9FD115E}" type="slidenum">
              <a:rPr lang="tr-TR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1E048B-EE2C-4801-A93E-9CCC1CE44209}" type="slidenum">
              <a:rPr lang="tr-TR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21CAA1-4B5B-46E7-B225-5361E635197D}" type="slidenum">
              <a:rPr lang="tr-TR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6474DD-0F94-435A-8A30-215C9A7EADC4}" type="slidenum">
              <a:rPr lang="tr-TR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7067550" y="76200"/>
            <a:ext cx="1847850" cy="6477000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524000" y="76200"/>
            <a:ext cx="5391150" cy="6477000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6793C7-B4F9-440E-960C-4179A869FEFA}" type="slidenum">
              <a:rPr lang="tr-TR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7381875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 smtClean="0"/>
              <a:t>Başlık stilini düzenlemek için tıklatın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body" idx="1"/>
          </p:nvPr>
        </p:nvSpPr>
        <p:spPr bwMode="white">
          <a:xfrm>
            <a:off x="1524000" y="1295400"/>
            <a:ext cx="73914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smtClean="0"/>
              <a:t>Ana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</a:p>
        </p:txBody>
      </p:sp>
      <p:sp>
        <p:nvSpPr>
          <p:cNvPr id="2079" name="Rectangle 3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2080" name="Rectangle 3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2081" name="Rectangle 3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6E49F00-3D9E-4CFE-A554-658867EA9789}" type="slidenum">
              <a:rPr lang="tr-TR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>
    <p:pull dir="r"/>
  </p:transition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ahoma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ahoma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ahoma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ahoma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ahoma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ahoma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ahoma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ahoma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3C605F"/>
        </a:buClr>
        <a:buSzPct val="75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3C605F"/>
        </a:buClr>
        <a:buSzPct val="7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3C605F"/>
        </a:buClr>
        <a:buSzPct val="75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3C605F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3C605F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3C605F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3C605F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3C605F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3C605F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yyurtay@sakarya.edu.t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cs.sakarya.edu.tr/yyurtay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tr-TR" sz="3600" b="1" dirty="0" smtClean="0">
                <a:effectLst>
                  <a:outerShdw blurRad="50800" dist="88900" dir="5400000" algn="ctr" rotWithShape="0">
                    <a:srgbClr val="000000">
                      <a:alpha val="42000"/>
                    </a:srgbClr>
                  </a:outerShdw>
                </a:effectLst>
                <a:latin typeface="Harrington" pitchFamily="82" charset="0"/>
              </a:rPr>
              <a:t>Sayısal Analiz</a:t>
            </a:r>
            <a:endParaRPr lang="tr-TR" sz="3600" b="1" dirty="0">
              <a:effectLst>
                <a:outerShdw blurRad="50800" dist="88900" dir="5400000" algn="ctr" rotWithShape="0">
                  <a:srgbClr val="000000">
                    <a:alpha val="42000"/>
                  </a:srgbClr>
                </a:outerShdw>
              </a:effectLst>
              <a:latin typeface="Harrington" pitchFamily="82" charset="0"/>
            </a:endParaRP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4800" y="5143512"/>
            <a:ext cx="7924800" cy="72388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tr-TR" sz="2000" b="1" dirty="0" smtClean="0">
                <a:effectLst>
                  <a:outerShdw blurRad="50800" dist="88900" dir="5400000" algn="ctr" rotWithShape="0">
                    <a:srgbClr val="000000">
                      <a:alpha val="42000"/>
                    </a:srgbClr>
                  </a:outerShdw>
                </a:effectLst>
                <a:latin typeface="Harrington" pitchFamily="82" charset="0"/>
                <a:ea typeface="+mj-ea"/>
                <a:cs typeface="+mj-cs"/>
              </a:rPr>
              <a:t>Lineer Denklem Sistemlerinin </a:t>
            </a:r>
          </a:p>
          <a:p>
            <a:pPr>
              <a:spcBef>
                <a:spcPct val="0"/>
              </a:spcBef>
            </a:pPr>
            <a:r>
              <a:rPr lang="tr-TR" sz="2000" b="1" dirty="0" smtClean="0">
                <a:effectLst>
                  <a:outerShdw blurRad="50800" dist="88900" dir="5400000" algn="ctr" rotWithShape="0">
                    <a:srgbClr val="000000">
                      <a:alpha val="42000"/>
                    </a:srgbClr>
                  </a:outerShdw>
                </a:effectLst>
                <a:latin typeface="Harrington" pitchFamily="82" charset="0"/>
                <a:ea typeface="+mj-ea"/>
                <a:cs typeface="+mj-cs"/>
              </a:rPr>
              <a:t>        Çözüm Yöntemleri</a:t>
            </a:r>
            <a:endParaRPr lang="tr-TR" sz="2000" b="1" dirty="0">
              <a:effectLst>
                <a:outerShdw blurRad="50800" dist="88900" dir="5400000" algn="ctr" rotWithShape="0">
                  <a:srgbClr val="000000">
                    <a:alpha val="42000"/>
                  </a:srgbClr>
                </a:outerShdw>
              </a:effectLst>
              <a:latin typeface="Harrington" pitchFamily="82" charset="0"/>
              <a:ea typeface="+mj-ea"/>
              <a:cs typeface="+mj-cs"/>
            </a:endParaRP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3751C7-D8B0-49E9-A6B0-B08BA81E385A}" type="slidenum">
              <a:rPr lang="tr-TR" smtClean="0"/>
              <a:pPr/>
              <a:t>1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10" name="9 Dikdörtgen"/>
          <p:cNvSpPr/>
          <p:nvPr/>
        </p:nvSpPr>
        <p:spPr>
          <a:xfrm>
            <a:off x="5357850" y="2492896"/>
            <a:ext cx="3357554" cy="2714644"/>
          </a:xfrm>
          <a:prstGeom prst="rect">
            <a:avLst/>
          </a:prstGeom>
          <a:solidFill>
            <a:srgbClr val="EAEAEA">
              <a:alpha val="47000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pPr algn="ctr"/>
            <a:endParaRPr lang="tr-TR" sz="1800" dirty="0" smtClean="0">
              <a:solidFill>
                <a:schemeClr val="accent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ctr"/>
            <a:endParaRPr lang="tr-TR" sz="1800" dirty="0" smtClean="0">
              <a:solidFill>
                <a:schemeClr val="accent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tr-TR" sz="1800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İletişim :</a:t>
            </a:r>
          </a:p>
          <a:p>
            <a:pPr algn="ctr"/>
            <a:endParaRPr lang="tr-TR" sz="1800" dirty="0" smtClean="0">
              <a:solidFill>
                <a:schemeClr val="accent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ctr"/>
            <a:endParaRPr lang="tr-TR" sz="1800" dirty="0" smtClean="0">
              <a:solidFill>
                <a:schemeClr val="accent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ctr"/>
            <a:endParaRPr lang="tr-TR" sz="1800" dirty="0" smtClean="0">
              <a:solidFill>
                <a:schemeClr val="accent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tr-TR" sz="1800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" pitchFamily="34" charset="0"/>
                <a:hlinkClick r:id="rId3"/>
              </a:rPr>
              <a:t>yyurtay</a:t>
            </a:r>
            <a:r>
              <a:rPr lang="tr-TR" sz="18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" pitchFamily="34" charset="0"/>
                <a:hlinkClick r:id="rId3"/>
              </a:rPr>
              <a:t>@</a:t>
            </a:r>
            <a:r>
              <a:rPr lang="tr-TR" sz="1800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" pitchFamily="34" charset="0"/>
                <a:hlinkClick r:id="rId3"/>
              </a:rPr>
              <a:t>sakarya</a:t>
            </a:r>
            <a:r>
              <a:rPr lang="tr-TR" sz="18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" pitchFamily="34" charset="0"/>
                <a:hlinkClick r:id="rId3"/>
              </a:rPr>
              <a:t>.edu.tr</a:t>
            </a:r>
            <a:endParaRPr lang="tr-TR" sz="1800" dirty="0" smtClean="0">
              <a:solidFill>
                <a:schemeClr val="accent1">
                  <a:lumMod val="60000"/>
                  <a:lumOff val="40000"/>
                </a:schemeClr>
              </a:solidFill>
              <a:latin typeface="Berlin Sans FB" pitchFamily="34" charset="0"/>
            </a:endParaRPr>
          </a:p>
          <a:p>
            <a:pPr algn="ctr"/>
            <a:r>
              <a:rPr lang="tr-TR" sz="18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" pitchFamily="34" charset="0"/>
                <a:hlinkClick r:id="rId4"/>
              </a:rPr>
              <a:t>www.</a:t>
            </a:r>
            <a:r>
              <a:rPr lang="tr-TR" sz="1800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" pitchFamily="34" charset="0"/>
                <a:hlinkClick r:id="rId4"/>
              </a:rPr>
              <a:t>cs</a:t>
            </a:r>
            <a:r>
              <a:rPr lang="tr-TR" sz="18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" pitchFamily="34" charset="0"/>
                <a:hlinkClick r:id="rId4"/>
              </a:rPr>
              <a:t>.</a:t>
            </a:r>
            <a:r>
              <a:rPr lang="tr-TR" sz="1800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" pitchFamily="34" charset="0"/>
                <a:hlinkClick r:id="rId4"/>
              </a:rPr>
              <a:t>sakarya</a:t>
            </a:r>
            <a:r>
              <a:rPr lang="tr-TR" sz="18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" pitchFamily="34" charset="0"/>
                <a:hlinkClick r:id="rId4"/>
              </a:rPr>
              <a:t>.edu.tr/</a:t>
            </a:r>
            <a:r>
              <a:rPr lang="tr-TR" sz="1800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" pitchFamily="34" charset="0"/>
                <a:hlinkClick r:id="rId4"/>
              </a:rPr>
              <a:t>yyurtay</a:t>
            </a:r>
            <a:endParaRPr lang="tr-TR" sz="1800" dirty="0" smtClean="0">
              <a:solidFill>
                <a:schemeClr val="accent1">
                  <a:lumMod val="60000"/>
                  <a:lumOff val="40000"/>
                </a:schemeClr>
              </a:solidFill>
              <a:latin typeface="Berlin Sans FB" pitchFamily="34" charset="0"/>
            </a:endParaRPr>
          </a:p>
          <a:p>
            <a:pPr algn="ctr"/>
            <a:r>
              <a:rPr lang="tr-TR" sz="1800" dirty="0" smtClean="0">
                <a:solidFill>
                  <a:schemeClr val="accent1">
                    <a:lumMod val="75000"/>
                  </a:schemeClr>
                </a:solidFill>
                <a:latin typeface="Berlin Sans FB" pitchFamily="34" charset="0"/>
              </a:rPr>
              <a:t>(264) 295 58 99</a:t>
            </a:r>
          </a:p>
          <a:p>
            <a:pPr algn="ctr"/>
            <a:endParaRPr lang="tr-TR" sz="1800" dirty="0" smtClean="0">
              <a:solidFill>
                <a:schemeClr val="accent1">
                  <a:lumMod val="60000"/>
                  <a:lumOff val="40000"/>
                </a:schemeClr>
              </a:solidFill>
              <a:latin typeface="Berlin Sans FB" pitchFamily="34" charset="0"/>
            </a:endParaRPr>
          </a:p>
        </p:txBody>
      </p:sp>
      <p:sp>
        <p:nvSpPr>
          <p:cNvPr id="11" name="10 Veri Yer Tutucusu"/>
          <p:cNvSpPr>
            <a:spLocks noGrp="1"/>
          </p:cNvSpPr>
          <p:nvPr>
            <p:ph type="dt" sz="quarter" idx="2"/>
          </p:nvPr>
        </p:nvSpPr>
        <p:spPr/>
        <p:txBody>
          <a:bodyPr/>
          <a:lstStyle/>
          <a:p>
            <a:r>
              <a:rPr lang="tr-TR" smtClean="0"/>
              <a:t>5.  </a:t>
            </a:r>
            <a:r>
              <a:rPr lang="tr-TR" dirty="0" smtClean="0"/>
              <a:t>Hafta</a:t>
            </a:r>
            <a:endParaRPr lang="tr-TR" dirty="0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524000" y="785794"/>
            <a:ext cx="7391400" cy="5767406"/>
          </a:xfrm>
        </p:spPr>
        <p:txBody>
          <a:bodyPr/>
          <a:lstStyle/>
          <a:p>
            <a:pPr>
              <a:buNone/>
            </a:pPr>
            <a:r>
              <a:rPr lang="tr-TR" sz="1600" kern="1200" dirty="0" smtClean="0">
                <a:solidFill>
                  <a:schemeClr val="bg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Ders İçeriği</a:t>
            </a:r>
          </a:p>
          <a:p>
            <a:pPr>
              <a:buFont typeface="Wingdings" pitchFamily="2" charset="2"/>
              <a:buChar char="v"/>
            </a:pPr>
            <a:endParaRPr lang="tr-TR" sz="2000" dirty="0" smtClean="0"/>
          </a:p>
          <a:p>
            <a:pPr>
              <a:buFont typeface="Wingdings" pitchFamily="2" charset="2"/>
              <a:buChar char="v"/>
            </a:pPr>
            <a:endParaRPr lang="tr-TR" sz="2000" dirty="0" smtClean="0"/>
          </a:p>
          <a:p>
            <a:pPr>
              <a:buFont typeface="Wingdings" pitchFamily="2" charset="2"/>
              <a:buChar char="v"/>
            </a:pPr>
            <a:endParaRPr lang="tr-TR" sz="2000" dirty="0" smtClean="0"/>
          </a:p>
          <a:p>
            <a:pPr>
              <a:buFont typeface="Wingdings" pitchFamily="2" charset="2"/>
              <a:buChar char="v"/>
            </a:pPr>
            <a:r>
              <a:rPr lang="tr-TR" sz="2000" dirty="0" smtClean="0"/>
              <a:t>Gauss Jordan Yöntemi </a:t>
            </a:r>
          </a:p>
          <a:p>
            <a:pPr>
              <a:buFont typeface="Wingdings" pitchFamily="2" charset="2"/>
              <a:buChar char="v"/>
            </a:pPr>
            <a:r>
              <a:rPr lang="tr-TR" sz="2000" dirty="0" smtClean="0"/>
              <a:t>Cramer Kuralı </a:t>
            </a:r>
          </a:p>
          <a:p>
            <a:pPr>
              <a:buFont typeface="Wingdings" pitchFamily="2" charset="2"/>
              <a:buChar char="v"/>
            </a:pPr>
            <a:r>
              <a:rPr lang="tr-TR" sz="2000" dirty="0" smtClean="0"/>
              <a:t>Uygulama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357158" y="5929330"/>
            <a:ext cx="714380" cy="476250"/>
          </a:xfrm>
        </p:spPr>
        <p:txBody>
          <a:bodyPr/>
          <a:lstStyle/>
          <a:p>
            <a:pPr algn="ctr"/>
            <a:r>
              <a:rPr lang="tr-TR" smtClean="0"/>
              <a:t>2.  Sayfa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96E4-35C4-4741-8A69-D49CDAA919B9}" type="slidenum">
              <a:rPr lang="tr-TR" smtClean="0"/>
              <a:pPr/>
              <a:t>2</a:t>
            </a:fld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5.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5602" name="Picture 2" descr="http://depo.fthcmc.net/resim/ders.jp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6000760" y="3857628"/>
            <a:ext cx="2805132" cy="221457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524000" y="785794"/>
            <a:ext cx="7391400" cy="428628"/>
          </a:xfrm>
        </p:spPr>
        <p:txBody>
          <a:bodyPr/>
          <a:lstStyle/>
          <a:p>
            <a:pPr>
              <a:buNone/>
            </a:pPr>
            <a:r>
              <a:rPr lang="tr-TR" sz="1600" dirty="0" smtClean="0">
                <a:solidFill>
                  <a:schemeClr val="bg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Denklem 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800" dirty="0" smtClean="0"/>
          </a:p>
          <a:p>
            <a:pPr>
              <a:buNone/>
            </a:pPr>
            <a:endParaRPr lang="tr-TR" sz="1800" dirty="0" smtClean="0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3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5.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472870" y="1214422"/>
            <a:ext cx="764383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00166" y="1357298"/>
            <a:ext cx="7219950" cy="463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524000" y="785794"/>
            <a:ext cx="7391400" cy="428628"/>
          </a:xfrm>
        </p:spPr>
        <p:txBody>
          <a:bodyPr/>
          <a:lstStyle/>
          <a:p>
            <a:pPr lvl="0">
              <a:buNone/>
            </a:pPr>
            <a:r>
              <a:rPr lang="tr-TR" sz="1600" dirty="0" smtClean="0">
                <a:solidFill>
                  <a:schemeClr val="bg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Denklem 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800" dirty="0" smtClean="0"/>
          </a:p>
          <a:p>
            <a:pPr>
              <a:buNone/>
            </a:pPr>
            <a:endParaRPr lang="tr-TR" sz="1800" dirty="0" smtClean="0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4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5.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472870" y="1214422"/>
            <a:ext cx="764383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696" y="1244490"/>
            <a:ext cx="6120680" cy="5320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13 Dikdörtgen"/>
          <p:cNvSpPr/>
          <p:nvPr/>
        </p:nvSpPr>
        <p:spPr>
          <a:xfrm>
            <a:off x="7524328" y="1340768"/>
            <a:ext cx="13435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Gauss Jordan </a:t>
            </a:r>
            <a:endParaRPr lang="tr-TR" sz="1400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524000" y="785794"/>
            <a:ext cx="7391400" cy="428628"/>
          </a:xfrm>
        </p:spPr>
        <p:txBody>
          <a:bodyPr/>
          <a:lstStyle/>
          <a:p>
            <a:pPr lvl="0">
              <a:buNone/>
            </a:pPr>
            <a:r>
              <a:rPr lang="tr-TR" sz="1600" dirty="0" smtClean="0">
                <a:solidFill>
                  <a:schemeClr val="bg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Denklem 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800" dirty="0" smtClean="0"/>
          </a:p>
          <a:p>
            <a:pPr>
              <a:buNone/>
            </a:pPr>
            <a:endParaRPr lang="tr-TR" sz="1800" dirty="0" smtClean="0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5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5.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475656" y="1196752"/>
            <a:ext cx="764383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2" name="11 Dikdörtgen"/>
          <p:cNvSpPr/>
          <p:nvPr/>
        </p:nvSpPr>
        <p:spPr>
          <a:xfrm>
            <a:off x="1691680" y="1268761"/>
            <a:ext cx="59766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800" dirty="0" smtClean="0"/>
              <a:t>Gauss Jordan işleminden devam edilecek.</a:t>
            </a:r>
            <a:endParaRPr lang="tr-TR" sz="1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67744" y="1700808"/>
            <a:ext cx="5524500" cy="4802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13 Dikdörtgen"/>
          <p:cNvSpPr/>
          <p:nvPr/>
        </p:nvSpPr>
        <p:spPr>
          <a:xfrm>
            <a:off x="7524328" y="1340768"/>
            <a:ext cx="13435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Gauss Jordan </a:t>
            </a:r>
            <a:endParaRPr lang="tr-TR" sz="1400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524000" y="785794"/>
            <a:ext cx="7391400" cy="428628"/>
          </a:xfrm>
        </p:spPr>
        <p:txBody>
          <a:bodyPr/>
          <a:lstStyle/>
          <a:p>
            <a:pPr lvl="0">
              <a:buNone/>
            </a:pPr>
            <a:r>
              <a:rPr lang="tr-TR" sz="1600" dirty="0" smtClean="0">
                <a:solidFill>
                  <a:schemeClr val="bg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Denklem 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800" dirty="0" smtClean="0"/>
          </a:p>
          <a:p>
            <a:pPr>
              <a:buNone/>
            </a:pPr>
            <a:endParaRPr lang="tr-TR" sz="1800" dirty="0" smtClean="0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6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5.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475656" y="1196752"/>
            <a:ext cx="764383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2" name="11 Dikdörtgen"/>
          <p:cNvSpPr/>
          <p:nvPr/>
        </p:nvSpPr>
        <p:spPr>
          <a:xfrm>
            <a:off x="1691680" y="1268761"/>
            <a:ext cx="59766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800" dirty="0" smtClean="0"/>
              <a:t>Uygulama :</a:t>
            </a:r>
            <a:endParaRPr lang="tr-TR" sz="1800" dirty="0"/>
          </a:p>
        </p:txBody>
      </p:sp>
      <p:sp>
        <p:nvSpPr>
          <p:cNvPr id="13" name="12 Dikdörtgen"/>
          <p:cNvSpPr/>
          <p:nvPr/>
        </p:nvSpPr>
        <p:spPr>
          <a:xfrm>
            <a:off x="1835696" y="1700808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sz="1800" dirty="0" smtClean="0"/>
              <a:t>  x</a:t>
            </a:r>
            <a:r>
              <a:rPr lang="tr-TR" sz="1800" baseline="-25000" dirty="0" smtClean="0"/>
              <a:t>1</a:t>
            </a:r>
            <a:r>
              <a:rPr lang="tr-TR" sz="1800" dirty="0" smtClean="0"/>
              <a:t> - x</a:t>
            </a:r>
            <a:r>
              <a:rPr lang="tr-TR" sz="1800" baseline="-25000" dirty="0" smtClean="0"/>
              <a:t>2</a:t>
            </a:r>
            <a:r>
              <a:rPr lang="tr-TR" sz="1800" dirty="0" smtClean="0"/>
              <a:t> + x</a:t>
            </a:r>
            <a:r>
              <a:rPr lang="tr-TR" sz="1800" baseline="-25000" dirty="0" smtClean="0"/>
              <a:t>3</a:t>
            </a:r>
            <a:r>
              <a:rPr lang="tr-TR" sz="1800" dirty="0" smtClean="0"/>
              <a:t> = 3</a:t>
            </a:r>
          </a:p>
          <a:p>
            <a:r>
              <a:rPr lang="tr-TR" sz="1800" dirty="0" smtClean="0"/>
              <a:t>  x</a:t>
            </a:r>
            <a:r>
              <a:rPr lang="tr-TR" sz="1800" baseline="-25000" dirty="0" smtClean="0"/>
              <a:t>1</a:t>
            </a:r>
            <a:r>
              <a:rPr lang="tr-TR" sz="1800" dirty="0" smtClean="0"/>
              <a:t> + x</a:t>
            </a:r>
            <a:r>
              <a:rPr lang="tr-TR" sz="1800" baseline="-25000" dirty="0" smtClean="0"/>
              <a:t>2</a:t>
            </a:r>
            <a:r>
              <a:rPr lang="tr-TR" sz="1800" dirty="0" smtClean="0"/>
              <a:t> - x</a:t>
            </a:r>
            <a:r>
              <a:rPr lang="tr-TR" sz="1800" baseline="-25000" dirty="0" smtClean="0"/>
              <a:t>3</a:t>
            </a:r>
            <a:r>
              <a:rPr lang="tr-TR" sz="1800" dirty="0" smtClean="0"/>
              <a:t> = 5</a:t>
            </a:r>
          </a:p>
          <a:p>
            <a:r>
              <a:rPr lang="tr-TR" sz="1800" dirty="0" smtClean="0"/>
              <a:t>-x</a:t>
            </a:r>
            <a:r>
              <a:rPr lang="tr-TR" sz="1800" baseline="-25000" dirty="0" smtClean="0"/>
              <a:t>1</a:t>
            </a:r>
            <a:r>
              <a:rPr lang="tr-TR" sz="1800" dirty="0" smtClean="0"/>
              <a:t> + x</a:t>
            </a:r>
            <a:r>
              <a:rPr lang="tr-TR" sz="1800" baseline="-25000" dirty="0" smtClean="0"/>
              <a:t>2</a:t>
            </a:r>
            <a:r>
              <a:rPr lang="tr-TR" sz="1800" dirty="0" smtClean="0"/>
              <a:t> + x</a:t>
            </a:r>
            <a:r>
              <a:rPr lang="tr-TR" sz="1800" baseline="-25000" dirty="0" smtClean="0"/>
              <a:t>3</a:t>
            </a:r>
            <a:r>
              <a:rPr lang="tr-TR" sz="1800" dirty="0" smtClean="0"/>
              <a:t> = 1</a:t>
            </a:r>
          </a:p>
          <a:p>
            <a:endParaRPr lang="tr-TR" sz="1800" dirty="0" smtClean="0"/>
          </a:p>
          <a:p>
            <a:r>
              <a:rPr lang="tr-TR" sz="1800" dirty="0" smtClean="0"/>
              <a:t>Çözümü gauss </a:t>
            </a:r>
            <a:r>
              <a:rPr lang="tr-TR" sz="1800" dirty="0" err="1" smtClean="0"/>
              <a:t>jordan</a:t>
            </a:r>
            <a:r>
              <a:rPr lang="tr-TR" sz="1800" dirty="0" smtClean="0"/>
              <a:t> yöntemi ile bulunuz ?</a:t>
            </a:r>
          </a:p>
          <a:p>
            <a:endParaRPr lang="tr-TR" sz="1800" dirty="0" smtClean="0"/>
          </a:p>
          <a:p>
            <a:r>
              <a:rPr lang="tr-TR" sz="1800" dirty="0" smtClean="0"/>
              <a:t>…</a:t>
            </a:r>
            <a:endParaRPr lang="tr-TR" sz="1800" dirty="0"/>
          </a:p>
        </p:txBody>
      </p:sp>
      <p:sp>
        <p:nvSpPr>
          <p:cNvPr id="14" name="13 Dikdörtgen"/>
          <p:cNvSpPr/>
          <p:nvPr/>
        </p:nvSpPr>
        <p:spPr>
          <a:xfrm>
            <a:off x="1907704" y="5661248"/>
            <a:ext cx="22381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800" dirty="0" smtClean="0"/>
              <a:t>(x1, x2, x3) = (4, 3, 2)</a:t>
            </a:r>
            <a:endParaRPr lang="tr-TR" sz="1800" dirty="0"/>
          </a:p>
        </p:txBody>
      </p:sp>
      <p:sp>
        <p:nvSpPr>
          <p:cNvPr id="15" name="14 Dikdörtgen"/>
          <p:cNvSpPr/>
          <p:nvPr/>
        </p:nvSpPr>
        <p:spPr>
          <a:xfrm>
            <a:off x="7524328" y="1340768"/>
            <a:ext cx="13435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Gauss Jordan </a:t>
            </a:r>
            <a:endParaRPr lang="tr-TR" sz="1400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524000" y="785794"/>
            <a:ext cx="7391400" cy="428628"/>
          </a:xfrm>
        </p:spPr>
        <p:txBody>
          <a:bodyPr/>
          <a:lstStyle/>
          <a:p>
            <a:pPr lvl="0">
              <a:buNone/>
            </a:pPr>
            <a:r>
              <a:rPr lang="tr-TR" sz="1600" dirty="0" smtClean="0">
                <a:solidFill>
                  <a:schemeClr val="bg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Denklem 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800" dirty="0" smtClean="0"/>
          </a:p>
          <a:p>
            <a:pPr>
              <a:buNone/>
            </a:pPr>
            <a:endParaRPr lang="tr-TR" sz="1800" dirty="0" smtClean="0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7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5.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475656" y="1196752"/>
            <a:ext cx="764383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2" name="11 Dikdörtgen"/>
          <p:cNvSpPr/>
          <p:nvPr/>
        </p:nvSpPr>
        <p:spPr>
          <a:xfrm>
            <a:off x="1691680" y="1268761"/>
            <a:ext cx="59766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800" dirty="0" smtClean="0"/>
              <a:t>Uygulama :</a:t>
            </a:r>
            <a:endParaRPr lang="tr-TR" sz="1800" dirty="0"/>
          </a:p>
        </p:txBody>
      </p:sp>
      <p:sp>
        <p:nvSpPr>
          <p:cNvPr id="13" name="12 Dikdörtgen"/>
          <p:cNvSpPr/>
          <p:nvPr/>
        </p:nvSpPr>
        <p:spPr>
          <a:xfrm>
            <a:off x="1835696" y="1700808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sz="1800" dirty="0" smtClean="0"/>
              <a:t> 6x</a:t>
            </a:r>
            <a:r>
              <a:rPr lang="tr-TR" sz="1800" baseline="-25000" dirty="0" smtClean="0"/>
              <a:t>1</a:t>
            </a:r>
            <a:r>
              <a:rPr lang="tr-TR" sz="1800" dirty="0" smtClean="0"/>
              <a:t> + 2x</a:t>
            </a:r>
            <a:r>
              <a:rPr lang="tr-TR" sz="1800" baseline="-25000" dirty="0" smtClean="0"/>
              <a:t>2</a:t>
            </a:r>
            <a:r>
              <a:rPr lang="tr-TR" sz="1800" dirty="0" smtClean="0"/>
              <a:t> + x</a:t>
            </a:r>
            <a:r>
              <a:rPr lang="tr-TR" sz="1800" baseline="-25000" dirty="0" smtClean="0"/>
              <a:t>3</a:t>
            </a:r>
            <a:r>
              <a:rPr lang="tr-TR" sz="1800" dirty="0" smtClean="0"/>
              <a:t> =-5</a:t>
            </a:r>
          </a:p>
          <a:p>
            <a:r>
              <a:rPr lang="tr-TR" sz="1800" dirty="0" smtClean="0"/>
              <a:t>-  x</a:t>
            </a:r>
            <a:r>
              <a:rPr lang="tr-TR" sz="1800" baseline="-25000" dirty="0" smtClean="0"/>
              <a:t>1</a:t>
            </a:r>
            <a:r>
              <a:rPr lang="tr-TR" sz="1800" dirty="0" smtClean="0"/>
              <a:t> - 3x</a:t>
            </a:r>
            <a:r>
              <a:rPr lang="tr-TR" sz="1800" baseline="-25000" dirty="0" smtClean="0"/>
              <a:t>2</a:t>
            </a:r>
            <a:r>
              <a:rPr lang="tr-TR" sz="1800" dirty="0" smtClean="0"/>
              <a:t> + 2x</a:t>
            </a:r>
            <a:r>
              <a:rPr lang="tr-TR" sz="1800" baseline="-25000" dirty="0" smtClean="0"/>
              <a:t>3</a:t>
            </a:r>
            <a:r>
              <a:rPr lang="tr-TR" sz="1800" dirty="0" smtClean="0"/>
              <a:t> = 1</a:t>
            </a:r>
          </a:p>
          <a:p>
            <a:r>
              <a:rPr lang="tr-TR" sz="1800" dirty="0" smtClean="0"/>
              <a:t>-2x</a:t>
            </a:r>
            <a:r>
              <a:rPr lang="tr-TR" sz="1800" baseline="-25000" dirty="0" smtClean="0"/>
              <a:t>1</a:t>
            </a:r>
            <a:r>
              <a:rPr lang="tr-TR" sz="1800" dirty="0" smtClean="0"/>
              <a:t> +  x</a:t>
            </a:r>
            <a:r>
              <a:rPr lang="tr-TR" sz="1800" baseline="-25000" dirty="0" smtClean="0"/>
              <a:t>2</a:t>
            </a:r>
            <a:r>
              <a:rPr lang="tr-TR" sz="1800" dirty="0" smtClean="0"/>
              <a:t> - 3x</a:t>
            </a:r>
            <a:r>
              <a:rPr lang="tr-TR" sz="1800" baseline="-25000" dirty="0" smtClean="0"/>
              <a:t>3</a:t>
            </a:r>
            <a:r>
              <a:rPr lang="tr-TR" sz="1800" dirty="0" smtClean="0"/>
              <a:t> =-5</a:t>
            </a:r>
          </a:p>
          <a:p>
            <a:endParaRPr lang="tr-TR" sz="1800" dirty="0" smtClean="0"/>
          </a:p>
          <a:p>
            <a:r>
              <a:rPr lang="tr-TR" sz="1800" dirty="0" smtClean="0"/>
              <a:t>Çözümü gauss </a:t>
            </a:r>
            <a:r>
              <a:rPr lang="tr-TR" sz="1800" dirty="0" err="1" smtClean="0"/>
              <a:t>jordan</a:t>
            </a:r>
            <a:r>
              <a:rPr lang="tr-TR" sz="1800" dirty="0" smtClean="0"/>
              <a:t> yöntemi ile bulunuz ?</a:t>
            </a:r>
          </a:p>
          <a:p>
            <a:endParaRPr lang="tr-TR" sz="1800" dirty="0" smtClean="0"/>
          </a:p>
          <a:p>
            <a:r>
              <a:rPr lang="tr-TR" sz="1800" dirty="0" smtClean="0"/>
              <a:t>…</a:t>
            </a:r>
            <a:endParaRPr lang="tr-TR" sz="1800" dirty="0"/>
          </a:p>
        </p:txBody>
      </p:sp>
      <p:sp>
        <p:nvSpPr>
          <p:cNvPr id="14" name="13 Dikdörtgen"/>
          <p:cNvSpPr/>
          <p:nvPr/>
        </p:nvSpPr>
        <p:spPr>
          <a:xfrm>
            <a:off x="1907704" y="5661248"/>
            <a:ext cx="23920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800" dirty="0" smtClean="0"/>
              <a:t>(x1, x2, x3) = (-3, 4, 5)</a:t>
            </a:r>
            <a:endParaRPr lang="tr-TR" sz="1800" dirty="0"/>
          </a:p>
        </p:txBody>
      </p:sp>
      <p:sp>
        <p:nvSpPr>
          <p:cNvPr id="15" name="14 Dikdörtgen"/>
          <p:cNvSpPr/>
          <p:nvPr/>
        </p:nvSpPr>
        <p:spPr>
          <a:xfrm>
            <a:off x="7524328" y="1340768"/>
            <a:ext cx="13435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Gauss Jordan </a:t>
            </a:r>
            <a:endParaRPr lang="tr-TR" sz="1400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524000" y="785794"/>
            <a:ext cx="7391400" cy="428628"/>
          </a:xfrm>
        </p:spPr>
        <p:txBody>
          <a:bodyPr/>
          <a:lstStyle/>
          <a:p>
            <a:pPr lvl="0">
              <a:buNone/>
            </a:pPr>
            <a:r>
              <a:rPr lang="tr-TR" sz="1600" dirty="0" smtClean="0">
                <a:solidFill>
                  <a:schemeClr val="bg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Denklem 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800" dirty="0" smtClean="0"/>
          </a:p>
          <a:p>
            <a:pPr>
              <a:buNone/>
            </a:pPr>
            <a:endParaRPr lang="tr-TR" sz="1800" dirty="0" smtClean="0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8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5.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475656" y="1196752"/>
            <a:ext cx="764383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2" name="11 Dikdörtgen"/>
          <p:cNvSpPr/>
          <p:nvPr/>
        </p:nvSpPr>
        <p:spPr>
          <a:xfrm>
            <a:off x="1691680" y="1268761"/>
            <a:ext cx="59766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800" dirty="0" smtClean="0"/>
              <a:t>Uygulama :</a:t>
            </a:r>
            <a:endParaRPr lang="tr-TR" sz="1800" dirty="0"/>
          </a:p>
        </p:txBody>
      </p:sp>
      <p:sp>
        <p:nvSpPr>
          <p:cNvPr id="13" name="12 Dikdörtgen"/>
          <p:cNvSpPr/>
          <p:nvPr/>
        </p:nvSpPr>
        <p:spPr>
          <a:xfrm>
            <a:off x="1835696" y="1700808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sz="1800" dirty="0" smtClean="0"/>
              <a:t>  x</a:t>
            </a:r>
            <a:r>
              <a:rPr lang="tr-TR" sz="1800" baseline="-25000" dirty="0" smtClean="0"/>
              <a:t>1</a:t>
            </a:r>
            <a:r>
              <a:rPr lang="tr-TR" sz="1800" dirty="0" smtClean="0"/>
              <a:t> + 2x</a:t>
            </a:r>
            <a:r>
              <a:rPr lang="tr-TR" sz="1800" baseline="-25000" dirty="0" smtClean="0"/>
              <a:t>2</a:t>
            </a:r>
            <a:r>
              <a:rPr lang="tr-TR" sz="1800" dirty="0" smtClean="0"/>
              <a:t> + x</a:t>
            </a:r>
            <a:r>
              <a:rPr lang="tr-TR" sz="1800" baseline="-25000" dirty="0" smtClean="0"/>
              <a:t>3</a:t>
            </a:r>
            <a:r>
              <a:rPr lang="tr-TR" sz="1800" dirty="0" smtClean="0"/>
              <a:t> =-3</a:t>
            </a:r>
          </a:p>
          <a:p>
            <a:r>
              <a:rPr lang="tr-TR" sz="1800" dirty="0" smtClean="0"/>
              <a:t>3x</a:t>
            </a:r>
            <a:r>
              <a:rPr lang="tr-TR" sz="1800" baseline="-25000" dirty="0" smtClean="0"/>
              <a:t>1</a:t>
            </a:r>
            <a:r>
              <a:rPr lang="tr-TR" sz="1800" dirty="0" smtClean="0"/>
              <a:t> +7x</a:t>
            </a:r>
            <a:r>
              <a:rPr lang="tr-TR" sz="1800" baseline="-25000" dirty="0" smtClean="0"/>
              <a:t>2</a:t>
            </a:r>
            <a:r>
              <a:rPr lang="tr-TR" sz="1800" dirty="0" smtClean="0"/>
              <a:t> + 4x</a:t>
            </a:r>
            <a:r>
              <a:rPr lang="tr-TR" sz="1800" baseline="-25000" dirty="0" smtClean="0"/>
              <a:t>3</a:t>
            </a:r>
            <a:r>
              <a:rPr lang="tr-TR" sz="1800" dirty="0" smtClean="0"/>
              <a:t> = 9</a:t>
            </a:r>
          </a:p>
          <a:p>
            <a:r>
              <a:rPr lang="tr-TR" sz="1800" dirty="0" smtClean="0"/>
              <a:t>2x</a:t>
            </a:r>
            <a:r>
              <a:rPr lang="tr-TR" sz="1800" baseline="-25000" dirty="0" smtClean="0"/>
              <a:t>1</a:t>
            </a:r>
            <a:r>
              <a:rPr lang="tr-TR" sz="1800" dirty="0" smtClean="0"/>
              <a:t> -   x</a:t>
            </a:r>
            <a:r>
              <a:rPr lang="tr-TR" sz="1800" baseline="-25000" dirty="0" smtClean="0"/>
              <a:t>2</a:t>
            </a:r>
            <a:r>
              <a:rPr lang="tr-TR" sz="1800" dirty="0" smtClean="0"/>
              <a:t> + 3x</a:t>
            </a:r>
            <a:r>
              <a:rPr lang="tr-TR" sz="1800" baseline="-25000" dirty="0" smtClean="0"/>
              <a:t>3</a:t>
            </a:r>
            <a:r>
              <a:rPr lang="tr-TR" sz="1800" dirty="0" smtClean="0"/>
              <a:t> =12</a:t>
            </a:r>
          </a:p>
          <a:p>
            <a:endParaRPr lang="tr-TR" sz="1800" dirty="0" smtClean="0"/>
          </a:p>
          <a:p>
            <a:r>
              <a:rPr lang="tr-TR" sz="1800" dirty="0" smtClean="0"/>
              <a:t>Çözümü gauss </a:t>
            </a:r>
            <a:r>
              <a:rPr lang="tr-TR" sz="1800" dirty="0" err="1" smtClean="0"/>
              <a:t>jordan</a:t>
            </a:r>
            <a:r>
              <a:rPr lang="tr-TR" sz="1800" dirty="0" smtClean="0"/>
              <a:t> yöntemi ile bulunuz ?</a:t>
            </a:r>
          </a:p>
          <a:p>
            <a:endParaRPr lang="tr-TR" sz="1800" dirty="0" smtClean="0"/>
          </a:p>
          <a:p>
            <a:r>
              <a:rPr lang="tr-TR" sz="1800" dirty="0" smtClean="0"/>
              <a:t>…</a:t>
            </a:r>
            <a:endParaRPr lang="tr-TR" sz="1800" dirty="0"/>
          </a:p>
        </p:txBody>
      </p:sp>
      <p:sp>
        <p:nvSpPr>
          <p:cNvPr id="14" name="13 Dikdörtgen"/>
          <p:cNvSpPr/>
          <p:nvPr/>
        </p:nvSpPr>
        <p:spPr>
          <a:xfrm>
            <a:off x="1907704" y="5661248"/>
            <a:ext cx="21996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800" dirty="0" smtClean="0"/>
              <a:t>(x1, x2, x3) = (4,-1,1)</a:t>
            </a:r>
            <a:endParaRPr lang="tr-TR" sz="1800" dirty="0"/>
          </a:p>
        </p:txBody>
      </p:sp>
      <p:sp>
        <p:nvSpPr>
          <p:cNvPr id="15" name="14 Dikdörtgen"/>
          <p:cNvSpPr/>
          <p:nvPr/>
        </p:nvSpPr>
        <p:spPr>
          <a:xfrm>
            <a:off x="7524328" y="1340768"/>
            <a:ext cx="13435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Gauss Jordan </a:t>
            </a:r>
            <a:endParaRPr lang="tr-TR" sz="1400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524000" y="785794"/>
            <a:ext cx="7391400" cy="428628"/>
          </a:xfrm>
        </p:spPr>
        <p:txBody>
          <a:bodyPr/>
          <a:lstStyle/>
          <a:p>
            <a:pPr lvl="0">
              <a:buNone/>
            </a:pPr>
            <a:r>
              <a:rPr lang="tr-TR" sz="1600" dirty="0" smtClean="0">
                <a:solidFill>
                  <a:schemeClr val="bg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Denklem 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800" dirty="0" smtClean="0"/>
          </a:p>
          <a:p>
            <a:pPr>
              <a:buNone/>
            </a:pPr>
            <a:endParaRPr lang="tr-TR" sz="1800" dirty="0" smtClean="0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9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5.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475656" y="1196752"/>
            <a:ext cx="764383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2" name="11 Dikdörtgen"/>
          <p:cNvSpPr/>
          <p:nvPr/>
        </p:nvSpPr>
        <p:spPr>
          <a:xfrm>
            <a:off x="1691680" y="1268761"/>
            <a:ext cx="59766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800" dirty="0" smtClean="0"/>
              <a:t>Uygulama :</a:t>
            </a:r>
            <a:endParaRPr lang="tr-TR" sz="1800" dirty="0"/>
          </a:p>
        </p:txBody>
      </p:sp>
      <p:sp>
        <p:nvSpPr>
          <p:cNvPr id="13" name="12 Dikdörtgen"/>
          <p:cNvSpPr/>
          <p:nvPr/>
        </p:nvSpPr>
        <p:spPr>
          <a:xfrm>
            <a:off x="1835696" y="1700808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sz="1800" dirty="0" smtClean="0"/>
              <a:t>x</a:t>
            </a:r>
            <a:r>
              <a:rPr lang="tr-TR" sz="1800" baseline="-25000" dirty="0" smtClean="0"/>
              <a:t>1</a:t>
            </a:r>
            <a:r>
              <a:rPr lang="tr-TR" sz="1800" dirty="0" smtClean="0"/>
              <a:t> + x</a:t>
            </a:r>
            <a:r>
              <a:rPr lang="tr-TR" sz="1800" baseline="-25000" dirty="0" smtClean="0"/>
              <a:t>2</a:t>
            </a:r>
            <a:r>
              <a:rPr lang="tr-TR" sz="1800" dirty="0" smtClean="0"/>
              <a:t> - x</a:t>
            </a:r>
            <a:r>
              <a:rPr lang="tr-TR" sz="1800" baseline="-25000" dirty="0" smtClean="0"/>
              <a:t>3</a:t>
            </a:r>
            <a:r>
              <a:rPr lang="tr-TR" sz="1800" dirty="0" smtClean="0"/>
              <a:t> + x</a:t>
            </a:r>
            <a:r>
              <a:rPr lang="tr-TR" sz="1800" baseline="-25000" dirty="0" smtClean="0"/>
              <a:t>4</a:t>
            </a:r>
            <a:r>
              <a:rPr lang="tr-TR" sz="1800" dirty="0" smtClean="0"/>
              <a:t> = 2</a:t>
            </a:r>
          </a:p>
          <a:p>
            <a:r>
              <a:rPr lang="tr-TR" sz="1800" dirty="0" smtClean="0"/>
              <a:t>      2x</a:t>
            </a:r>
            <a:r>
              <a:rPr lang="tr-TR" sz="1800" baseline="-25000" dirty="0" smtClean="0"/>
              <a:t>2</a:t>
            </a:r>
            <a:r>
              <a:rPr lang="tr-TR" sz="1800" dirty="0" smtClean="0"/>
              <a:t>+ x</a:t>
            </a:r>
            <a:r>
              <a:rPr lang="tr-TR" sz="1800" baseline="-25000" dirty="0" smtClean="0"/>
              <a:t>3</a:t>
            </a:r>
            <a:r>
              <a:rPr lang="tr-TR" sz="1800" dirty="0" smtClean="0"/>
              <a:t> -  x</a:t>
            </a:r>
            <a:r>
              <a:rPr lang="tr-TR" sz="1800" baseline="-25000" dirty="0" smtClean="0"/>
              <a:t>4</a:t>
            </a:r>
            <a:r>
              <a:rPr lang="tr-TR" sz="1800" dirty="0" smtClean="0"/>
              <a:t> = 5</a:t>
            </a:r>
          </a:p>
          <a:p>
            <a:r>
              <a:rPr lang="tr-TR" sz="1800" dirty="0" smtClean="0"/>
              <a:t> x</a:t>
            </a:r>
            <a:r>
              <a:rPr lang="tr-TR" sz="1800" baseline="-25000" dirty="0" smtClean="0"/>
              <a:t>1</a:t>
            </a:r>
            <a:r>
              <a:rPr lang="tr-TR" sz="1800" dirty="0" smtClean="0"/>
              <a:t>        - x</a:t>
            </a:r>
            <a:r>
              <a:rPr lang="tr-TR" sz="1800" baseline="-25000" dirty="0" smtClean="0"/>
              <a:t>3</a:t>
            </a:r>
            <a:r>
              <a:rPr lang="tr-TR" sz="1800" dirty="0" smtClean="0"/>
              <a:t> + x</a:t>
            </a:r>
            <a:r>
              <a:rPr lang="tr-TR" sz="1800" baseline="-25000" dirty="0" smtClean="0"/>
              <a:t>4</a:t>
            </a:r>
            <a:r>
              <a:rPr lang="tr-TR" sz="1800" dirty="0" smtClean="0"/>
              <a:t> = 0</a:t>
            </a:r>
          </a:p>
          <a:p>
            <a:r>
              <a:rPr lang="tr-TR" sz="1800" dirty="0" smtClean="0"/>
              <a:t>-x</a:t>
            </a:r>
            <a:r>
              <a:rPr lang="tr-TR" sz="1800" baseline="-25000" dirty="0" smtClean="0"/>
              <a:t>1</a:t>
            </a:r>
            <a:r>
              <a:rPr lang="tr-TR" sz="1800" dirty="0" smtClean="0"/>
              <a:t> - x</a:t>
            </a:r>
            <a:r>
              <a:rPr lang="tr-TR" sz="1800" baseline="-25000" dirty="0" smtClean="0"/>
              <a:t>2</a:t>
            </a:r>
            <a:r>
              <a:rPr lang="tr-TR" sz="1800" dirty="0" smtClean="0"/>
              <a:t> +x</a:t>
            </a:r>
            <a:r>
              <a:rPr lang="tr-TR" sz="1800" baseline="-25000" dirty="0" smtClean="0"/>
              <a:t>3</a:t>
            </a:r>
            <a:r>
              <a:rPr lang="tr-TR" sz="1800" dirty="0" smtClean="0"/>
              <a:t>         =- 4</a:t>
            </a:r>
          </a:p>
          <a:p>
            <a:endParaRPr lang="tr-TR" sz="1800" dirty="0" smtClean="0"/>
          </a:p>
          <a:p>
            <a:r>
              <a:rPr lang="tr-TR" sz="1800" dirty="0" smtClean="0"/>
              <a:t>Çözümü gauss </a:t>
            </a:r>
            <a:r>
              <a:rPr lang="tr-TR" sz="1800" dirty="0" err="1" smtClean="0"/>
              <a:t>jordan</a:t>
            </a:r>
            <a:r>
              <a:rPr lang="tr-TR" sz="1800" dirty="0" smtClean="0"/>
              <a:t> yöntemi ile bulunuz ?</a:t>
            </a:r>
          </a:p>
          <a:p>
            <a:endParaRPr lang="tr-TR" sz="1800" dirty="0" smtClean="0"/>
          </a:p>
          <a:p>
            <a:r>
              <a:rPr lang="tr-TR" sz="1800" dirty="0" smtClean="0"/>
              <a:t>…</a:t>
            </a:r>
            <a:endParaRPr lang="tr-TR" sz="1800" dirty="0"/>
          </a:p>
        </p:txBody>
      </p:sp>
      <p:sp>
        <p:nvSpPr>
          <p:cNvPr id="14" name="13 Dikdörtgen"/>
          <p:cNvSpPr/>
          <p:nvPr/>
        </p:nvSpPr>
        <p:spPr>
          <a:xfrm>
            <a:off x="1907704" y="5661248"/>
            <a:ext cx="29690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800" dirty="0" smtClean="0"/>
              <a:t>(x1, x2, x3, x4) = (1, 2, -1, -2)</a:t>
            </a:r>
            <a:endParaRPr lang="tr-TR" sz="1800" dirty="0"/>
          </a:p>
        </p:txBody>
      </p:sp>
      <p:sp>
        <p:nvSpPr>
          <p:cNvPr id="15" name="14 Dikdörtgen"/>
          <p:cNvSpPr/>
          <p:nvPr/>
        </p:nvSpPr>
        <p:spPr>
          <a:xfrm>
            <a:off x="7524328" y="1340768"/>
            <a:ext cx="13435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1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Gauss Jordan </a:t>
            </a:r>
            <a:endParaRPr lang="tr-TR" sz="1400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524000" y="785794"/>
            <a:ext cx="7391400" cy="428628"/>
          </a:xfrm>
        </p:spPr>
        <p:txBody>
          <a:bodyPr/>
          <a:lstStyle/>
          <a:p>
            <a:pPr>
              <a:buNone/>
            </a:pPr>
            <a:r>
              <a:rPr lang="tr-TR" sz="1600" dirty="0" smtClean="0">
                <a:solidFill>
                  <a:schemeClr val="bg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Denklem 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800" dirty="0" smtClean="0"/>
          </a:p>
          <a:p>
            <a:pPr>
              <a:buNone/>
            </a:pPr>
            <a:endParaRPr lang="tr-TR" sz="1800" dirty="0" smtClean="0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10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5.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472870" y="1214422"/>
            <a:ext cx="764383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tr-TR" sz="18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Cramer Kuralı</a:t>
            </a:r>
            <a:endParaRPr kumimoji="0" lang="tr-TR" sz="1800" b="0" i="0" u="none" strike="noStrike" cap="none" normalizeH="0" baseline="0" dirty="0" smtClean="0">
              <a:ln>
                <a:noFill/>
              </a:ln>
              <a:solidFill>
                <a:schemeClr val="accent3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pic>
        <p:nvPicPr>
          <p:cNvPr id="8601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81163" y="1571612"/>
            <a:ext cx="6607649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524000" y="785794"/>
            <a:ext cx="7391400" cy="428628"/>
          </a:xfrm>
        </p:spPr>
        <p:txBody>
          <a:bodyPr/>
          <a:lstStyle/>
          <a:p>
            <a:pPr lvl="0">
              <a:buNone/>
            </a:pPr>
            <a:r>
              <a:rPr lang="tr-TR" sz="1600" dirty="0" smtClean="0">
                <a:solidFill>
                  <a:schemeClr val="bg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Denklem 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800" dirty="0" smtClean="0"/>
          </a:p>
          <a:p>
            <a:pPr>
              <a:buNone/>
            </a:pPr>
            <a:endParaRPr lang="tr-TR" sz="1800" dirty="0" smtClean="0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11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5.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472870" y="1214422"/>
            <a:ext cx="764383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tr-TR" sz="1600" b="1" dirty="0" smtClean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Cramer Kuralı</a:t>
            </a:r>
            <a:endParaRPr lang="tr-TR" sz="1600" dirty="0" smtClean="0">
              <a:solidFill>
                <a:schemeClr val="accent3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396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14480" y="1857364"/>
            <a:ext cx="6504696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524000" y="785794"/>
            <a:ext cx="7391400" cy="428628"/>
          </a:xfrm>
        </p:spPr>
        <p:txBody>
          <a:bodyPr/>
          <a:lstStyle/>
          <a:p>
            <a:pPr>
              <a:buNone/>
            </a:pPr>
            <a:r>
              <a:rPr lang="tr-TR" sz="1600" dirty="0" smtClean="0">
                <a:solidFill>
                  <a:schemeClr val="bg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Denklem 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800" dirty="0" smtClean="0"/>
          </a:p>
          <a:p>
            <a:pPr>
              <a:buNone/>
            </a:pPr>
            <a:endParaRPr lang="tr-TR" sz="1800" dirty="0" smtClean="0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12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5.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472870" y="1214422"/>
            <a:ext cx="764383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8192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71604" y="1895474"/>
            <a:ext cx="6696537" cy="3624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10 Dikdörtgen"/>
          <p:cNvSpPr/>
          <p:nvPr/>
        </p:nvSpPr>
        <p:spPr>
          <a:xfrm>
            <a:off x="7524328" y="1340768"/>
            <a:ext cx="13435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Cramer Kuralı</a:t>
            </a:r>
            <a:endParaRPr lang="tr-TR" sz="1400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524000" y="785794"/>
            <a:ext cx="7391400" cy="428628"/>
          </a:xfrm>
        </p:spPr>
        <p:txBody>
          <a:bodyPr/>
          <a:lstStyle/>
          <a:p>
            <a:pPr lvl="0">
              <a:buNone/>
            </a:pPr>
            <a:r>
              <a:rPr lang="tr-TR" sz="1600" dirty="0" smtClean="0">
                <a:solidFill>
                  <a:schemeClr val="bg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Denklem 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800" dirty="0" smtClean="0"/>
          </a:p>
          <a:p>
            <a:pPr>
              <a:buNone/>
            </a:pPr>
            <a:endParaRPr lang="tr-TR" sz="1800" dirty="0" smtClean="0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13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5.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475656" y="1196752"/>
            <a:ext cx="764383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91680" y="1412776"/>
            <a:ext cx="5412304" cy="5055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15 Dikdörtgen"/>
          <p:cNvSpPr/>
          <p:nvPr/>
        </p:nvSpPr>
        <p:spPr>
          <a:xfrm>
            <a:off x="7524328" y="1340768"/>
            <a:ext cx="13435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Cramer Kuralı</a:t>
            </a:r>
            <a:endParaRPr lang="tr-TR" sz="1400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524000" y="785794"/>
            <a:ext cx="7391400" cy="428628"/>
          </a:xfrm>
        </p:spPr>
        <p:txBody>
          <a:bodyPr/>
          <a:lstStyle/>
          <a:p>
            <a:pPr lvl="0">
              <a:buNone/>
            </a:pPr>
            <a:r>
              <a:rPr lang="tr-TR" sz="1600" dirty="0" smtClean="0">
                <a:solidFill>
                  <a:schemeClr val="bg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Denklem 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800" dirty="0" smtClean="0"/>
          </a:p>
          <a:p>
            <a:pPr>
              <a:buNone/>
            </a:pPr>
            <a:endParaRPr lang="tr-TR" sz="1800" dirty="0" smtClean="0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14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5.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475656" y="1196752"/>
            <a:ext cx="764383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19672" y="1772816"/>
            <a:ext cx="7306259" cy="3589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12 Dikdörtgen"/>
          <p:cNvSpPr/>
          <p:nvPr/>
        </p:nvSpPr>
        <p:spPr>
          <a:xfrm>
            <a:off x="7524328" y="1340768"/>
            <a:ext cx="13435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Cramer Kuralı</a:t>
            </a:r>
            <a:endParaRPr lang="tr-TR" sz="1400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524000" y="785794"/>
            <a:ext cx="7391400" cy="428628"/>
          </a:xfrm>
        </p:spPr>
        <p:txBody>
          <a:bodyPr/>
          <a:lstStyle/>
          <a:p>
            <a:pPr lvl="0">
              <a:buNone/>
            </a:pPr>
            <a:r>
              <a:rPr lang="tr-TR" sz="1600" dirty="0" smtClean="0">
                <a:solidFill>
                  <a:schemeClr val="bg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Denklem 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800" dirty="0" smtClean="0"/>
          </a:p>
          <a:p>
            <a:pPr>
              <a:buNone/>
            </a:pPr>
            <a:endParaRPr lang="tr-TR" sz="1800" dirty="0" smtClean="0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15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5.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403648" y="1196752"/>
            <a:ext cx="3888432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tr-TR" sz="1000" dirty="0" smtClean="0">
                <a:latin typeface="+mn-lt"/>
              </a:rPr>
              <a:t>  </a:t>
            </a:r>
            <a:r>
              <a:rPr lang="tr-TR" sz="1400" dirty="0" smtClean="0"/>
              <a:t>x</a:t>
            </a:r>
            <a:r>
              <a:rPr lang="tr-TR" sz="1400" baseline="-25000" dirty="0" smtClean="0"/>
              <a:t>1  </a:t>
            </a:r>
            <a:r>
              <a:rPr lang="tr-TR" sz="1400" dirty="0" smtClean="0"/>
              <a:t>-  x</a:t>
            </a:r>
            <a:r>
              <a:rPr lang="tr-TR" sz="1400" baseline="-25000" dirty="0" smtClean="0"/>
              <a:t>2</a:t>
            </a:r>
            <a:r>
              <a:rPr lang="tr-TR" sz="1400" dirty="0" smtClean="0"/>
              <a:t>+ 2x</a:t>
            </a:r>
            <a:r>
              <a:rPr lang="tr-TR" sz="1400" baseline="-25000" dirty="0" smtClean="0"/>
              <a:t>3</a:t>
            </a:r>
            <a:r>
              <a:rPr lang="tr-TR" sz="1400" dirty="0" smtClean="0"/>
              <a:t> = 1</a:t>
            </a:r>
          </a:p>
          <a:p>
            <a:r>
              <a:rPr lang="tr-TR" sz="1400" dirty="0" smtClean="0"/>
              <a:t>2x</a:t>
            </a:r>
            <a:r>
              <a:rPr lang="tr-TR" sz="1400" baseline="-25000" dirty="0" smtClean="0"/>
              <a:t>1</a:t>
            </a:r>
            <a:r>
              <a:rPr lang="tr-TR" sz="1400" dirty="0" smtClean="0"/>
              <a:t> +3x</a:t>
            </a:r>
            <a:r>
              <a:rPr lang="tr-TR" sz="1400" baseline="-25000" dirty="0" smtClean="0"/>
              <a:t>2</a:t>
            </a:r>
            <a:r>
              <a:rPr lang="tr-TR" sz="1400" dirty="0" smtClean="0"/>
              <a:t> + x</a:t>
            </a:r>
            <a:r>
              <a:rPr lang="tr-TR" sz="1400" baseline="-25000" dirty="0" smtClean="0"/>
              <a:t>3</a:t>
            </a:r>
            <a:r>
              <a:rPr lang="tr-TR" sz="1400" dirty="0" smtClean="0"/>
              <a:t> = 1</a:t>
            </a:r>
          </a:p>
          <a:p>
            <a:r>
              <a:rPr lang="tr-TR" sz="1400" dirty="0" smtClean="0"/>
              <a:t>3x</a:t>
            </a:r>
            <a:r>
              <a:rPr lang="tr-TR" sz="1400" baseline="-25000" dirty="0" smtClean="0"/>
              <a:t>1</a:t>
            </a:r>
            <a:r>
              <a:rPr lang="tr-TR" sz="1400" dirty="0" smtClean="0"/>
              <a:t> +2x</a:t>
            </a:r>
            <a:r>
              <a:rPr lang="tr-TR" sz="1400" baseline="-25000" dirty="0" smtClean="0"/>
              <a:t>2</a:t>
            </a:r>
            <a:r>
              <a:rPr lang="tr-TR" sz="1400" dirty="0" smtClean="0"/>
              <a:t> +2x</a:t>
            </a:r>
            <a:r>
              <a:rPr lang="tr-TR" sz="1400" baseline="-25000" dirty="0" smtClean="0"/>
              <a:t>3</a:t>
            </a:r>
            <a:r>
              <a:rPr lang="tr-TR" sz="1400" dirty="0" smtClean="0"/>
              <a:t> =0  </a:t>
            </a:r>
          </a:p>
          <a:p>
            <a:endParaRPr lang="tr-TR" sz="1000" dirty="0" smtClean="0"/>
          </a:p>
          <a:p>
            <a:r>
              <a:rPr lang="tr-TR" sz="1000" dirty="0" smtClean="0"/>
              <a:t> </a:t>
            </a:r>
            <a:r>
              <a:rPr lang="tr-TR" sz="1200" dirty="0" smtClean="0"/>
              <a:t>lineer denklem sistemini  matlab üzerinde</a:t>
            </a:r>
          </a:p>
          <a:p>
            <a:r>
              <a:rPr lang="tr-TR" sz="1200" dirty="0" err="1" smtClean="0"/>
              <a:t>cramer</a:t>
            </a:r>
            <a:r>
              <a:rPr lang="tr-TR" sz="1200" dirty="0" smtClean="0"/>
              <a:t> yöntemi ile çözümleyiniz?</a:t>
            </a:r>
            <a:endParaRPr lang="tr-TR" sz="1000" dirty="0" smtClean="0">
              <a:latin typeface="+mn-lt"/>
            </a:endParaRPr>
          </a:p>
          <a:p>
            <a:endParaRPr lang="tr-TR" sz="1000" dirty="0" smtClean="0">
              <a:latin typeface="+mn-lt"/>
            </a:endParaRPr>
          </a:p>
          <a:p>
            <a:endParaRPr lang="tr-TR" sz="1000" dirty="0" smtClean="0">
              <a:latin typeface="+mn-lt"/>
            </a:endParaRPr>
          </a:p>
          <a:p>
            <a:r>
              <a:rPr lang="pt-BR" sz="1400" dirty="0" smtClean="0">
                <a:latin typeface="+mn-lt"/>
              </a:rPr>
              <a:t>&gt;&gt; R=[1 -1 2;2 3 1;3 2 2]</a:t>
            </a:r>
          </a:p>
          <a:p>
            <a:endParaRPr lang="pt-BR" sz="1400" dirty="0" smtClean="0">
              <a:latin typeface="+mn-lt"/>
            </a:endParaRPr>
          </a:p>
          <a:p>
            <a:r>
              <a:rPr lang="pt-BR" sz="1400" dirty="0" smtClean="0">
                <a:latin typeface="+mn-lt"/>
              </a:rPr>
              <a:t>R =</a:t>
            </a:r>
          </a:p>
          <a:p>
            <a:endParaRPr lang="pt-BR" sz="1400" dirty="0" smtClean="0">
              <a:latin typeface="+mn-lt"/>
            </a:endParaRPr>
          </a:p>
          <a:p>
            <a:r>
              <a:rPr lang="pt-BR" sz="1400" dirty="0" smtClean="0">
                <a:latin typeface="+mn-lt"/>
              </a:rPr>
              <a:t>     1    -1     2</a:t>
            </a:r>
          </a:p>
          <a:p>
            <a:r>
              <a:rPr lang="pt-BR" sz="1400" dirty="0" smtClean="0">
                <a:latin typeface="+mn-lt"/>
              </a:rPr>
              <a:t>     2     3     1</a:t>
            </a:r>
          </a:p>
          <a:p>
            <a:r>
              <a:rPr lang="pt-BR" sz="1400" dirty="0" smtClean="0">
                <a:latin typeface="+mn-lt"/>
              </a:rPr>
              <a:t>     3     2     2</a:t>
            </a:r>
          </a:p>
          <a:p>
            <a:endParaRPr lang="pt-BR" sz="1400" dirty="0" smtClean="0">
              <a:latin typeface="+mn-lt"/>
            </a:endParaRPr>
          </a:p>
          <a:p>
            <a:r>
              <a:rPr lang="pt-BR" sz="1400" dirty="0" smtClean="0">
                <a:latin typeface="+mn-lt"/>
              </a:rPr>
              <a:t>&gt;&gt; E=[1 1 0]'</a:t>
            </a:r>
          </a:p>
          <a:p>
            <a:endParaRPr lang="pt-BR" sz="1400" dirty="0" smtClean="0">
              <a:latin typeface="+mn-lt"/>
            </a:endParaRPr>
          </a:p>
          <a:p>
            <a:r>
              <a:rPr lang="pt-BR" sz="1400" dirty="0" smtClean="0">
                <a:latin typeface="+mn-lt"/>
              </a:rPr>
              <a:t>E =</a:t>
            </a:r>
          </a:p>
          <a:p>
            <a:endParaRPr lang="pt-BR" sz="1400" dirty="0" smtClean="0">
              <a:latin typeface="+mn-lt"/>
            </a:endParaRPr>
          </a:p>
          <a:p>
            <a:r>
              <a:rPr lang="pt-BR" sz="1400" dirty="0" smtClean="0">
                <a:latin typeface="+mn-lt"/>
              </a:rPr>
              <a:t>     1</a:t>
            </a:r>
          </a:p>
          <a:p>
            <a:r>
              <a:rPr lang="pt-BR" sz="1400" dirty="0" smtClean="0">
                <a:latin typeface="+mn-lt"/>
              </a:rPr>
              <a:t>     1</a:t>
            </a:r>
          </a:p>
          <a:p>
            <a:r>
              <a:rPr lang="pt-BR" sz="1400" dirty="0" smtClean="0">
                <a:latin typeface="+mn-lt"/>
              </a:rPr>
              <a:t>     0</a:t>
            </a:r>
          </a:p>
          <a:p>
            <a:endParaRPr lang="pt-BR" sz="1000" dirty="0" smtClean="0">
              <a:latin typeface="+mn-lt"/>
            </a:endParaRPr>
          </a:p>
          <a:p>
            <a:endParaRPr lang="pt-BR" sz="1000" dirty="0" smtClean="0">
              <a:latin typeface="+mn-lt"/>
            </a:endParaRPr>
          </a:p>
        </p:txBody>
      </p:sp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4" name="13 Dikdörtgen"/>
          <p:cNvSpPr/>
          <p:nvPr/>
        </p:nvSpPr>
        <p:spPr bwMode="auto">
          <a:xfrm>
            <a:off x="4788911" y="1215752"/>
            <a:ext cx="4355976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pt-BR" sz="1200" dirty="0" smtClean="0">
                <a:latin typeface="+mn-lt"/>
              </a:rPr>
              <a:t>&gt;&gt; MI1=[E R(:,[2 3])]</a:t>
            </a:r>
          </a:p>
          <a:p>
            <a:endParaRPr lang="pt-BR" sz="1200" dirty="0" smtClean="0">
              <a:latin typeface="+mn-lt"/>
            </a:endParaRPr>
          </a:p>
          <a:p>
            <a:r>
              <a:rPr lang="pt-BR" sz="1200" dirty="0" smtClean="0">
                <a:latin typeface="+mn-lt"/>
              </a:rPr>
              <a:t>MI1 =</a:t>
            </a:r>
          </a:p>
          <a:p>
            <a:endParaRPr lang="pt-BR" sz="1200" dirty="0" smtClean="0">
              <a:latin typeface="+mn-lt"/>
            </a:endParaRPr>
          </a:p>
          <a:p>
            <a:r>
              <a:rPr lang="pt-BR" sz="1200" dirty="0" smtClean="0">
                <a:latin typeface="+mn-lt"/>
              </a:rPr>
              <a:t>     1    -1     2</a:t>
            </a:r>
          </a:p>
          <a:p>
            <a:r>
              <a:rPr lang="pt-BR" sz="1200" dirty="0" smtClean="0">
                <a:latin typeface="+mn-lt"/>
              </a:rPr>
              <a:t>     1     3     1</a:t>
            </a:r>
          </a:p>
          <a:p>
            <a:r>
              <a:rPr lang="pt-BR" sz="1200" dirty="0" smtClean="0">
                <a:latin typeface="+mn-lt"/>
              </a:rPr>
              <a:t>     0     2     2</a:t>
            </a:r>
            <a:endParaRPr lang="tr-TR" sz="1200" dirty="0" smtClean="0">
              <a:latin typeface="+mn-lt"/>
            </a:endParaRPr>
          </a:p>
          <a:p>
            <a:r>
              <a:rPr lang="it-IT" sz="1200" dirty="0" smtClean="0">
                <a:latin typeface="+mn-lt"/>
              </a:rPr>
              <a:t>&gt;&gt; MI2=[R(:,1) E R(:,3)]</a:t>
            </a:r>
          </a:p>
          <a:p>
            <a:endParaRPr lang="it-IT" sz="1200" dirty="0" smtClean="0">
              <a:latin typeface="+mn-lt"/>
            </a:endParaRPr>
          </a:p>
          <a:p>
            <a:r>
              <a:rPr lang="it-IT" sz="1200" dirty="0" smtClean="0">
                <a:latin typeface="+mn-lt"/>
              </a:rPr>
              <a:t>MI2 =</a:t>
            </a:r>
          </a:p>
          <a:p>
            <a:endParaRPr lang="it-IT" sz="1200" dirty="0" smtClean="0">
              <a:latin typeface="+mn-lt"/>
            </a:endParaRPr>
          </a:p>
          <a:p>
            <a:r>
              <a:rPr lang="it-IT" sz="1200" dirty="0" smtClean="0">
                <a:latin typeface="+mn-lt"/>
              </a:rPr>
              <a:t>     1     1     2</a:t>
            </a:r>
          </a:p>
          <a:p>
            <a:r>
              <a:rPr lang="it-IT" sz="1200" dirty="0" smtClean="0">
                <a:latin typeface="+mn-lt"/>
              </a:rPr>
              <a:t>     2     1     1</a:t>
            </a:r>
          </a:p>
          <a:p>
            <a:r>
              <a:rPr lang="it-IT" sz="1200" dirty="0" smtClean="0">
                <a:latin typeface="+mn-lt"/>
              </a:rPr>
              <a:t>     3     0     2</a:t>
            </a:r>
          </a:p>
          <a:p>
            <a:endParaRPr lang="it-IT" sz="1200" dirty="0" smtClean="0">
              <a:latin typeface="+mn-lt"/>
            </a:endParaRPr>
          </a:p>
          <a:p>
            <a:r>
              <a:rPr lang="it-IT" sz="1200" dirty="0" smtClean="0">
                <a:latin typeface="+mn-lt"/>
              </a:rPr>
              <a:t>&gt;&gt; MI</a:t>
            </a:r>
            <a:r>
              <a:rPr lang="tr-TR" sz="1200" dirty="0" smtClean="0">
                <a:latin typeface="+mn-lt"/>
              </a:rPr>
              <a:t>3</a:t>
            </a:r>
            <a:r>
              <a:rPr lang="it-IT" sz="1200" dirty="0" smtClean="0">
                <a:latin typeface="+mn-lt"/>
              </a:rPr>
              <a:t>=[R(:,[1 2]) E]</a:t>
            </a:r>
          </a:p>
          <a:p>
            <a:endParaRPr lang="it-IT" sz="1200" dirty="0" smtClean="0">
              <a:latin typeface="+mn-lt"/>
            </a:endParaRPr>
          </a:p>
          <a:p>
            <a:r>
              <a:rPr lang="it-IT" sz="1200" dirty="0" smtClean="0">
                <a:latin typeface="+mn-lt"/>
              </a:rPr>
              <a:t>MI</a:t>
            </a:r>
            <a:r>
              <a:rPr lang="tr-TR" sz="1200" dirty="0" smtClean="0">
                <a:latin typeface="+mn-lt"/>
              </a:rPr>
              <a:t>3</a:t>
            </a:r>
            <a:r>
              <a:rPr lang="it-IT" sz="1200" dirty="0" smtClean="0">
                <a:latin typeface="+mn-lt"/>
              </a:rPr>
              <a:t> =</a:t>
            </a:r>
          </a:p>
          <a:p>
            <a:endParaRPr lang="it-IT" sz="1200" dirty="0" smtClean="0">
              <a:latin typeface="+mn-lt"/>
            </a:endParaRPr>
          </a:p>
          <a:p>
            <a:r>
              <a:rPr lang="it-IT" sz="1200" dirty="0" smtClean="0">
                <a:latin typeface="+mn-lt"/>
              </a:rPr>
              <a:t>     1    -1     1</a:t>
            </a:r>
          </a:p>
          <a:p>
            <a:r>
              <a:rPr lang="it-IT" sz="1200" dirty="0" smtClean="0">
                <a:latin typeface="+mn-lt"/>
              </a:rPr>
              <a:t>     2     3     1</a:t>
            </a:r>
          </a:p>
          <a:p>
            <a:r>
              <a:rPr lang="it-IT" sz="1200" dirty="0" smtClean="0">
                <a:latin typeface="+mn-lt"/>
              </a:rPr>
              <a:t>     3     2     0</a:t>
            </a:r>
            <a:endParaRPr lang="tr-TR" sz="1200" dirty="0" smtClean="0">
              <a:latin typeface="+mn-lt"/>
            </a:endParaRPr>
          </a:p>
          <a:p>
            <a:r>
              <a:rPr lang="nn-NO" sz="1200" dirty="0" smtClean="0">
                <a:latin typeface="+mn-lt"/>
              </a:rPr>
              <a:t>&gt;&gt; I=[det(MI1);det(MI2);det(MI3)]/det(R)</a:t>
            </a:r>
          </a:p>
          <a:p>
            <a:endParaRPr lang="nn-NO" sz="1200" dirty="0" smtClean="0">
              <a:latin typeface="+mn-lt"/>
            </a:endParaRPr>
          </a:p>
          <a:p>
            <a:r>
              <a:rPr lang="nn-NO" sz="1200" dirty="0" smtClean="0">
                <a:latin typeface="+mn-lt"/>
              </a:rPr>
              <a:t>I =</a:t>
            </a:r>
          </a:p>
          <a:p>
            <a:r>
              <a:rPr lang="nn-NO" sz="1200" dirty="0" smtClean="0">
                <a:latin typeface="+mn-lt"/>
              </a:rPr>
              <a:t>    -2</a:t>
            </a:r>
          </a:p>
          <a:p>
            <a:r>
              <a:rPr lang="nn-NO" sz="1200" dirty="0" smtClean="0">
                <a:latin typeface="+mn-lt"/>
              </a:rPr>
              <a:t>     1</a:t>
            </a:r>
          </a:p>
          <a:p>
            <a:r>
              <a:rPr lang="nn-NO" sz="1200" dirty="0" smtClean="0">
                <a:latin typeface="+mn-lt"/>
              </a:rPr>
              <a:t>     2</a:t>
            </a:r>
            <a:endParaRPr lang="tr-TR" sz="1200" dirty="0" smtClean="0">
              <a:latin typeface="+mn-lt"/>
            </a:endParaRPr>
          </a:p>
          <a:p>
            <a:endParaRPr lang="pt-BR" sz="1000" dirty="0" smtClean="0">
              <a:latin typeface="+mn-lt"/>
            </a:endParaRPr>
          </a:p>
        </p:txBody>
      </p:sp>
      <p:cxnSp>
        <p:nvCxnSpPr>
          <p:cNvPr id="16" name="15 Düz Bağlayıcı"/>
          <p:cNvCxnSpPr/>
          <p:nvPr/>
        </p:nvCxnSpPr>
        <p:spPr bwMode="auto">
          <a:xfrm rot="5400000">
            <a:off x="1943708" y="3897052"/>
            <a:ext cx="540060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17 Dikdörtgen"/>
          <p:cNvSpPr/>
          <p:nvPr/>
        </p:nvSpPr>
        <p:spPr bwMode="auto">
          <a:xfrm>
            <a:off x="5051548" y="1976965"/>
            <a:ext cx="192274" cy="601330"/>
          </a:xfrm>
          <a:prstGeom prst="rect">
            <a:avLst/>
          </a:prstGeom>
          <a:solidFill>
            <a:schemeClr val="bg1">
              <a:lumMod val="75000"/>
              <a:alpha val="27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9" name="18 Dikdörtgen"/>
          <p:cNvSpPr/>
          <p:nvPr/>
        </p:nvSpPr>
        <p:spPr bwMode="auto">
          <a:xfrm>
            <a:off x="5364088" y="3212976"/>
            <a:ext cx="192274" cy="601330"/>
          </a:xfrm>
          <a:prstGeom prst="rect">
            <a:avLst/>
          </a:prstGeom>
          <a:solidFill>
            <a:schemeClr val="bg1">
              <a:lumMod val="75000"/>
              <a:alpha val="27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0" name="19 Dikdörtgen"/>
          <p:cNvSpPr/>
          <p:nvPr/>
        </p:nvSpPr>
        <p:spPr bwMode="auto">
          <a:xfrm>
            <a:off x="5700378" y="4713269"/>
            <a:ext cx="192274" cy="601330"/>
          </a:xfrm>
          <a:prstGeom prst="rect">
            <a:avLst/>
          </a:prstGeom>
          <a:solidFill>
            <a:schemeClr val="bg1">
              <a:lumMod val="75000"/>
              <a:alpha val="27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1" name="20 Dikdörtgen"/>
          <p:cNvSpPr/>
          <p:nvPr/>
        </p:nvSpPr>
        <p:spPr bwMode="auto">
          <a:xfrm>
            <a:off x="1703555" y="5289333"/>
            <a:ext cx="192274" cy="601330"/>
          </a:xfrm>
          <a:prstGeom prst="rect">
            <a:avLst/>
          </a:prstGeom>
          <a:solidFill>
            <a:schemeClr val="bg1">
              <a:lumMod val="75000"/>
              <a:alpha val="27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2" name="21 Dikdörtgen"/>
          <p:cNvSpPr/>
          <p:nvPr/>
        </p:nvSpPr>
        <p:spPr bwMode="auto">
          <a:xfrm>
            <a:off x="1644180" y="3525516"/>
            <a:ext cx="1080120" cy="720080"/>
          </a:xfrm>
          <a:prstGeom prst="rect">
            <a:avLst/>
          </a:prstGeom>
          <a:solidFill>
            <a:srgbClr val="FFFF00">
              <a:alpha val="27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3" name="22 Dikdörtgen"/>
          <p:cNvSpPr/>
          <p:nvPr/>
        </p:nvSpPr>
        <p:spPr bwMode="auto">
          <a:xfrm>
            <a:off x="4932040" y="1976964"/>
            <a:ext cx="1080120" cy="588697"/>
          </a:xfrm>
          <a:prstGeom prst="rect">
            <a:avLst/>
          </a:prstGeom>
          <a:solidFill>
            <a:srgbClr val="FFFF00">
              <a:alpha val="27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4" name="23 Dikdörtgen"/>
          <p:cNvSpPr/>
          <p:nvPr/>
        </p:nvSpPr>
        <p:spPr bwMode="auto">
          <a:xfrm>
            <a:off x="4932040" y="3212976"/>
            <a:ext cx="1080120" cy="588697"/>
          </a:xfrm>
          <a:prstGeom prst="rect">
            <a:avLst/>
          </a:prstGeom>
          <a:solidFill>
            <a:srgbClr val="FFFF00">
              <a:alpha val="27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5" name="24 Dikdörtgen"/>
          <p:cNvSpPr/>
          <p:nvPr/>
        </p:nvSpPr>
        <p:spPr bwMode="auto">
          <a:xfrm>
            <a:off x="4956548" y="4712511"/>
            <a:ext cx="1080120" cy="588697"/>
          </a:xfrm>
          <a:prstGeom prst="rect">
            <a:avLst/>
          </a:prstGeom>
          <a:solidFill>
            <a:srgbClr val="FFFF00">
              <a:alpha val="27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6" name="25 Dikdörtgen"/>
          <p:cNvSpPr/>
          <p:nvPr/>
        </p:nvSpPr>
        <p:spPr bwMode="auto">
          <a:xfrm>
            <a:off x="5052306" y="5805264"/>
            <a:ext cx="192274" cy="601330"/>
          </a:xfrm>
          <a:prstGeom prst="rect">
            <a:avLst/>
          </a:prstGeom>
          <a:solidFill>
            <a:srgbClr val="92D050">
              <a:alpha val="4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12 Dikdörtgen"/>
          <p:cNvSpPr/>
          <p:nvPr/>
        </p:nvSpPr>
        <p:spPr>
          <a:xfrm>
            <a:off x="7596336" y="1412776"/>
            <a:ext cx="13435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b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Cramer Kuralı</a:t>
            </a:r>
            <a:endParaRPr lang="tr-TR" sz="1400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7" name="26 Resim" descr="G:\ _ Y  U  R  T  A  Y  _\ _ Y Y u r t a Y _\____ D E R S   N O T L A R I M\_   SAYISAL ANALIZ\_S A Y I S A L   A N A L İ Z ( UE )\M A T L A B ( UE )\matlab.jpg"/>
          <p:cNvPicPr/>
          <p:nvPr/>
        </p:nvPicPr>
        <p:blipFill>
          <a:blip r:embed="rId3" cstate="print"/>
          <a:srcRect t="6749"/>
          <a:stretch>
            <a:fillRect/>
          </a:stretch>
        </p:blipFill>
        <p:spPr bwMode="auto">
          <a:xfrm>
            <a:off x="395536" y="1844824"/>
            <a:ext cx="708110" cy="854406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-32" y="-24"/>
            <a:ext cx="7381875" cy="490540"/>
          </a:xfrm>
        </p:spPr>
        <p:txBody>
          <a:bodyPr/>
          <a:lstStyle/>
          <a:p>
            <a:r>
              <a:rPr lang="tr-TR" sz="2400" smtClean="0">
                <a:latin typeface="Harrington" pitchFamily="82" charset="0"/>
              </a:rPr>
              <a:t>Sayısal Analiz</a:t>
            </a:r>
            <a:endParaRPr lang="tr-TR" sz="2400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>
          <a:xfrm>
            <a:off x="3143240" y="6557988"/>
            <a:ext cx="2895600" cy="476250"/>
          </a:xfrm>
        </p:spPr>
        <p:txBody>
          <a:bodyPr/>
          <a:lstStyle/>
          <a:p>
            <a:r>
              <a:rPr lang="tr-TR" smtClean="0"/>
              <a:t>SAÜ YYurtaY </a:t>
            </a:r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357158" y="5929330"/>
            <a:ext cx="714380" cy="571504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16</a:t>
            </a:fld>
            <a:r>
              <a:rPr lang="tr-TR" smtClean="0"/>
              <a:t>. Sayfa</a:t>
            </a:r>
            <a:endParaRPr lang="tr-TR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00166" y="857232"/>
            <a:ext cx="7643834" cy="5643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/>
          <a:lstStyle/>
          <a:p>
            <a:pPr marL="342900" indent="-342900" eaLnBrk="1" hangingPunct="1">
              <a:spcBef>
                <a:spcPct val="20000"/>
              </a:spcBef>
              <a:buClr>
                <a:srgbClr val="3C605F"/>
              </a:buClr>
              <a:buSzPct val="75000"/>
            </a:pPr>
            <a:r>
              <a:rPr kumimoji="1" lang="tr-TR" sz="1600" dirty="0" smtClean="0">
                <a:solidFill>
                  <a:schemeClr val="bg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Kaynaklar</a:t>
            </a: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tr-TR" sz="16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Sayısal Analiz S.Akpınar</a:t>
            </a:r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tr-TR" sz="16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 </a:t>
            </a:r>
            <a:endParaRPr lang="tr-TR" sz="1600" dirty="0" smtClean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r>
              <a:rPr lang="tr-TR" sz="1200" dirty="0" smtClean="0"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   Sonraki Hafta :</a:t>
            </a:r>
          </a:p>
          <a:p>
            <a:r>
              <a:rPr lang="tr-TR" sz="1600" dirty="0"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endParaRPr lang="tr-TR" sz="1600" dirty="0" smtClean="0">
              <a:solidFill>
                <a:srgbClr val="EAEAE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rgbClr val="EAEAE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r>
              <a:rPr lang="tr-TR" sz="1600" dirty="0" smtClean="0"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             Lineer Olmayan Denklem Sistemlerinin Çözümleri…</a:t>
            </a:r>
          </a:p>
          <a:p>
            <a:endParaRPr lang="en-US" sz="14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9 Veri Yer Tutucusu"/>
          <p:cNvSpPr>
            <a:spLocks noGrp="1"/>
          </p:cNvSpPr>
          <p:nvPr>
            <p:ph type="dt" sz="half" idx="10"/>
          </p:nvPr>
        </p:nvSpPr>
        <p:spPr>
          <a:xfrm>
            <a:off x="357158" y="5000636"/>
            <a:ext cx="714380" cy="642942"/>
          </a:xfrm>
        </p:spPr>
        <p:txBody>
          <a:bodyPr/>
          <a:lstStyle/>
          <a:p>
            <a:pPr algn="ctr"/>
            <a:r>
              <a:rPr lang="tr-TR" dirty="0" smtClean="0"/>
              <a:t>5.  Hafta</a:t>
            </a:r>
            <a:endParaRPr lang="tr-TR" dirty="0"/>
          </a:p>
        </p:txBody>
      </p:sp>
      <p:sp>
        <p:nvSpPr>
          <p:cNvPr id="9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pic>
        <p:nvPicPr>
          <p:cNvPr id="27650" name="Picture 2" descr="http://upload.wikimedia.org/wikipedia/commons/8/84/Matrix.png"/>
          <p:cNvPicPr>
            <a:picLocks noChangeAspect="1" noChangeArrowheads="1"/>
          </p:cNvPicPr>
          <p:nvPr/>
        </p:nvPicPr>
        <p:blipFill>
          <a:blip r:embed="rId3" cstate="print">
            <a:lum bright="-21000" contrast="43000"/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5000628" y="2083437"/>
            <a:ext cx="3143272" cy="2845761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5100000">
              <a:rot lat="702102" lon="2705924" rev="912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11" name="10 Resim" descr="G:\ _ Y  U  R  T  A  Y  _\ _ Y Y u r t a Y _\____ D E R S   N O T L A R I M\_   SAYISAL ANALIZ\_S A Y I S A L   A N A L İ Z ( UE )\M A T L A B ( UE )\matlab.jpg"/>
          <p:cNvPicPr/>
          <p:nvPr/>
        </p:nvPicPr>
        <p:blipFill>
          <a:blip r:embed="rId4" cstate="print"/>
          <a:srcRect t="6749"/>
          <a:stretch>
            <a:fillRect/>
          </a:stretch>
        </p:blipFill>
        <p:spPr bwMode="auto">
          <a:xfrm>
            <a:off x="7232052" y="4929198"/>
            <a:ext cx="1500198" cy="1214446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itler ve baytlar tasarım şablonu">
  <a:themeElements>
    <a:clrScheme name="Ofis Teması 1">
      <a:dk1>
        <a:srgbClr val="080808"/>
      </a:dk1>
      <a:lt1>
        <a:srgbClr val="7AA6B0"/>
      </a:lt1>
      <a:dk2>
        <a:srgbClr val="000000"/>
      </a:dk2>
      <a:lt2>
        <a:srgbClr val="080808"/>
      </a:lt2>
      <a:accent1>
        <a:srgbClr val="917AA4"/>
      </a:accent1>
      <a:accent2>
        <a:srgbClr val="76669A"/>
      </a:accent2>
      <a:accent3>
        <a:srgbClr val="BED0D4"/>
      </a:accent3>
      <a:accent4>
        <a:srgbClr val="060606"/>
      </a:accent4>
      <a:accent5>
        <a:srgbClr val="C7BECF"/>
      </a:accent5>
      <a:accent6>
        <a:srgbClr val="6A5C8B"/>
      </a:accent6>
      <a:hlink>
        <a:srgbClr val="377B89"/>
      </a:hlink>
      <a:folHlink>
        <a:srgbClr val="1A4E54"/>
      </a:folHlink>
    </a:clrScheme>
    <a:fontScheme name="Ofis Teması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Ofis Teması 1">
        <a:dk1>
          <a:srgbClr val="080808"/>
        </a:dk1>
        <a:lt1>
          <a:srgbClr val="7AA6B0"/>
        </a:lt1>
        <a:dk2>
          <a:srgbClr val="000000"/>
        </a:dk2>
        <a:lt2>
          <a:srgbClr val="080808"/>
        </a:lt2>
        <a:accent1>
          <a:srgbClr val="917AA4"/>
        </a:accent1>
        <a:accent2>
          <a:srgbClr val="76669A"/>
        </a:accent2>
        <a:accent3>
          <a:srgbClr val="BED0D4"/>
        </a:accent3>
        <a:accent4>
          <a:srgbClr val="060606"/>
        </a:accent4>
        <a:accent5>
          <a:srgbClr val="C7BECF"/>
        </a:accent5>
        <a:accent6>
          <a:srgbClr val="6A5C8B"/>
        </a:accent6>
        <a:hlink>
          <a:srgbClr val="377B89"/>
        </a:hlink>
        <a:folHlink>
          <a:srgbClr val="1A4E5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Bitler ve baytlar tasarım şablonu</Template>
  <TotalTime>1807</TotalTime>
  <Words>708</Words>
  <Application>Microsoft Office PowerPoint</Application>
  <PresentationFormat>Ekran Gösterisi (4:3)</PresentationFormat>
  <Paragraphs>261</Paragraphs>
  <Slides>16</Slides>
  <Notes>16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17" baseType="lpstr">
      <vt:lpstr>Bitler ve baytlar tasarım şablonu</vt:lpstr>
      <vt:lpstr>Sayısal Analiz</vt:lpstr>
      <vt:lpstr>Slayt 2</vt:lpstr>
      <vt:lpstr>Slayt 3</vt:lpstr>
      <vt:lpstr>Slayt 4</vt:lpstr>
      <vt:lpstr>Slayt 5</vt:lpstr>
      <vt:lpstr>Slayt 6</vt:lpstr>
      <vt:lpstr>Slayt 7</vt:lpstr>
      <vt:lpstr>Slayt 8</vt:lpstr>
      <vt:lpstr>Slayt 9</vt:lpstr>
      <vt:lpstr>Slayt 10</vt:lpstr>
      <vt:lpstr>Slayt 11</vt:lpstr>
      <vt:lpstr>Slayt 12</vt:lpstr>
      <vt:lpstr>Slayt 13</vt:lpstr>
      <vt:lpstr>Slayt 14</vt:lpstr>
      <vt:lpstr>Slayt 15</vt:lpstr>
      <vt:lpstr>Sayısal Analiz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Sayısal Analiz</dc:title>
  <dc:creator>Sau;YYurtaY</dc:creator>
  <cp:keywords>YYurtaY_SA/2009</cp:keywords>
  <cp:lastModifiedBy>YYURTAY</cp:lastModifiedBy>
  <cp:revision>161</cp:revision>
  <dcterms:created xsi:type="dcterms:W3CDTF">2009-08-30T08:05:20Z</dcterms:created>
  <dcterms:modified xsi:type="dcterms:W3CDTF">2011-10-18T11:17:40Z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TC011408341055</vt:lpwstr>
  </property>
</Properties>
</file>