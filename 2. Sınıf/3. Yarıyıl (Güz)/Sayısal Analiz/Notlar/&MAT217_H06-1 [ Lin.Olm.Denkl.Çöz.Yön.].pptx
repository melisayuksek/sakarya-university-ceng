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wmf" ContentType="image/x-wmf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9" r:id="rId1"/>
  </p:sldMasterIdLst>
  <p:notesMasterIdLst>
    <p:notesMasterId r:id="rId44"/>
  </p:notesMasterIdLst>
  <p:handoutMasterIdLst>
    <p:handoutMasterId r:id="rId45"/>
  </p:handoutMasterIdLst>
  <p:sldIdLst>
    <p:sldId id="256" r:id="rId2"/>
    <p:sldId id="270" r:id="rId3"/>
    <p:sldId id="319" r:id="rId4"/>
    <p:sldId id="320" r:id="rId5"/>
    <p:sldId id="321" r:id="rId6"/>
    <p:sldId id="323" r:id="rId7"/>
    <p:sldId id="322" r:id="rId8"/>
    <p:sldId id="324" r:id="rId9"/>
    <p:sldId id="271" r:id="rId10"/>
    <p:sldId id="272" r:id="rId11"/>
    <p:sldId id="282" r:id="rId12"/>
    <p:sldId id="339" r:id="rId13"/>
    <p:sldId id="340" r:id="rId14"/>
    <p:sldId id="341" r:id="rId15"/>
    <p:sldId id="342" r:id="rId16"/>
    <p:sldId id="343" r:id="rId17"/>
    <p:sldId id="344" r:id="rId18"/>
    <p:sldId id="345" r:id="rId19"/>
    <p:sldId id="346" r:id="rId20"/>
    <p:sldId id="347" r:id="rId21"/>
    <p:sldId id="348" r:id="rId22"/>
    <p:sldId id="273" r:id="rId23"/>
    <p:sldId id="293" r:id="rId24"/>
    <p:sldId id="274" r:id="rId25"/>
    <p:sldId id="286" r:id="rId26"/>
    <p:sldId id="287" r:id="rId27"/>
    <p:sldId id="295" r:id="rId28"/>
    <p:sldId id="288" r:id="rId29"/>
    <p:sldId id="296" r:id="rId30"/>
    <p:sldId id="289" r:id="rId31"/>
    <p:sldId id="292" r:id="rId32"/>
    <p:sldId id="297" r:id="rId33"/>
    <p:sldId id="338" r:id="rId34"/>
    <p:sldId id="275" r:id="rId35"/>
    <p:sldId id="276" r:id="rId36"/>
    <p:sldId id="278" r:id="rId37"/>
    <p:sldId id="279" r:id="rId38"/>
    <p:sldId id="281" r:id="rId39"/>
    <p:sldId id="291" r:id="rId40"/>
    <p:sldId id="299" r:id="rId41"/>
    <p:sldId id="280" r:id="rId42"/>
    <p:sldId id="258" r:id="rId43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F8F8F8"/>
    <a:srgbClr val="EAEAEA"/>
    <a:srgbClr val="DDDDDD"/>
    <a:srgbClr val="C0C0C0"/>
    <a:srgbClr val="5F5F5F"/>
    <a:srgbClr val="969696"/>
    <a:srgbClr val="3C605F"/>
    <a:srgbClr val="85BA68"/>
    <a:srgbClr val="0000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39" autoAdjust="0"/>
    <p:restoredTop sz="91631" autoAdjust="0"/>
  </p:normalViewPr>
  <p:slideViewPr>
    <p:cSldViewPr>
      <p:cViewPr>
        <p:scale>
          <a:sx n="82" d="100"/>
          <a:sy n="82" d="100"/>
        </p:scale>
        <p:origin x="-1308" y="-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2526" y="-7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5.wmf"/><Relationship Id="rId2" Type="http://schemas.openxmlformats.org/officeDocument/2006/relationships/image" Target="../media/image14.wmf"/><Relationship Id="rId1" Type="http://schemas.openxmlformats.org/officeDocument/2006/relationships/image" Target="../media/image13.wmf"/><Relationship Id="rId4" Type="http://schemas.openxmlformats.org/officeDocument/2006/relationships/image" Target="../media/image16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7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7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67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67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67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6B7A8066-7E68-4D30-B2C1-61A668CE483C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04216898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76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7763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endParaRPr lang="tr-TR"/>
          </a:p>
        </p:txBody>
      </p:sp>
      <p:sp>
        <p:nvSpPr>
          <p:cNvPr id="117764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</p:spPr>
      </p:sp>
      <p:sp>
        <p:nvSpPr>
          <p:cNvPr id="117765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Click to edit Master text styles</a:t>
            </a:r>
          </a:p>
          <a:p>
            <a:pPr lvl="1"/>
            <a:r>
              <a:rPr lang="tr-TR" smtClean="0"/>
              <a:t>Second level</a:t>
            </a:r>
          </a:p>
          <a:p>
            <a:pPr lvl="2"/>
            <a:r>
              <a:rPr lang="tr-TR" smtClean="0"/>
              <a:t>Third level</a:t>
            </a:r>
          </a:p>
          <a:p>
            <a:pPr lvl="3"/>
            <a:r>
              <a:rPr lang="tr-TR" smtClean="0"/>
              <a:t>Fourth level</a:t>
            </a:r>
          </a:p>
          <a:p>
            <a:pPr lvl="4"/>
            <a:r>
              <a:rPr lang="tr-TR" smtClean="0"/>
              <a:t>Fifth level</a:t>
            </a:r>
          </a:p>
        </p:txBody>
      </p:sp>
      <p:sp>
        <p:nvSpPr>
          <p:cNvPr id="117766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/>
            </a:lvl1pPr>
          </a:lstStyle>
          <a:p>
            <a:endParaRPr lang="tr-TR"/>
          </a:p>
        </p:txBody>
      </p:sp>
      <p:sp>
        <p:nvSpPr>
          <p:cNvPr id="117767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FA2BFB0-25B4-4D96-A77A-383ABC758268}" type="slidenum">
              <a:rPr lang="tr-TR"/>
              <a:pPr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221904979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B3C50B7-AF34-4A62-97C4-13169690B673}" type="slidenum">
              <a:rPr lang="tr-TR"/>
              <a:pPr/>
              <a:t>1</a:t>
            </a:fld>
            <a:endParaRPr lang="tr-TR"/>
          </a:p>
        </p:txBody>
      </p:sp>
      <p:sp>
        <p:nvSpPr>
          <p:cNvPr id="11878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18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tr-TR" sz="1200" kern="1200" dirty="0" smtClean="0">
              <a:solidFill>
                <a:schemeClr val="tx1"/>
              </a:solidFill>
              <a:latin typeface="Times New Roman" pitchFamily="18" charset="0"/>
              <a:ea typeface="+mn-ea"/>
              <a:cs typeface="+mn-cs"/>
              <a:sym typeface="Wingdings" pitchFamily="2" charset="2"/>
            </a:endParaRPr>
          </a:p>
        </p:txBody>
      </p:sp>
      <p:sp>
        <p:nvSpPr>
          <p:cNvPr id="8" name="7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8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</a:t>
            </a:fld>
            <a:endParaRPr lang="tr-TR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</a:t>
            </a:fld>
            <a:endParaRPr lang="tr-TR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4</a:t>
            </a:fld>
            <a:endParaRPr lang="tr-TR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5</a:t>
            </a:fld>
            <a:endParaRPr lang="tr-T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6</a:t>
            </a:fld>
            <a:endParaRPr lang="tr-TR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7</a:t>
            </a:fld>
            <a:endParaRPr lang="tr-T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8</a:t>
            </a:fld>
            <a:endParaRPr lang="tr-T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Eğer  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I.</a:t>
            </a: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ve 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II.</a:t>
            </a: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 grafikler de  olduğu gibi   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|</a:t>
            </a:r>
            <a:r>
              <a:rPr kumimoji="1" lang="tr-TR" sz="1200" b="1" kern="120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x</a:t>
            </a:r>
            <a:r>
              <a:rPr kumimoji="1" lang="tr-TR" sz="1200" b="1" kern="1200" baseline="-2500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n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-</a:t>
            </a:r>
            <a:r>
              <a:rPr kumimoji="1" lang="tr-TR" sz="1200" b="1" kern="120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x</a:t>
            </a:r>
            <a:r>
              <a:rPr kumimoji="1" lang="tr-TR" sz="1200" b="1" kern="1200" baseline="-2500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n</a:t>
            </a:r>
            <a:r>
              <a:rPr kumimoji="1" lang="tr-TR" sz="1200" b="1" kern="1200" baseline="-250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-1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|</a:t>
            </a:r>
            <a:r>
              <a:rPr kumimoji="1" lang="tr-TR" sz="1200" kern="1200" baseline="-250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  </a:t>
            </a: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farkı giderek küçülüyorsa çözüm yakınsaktır. İşlemler  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Symbol"/>
              </a:rPr>
              <a:t></a:t>
            </a: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 verilen bir sayı olmak üzere  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|</a:t>
            </a:r>
            <a:r>
              <a:rPr kumimoji="1" lang="tr-TR" sz="1200" b="1" kern="120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x</a:t>
            </a:r>
            <a:r>
              <a:rPr kumimoji="1" lang="tr-TR" sz="1200" b="1" kern="1200" baseline="-2500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n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-</a:t>
            </a:r>
            <a:r>
              <a:rPr kumimoji="1" lang="tr-TR" sz="1200" b="1" kern="120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x</a:t>
            </a:r>
            <a:r>
              <a:rPr kumimoji="1" lang="tr-TR" sz="1200" b="1" kern="1200" baseline="-25000" dirty="0" err="1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n</a:t>
            </a:r>
            <a:r>
              <a:rPr kumimoji="1" lang="tr-TR" sz="1200" b="1" kern="1200" baseline="-250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-1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|&lt;</a:t>
            </a: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  <a:sym typeface="Symbol"/>
              </a:rPr>
              <a:t></a:t>
            </a:r>
            <a:r>
              <a:rPr kumimoji="1" lang="tr-TR" sz="1200" kern="1200" baseline="-250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  </a:t>
            </a: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olana kadar tekrarlanır. Fakat </a:t>
            </a:r>
            <a:r>
              <a:rPr kumimoji="1" lang="tr-TR" sz="1200" b="1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III.</a:t>
            </a: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 grafikte olduğu gibi fark giderek büyüyorsa çözüm ıraksak olup başka çözüm yolları araştırılmalıdır.</a:t>
            </a:r>
          </a:p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9</a:t>
            </a:fld>
            <a:endParaRPr lang="tr-T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10</a:t>
            </a:fld>
            <a:endParaRPr lang="tr-TR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11</a:t>
            </a:fld>
            <a:endParaRPr lang="tr-TR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12</a:t>
            </a:fld>
            <a:endParaRPr lang="tr-T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13</a:t>
            </a:fld>
            <a:endParaRPr lang="tr-T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14</a:t>
            </a:fld>
            <a:endParaRPr lang="tr-TR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15</a:t>
            </a:fld>
            <a:endParaRPr lang="tr-TR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16</a:t>
            </a:fld>
            <a:endParaRPr lang="tr-TR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17</a:t>
            </a:fld>
            <a:endParaRPr lang="tr-TR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18</a:t>
            </a:fld>
            <a:endParaRPr lang="tr-TR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19</a:t>
            </a:fld>
            <a:endParaRPr lang="tr-TR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20</a:t>
            </a:fld>
            <a:endParaRPr lang="tr-TR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endParaRPr lang="tr-TR" sz="1200" dirty="0" smtClean="0"/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21</a:t>
            </a:fld>
            <a:endParaRPr lang="tr-TR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Bu yöntem her zaman yakınsak bir çözüm vermektedir. Buna karşılık iki başlangıç noktası gereklidir. Bu başlangıç noktaları öyle seçilmelidir ki fonksiyon bu noktalar için zıt işaretli değerler alsın.</a:t>
            </a:r>
          </a:p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22</a:t>
            </a:fld>
            <a:endParaRPr lang="tr-TR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23</a:t>
            </a:fld>
            <a:endParaRPr lang="tr-TR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24</a:t>
            </a:fld>
            <a:endParaRPr lang="tr-TR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25</a:t>
            </a:fld>
            <a:endParaRPr lang="tr-TR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26</a:t>
            </a:fld>
            <a:endParaRPr lang="tr-TR"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27</a:t>
            </a:fld>
            <a:endParaRPr lang="tr-TR"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28</a:t>
            </a:fld>
            <a:endParaRPr lang="tr-TR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29</a:t>
            </a:fld>
            <a:endParaRPr lang="tr-TR"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30</a:t>
            </a:fld>
            <a:endParaRPr lang="tr-TR"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31</a:t>
            </a:fld>
            <a:endParaRPr lang="tr-TR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32</a:t>
            </a:fld>
            <a:endParaRPr lang="tr-TR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33</a:t>
            </a:fld>
            <a:endParaRPr lang="tr-TR"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35</a:t>
            </a:fld>
            <a:endParaRPr lang="tr-TR"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1200" kern="120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Türevini almakta güçlük çektiğimiz öyle fonksiyonlar vardır ki işlem yükü açısından da oldukça zaman alıcıdır. Bu sebeplerden ötürü grafikle de açıklanan kiriş yönteminden yararlanılır.</a:t>
            </a:r>
          </a:p>
          <a:p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36</a:t>
            </a:fld>
            <a:endParaRPr lang="tr-TR"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37</a:t>
            </a:fld>
            <a:endParaRPr lang="tr-TR"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kumimoji="1" lang="tr-TR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Bu metot yarılama metoduna benzemekle birlikte ondan daha fazla sayıda yineleme yapılarak</a:t>
            </a:r>
          </a:p>
          <a:p>
            <a:r>
              <a:rPr kumimoji="1" lang="tr-TR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sonuca varması bir dezavantaj olarak kabul edilse de, diğer taraftan bu metodun yarılama</a:t>
            </a:r>
          </a:p>
          <a:p>
            <a:r>
              <a:rPr kumimoji="1" lang="tr-TR" sz="1200" kern="1200" baseline="0" dirty="0" smtClean="0">
                <a:solidFill>
                  <a:schemeClr val="tx1"/>
                </a:solidFill>
                <a:latin typeface="Times New Roman" pitchFamily="18" charset="0"/>
                <a:ea typeface="+mn-ea"/>
                <a:cs typeface="+mn-cs"/>
              </a:rPr>
              <a:t>metodunda olduğu gibi aranan kökün verilen [a,b] arasında gerekli olmaması bir avantajdır.</a:t>
            </a:r>
            <a:endParaRPr kumimoji="1" lang="tr-TR" sz="1200" kern="1200" dirty="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38</a:t>
            </a:fld>
            <a:endParaRPr lang="tr-TR"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39</a:t>
            </a:fld>
            <a:endParaRPr lang="tr-TR"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40</a:t>
            </a:fld>
            <a:endParaRPr lang="tr-TR"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kumimoji="1" lang="tr-TR" sz="1200" kern="1200">
              <a:solidFill>
                <a:schemeClr val="tx1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4" name="3 Üstbilgi Yer Tutucusu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41</a:t>
            </a:fld>
            <a:endParaRPr lang="tr-TR"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Slayt Görüntüsü Yer Tutucusu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Not Yer Tutucusu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FA2BFB0-25B4-4D96-A77A-383ABC758268}" type="slidenum">
              <a:rPr lang="tr-TR" smtClean="0"/>
              <a:pPr/>
              <a:t>42</a:t>
            </a:fld>
            <a:endParaRPr lang="tr-TR"/>
          </a:p>
        </p:txBody>
      </p:sp>
      <p:sp>
        <p:nvSpPr>
          <p:cNvPr id="5" name="4 Üstbilgi Yer Tutucusu"/>
          <p:cNvSpPr>
            <a:spLocks noGrp="1"/>
          </p:cNvSpPr>
          <p:nvPr>
            <p:ph type="hd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tr-TR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bg>
      <p:bgPr>
        <a:blipFill dpi="0" rotWithShape="0">
          <a:blip r:embed="rId2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8" name="Rectangle 6"/>
          <p:cNvSpPr>
            <a:spLocks noGrp="1" noChangeArrowheads="1"/>
          </p:cNvSpPr>
          <p:nvPr>
            <p:ph type="ctrTitle"/>
          </p:nvPr>
        </p:nvSpPr>
        <p:spPr>
          <a:xfrm>
            <a:off x="304800" y="4038600"/>
            <a:ext cx="7924800" cy="947738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ubTitle" idx="1"/>
          </p:nvPr>
        </p:nvSpPr>
        <p:spPr>
          <a:xfrm>
            <a:off x="304800" y="4972050"/>
            <a:ext cx="7924800" cy="89535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3600"/>
            </a:lvl1pPr>
          </a:lstStyle>
          <a:p>
            <a:r>
              <a:rPr lang="tr-TR" smtClean="0"/>
              <a:t>Asıl alt başlık stilini düzenlemek için tıklatın</a:t>
            </a:r>
            <a:endParaRPr lang="tr-TR"/>
          </a:p>
        </p:txBody>
      </p:sp>
      <p:sp>
        <p:nvSpPr>
          <p:cNvPr id="3104" name="Rectangle 32"/>
          <p:cNvSpPr>
            <a:spLocks noGrp="1" noChangeArrowheads="1"/>
          </p:cNvSpPr>
          <p:nvPr>
            <p:ph type="dt" sz="quarter" idx="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3105" name="Rectangle 33"/>
          <p:cNvSpPr>
            <a:spLocks noGrp="1" noChangeArrowheads="1"/>
          </p:cNvSpPr>
          <p:nvPr>
            <p:ph type="ftr" sz="quarter" idx="3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3106" name="Rectangle 34"/>
          <p:cNvSpPr>
            <a:spLocks noGrp="1" noChangeArrowheads="1"/>
          </p:cNvSpPr>
          <p:nvPr>
            <p:ph type="sldNum" sz="quarter" idx="4"/>
          </p:nvPr>
        </p:nvSpPr>
        <p:spPr/>
        <p:txBody>
          <a:bodyPr/>
          <a:lstStyle>
            <a:lvl1pPr>
              <a:defRPr/>
            </a:lvl1pPr>
          </a:lstStyle>
          <a:p>
            <a:fld id="{873751C7-D8B0-49E9-A6B0-B08BA81E385A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C6896E4-35C4-4741-8A69-D49CDAA919B9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08E03-CBA5-420D-86FB-7DF12D12D6CF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sz="half" idx="1"/>
          </p:nvPr>
        </p:nvSpPr>
        <p:spPr>
          <a:xfrm>
            <a:off x="1524000" y="1295400"/>
            <a:ext cx="36195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5295900" y="1295400"/>
            <a:ext cx="3619500" cy="5257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E887F6D-74AF-4C97-AB36-9D486FAFEC9D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Metin Yer Tutucusu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4" name="3 İçerik Yer Tutucusu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5" name="4 Metin Yer Tutucusu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6" name="5 İçerik Yer Tutucusu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7" name="6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9" name="8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5CEFBEA-62D8-40CD-A836-12C755D5691F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0D0DD8D-94BE-46CD-B195-BB07F56D2C37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3" name="2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4" name="3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2580765-CA1E-49FB-9913-CFC5C9FD115E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B1E048B-EE2C-4801-A93E-9CCC1CE44209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Resim Yer Tutucusu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tr-TR" smtClean="0"/>
              <a:t>Resim eklemek için simgeyi tıklatın</a:t>
            </a:r>
            <a:endParaRPr lang="tr-TR"/>
          </a:p>
        </p:txBody>
      </p:sp>
      <p:sp>
        <p:nvSpPr>
          <p:cNvPr id="4" name="3 Metin Yer Tutucusu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tr-TR" smtClean="0"/>
              <a:t>Asıl metin stillerini düzenlemek için tıklatın</a:t>
            </a:r>
          </a:p>
        </p:txBody>
      </p:sp>
      <p:sp>
        <p:nvSpPr>
          <p:cNvPr id="5" name="4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6" name="5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C21CAA1-4B5B-46E7-B225-5361E635197D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,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D6474DD-0F94-435A-8A30-215C9A7EADC4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Dikey Başlık"/>
          <p:cNvSpPr>
            <a:spLocks noGrp="1"/>
          </p:cNvSpPr>
          <p:nvPr>
            <p:ph type="title" orient="vert"/>
          </p:nvPr>
        </p:nvSpPr>
        <p:spPr>
          <a:xfrm>
            <a:off x="7067550" y="76200"/>
            <a:ext cx="1847850" cy="6477000"/>
          </a:xfrm>
        </p:spPr>
        <p:txBody>
          <a:bodyPr vert="eaVert"/>
          <a:lstStyle/>
          <a:p>
            <a:r>
              <a:rPr lang="tr-TR" smtClean="0"/>
              <a:t>Asıl başlık stili için tıklatın</a:t>
            </a:r>
            <a:endParaRPr lang="tr-TR"/>
          </a:p>
        </p:txBody>
      </p:sp>
      <p:sp>
        <p:nvSpPr>
          <p:cNvPr id="3" name="2 Dikey Metin Yer Tutucusu"/>
          <p:cNvSpPr>
            <a:spLocks noGrp="1"/>
          </p:cNvSpPr>
          <p:nvPr>
            <p:ph type="body" orient="vert" idx="1"/>
          </p:nvPr>
        </p:nvSpPr>
        <p:spPr>
          <a:xfrm>
            <a:off x="1524000" y="76200"/>
            <a:ext cx="5391150" cy="6477000"/>
          </a:xfrm>
        </p:spPr>
        <p:txBody>
          <a:bodyPr vert="eaVert"/>
          <a:lstStyle/>
          <a:p>
            <a:pPr lvl="0"/>
            <a:r>
              <a:rPr lang="tr-TR" smtClean="0"/>
              <a:t>Asıl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  <a:endParaRPr lang="tr-TR"/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6793C7-B4F9-440E-960C-4179A869FEFA}" type="slidenum">
              <a:rPr lang="tr-TR"/>
              <a:pPr/>
              <a:t>‹#›</a:t>
            </a:fld>
            <a:endParaRPr lang="tr-TR"/>
          </a:p>
        </p:txBody>
      </p:sp>
    </p:spTree>
  </p:cSld>
  <p:clrMapOvr>
    <a:masterClrMapping/>
  </p:clrMapOvr>
  <p:transition>
    <p:pull dir="r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gray">
      <p:bgPr>
        <a:blipFill dpi="0" rotWithShape="0">
          <a:blip r:embed="rId13" cstate="print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4" name="Rectangle 6"/>
          <p:cNvSpPr>
            <a:spLocks noGrp="1" noChangeArrowheads="1"/>
          </p:cNvSpPr>
          <p:nvPr>
            <p:ph type="title"/>
          </p:nvPr>
        </p:nvSpPr>
        <p:spPr bwMode="auto">
          <a:xfrm>
            <a:off x="1524000" y="76200"/>
            <a:ext cx="7381875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Başlık stilini düzenlemek için tıklatın</a:t>
            </a:r>
          </a:p>
        </p:txBody>
      </p:sp>
      <p:sp>
        <p:nvSpPr>
          <p:cNvPr id="2055" name="Rectangle 7"/>
          <p:cNvSpPr>
            <a:spLocks noGrp="1" noChangeArrowheads="1"/>
          </p:cNvSpPr>
          <p:nvPr>
            <p:ph type="body" idx="1"/>
          </p:nvPr>
        </p:nvSpPr>
        <p:spPr bwMode="white">
          <a:xfrm>
            <a:off x="1524000" y="1295400"/>
            <a:ext cx="7391400" cy="5257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mtClean="0"/>
              <a:t>Ana metin stillerini düzenlemek için tıklatın</a:t>
            </a:r>
          </a:p>
          <a:p>
            <a:pPr lvl="1"/>
            <a:r>
              <a:rPr lang="tr-TR" smtClean="0"/>
              <a:t>İkinci düzey</a:t>
            </a:r>
          </a:p>
          <a:p>
            <a:pPr lvl="2"/>
            <a:r>
              <a:rPr lang="tr-TR" smtClean="0"/>
              <a:t>Üçüncü düzey</a:t>
            </a:r>
          </a:p>
          <a:p>
            <a:pPr lvl="3"/>
            <a:r>
              <a:rPr lang="tr-TR" smtClean="0"/>
              <a:t>Dördüncü düzey</a:t>
            </a:r>
          </a:p>
          <a:p>
            <a:pPr lvl="4"/>
            <a:r>
              <a:rPr lang="tr-TR" smtClean="0"/>
              <a:t>Beşinci düzey</a:t>
            </a:r>
          </a:p>
        </p:txBody>
      </p:sp>
      <p:sp>
        <p:nvSpPr>
          <p:cNvPr id="2079" name="Rectangle 31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/>
            </a:lvl1pPr>
          </a:lstStyle>
          <a:p>
            <a:r>
              <a:rPr lang="tr-TR" smtClean="0"/>
              <a:t>3.  Hafta</a:t>
            </a:r>
            <a:endParaRPr lang="tr-TR"/>
          </a:p>
        </p:txBody>
      </p:sp>
      <p:sp>
        <p:nvSpPr>
          <p:cNvPr id="2080" name="Rectangle 32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/>
            </a:lvl1pPr>
          </a:lstStyle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2081" name="Rectangle 3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/>
            </a:lvl1pPr>
          </a:lstStyle>
          <a:p>
            <a:fld id="{06E49F00-3D9E-4CFE-A554-658867EA9789}" type="slidenum">
              <a:rPr lang="tr-TR"/>
              <a:pPr/>
              <a:t>‹#›</a:t>
            </a:fld>
            <a:endParaRPr lang="tr-T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</p:sldLayoutIdLst>
  <p:transition>
    <p:pull dir="r"/>
  </p:transition>
  <p:hf hdr="0"/>
  <p:txStyles>
    <p:titleStyle>
      <a:lvl1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4400">
          <a:solidFill>
            <a:schemeClr val="tx1"/>
          </a:solidFill>
          <a:latin typeface="Tahoma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3C605F"/>
        </a:buClr>
        <a:buSzPct val="75000"/>
        <a:buFont typeface="Wingdings" pitchFamily="2" charset="2"/>
        <a:buChar char="n"/>
        <a:defRPr kumimoji="1" sz="2000">
          <a:solidFill>
            <a:schemeClr val="tx1"/>
          </a:solidFill>
          <a:latin typeface="+mn-lt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mailto:yyurtay@sakarya.edu.tr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://www.cs.sakarya.edu.tr/yyurtay" TargetMode="Externa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3.bin"/><Relationship Id="rId3" Type="http://schemas.openxmlformats.org/officeDocument/2006/relationships/notesSlide" Target="../notesSlides/notesSlide13.xml"/><Relationship Id="rId7" Type="http://schemas.openxmlformats.org/officeDocument/2006/relationships/image" Target="../media/image11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oleObject" Target="../embeddings/oleObject2.bin"/><Relationship Id="rId5" Type="http://schemas.openxmlformats.org/officeDocument/2006/relationships/image" Target="../media/image10.wmf"/><Relationship Id="rId4" Type="http://schemas.openxmlformats.org/officeDocument/2006/relationships/oleObject" Target="../embeddings/oleObject1.bin"/><Relationship Id="rId9" Type="http://schemas.openxmlformats.org/officeDocument/2006/relationships/image" Target="../media/image12.wmf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notesSlide" Target="../notesSlides/notesSlide18.xml"/><Relationship Id="rId7" Type="http://schemas.openxmlformats.org/officeDocument/2006/relationships/image" Target="../media/image14.wmf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2.vml"/><Relationship Id="rId6" Type="http://schemas.openxmlformats.org/officeDocument/2006/relationships/oleObject" Target="../embeddings/oleObject5.bin"/><Relationship Id="rId11" Type="http://schemas.openxmlformats.org/officeDocument/2006/relationships/image" Target="../media/image16.wmf"/><Relationship Id="rId5" Type="http://schemas.openxmlformats.org/officeDocument/2006/relationships/image" Target="../media/image13.wmf"/><Relationship Id="rId10" Type="http://schemas.openxmlformats.org/officeDocument/2006/relationships/oleObject" Target="../embeddings/oleObject7.bin"/><Relationship Id="rId4" Type="http://schemas.openxmlformats.org/officeDocument/2006/relationships/oleObject" Target="../embeddings/oleObject4.bin"/><Relationship Id="rId9" Type="http://schemas.openxmlformats.org/officeDocument/2006/relationships/image" Target="../media/image15.wmf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3.vml"/><Relationship Id="rId5" Type="http://schemas.openxmlformats.org/officeDocument/2006/relationships/image" Target="../media/image17.wmf"/><Relationship Id="rId4" Type="http://schemas.openxmlformats.org/officeDocument/2006/relationships/oleObject" Target="../embeddings/oleObject8.bin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10" Type="http://schemas.openxmlformats.org/officeDocument/2006/relationships/image" Target="../media/image25.png"/><Relationship Id="rId4" Type="http://schemas.openxmlformats.org/officeDocument/2006/relationships/image" Target="../media/image19.png"/><Relationship Id="rId9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1.pn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emf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3.png"/><Relationship Id="rId5" Type="http://schemas.openxmlformats.org/officeDocument/2006/relationships/image" Target="../media/image42.emf"/><Relationship Id="rId4" Type="http://schemas.openxmlformats.org/officeDocument/2006/relationships/image" Target="../media/image41.png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jpe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5.png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1.png"/><Relationship Id="rId3" Type="http://schemas.openxmlformats.org/officeDocument/2006/relationships/image" Target="../media/image46.png"/><Relationship Id="rId7" Type="http://schemas.openxmlformats.org/officeDocument/2006/relationships/image" Target="../media/image50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5" Type="http://schemas.openxmlformats.org/officeDocument/2006/relationships/image" Target="../media/image48.png"/><Relationship Id="rId4" Type="http://schemas.openxmlformats.org/officeDocument/2006/relationships/image" Target="../media/image4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2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emf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pn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4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9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915816" y="1412776"/>
            <a:ext cx="3024336" cy="947738"/>
          </a:xfrm>
        </p:spPr>
        <p:txBody>
          <a:bodyPr/>
          <a:lstStyle/>
          <a:p>
            <a:r>
              <a:rPr lang="tr-TR" sz="2800" b="1" dirty="0" smtClean="0">
                <a:solidFill>
                  <a:schemeClr val="bg1">
                    <a:lumMod val="60000"/>
                    <a:lumOff val="40000"/>
                  </a:schemeClr>
                </a:solidFill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</a:rPr>
              <a:t>Sayısal Analiz</a:t>
            </a:r>
            <a:endParaRPr lang="tr-TR" sz="2800" b="1" dirty="0">
              <a:solidFill>
                <a:schemeClr val="bg1">
                  <a:lumMod val="60000"/>
                  <a:lumOff val="40000"/>
                </a:schemeClr>
              </a:solidFill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Harrington" pitchFamily="82" charset="0"/>
            </a:endParaRPr>
          </a:p>
        </p:txBody>
      </p:sp>
      <p:sp>
        <p:nvSpPr>
          <p:cNvPr id="11469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827584" y="4509120"/>
            <a:ext cx="7924800" cy="723888"/>
          </a:xfr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>
              <a:spcBef>
                <a:spcPct val="0"/>
              </a:spcBef>
            </a:pPr>
            <a:r>
              <a:rPr lang="tr-TR" sz="2400" b="1" dirty="0" smtClean="0"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  <a:ea typeface="+mj-ea"/>
                <a:cs typeface="+mj-cs"/>
              </a:rPr>
              <a:t>Lineer Olmayan </a:t>
            </a:r>
          </a:p>
          <a:p>
            <a:pPr>
              <a:spcBef>
                <a:spcPct val="0"/>
              </a:spcBef>
            </a:pPr>
            <a:r>
              <a:rPr lang="tr-TR" sz="2400" b="1" dirty="0" smtClean="0"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  <a:ea typeface="+mj-ea"/>
                <a:cs typeface="+mj-cs"/>
              </a:rPr>
              <a:t>       Denklem Sistemlerinin  </a:t>
            </a:r>
          </a:p>
          <a:p>
            <a:pPr>
              <a:spcBef>
                <a:spcPct val="0"/>
              </a:spcBef>
            </a:pPr>
            <a:r>
              <a:rPr lang="tr-TR" sz="2400" b="1" dirty="0" smtClean="0">
                <a:effectLst>
                  <a:outerShdw blurRad="50800" dist="88900" dir="5400000" algn="ctr" rotWithShape="0">
                    <a:srgbClr val="000000">
                      <a:alpha val="42000"/>
                    </a:srgbClr>
                  </a:outerShdw>
                </a:effectLst>
                <a:latin typeface="Harrington" pitchFamily="82" charset="0"/>
                <a:ea typeface="+mj-ea"/>
                <a:cs typeface="+mj-cs"/>
              </a:rPr>
              <a:t>                  Çözüm Yöntemleri</a:t>
            </a:r>
            <a:endParaRPr lang="tr-TR" sz="2400" b="1" dirty="0">
              <a:effectLst>
                <a:outerShdw blurRad="50800" dist="88900" dir="5400000" algn="ctr" rotWithShape="0">
                  <a:srgbClr val="000000">
                    <a:alpha val="42000"/>
                  </a:srgbClr>
                </a:outerShdw>
              </a:effectLst>
              <a:latin typeface="Harrington" pitchFamily="82" charset="0"/>
              <a:ea typeface="+mj-ea"/>
              <a:cs typeface="+mj-cs"/>
            </a:endParaRPr>
          </a:p>
        </p:txBody>
      </p:sp>
      <p:sp>
        <p:nvSpPr>
          <p:cNvPr id="7" name="6 Slayt Numarası Yer Tutucusu"/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873751C7-D8B0-49E9-A6B0-B08BA81E385A}" type="slidenum">
              <a:rPr lang="tr-TR" smtClean="0"/>
              <a:pPr/>
              <a:t>1</a:t>
            </a:fld>
            <a:endParaRPr lang="tr-TR"/>
          </a:p>
        </p:txBody>
      </p:sp>
      <p:sp>
        <p:nvSpPr>
          <p:cNvPr id="8" name="7 Altbilgi Yer Tutucusu"/>
          <p:cNvSpPr>
            <a:spLocks noGrp="1"/>
          </p:cNvSpPr>
          <p:nvPr>
            <p:ph type="ftr" sz="quarter" idx="3"/>
          </p:nvPr>
        </p:nvSpPr>
        <p:spPr/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10" name="9 Dikdörtgen"/>
          <p:cNvSpPr/>
          <p:nvPr/>
        </p:nvSpPr>
        <p:spPr>
          <a:xfrm>
            <a:off x="5357850" y="2586564"/>
            <a:ext cx="3357554" cy="2714644"/>
          </a:xfrm>
          <a:prstGeom prst="rect">
            <a:avLst/>
          </a:prstGeom>
          <a:solidFill>
            <a:srgbClr val="EAEAEA">
              <a:alpha val="47000"/>
            </a:srgb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>
            <a:noAutofit/>
          </a:bodyPr>
          <a:lstStyle/>
          <a:p>
            <a:pPr algn="ctr"/>
            <a:endParaRPr lang="tr-TR" sz="1800" dirty="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tr-TR" sz="1800" dirty="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endParaRPr lang="tr-TR" sz="1800" dirty="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tr-TR" sz="1800" dirty="0" smtClean="0">
                <a:solidFill>
                  <a:schemeClr val="accent2">
                    <a:lumMod val="50000"/>
                  </a:schemeClr>
                </a:solidFill>
                <a:latin typeface="Arial" pitchFamily="34" charset="0"/>
                <a:cs typeface="Arial" pitchFamily="34" charset="0"/>
              </a:rPr>
              <a:t>İletişim :</a:t>
            </a:r>
          </a:p>
          <a:p>
            <a:pPr algn="ctr"/>
            <a:endParaRPr lang="tr-TR" sz="1800" dirty="0" smtClean="0">
              <a:solidFill>
                <a:schemeClr val="accent2">
                  <a:lumMod val="5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algn="ctr"/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3"/>
              </a:rPr>
              <a:t>yyurtay@</a:t>
            </a:r>
            <a:r>
              <a:rPr lang="tr-TR" sz="18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3"/>
              </a:rPr>
              <a:t>sakarya</a:t>
            </a:r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3"/>
              </a:rPr>
              <a:t>.edu.tr</a:t>
            </a:r>
            <a:endParaRPr lang="tr-TR" sz="1800" dirty="0" smtClean="0">
              <a:solidFill>
                <a:schemeClr val="accent1">
                  <a:lumMod val="60000"/>
                  <a:lumOff val="40000"/>
                </a:schemeClr>
              </a:solidFill>
              <a:latin typeface="Berlin Sans FB" pitchFamily="34" charset="0"/>
            </a:endParaRPr>
          </a:p>
          <a:p>
            <a:pPr algn="ctr"/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www.</a:t>
            </a:r>
            <a:r>
              <a:rPr lang="tr-TR" sz="18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cs</a:t>
            </a:r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.</a:t>
            </a:r>
            <a:r>
              <a:rPr lang="tr-TR" sz="18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sakarya</a:t>
            </a:r>
            <a:r>
              <a:rPr lang="tr-TR" sz="180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.edu.tr/</a:t>
            </a:r>
            <a:r>
              <a:rPr lang="tr-TR" sz="1800" dirty="0" err="1" smtClean="0">
                <a:solidFill>
                  <a:schemeClr val="accent1">
                    <a:lumMod val="60000"/>
                    <a:lumOff val="40000"/>
                  </a:schemeClr>
                </a:solidFill>
                <a:latin typeface="Berlin Sans FB" pitchFamily="34" charset="0"/>
                <a:hlinkClick r:id="rId4"/>
              </a:rPr>
              <a:t>yyurtay</a:t>
            </a:r>
            <a:endParaRPr lang="tr-TR" sz="1800" dirty="0" smtClean="0">
              <a:solidFill>
                <a:schemeClr val="accent1">
                  <a:lumMod val="60000"/>
                  <a:lumOff val="40000"/>
                </a:schemeClr>
              </a:solidFill>
              <a:latin typeface="Berlin Sans FB" pitchFamily="34" charset="0"/>
            </a:endParaRPr>
          </a:p>
          <a:p>
            <a:pPr algn="ctr"/>
            <a:r>
              <a:rPr lang="tr-TR" sz="1800" dirty="0" smtClean="0">
                <a:solidFill>
                  <a:schemeClr val="accent1">
                    <a:lumMod val="75000"/>
                  </a:schemeClr>
                </a:solidFill>
                <a:latin typeface="Berlin Sans FB" pitchFamily="34" charset="0"/>
              </a:rPr>
              <a:t>(264) 295 58 99</a:t>
            </a:r>
          </a:p>
          <a:p>
            <a:pPr algn="ctr"/>
            <a:endParaRPr lang="tr-TR" sz="1800" dirty="0" smtClean="0">
              <a:solidFill>
                <a:schemeClr val="accent1">
                  <a:lumMod val="60000"/>
                  <a:lumOff val="40000"/>
                </a:schemeClr>
              </a:solidFill>
              <a:latin typeface="Berlin Sans FB" pitchFamily="34" charset="0"/>
            </a:endParaRPr>
          </a:p>
        </p:txBody>
      </p:sp>
      <p:sp>
        <p:nvSpPr>
          <p:cNvPr id="11" name="10 Veri Yer Tutucusu"/>
          <p:cNvSpPr>
            <a:spLocks noGrp="1"/>
          </p:cNvSpPr>
          <p:nvPr>
            <p:ph type="dt" sz="quarter" idx="2"/>
          </p:nvPr>
        </p:nvSpPr>
        <p:spPr/>
        <p:txBody>
          <a:bodyPr/>
          <a:lstStyle/>
          <a:p>
            <a:r>
              <a:rPr lang="tr-TR" smtClean="0"/>
              <a:t>6.  </a:t>
            </a:r>
            <a:r>
              <a:rPr lang="tr-TR" dirty="0" smtClean="0"/>
              <a:t>Hafta</a:t>
            </a:r>
            <a:endParaRPr lang="tr-TR" dirty="0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0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10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1000"/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2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30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1000"/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0"/>
                            </p:stCondLst>
                            <p:childTnLst>
                              <p:par>
                                <p:cTn id="2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1146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7000"/>
                            </p:stCondLst>
                            <p:childTnLst>
                              <p:par>
                                <p:cTn id="2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1146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9000"/>
                            </p:stCondLst>
                            <p:childTnLst>
                              <p:par>
                                <p:cTn id="3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1146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uiExpand="1" build="p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524000" y="785794"/>
            <a:ext cx="7391400" cy="5767406"/>
          </a:xfrm>
        </p:spPr>
        <p:txBody>
          <a:bodyPr/>
          <a:lstStyle/>
          <a:p>
            <a:pPr>
              <a:buNone/>
            </a:pPr>
            <a:r>
              <a:rPr lang="tr-TR" sz="1600" kern="12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Ders İçeriği</a:t>
            </a:r>
          </a:p>
          <a:p>
            <a:pPr>
              <a:buFont typeface="Wingdings" pitchFamily="2" charset="2"/>
              <a:buChar char="v"/>
            </a:pPr>
            <a:endParaRPr lang="tr-TR" sz="2000" dirty="0" smtClean="0"/>
          </a:p>
          <a:p>
            <a:pPr>
              <a:buFont typeface="Wingdings" pitchFamily="2" charset="2"/>
              <a:buChar char="v"/>
            </a:pPr>
            <a:endParaRPr lang="tr-TR" sz="2000" dirty="0" smtClean="0"/>
          </a:p>
          <a:p>
            <a:pPr>
              <a:buFont typeface="Wingdings" pitchFamily="2" charset="2"/>
              <a:buChar char="v"/>
            </a:pPr>
            <a:endParaRPr lang="tr-TR" sz="2000" dirty="0" smtClean="0"/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Basit İterasyon Yöntemi </a:t>
            </a:r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Yarılama (</a:t>
            </a:r>
            <a:r>
              <a:rPr lang="tr-TR" sz="2000" dirty="0" err="1" smtClean="0"/>
              <a:t>Bisection</a:t>
            </a:r>
            <a:r>
              <a:rPr lang="tr-TR" sz="2000" dirty="0" smtClean="0"/>
              <a:t>) Yöntemi</a:t>
            </a:r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Kiriş (secant) Yöntemi </a:t>
            </a:r>
          </a:p>
          <a:p>
            <a:pPr>
              <a:buFont typeface="Wingdings" pitchFamily="2" charset="2"/>
              <a:buChar char="v"/>
            </a:pPr>
            <a:r>
              <a:rPr lang="tr-TR" sz="2000" dirty="0" smtClean="0"/>
              <a:t>Örnekler</a:t>
            </a: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2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pic>
        <p:nvPicPr>
          <p:cNvPr id="25602" name="Picture 2" descr="http://depo.fthcmc.net/resim/ders.jpg"/>
          <p:cNvPicPr>
            <a:picLocks noChangeAspect="1" noChangeArrowheads="1"/>
          </p:cNvPicPr>
          <p:nvPr/>
        </p:nvPicPr>
        <p:blipFill>
          <a:blip r:embed="rId3" cstate="print"/>
          <a:stretch>
            <a:fillRect/>
          </a:stretch>
        </p:blipFill>
        <p:spPr bwMode="auto">
          <a:xfrm>
            <a:off x="6000760" y="3857628"/>
            <a:ext cx="2805132" cy="2214578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rgbClr val="FFFFFF"/>
            </a:solidFill>
          </a:ln>
          <a:effectLst>
            <a:outerShdw blurRad="36195" dist="12700" dir="11400000" algn="tl" rotWithShape="0">
              <a:srgbClr val="000000">
                <a:alpha val="33000"/>
              </a:srgbClr>
            </a:outerShdw>
          </a:effectLst>
          <a:scene3d>
            <a:camera prst="perspectiveContrastingLeftFacing">
              <a:rot lat="540000" lon="2100000" rev="0"/>
            </a:camera>
            <a:lightRig rig="soft" dir="t"/>
          </a:scene3d>
          <a:sp3d contourW="12700" prstMaterial="matte">
            <a:bevelT w="63500" h="50800"/>
            <a:contourClr>
              <a:srgbClr val="C0C0C0"/>
            </a:contourClr>
          </a:sp3d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56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9 Dikdörtgen"/>
          <p:cNvSpPr/>
          <p:nvPr/>
        </p:nvSpPr>
        <p:spPr bwMode="auto">
          <a:xfrm>
            <a:off x="1285852" y="1214422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3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1529108" y="1265649"/>
            <a:ext cx="4123012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tr-TR" sz="1800" b="1" baseline="0" dirty="0" smtClean="0"/>
              <a:t> </a:t>
            </a:r>
            <a:endParaRPr lang="tr-TR" sz="1800" b="1" baseline="0" dirty="0" smtClean="0"/>
          </a:p>
          <a:p>
            <a:endParaRPr lang="tr-TR" sz="2200" b="1" baseline="0" dirty="0"/>
          </a:p>
          <a:p>
            <a:r>
              <a:rPr lang="tr-TR" sz="2200" baseline="0" dirty="0"/>
              <a:t>Eğer f(x), x=a ve x= b aralığında sürekli ve f(a) ile f(b) ters işaretli ise a, b aralığında en az bir kök vardır. </a:t>
            </a:r>
          </a:p>
        </p:txBody>
      </p:sp>
      <p:grpSp>
        <p:nvGrpSpPr>
          <p:cNvPr id="11" name="Group 16"/>
          <p:cNvGrpSpPr>
            <a:grpSpLocks/>
          </p:cNvGrpSpPr>
          <p:nvPr/>
        </p:nvGrpSpPr>
        <p:grpSpPr bwMode="auto">
          <a:xfrm>
            <a:off x="5939706" y="1844253"/>
            <a:ext cx="2665413" cy="2413000"/>
            <a:chOff x="2183" y="1429"/>
            <a:chExt cx="1498" cy="1134"/>
          </a:xfrm>
        </p:grpSpPr>
        <p:grpSp>
          <p:nvGrpSpPr>
            <p:cNvPr id="12" name="Group 17"/>
            <p:cNvGrpSpPr>
              <a:grpSpLocks/>
            </p:cNvGrpSpPr>
            <p:nvPr/>
          </p:nvGrpSpPr>
          <p:grpSpPr bwMode="auto">
            <a:xfrm>
              <a:off x="2183" y="1429"/>
              <a:ext cx="1498" cy="1134"/>
              <a:chOff x="2341" y="1429"/>
              <a:chExt cx="1498" cy="1134"/>
            </a:xfrm>
          </p:grpSpPr>
          <p:sp>
            <p:nvSpPr>
              <p:cNvPr id="14" name="Text Box 18"/>
              <p:cNvSpPr txBox="1">
                <a:spLocks noChangeArrowheads="1"/>
              </p:cNvSpPr>
              <p:nvPr/>
            </p:nvSpPr>
            <p:spPr bwMode="auto">
              <a:xfrm>
                <a:off x="3748" y="2064"/>
                <a:ext cx="91" cy="86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0" rIns="1800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tr-TR" sz="1200" b="1" baseline="0"/>
                  <a:t>x</a:t>
                </a:r>
              </a:p>
            </p:txBody>
          </p:sp>
          <p:grpSp>
            <p:nvGrpSpPr>
              <p:cNvPr id="15" name="Group 19"/>
              <p:cNvGrpSpPr>
                <a:grpSpLocks/>
              </p:cNvGrpSpPr>
              <p:nvPr/>
            </p:nvGrpSpPr>
            <p:grpSpPr bwMode="auto">
              <a:xfrm>
                <a:off x="2341" y="1429"/>
                <a:ext cx="1497" cy="1134"/>
                <a:chOff x="300" y="2040"/>
                <a:chExt cx="1497" cy="1134"/>
              </a:xfrm>
            </p:grpSpPr>
            <p:grpSp>
              <p:nvGrpSpPr>
                <p:cNvPr id="16" name="Group 20"/>
                <p:cNvGrpSpPr>
                  <a:grpSpLocks/>
                </p:cNvGrpSpPr>
                <p:nvPr/>
              </p:nvGrpSpPr>
              <p:grpSpPr bwMode="auto">
                <a:xfrm>
                  <a:off x="300" y="2040"/>
                  <a:ext cx="1497" cy="1134"/>
                  <a:chOff x="527" y="2971"/>
                  <a:chExt cx="1497" cy="1134"/>
                </a:xfrm>
              </p:grpSpPr>
              <p:sp>
                <p:nvSpPr>
                  <p:cNvPr id="18" name="Line 21"/>
                  <p:cNvSpPr>
                    <a:spLocks noChangeShapeType="1"/>
                  </p:cNvSpPr>
                  <p:nvPr/>
                </p:nvSpPr>
                <p:spPr bwMode="auto">
                  <a:xfrm>
                    <a:off x="709" y="3560"/>
                    <a:ext cx="1315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19" name="Line 22"/>
                  <p:cNvSpPr>
                    <a:spLocks noChangeShapeType="1"/>
                  </p:cNvSpPr>
                  <p:nvPr/>
                </p:nvSpPr>
                <p:spPr bwMode="auto">
                  <a:xfrm>
                    <a:off x="709" y="2971"/>
                    <a:ext cx="0" cy="1134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round/>
                    <a:headEnd type="triangle" w="med" len="med"/>
                    <a:tailEnd type="triangle" w="med" len="med"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20" name="Freeform 23"/>
                  <p:cNvSpPr>
                    <a:spLocks/>
                  </p:cNvSpPr>
                  <p:nvPr/>
                </p:nvSpPr>
                <p:spPr bwMode="auto">
                  <a:xfrm>
                    <a:off x="890" y="3220"/>
                    <a:ext cx="827" cy="605"/>
                  </a:xfrm>
                  <a:custGeom>
                    <a:avLst/>
                    <a:gdLst>
                      <a:gd name="T0" fmla="*/ 0 w 827"/>
                      <a:gd name="T1" fmla="*/ 0 h 605"/>
                      <a:gd name="T2" fmla="*/ 317 w 827"/>
                      <a:gd name="T3" fmla="*/ 363 h 605"/>
                      <a:gd name="T4" fmla="*/ 748 w 827"/>
                      <a:gd name="T5" fmla="*/ 567 h 605"/>
                      <a:gd name="T6" fmla="*/ 794 w 827"/>
                      <a:gd name="T7" fmla="*/ 590 h 605"/>
                    </a:gdLst>
                    <a:ahLst/>
                    <a:cxnLst>
                      <a:cxn ang="0">
                        <a:pos x="T0" y="T1"/>
                      </a:cxn>
                      <a:cxn ang="0">
                        <a:pos x="T2" y="T3"/>
                      </a:cxn>
                      <a:cxn ang="0">
                        <a:pos x="T4" y="T5"/>
                      </a:cxn>
                      <a:cxn ang="0">
                        <a:pos x="T6" y="T7"/>
                      </a:cxn>
                    </a:cxnLst>
                    <a:rect l="0" t="0" r="r" b="b"/>
                    <a:pathLst>
                      <a:path w="827" h="605">
                        <a:moveTo>
                          <a:pt x="0" y="0"/>
                        </a:moveTo>
                        <a:cubicBezTo>
                          <a:pt x="96" y="134"/>
                          <a:pt x="192" y="269"/>
                          <a:pt x="317" y="363"/>
                        </a:cubicBezTo>
                        <a:cubicBezTo>
                          <a:pt x="442" y="457"/>
                          <a:pt x="669" y="529"/>
                          <a:pt x="748" y="567"/>
                        </a:cubicBezTo>
                        <a:cubicBezTo>
                          <a:pt x="827" y="605"/>
                          <a:pt x="810" y="597"/>
                          <a:pt x="794" y="590"/>
                        </a:cubicBezTo>
                      </a:path>
                    </a:pathLst>
                  </a:custGeom>
                  <a:noFill/>
                  <a:ln w="2540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21" name="Line 24"/>
                  <p:cNvSpPr>
                    <a:spLocks noChangeShapeType="1"/>
                  </p:cNvSpPr>
                  <p:nvPr/>
                </p:nvSpPr>
                <p:spPr bwMode="auto">
                  <a:xfrm>
                    <a:off x="958" y="3311"/>
                    <a:ext cx="0" cy="249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22" name="Line 25"/>
                  <p:cNvSpPr>
                    <a:spLocks noChangeShapeType="1"/>
                  </p:cNvSpPr>
                  <p:nvPr/>
                </p:nvSpPr>
                <p:spPr bwMode="auto">
                  <a:xfrm>
                    <a:off x="1616" y="3560"/>
                    <a:ext cx="0" cy="227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23" name="Line 26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09" y="3311"/>
                    <a:ext cx="249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24" name="Line 27"/>
                  <p:cNvSpPr>
                    <a:spLocks noChangeShapeType="1"/>
                  </p:cNvSpPr>
                  <p:nvPr/>
                </p:nvSpPr>
                <p:spPr bwMode="auto">
                  <a:xfrm flipH="1">
                    <a:off x="709" y="3787"/>
                    <a:ext cx="907" cy="0"/>
                  </a:xfrm>
                  <a:prstGeom prst="line">
                    <a:avLst/>
                  </a:prstGeom>
                  <a:noFill/>
                  <a:ln w="9525">
                    <a:solidFill>
                      <a:schemeClr val="tx1"/>
                    </a:solidFill>
                    <a:prstDash val="dash"/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25" name="Text Box 28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527" y="3061"/>
                    <a:ext cx="204" cy="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18000" tIns="0" rIns="18000" bIns="0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tr-TR" sz="1200" b="1" baseline="0"/>
                      <a:t>y</a:t>
                    </a:r>
                  </a:p>
                </p:txBody>
              </p:sp>
              <p:sp>
                <p:nvSpPr>
                  <p:cNvPr id="26" name="Text Box 29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913" y="3560"/>
                    <a:ext cx="113" cy="85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18000" tIns="0" rIns="18000" bIns="0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tr-TR" sz="1200" b="1" baseline="0"/>
                      <a:t>a</a:t>
                    </a:r>
                  </a:p>
                </p:txBody>
              </p:sp>
              <p:sp>
                <p:nvSpPr>
                  <p:cNvPr id="27" name="Line 30"/>
                  <p:cNvSpPr>
                    <a:spLocks noChangeShapeType="1"/>
                  </p:cNvSpPr>
                  <p:nvPr/>
                </p:nvSpPr>
                <p:spPr bwMode="auto">
                  <a:xfrm>
                    <a:off x="958" y="3550"/>
                    <a:ext cx="0" cy="22"/>
                  </a:xfrm>
                  <a:prstGeom prst="line">
                    <a:avLst/>
                  </a:prstGeom>
                  <a:noFill/>
                  <a:ln w="508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28" name="Line 31"/>
                  <p:cNvSpPr>
                    <a:spLocks noChangeShapeType="1"/>
                  </p:cNvSpPr>
                  <p:nvPr/>
                </p:nvSpPr>
                <p:spPr bwMode="auto">
                  <a:xfrm>
                    <a:off x="1616" y="3548"/>
                    <a:ext cx="0" cy="22"/>
                  </a:xfrm>
                  <a:prstGeom prst="line">
                    <a:avLst/>
                  </a:prstGeom>
                  <a:noFill/>
                  <a:ln w="5080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29" name="Line 32"/>
                  <p:cNvSpPr>
                    <a:spLocks noChangeShapeType="1"/>
                  </p:cNvSpPr>
                  <p:nvPr/>
                </p:nvSpPr>
                <p:spPr bwMode="auto">
                  <a:xfrm>
                    <a:off x="1168" y="3544"/>
                    <a:ext cx="0" cy="22"/>
                  </a:xfrm>
                  <a:prstGeom prst="line">
                    <a:avLst/>
                  </a:prstGeom>
                  <a:noFill/>
                  <a:ln w="66675">
                    <a:solidFill>
                      <a:srgbClr val="3366FF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endParaRPr lang="tr-TR"/>
                  </a:p>
                </p:txBody>
              </p:sp>
              <p:sp>
                <p:nvSpPr>
                  <p:cNvPr id="30" name="Text Box 33"/>
                  <p:cNvSpPr txBox="1">
                    <a:spLocks noChangeArrowheads="1"/>
                  </p:cNvSpPr>
                  <p:nvPr/>
                </p:nvSpPr>
                <p:spPr bwMode="auto">
                  <a:xfrm>
                    <a:off x="1593" y="3424"/>
                    <a:ext cx="113" cy="86"/>
                  </a:xfrm>
                  <a:prstGeom prst="rect">
                    <a:avLst/>
                  </a:prstGeom>
                  <a:noFill/>
                  <a:ln>
                    <a:noFill/>
                  </a:ln>
                  <a:effectLst/>
                  <a:extLst>
                    <a:ext uri="{909E8E84-426E-40DD-AFC4-6F175D3DCCD1}">
                      <a14:hiddenFill xmlns:a14="http://schemas.microsoft.com/office/drawing/2010/main">
                        <a:solidFill>
                          <a:schemeClr val="accent1"/>
                        </a:solidFill>
                      </a14:hiddenFill>
                    </a:ex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 lIns="18000" tIns="0" rIns="18000" bIns="0">
                    <a:spAutoFit/>
                  </a:bodyPr>
                  <a:lstStyle/>
                  <a:p>
                    <a:pPr>
                      <a:spcBef>
                        <a:spcPct val="50000"/>
                      </a:spcBef>
                    </a:pPr>
                    <a:r>
                      <a:rPr lang="tr-TR" sz="1200" b="1" baseline="0"/>
                      <a:t>b</a:t>
                    </a:r>
                  </a:p>
                </p:txBody>
              </p:sp>
            </p:grpSp>
            <p:sp>
              <p:nvSpPr>
                <p:cNvPr id="17" name="Text Box 34"/>
                <p:cNvSpPr txBox="1">
                  <a:spLocks noChangeArrowheads="1"/>
                </p:cNvSpPr>
                <p:nvPr/>
              </p:nvSpPr>
              <p:spPr bwMode="auto">
                <a:xfrm>
                  <a:off x="346" y="2562"/>
                  <a:ext cx="113" cy="86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lIns="18000" tIns="0" rIns="18000" bIns="0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tr-TR" sz="1200" b="1" baseline="0"/>
                    <a:t>0</a:t>
                  </a:r>
                </a:p>
              </p:txBody>
            </p:sp>
          </p:grpSp>
        </p:grpSp>
        <p:sp>
          <p:nvSpPr>
            <p:cNvPr id="13" name="Text Box 35"/>
            <p:cNvSpPr txBox="1">
              <a:spLocks noChangeArrowheads="1"/>
            </p:cNvSpPr>
            <p:nvPr/>
          </p:nvSpPr>
          <p:spPr bwMode="auto">
            <a:xfrm>
              <a:off x="2727" y="1791"/>
              <a:ext cx="340" cy="8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y=f(x)</a:t>
              </a:r>
            </a:p>
          </p:txBody>
        </p:sp>
      </p:grpSp>
      <p:grpSp>
        <p:nvGrpSpPr>
          <p:cNvPr id="31" name="Group 36"/>
          <p:cNvGrpSpPr>
            <a:grpSpLocks/>
          </p:cNvGrpSpPr>
          <p:nvPr/>
        </p:nvGrpSpPr>
        <p:grpSpPr bwMode="auto">
          <a:xfrm>
            <a:off x="2015430" y="4114130"/>
            <a:ext cx="2268538" cy="1835150"/>
            <a:chOff x="368" y="3606"/>
            <a:chExt cx="1429" cy="1156"/>
          </a:xfrm>
        </p:grpSpPr>
        <p:sp>
          <p:nvSpPr>
            <p:cNvPr id="32" name="Line 37"/>
            <p:cNvSpPr>
              <a:spLocks noChangeShapeType="1"/>
            </p:cNvSpPr>
            <p:nvPr/>
          </p:nvSpPr>
          <p:spPr bwMode="auto">
            <a:xfrm>
              <a:off x="482" y="4217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3" name="Line 38"/>
            <p:cNvSpPr>
              <a:spLocks noChangeShapeType="1"/>
            </p:cNvSpPr>
            <p:nvPr/>
          </p:nvSpPr>
          <p:spPr bwMode="auto">
            <a:xfrm>
              <a:off x="482" y="3628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4" name="Line 39"/>
            <p:cNvSpPr>
              <a:spLocks noChangeShapeType="1"/>
            </p:cNvSpPr>
            <p:nvPr/>
          </p:nvSpPr>
          <p:spPr bwMode="auto">
            <a:xfrm>
              <a:off x="1389" y="4218"/>
              <a:ext cx="0" cy="11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Line 40"/>
            <p:cNvSpPr>
              <a:spLocks noChangeShapeType="1"/>
            </p:cNvSpPr>
            <p:nvPr/>
          </p:nvSpPr>
          <p:spPr bwMode="auto">
            <a:xfrm>
              <a:off x="731" y="4059"/>
              <a:ext cx="0" cy="14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6" name="Line 41"/>
            <p:cNvSpPr>
              <a:spLocks noChangeShapeType="1"/>
            </p:cNvSpPr>
            <p:nvPr/>
          </p:nvSpPr>
          <p:spPr bwMode="auto">
            <a:xfrm flipH="1">
              <a:off x="482" y="4059"/>
              <a:ext cx="24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7" name="Line 42"/>
            <p:cNvSpPr>
              <a:spLocks noChangeShapeType="1"/>
            </p:cNvSpPr>
            <p:nvPr/>
          </p:nvSpPr>
          <p:spPr bwMode="auto">
            <a:xfrm flipH="1">
              <a:off x="1003" y="3606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8" name="Text Box 43"/>
            <p:cNvSpPr txBox="1">
              <a:spLocks noChangeArrowheads="1"/>
            </p:cNvSpPr>
            <p:nvPr/>
          </p:nvSpPr>
          <p:spPr bwMode="auto">
            <a:xfrm>
              <a:off x="686" y="4217"/>
              <a:ext cx="113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a</a:t>
              </a:r>
            </a:p>
          </p:txBody>
        </p:sp>
        <p:sp>
          <p:nvSpPr>
            <p:cNvPr id="39" name="Line 44"/>
            <p:cNvSpPr>
              <a:spLocks noChangeShapeType="1"/>
            </p:cNvSpPr>
            <p:nvPr/>
          </p:nvSpPr>
          <p:spPr bwMode="auto">
            <a:xfrm>
              <a:off x="731" y="4207"/>
              <a:ext cx="0" cy="2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0" name="Line 45"/>
            <p:cNvSpPr>
              <a:spLocks noChangeShapeType="1"/>
            </p:cNvSpPr>
            <p:nvPr/>
          </p:nvSpPr>
          <p:spPr bwMode="auto">
            <a:xfrm>
              <a:off x="1389" y="4205"/>
              <a:ext cx="0" cy="2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1" name="Text Box 46"/>
            <p:cNvSpPr txBox="1">
              <a:spLocks noChangeArrowheads="1"/>
            </p:cNvSpPr>
            <p:nvPr/>
          </p:nvSpPr>
          <p:spPr bwMode="auto">
            <a:xfrm>
              <a:off x="1366" y="4081"/>
              <a:ext cx="113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b</a:t>
              </a:r>
            </a:p>
          </p:txBody>
        </p:sp>
        <p:sp>
          <p:nvSpPr>
            <p:cNvPr id="42" name="Freeform 47"/>
            <p:cNvSpPr>
              <a:spLocks/>
            </p:cNvSpPr>
            <p:nvPr/>
          </p:nvSpPr>
          <p:spPr bwMode="auto">
            <a:xfrm rot="-935262">
              <a:off x="595" y="3674"/>
              <a:ext cx="265" cy="408"/>
            </a:xfrm>
            <a:custGeom>
              <a:avLst/>
              <a:gdLst>
                <a:gd name="T0" fmla="*/ 0 w 265"/>
                <a:gd name="T1" fmla="*/ 408 h 408"/>
                <a:gd name="T2" fmla="*/ 227 w 265"/>
                <a:gd name="T3" fmla="*/ 295 h 408"/>
                <a:gd name="T4" fmla="*/ 227 w 265"/>
                <a:gd name="T5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5" h="408">
                  <a:moveTo>
                    <a:pt x="0" y="408"/>
                  </a:moveTo>
                  <a:cubicBezTo>
                    <a:pt x="94" y="385"/>
                    <a:pt x="189" y="363"/>
                    <a:pt x="227" y="295"/>
                  </a:cubicBezTo>
                  <a:cubicBezTo>
                    <a:pt x="265" y="227"/>
                    <a:pt x="227" y="53"/>
                    <a:pt x="227" y="0"/>
                  </a:cubicBez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3" name="Freeform 48"/>
            <p:cNvSpPr>
              <a:spLocks/>
            </p:cNvSpPr>
            <p:nvPr/>
          </p:nvSpPr>
          <p:spPr bwMode="auto">
            <a:xfrm rot="12160054">
              <a:off x="1169" y="4286"/>
              <a:ext cx="265" cy="408"/>
            </a:xfrm>
            <a:custGeom>
              <a:avLst/>
              <a:gdLst>
                <a:gd name="T0" fmla="*/ 0 w 265"/>
                <a:gd name="T1" fmla="*/ 408 h 408"/>
                <a:gd name="T2" fmla="*/ 227 w 265"/>
                <a:gd name="T3" fmla="*/ 295 h 408"/>
                <a:gd name="T4" fmla="*/ 227 w 265"/>
                <a:gd name="T5" fmla="*/ 0 h 40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265" h="408">
                  <a:moveTo>
                    <a:pt x="0" y="408"/>
                  </a:moveTo>
                  <a:cubicBezTo>
                    <a:pt x="94" y="385"/>
                    <a:pt x="189" y="363"/>
                    <a:pt x="227" y="295"/>
                  </a:cubicBezTo>
                  <a:cubicBezTo>
                    <a:pt x="265" y="227"/>
                    <a:pt x="227" y="53"/>
                    <a:pt x="227" y="0"/>
                  </a:cubicBez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4" name="Line 49"/>
            <p:cNvSpPr>
              <a:spLocks noChangeShapeType="1"/>
            </p:cNvSpPr>
            <p:nvPr/>
          </p:nvSpPr>
          <p:spPr bwMode="auto">
            <a:xfrm flipH="1">
              <a:off x="482" y="4332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5" name="Text Box 50"/>
            <p:cNvSpPr txBox="1">
              <a:spLocks noChangeArrowheads="1"/>
            </p:cNvSpPr>
            <p:nvPr/>
          </p:nvSpPr>
          <p:spPr bwMode="auto">
            <a:xfrm>
              <a:off x="391" y="4150"/>
              <a:ext cx="113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0</a:t>
              </a:r>
            </a:p>
          </p:txBody>
        </p:sp>
        <p:sp>
          <p:nvSpPr>
            <p:cNvPr id="46" name="Text Box 51"/>
            <p:cNvSpPr txBox="1">
              <a:spLocks noChangeArrowheads="1"/>
            </p:cNvSpPr>
            <p:nvPr/>
          </p:nvSpPr>
          <p:spPr bwMode="auto">
            <a:xfrm>
              <a:off x="368" y="3628"/>
              <a:ext cx="91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</a:t>
              </a:r>
            </a:p>
          </p:txBody>
        </p:sp>
        <p:sp>
          <p:nvSpPr>
            <p:cNvPr id="47" name="Text Box 52"/>
            <p:cNvSpPr txBox="1">
              <a:spLocks noChangeArrowheads="1"/>
            </p:cNvSpPr>
            <p:nvPr/>
          </p:nvSpPr>
          <p:spPr bwMode="auto">
            <a:xfrm>
              <a:off x="1706" y="4218"/>
              <a:ext cx="91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x</a:t>
              </a:r>
            </a:p>
          </p:txBody>
        </p:sp>
      </p:grpSp>
      <p:sp>
        <p:nvSpPr>
          <p:cNvPr id="48" name="Rectangle 53"/>
          <p:cNvSpPr>
            <a:spLocks noChangeArrowheads="1"/>
          </p:cNvSpPr>
          <p:nvPr/>
        </p:nvSpPr>
        <p:spPr bwMode="auto">
          <a:xfrm>
            <a:off x="5004048" y="4763079"/>
            <a:ext cx="4032448" cy="1512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tr-TR" sz="2200" baseline="0" dirty="0" smtClean="0"/>
              <a:t>f(a</a:t>
            </a:r>
            <a:r>
              <a:rPr lang="tr-TR" sz="2200" baseline="0" dirty="0"/>
              <a:t>) ve f(b) ters işaretli olmasına karşın fonksiyon süreksiz olduğundan bu aralıkta </a:t>
            </a:r>
            <a:r>
              <a:rPr lang="tr-TR" sz="2200" baseline="0" dirty="0" smtClean="0"/>
              <a:t> </a:t>
            </a:r>
            <a:r>
              <a:rPr lang="tr-TR" sz="2200" baseline="0" dirty="0"/>
              <a:t>kök yoktur.  </a:t>
            </a:r>
          </a:p>
        </p:txBody>
      </p:sp>
      <p:sp>
        <p:nvSpPr>
          <p:cNvPr id="2" name="Dikdörtgen 1"/>
          <p:cNvSpPr/>
          <p:nvPr/>
        </p:nvSpPr>
        <p:spPr>
          <a:xfrm>
            <a:off x="1403648" y="858198"/>
            <a:ext cx="2922595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indent="-342900" algn="ctr">
              <a:spcBef>
                <a:spcPct val="30000"/>
              </a:spcBef>
            </a:pPr>
            <a:r>
              <a:rPr lang="tr-TR" sz="1600" b="1" dirty="0">
                <a:solidFill>
                  <a:schemeClr val="bg1">
                    <a:lumMod val="60000"/>
                    <a:lumOff val="40000"/>
                  </a:schemeClr>
                </a:solidFill>
              </a:rPr>
              <a:t>DENKLEMLERİN KÖKLERİ</a:t>
            </a:r>
            <a:endParaRPr lang="tr-TR" sz="1600" b="1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3" name="Dikdörtgen 2"/>
          <p:cNvSpPr/>
          <p:nvPr/>
        </p:nvSpPr>
        <p:spPr>
          <a:xfrm>
            <a:off x="109054" y="1475492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800" b="1" dirty="0">
                <a:solidFill>
                  <a:schemeClr val="bg1">
                    <a:lumMod val="40000"/>
                    <a:lumOff val="60000"/>
                  </a:schemeClr>
                </a:solidFill>
              </a:rPr>
              <a:t>TEOREM</a:t>
            </a:r>
            <a:endParaRPr lang="tr-TR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302878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9 Dikdörtgen"/>
          <p:cNvSpPr/>
          <p:nvPr/>
        </p:nvSpPr>
        <p:spPr bwMode="auto">
          <a:xfrm>
            <a:off x="1285852" y="1214422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4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grpSp>
        <p:nvGrpSpPr>
          <p:cNvPr id="10" name="Group 25"/>
          <p:cNvGrpSpPr>
            <a:grpSpLocks/>
          </p:cNvGrpSpPr>
          <p:nvPr/>
        </p:nvGrpSpPr>
        <p:grpSpPr bwMode="auto">
          <a:xfrm>
            <a:off x="1895685" y="1734715"/>
            <a:ext cx="2520950" cy="2305050"/>
            <a:chOff x="232" y="4468"/>
            <a:chExt cx="1429" cy="1134"/>
          </a:xfrm>
        </p:grpSpPr>
        <p:sp>
          <p:nvSpPr>
            <p:cNvPr id="11" name="Line 26"/>
            <p:cNvSpPr>
              <a:spLocks noChangeShapeType="1"/>
            </p:cNvSpPr>
            <p:nvPr/>
          </p:nvSpPr>
          <p:spPr bwMode="auto">
            <a:xfrm>
              <a:off x="346" y="5057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2" name="Line 27"/>
            <p:cNvSpPr>
              <a:spLocks noChangeShapeType="1"/>
            </p:cNvSpPr>
            <p:nvPr/>
          </p:nvSpPr>
          <p:spPr bwMode="auto">
            <a:xfrm>
              <a:off x="346" y="4468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Line 28"/>
            <p:cNvSpPr>
              <a:spLocks noChangeShapeType="1"/>
            </p:cNvSpPr>
            <p:nvPr/>
          </p:nvSpPr>
          <p:spPr bwMode="auto">
            <a:xfrm flipH="1">
              <a:off x="1298" y="4876"/>
              <a:ext cx="0" cy="18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Line 29"/>
            <p:cNvSpPr>
              <a:spLocks noChangeShapeType="1"/>
            </p:cNvSpPr>
            <p:nvPr/>
          </p:nvSpPr>
          <p:spPr bwMode="auto">
            <a:xfrm flipH="1">
              <a:off x="549" y="4762"/>
              <a:ext cx="1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Line 30"/>
            <p:cNvSpPr>
              <a:spLocks noChangeShapeType="1"/>
            </p:cNvSpPr>
            <p:nvPr/>
          </p:nvSpPr>
          <p:spPr bwMode="auto">
            <a:xfrm flipH="1">
              <a:off x="346" y="4762"/>
              <a:ext cx="20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Text Box 31"/>
            <p:cNvSpPr txBox="1">
              <a:spLocks noChangeArrowheads="1"/>
            </p:cNvSpPr>
            <p:nvPr/>
          </p:nvSpPr>
          <p:spPr bwMode="auto">
            <a:xfrm>
              <a:off x="504" y="5057"/>
              <a:ext cx="113" cy="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a</a:t>
              </a:r>
            </a:p>
          </p:txBody>
        </p:sp>
        <p:sp>
          <p:nvSpPr>
            <p:cNvPr id="17" name="Line 32"/>
            <p:cNvSpPr>
              <a:spLocks noChangeShapeType="1"/>
            </p:cNvSpPr>
            <p:nvPr/>
          </p:nvSpPr>
          <p:spPr bwMode="auto">
            <a:xfrm>
              <a:off x="549" y="5047"/>
              <a:ext cx="0" cy="2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Line 33"/>
            <p:cNvSpPr>
              <a:spLocks noChangeShapeType="1"/>
            </p:cNvSpPr>
            <p:nvPr/>
          </p:nvSpPr>
          <p:spPr bwMode="auto">
            <a:xfrm>
              <a:off x="1298" y="5045"/>
              <a:ext cx="0" cy="2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Text Box 34"/>
            <p:cNvSpPr txBox="1">
              <a:spLocks noChangeArrowheads="1"/>
            </p:cNvSpPr>
            <p:nvPr/>
          </p:nvSpPr>
          <p:spPr bwMode="auto">
            <a:xfrm>
              <a:off x="1251" y="5080"/>
              <a:ext cx="113" cy="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b</a:t>
              </a:r>
            </a:p>
          </p:txBody>
        </p:sp>
        <p:sp>
          <p:nvSpPr>
            <p:cNvPr id="20" name="Line 35"/>
            <p:cNvSpPr>
              <a:spLocks noChangeShapeType="1"/>
            </p:cNvSpPr>
            <p:nvPr/>
          </p:nvSpPr>
          <p:spPr bwMode="auto">
            <a:xfrm flipH="1">
              <a:off x="346" y="4884"/>
              <a:ext cx="95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Text Box 36"/>
            <p:cNvSpPr txBox="1">
              <a:spLocks noChangeArrowheads="1"/>
            </p:cNvSpPr>
            <p:nvPr/>
          </p:nvSpPr>
          <p:spPr bwMode="auto">
            <a:xfrm>
              <a:off x="255" y="4990"/>
              <a:ext cx="113" cy="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0</a:t>
              </a:r>
            </a:p>
          </p:txBody>
        </p:sp>
        <p:sp>
          <p:nvSpPr>
            <p:cNvPr id="22" name="Text Box 37"/>
            <p:cNvSpPr txBox="1">
              <a:spLocks noChangeArrowheads="1"/>
            </p:cNvSpPr>
            <p:nvPr/>
          </p:nvSpPr>
          <p:spPr bwMode="auto">
            <a:xfrm>
              <a:off x="232" y="4468"/>
              <a:ext cx="91" cy="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</a:t>
              </a:r>
            </a:p>
          </p:txBody>
        </p:sp>
        <p:sp>
          <p:nvSpPr>
            <p:cNvPr id="23" name="Text Box 38"/>
            <p:cNvSpPr txBox="1">
              <a:spLocks noChangeArrowheads="1"/>
            </p:cNvSpPr>
            <p:nvPr/>
          </p:nvSpPr>
          <p:spPr bwMode="auto">
            <a:xfrm>
              <a:off x="1570" y="5058"/>
              <a:ext cx="91" cy="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x</a:t>
              </a:r>
            </a:p>
          </p:txBody>
        </p:sp>
        <p:sp>
          <p:nvSpPr>
            <p:cNvPr id="24" name="Freeform 39"/>
            <p:cNvSpPr>
              <a:spLocks/>
            </p:cNvSpPr>
            <p:nvPr/>
          </p:nvSpPr>
          <p:spPr bwMode="auto">
            <a:xfrm>
              <a:off x="482" y="4663"/>
              <a:ext cx="952" cy="326"/>
            </a:xfrm>
            <a:custGeom>
              <a:avLst/>
              <a:gdLst>
                <a:gd name="T0" fmla="*/ 0 w 952"/>
                <a:gd name="T1" fmla="*/ 0 h 326"/>
                <a:gd name="T2" fmla="*/ 136 w 952"/>
                <a:gd name="T3" fmla="*/ 159 h 326"/>
                <a:gd name="T4" fmla="*/ 317 w 952"/>
                <a:gd name="T5" fmla="*/ 318 h 326"/>
                <a:gd name="T6" fmla="*/ 521 w 952"/>
                <a:gd name="T7" fmla="*/ 113 h 326"/>
                <a:gd name="T8" fmla="*/ 725 w 952"/>
                <a:gd name="T9" fmla="*/ 272 h 326"/>
                <a:gd name="T10" fmla="*/ 952 w 952"/>
                <a:gd name="T11" fmla="*/ 23 h 3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</a:cxnLst>
              <a:rect l="0" t="0" r="r" b="b"/>
              <a:pathLst>
                <a:path w="952" h="326">
                  <a:moveTo>
                    <a:pt x="0" y="0"/>
                  </a:moveTo>
                  <a:cubicBezTo>
                    <a:pt x="41" y="53"/>
                    <a:pt x="83" y="106"/>
                    <a:pt x="136" y="159"/>
                  </a:cubicBezTo>
                  <a:cubicBezTo>
                    <a:pt x="189" y="212"/>
                    <a:pt x="253" y="326"/>
                    <a:pt x="317" y="318"/>
                  </a:cubicBezTo>
                  <a:cubicBezTo>
                    <a:pt x="381" y="310"/>
                    <a:pt x="453" y="121"/>
                    <a:pt x="521" y="113"/>
                  </a:cubicBezTo>
                  <a:cubicBezTo>
                    <a:pt x="589" y="105"/>
                    <a:pt x="653" y="287"/>
                    <a:pt x="725" y="272"/>
                  </a:cubicBezTo>
                  <a:cubicBezTo>
                    <a:pt x="797" y="257"/>
                    <a:pt x="914" y="68"/>
                    <a:pt x="952" y="23"/>
                  </a:cubicBez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Text Box 40"/>
            <p:cNvSpPr txBox="1">
              <a:spLocks noChangeArrowheads="1"/>
            </p:cNvSpPr>
            <p:nvPr/>
          </p:nvSpPr>
          <p:spPr bwMode="auto">
            <a:xfrm>
              <a:off x="1207" y="4558"/>
              <a:ext cx="340" cy="9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y=f(x)</a:t>
              </a:r>
            </a:p>
          </p:txBody>
        </p:sp>
      </p:grpSp>
      <p:grpSp>
        <p:nvGrpSpPr>
          <p:cNvPr id="26" name="Group 41"/>
          <p:cNvGrpSpPr>
            <a:grpSpLocks/>
          </p:cNvGrpSpPr>
          <p:nvPr/>
        </p:nvGrpSpPr>
        <p:grpSpPr bwMode="auto">
          <a:xfrm>
            <a:off x="6197600" y="1987127"/>
            <a:ext cx="2268537" cy="1800225"/>
            <a:chOff x="2409" y="3651"/>
            <a:chExt cx="1429" cy="1134"/>
          </a:xfrm>
        </p:grpSpPr>
        <p:grpSp>
          <p:nvGrpSpPr>
            <p:cNvPr id="27" name="Group 42"/>
            <p:cNvGrpSpPr>
              <a:grpSpLocks/>
            </p:cNvGrpSpPr>
            <p:nvPr/>
          </p:nvGrpSpPr>
          <p:grpSpPr bwMode="auto">
            <a:xfrm>
              <a:off x="2409" y="3651"/>
              <a:ext cx="1429" cy="1134"/>
              <a:chOff x="1752" y="3855"/>
              <a:chExt cx="1429" cy="1134"/>
            </a:xfrm>
          </p:grpSpPr>
          <p:sp>
            <p:nvSpPr>
              <p:cNvPr id="29" name="Freeform 43"/>
              <p:cNvSpPr>
                <a:spLocks/>
              </p:cNvSpPr>
              <p:nvPr/>
            </p:nvSpPr>
            <p:spPr bwMode="auto">
              <a:xfrm>
                <a:off x="2024" y="4105"/>
                <a:ext cx="884" cy="567"/>
              </a:xfrm>
              <a:custGeom>
                <a:avLst/>
                <a:gdLst>
                  <a:gd name="T0" fmla="*/ 0 w 884"/>
                  <a:gd name="T1" fmla="*/ 0 h 567"/>
                  <a:gd name="T2" fmla="*/ 204 w 884"/>
                  <a:gd name="T3" fmla="*/ 431 h 567"/>
                  <a:gd name="T4" fmla="*/ 431 w 884"/>
                  <a:gd name="T5" fmla="*/ 249 h 567"/>
                  <a:gd name="T6" fmla="*/ 884 w 884"/>
                  <a:gd name="T7" fmla="*/ 567 h 56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</a:cxnLst>
                <a:rect l="0" t="0" r="r" b="b"/>
                <a:pathLst>
                  <a:path w="884" h="567">
                    <a:moveTo>
                      <a:pt x="0" y="0"/>
                    </a:moveTo>
                    <a:cubicBezTo>
                      <a:pt x="66" y="194"/>
                      <a:pt x="132" y="389"/>
                      <a:pt x="204" y="431"/>
                    </a:cubicBezTo>
                    <a:cubicBezTo>
                      <a:pt x="276" y="473"/>
                      <a:pt x="318" y="226"/>
                      <a:pt x="431" y="249"/>
                    </a:cubicBezTo>
                    <a:cubicBezTo>
                      <a:pt x="544" y="272"/>
                      <a:pt x="714" y="419"/>
                      <a:pt x="884" y="567"/>
                    </a:cubicBezTo>
                  </a:path>
                </a:pathLst>
              </a:custGeom>
              <a:noFill/>
              <a:ln w="31750">
                <a:solidFill>
                  <a:srgbClr val="FF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0" name="Line 44"/>
              <p:cNvSpPr>
                <a:spLocks noChangeShapeType="1"/>
              </p:cNvSpPr>
              <p:nvPr/>
            </p:nvSpPr>
            <p:spPr bwMode="auto">
              <a:xfrm>
                <a:off x="1866" y="4444"/>
                <a:ext cx="131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1" name="Line 45"/>
              <p:cNvSpPr>
                <a:spLocks noChangeShapeType="1"/>
              </p:cNvSpPr>
              <p:nvPr/>
            </p:nvSpPr>
            <p:spPr bwMode="auto">
              <a:xfrm>
                <a:off x="1866" y="3855"/>
                <a:ext cx="0" cy="1134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2" name="Line 46"/>
              <p:cNvSpPr>
                <a:spLocks noChangeShapeType="1"/>
              </p:cNvSpPr>
              <p:nvPr/>
            </p:nvSpPr>
            <p:spPr bwMode="auto">
              <a:xfrm flipH="1">
                <a:off x="2840" y="4445"/>
                <a:ext cx="1" cy="159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3" name="Line 47"/>
              <p:cNvSpPr>
                <a:spLocks noChangeShapeType="1"/>
              </p:cNvSpPr>
              <p:nvPr/>
            </p:nvSpPr>
            <p:spPr bwMode="auto">
              <a:xfrm>
                <a:off x="2069" y="4286"/>
                <a:ext cx="0" cy="14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4" name="Line 48"/>
              <p:cNvSpPr>
                <a:spLocks noChangeShapeType="1"/>
              </p:cNvSpPr>
              <p:nvPr/>
            </p:nvSpPr>
            <p:spPr bwMode="auto">
              <a:xfrm flipH="1">
                <a:off x="1874" y="4263"/>
                <a:ext cx="20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5" name="Text Box 49"/>
              <p:cNvSpPr txBox="1">
                <a:spLocks noChangeArrowheads="1"/>
              </p:cNvSpPr>
              <p:nvPr/>
            </p:nvSpPr>
            <p:spPr bwMode="auto">
              <a:xfrm>
                <a:off x="2024" y="4444"/>
                <a:ext cx="113" cy="1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0" rIns="1800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tr-TR" sz="1200" b="1" baseline="0"/>
                  <a:t>a</a:t>
                </a:r>
              </a:p>
            </p:txBody>
          </p:sp>
          <p:sp>
            <p:nvSpPr>
              <p:cNvPr id="36" name="Line 50"/>
              <p:cNvSpPr>
                <a:spLocks noChangeShapeType="1"/>
              </p:cNvSpPr>
              <p:nvPr/>
            </p:nvSpPr>
            <p:spPr bwMode="auto">
              <a:xfrm>
                <a:off x="2069" y="4434"/>
                <a:ext cx="0" cy="22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7" name="Line 51"/>
              <p:cNvSpPr>
                <a:spLocks noChangeShapeType="1"/>
              </p:cNvSpPr>
              <p:nvPr/>
            </p:nvSpPr>
            <p:spPr bwMode="auto">
              <a:xfrm>
                <a:off x="2841" y="4432"/>
                <a:ext cx="0" cy="22"/>
              </a:xfrm>
              <a:prstGeom prst="line">
                <a:avLst/>
              </a:prstGeom>
              <a:noFill/>
              <a:ln w="508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38" name="Text Box 52"/>
              <p:cNvSpPr txBox="1">
                <a:spLocks noChangeArrowheads="1"/>
              </p:cNvSpPr>
              <p:nvPr/>
            </p:nvSpPr>
            <p:spPr bwMode="auto">
              <a:xfrm>
                <a:off x="2818" y="4308"/>
                <a:ext cx="113" cy="1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0" rIns="1800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tr-TR" sz="1200" b="1" baseline="0"/>
                  <a:t>b</a:t>
                </a:r>
              </a:p>
            </p:txBody>
          </p:sp>
          <p:sp>
            <p:nvSpPr>
              <p:cNvPr id="39" name="Line 53"/>
              <p:cNvSpPr>
                <a:spLocks noChangeShapeType="1"/>
              </p:cNvSpPr>
              <p:nvPr/>
            </p:nvSpPr>
            <p:spPr bwMode="auto">
              <a:xfrm flipH="1">
                <a:off x="1865" y="4604"/>
                <a:ext cx="953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0" name="Text Box 54"/>
              <p:cNvSpPr txBox="1">
                <a:spLocks noChangeArrowheads="1"/>
              </p:cNvSpPr>
              <p:nvPr/>
            </p:nvSpPr>
            <p:spPr bwMode="auto">
              <a:xfrm>
                <a:off x="1775" y="4377"/>
                <a:ext cx="113" cy="1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0" rIns="1800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tr-TR" sz="1200" b="1" baseline="0"/>
                  <a:t>0</a:t>
                </a:r>
              </a:p>
            </p:txBody>
          </p:sp>
          <p:sp>
            <p:nvSpPr>
              <p:cNvPr id="41" name="Text Box 55"/>
              <p:cNvSpPr txBox="1">
                <a:spLocks noChangeArrowheads="1"/>
              </p:cNvSpPr>
              <p:nvPr/>
            </p:nvSpPr>
            <p:spPr bwMode="auto">
              <a:xfrm>
                <a:off x="1752" y="3855"/>
                <a:ext cx="91" cy="1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0" rIns="1800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tr-TR" sz="1200" b="1" baseline="0"/>
                  <a:t>y</a:t>
                </a:r>
              </a:p>
            </p:txBody>
          </p:sp>
          <p:sp>
            <p:nvSpPr>
              <p:cNvPr id="42" name="Text Box 56"/>
              <p:cNvSpPr txBox="1">
                <a:spLocks noChangeArrowheads="1"/>
              </p:cNvSpPr>
              <p:nvPr/>
            </p:nvSpPr>
            <p:spPr bwMode="auto">
              <a:xfrm>
                <a:off x="3090" y="4445"/>
                <a:ext cx="91" cy="11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lIns="18000" tIns="0" rIns="18000" bIns="0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tr-TR" sz="1200" b="1" baseline="0"/>
                  <a:t>x</a:t>
                </a:r>
              </a:p>
            </p:txBody>
          </p:sp>
          <p:sp>
            <p:nvSpPr>
              <p:cNvPr id="43" name="Line 57"/>
              <p:cNvSpPr>
                <a:spLocks noChangeShapeType="1"/>
              </p:cNvSpPr>
              <p:nvPr/>
            </p:nvSpPr>
            <p:spPr bwMode="auto">
              <a:xfrm>
                <a:off x="2144" y="4422"/>
                <a:ext cx="0" cy="22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4" name="Line 58"/>
              <p:cNvSpPr>
                <a:spLocks noChangeShapeType="1"/>
              </p:cNvSpPr>
              <p:nvPr/>
            </p:nvSpPr>
            <p:spPr bwMode="auto">
              <a:xfrm flipH="1">
                <a:off x="2341" y="4422"/>
                <a:ext cx="8" cy="22"/>
              </a:xfrm>
              <a:prstGeom prst="line">
                <a:avLst/>
              </a:prstGeom>
              <a:noFill/>
              <a:ln w="635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  <p:sp>
            <p:nvSpPr>
              <p:cNvPr id="45" name="Line 59"/>
              <p:cNvSpPr>
                <a:spLocks noChangeShapeType="1"/>
              </p:cNvSpPr>
              <p:nvPr/>
            </p:nvSpPr>
            <p:spPr bwMode="auto">
              <a:xfrm>
                <a:off x="2614" y="4422"/>
                <a:ext cx="0" cy="22"/>
              </a:xfrm>
              <a:prstGeom prst="line">
                <a:avLst/>
              </a:prstGeom>
              <a:noFill/>
              <a:ln w="50800">
                <a:solidFill>
                  <a:srgbClr val="0000FF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endParaRPr lang="tr-TR"/>
              </a:p>
            </p:txBody>
          </p:sp>
        </p:grpSp>
        <p:sp>
          <p:nvSpPr>
            <p:cNvPr id="28" name="Text Box 60"/>
            <p:cNvSpPr txBox="1">
              <a:spLocks noChangeArrowheads="1"/>
            </p:cNvSpPr>
            <p:nvPr/>
          </p:nvSpPr>
          <p:spPr bwMode="auto">
            <a:xfrm>
              <a:off x="2727" y="3878"/>
              <a:ext cx="340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y=f(x)</a:t>
              </a:r>
            </a:p>
          </p:txBody>
        </p:sp>
      </p:grpSp>
      <p:sp>
        <p:nvSpPr>
          <p:cNvPr id="46" name="Rectangle 61"/>
          <p:cNvSpPr>
            <a:spLocks noChangeArrowheads="1"/>
          </p:cNvSpPr>
          <p:nvPr/>
        </p:nvSpPr>
        <p:spPr bwMode="auto">
          <a:xfrm>
            <a:off x="6103937" y="4257253"/>
            <a:ext cx="2454275" cy="2124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tr-TR" sz="2200" baseline="0" dirty="0" smtClean="0"/>
              <a:t>a</a:t>
            </a:r>
            <a:r>
              <a:rPr lang="tr-TR" sz="2200" baseline="0" dirty="0"/>
              <a:t>, b arasında üç kök vardır</a:t>
            </a:r>
          </a:p>
        </p:txBody>
      </p:sp>
      <p:sp>
        <p:nvSpPr>
          <p:cNvPr id="47" name="Rectangle 62"/>
          <p:cNvSpPr>
            <a:spLocks noChangeArrowheads="1"/>
          </p:cNvSpPr>
          <p:nvPr/>
        </p:nvSpPr>
        <p:spPr bwMode="auto">
          <a:xfrm>
            <a:off x="1835150" y="4292178"/>
            <a:ext cx="3024882" cy="208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tr-TR" sz="2200" baseline="0" dirty="0" smtClean="0"/>
              <a:t>f(x</a:t>
            </a:r>
            <a:r>
              <a:rPr lang="tr-TR" sz="2200" baseline="0" dirty="0"/>
              <a:t>) </a:t>
            </a:r>
            <a:r>
              <a:rPr lang="tr-TR" sz="2200" baseline="0" dirty="0" smtClean="0"/>
              <a:t>f.nu hiç </a:t>
            </a:r>
            <a:r>
              <a:rPr lang="tr-TR" sz="2200" baseline="0" dirty="0"/>
              <a:t>x eksenini kesmediğinden kök yoktur</a:t>
            </a:r>
          </a:p>
        </p:txBody>
      </p:sp>
    </p:spTree>
    <p:extLst>
      <p:ext uri="{BB962C8B-B14F-4D97-AF65-F5344CB8AC3E}">
        <p14:creationId xmlns:p14="http://schemas.microsoft.com/office/powerpoint/2010/main" val="2636302878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9 Dikdörtgen"/>
          <p:cNvSpPr/>
          <p:nvPr/>
        </p:nvSpPr>
        <p:spPr bwMode="auto">
          <a:xfrm>
            <a:off x="1285852" y="1214422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5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17"/>
          <p:cNvSpPr>
            <a:spLocks noChangeArrowheads="1"/>
          </p:cNvSpPr>
          <p:nvPr/>
        </p:nvSpPr>
        <p:spPr bwMode="auto">
          <a:xfrm>
            <a:off x="1475656" y="1268760"/>
            <a:ext cx="7668344" cy="1403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30000"/>
              </a:spcBef>
            </a:pPr>
            <a:r>
              <a:rPr lang="tr-TR" sz="2200" b="1" baseline="0" dirty="0" smtClean="0"/>
              <a:t> </a:t>
            </a:r>
            <a:endParaRPr lang="tr-TR" sz="2200" b="1" baseline="0" dirty="0"/>
          </a:p>
          <a:p>
            <a:pPr marL="342900" indent="-342900">
              <a:spcBef>
                <a:spcPct val="30000"/>
              </a:spcBef>
            </a:pPr>
            <a:r>
              <a:rPr lang="tr-TR" sz="2200" baseline="0" dirty="0"/>
              <a:t>Eğer f(x),  x=a ve x=b aralığında sürekli ve aynı zamanda </a:t>
            </a:r>
            <a:r>
              <a:rPr lang="tr-TR" sz="2200" baseline="0" dirty="0" smtClean="0"/>
              <a:t>x değeri </a:t>
            </a:r>
            <a:r>
              <a:rPr lang="tr-TR" sz="2200" baseline="0" dirty="0"/>
              <a:t>arttığında </a:t>
            </a:r>
            <a:r>
              <a:rPr lang="tr-TR" sz="2200" baseline="0" dirty="0" err="1" smtClean="0"/>
              <a:t>f.da</a:t>
            </a:r>
            <a:r>
              <a:rPr lang="tr-TR" sz="2200" baseline="0" dirty="0" smtClean="0"/>
              <a:t> </a:t>
            </a:r>
            <a:r>
              <a:rPr lang="tr-TR" sz="2200" baseline="0" dirty="0"/>
              <a:t>artıyorsa </a:t>
            </a:r>
            <a:r>
              <a:rPr lang="tr-TR" sz="2200" baseline="0" dirty="0" smtClean="0"/>
              <a:t>veya </a:t>
            </a:r>
            <a:r>
              <a:rPr lang="tr-TR" sz="2200" baseline="0" dirty="0"/>
              <a:t>x </a:t>
            </a:r>
            <a:r>
              <a:rPr lang="tr-TR" sz="2200" baseline="0" dirty="0" smtClean="0"/>
              <a:t>değeri azaldığında </a:t>
            </a:r>
            <a:r>
              <a:rPr lang="tr-TR" sz="2200" baseline="0" dirty="0" err="1" smtClean="0"/>
              <a:t>f.da</a:t>
            </a:r>
            <a:r>
              <a:rPr lang="tr-TR" sz="2200" baseline="0" dirty="0" smtClean="0"/>
              <a:t> azalıyorsa </a:t>
            </a:r>
            <a:r>
              <a:rPr lang="tr-TR" sz="2200" baseline="0" dirty="0"/>
              <a:t>f(x)=0 değerini sağlayan bir kök vardır.</a:t>
            </a:r>
            <a:r>
              <a:rPr lang="tr-TR" sz="1200" baseline="0" dirty="0"/>
              <a:t>  </a:t>
            </a:r>
          </a:p>
        </p:txBody>
      </p:sp>
      <p:grpSp>
        <p:nvGrpSpPr>
          <p:cNvPr id="11" name="Group 18"/>
          <p:cNvGrpSpPr>
            <a:grpSpLocks/>
          </p:cNvGrpSpPr>
          <p:nvPr/>
        </p:nvGrpSpPr>
        <p:grpSpPr bwMode="auto">
          <a:xfrm>
            <a:off x="1654870" y="3049647"/>
            <a:ext cx="3061146" cy="2107545"/>
            <a:chOff x="504" y="1859"/>
            <a:chExt cx="1634" cy="1134"/>
          </a:xfrm>
        </p:grpSpPr>
        <p:sp>
          <p:nvSpPr>
            <p:cNvPr id="12" name="Freeform 19"/>
            <p:cNvSpPr>
              <a:spLocks/>
            </p:cNvSpPr>
            <p:nvPr/>
          </p:nvSpPr>
          <p:spPr bwMode="auto">
            <a:xfrm>
              <a:off x="822" y="1950"/>
              <a:ext cx="1157" cy="703"/>
            </a:xfrm>
            <a:custGeom>
              <a:avLst/>
              <a:gdLst>
                <a:gd name="T0" fmla="*/ 0 w 1134"/>
                <a:gd name="T1" fmla="*/ 749 h 749"/>
                <a:gd name="T2" fmla="*/ 226 w 1134"/>
                <a:gd name="T3" fmla="*/ 386 h 749"/>
                <a:gd name="T4" fmla="*/ 884 w 1134"/>
                <a:gd name="T5" fmla="*/ 204 h 749"/>
                <a:gd name="T6" fmla="*/ 1134 w 1134"/>
                <a:gd name="T7" fmla="*/ 0 h 74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1134" h="749">
                  <a:moveTo>
                    <a:pt x="0" y="749"/>
                  </a:moveTo>
                  <a:cubicBezTo>
                    <a:pt x="39" y="613"/>
                    <a:pt x="79" y="477"/>
                    <a:pt x="226" y="386"/>
                  </a:cubicBezTo>
                  <a:cubicBezTo>
                    <a:pt x="373" y="295"/>
                    <a:pt x="733" y="268"/>
                    <a:pt x="884" y="204"/>
                  </a:cubicBezTo>
                  <a:cubicBezTo>
                    <a:pt x="1035" y="140"/>
                    <a:pt x="1089" y="38"/>
                    <a:pt x="1134" y="0"/>
                  </a:cubicBez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Line 20"/>
            <p:cNvSpPr>
              <a:spLocks noChangeShapeType="1"/>
            </p:cNvSpPr>
            <p:nvPr/>
          </p:nvSpPr>
          <p:spPr bwMode="auto">
            <a:xfrm flipV="1">
              <a:off x="504" y="2449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Line 21"/>
            <p:cNvSpPr>
              <a:spLocks noChangeShapeType="1"/>
            </p:cNvSpPr>
            <p:nvPr/>
          </p:nvSpPr>
          <p:spPr bwMode="auto">
            <a:xfrm>
              <a:off x="1162" y="1859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Line 22"/>
            <p:cNvSpPr>
              <a:spLocks noChangeShapeType="1"/>
            </p:cNvSpPr>
            <p:nvPr/>
          </p:nvSpPr>
          <p:spPr bwMode="auto">
            <a:xfrm>
              <a:off x="906" y="2442"/>
              <a:ext cx="0" cy="22"/>
            </a:xfrm>
            <a:prstGeom prst="line">
              <a:avLst/>
            </a:prstGeom>
            <a:noFill/>
            <a:ln w="66675">
              <a:solidFill>
                <a:schemeClr val="accent2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Line 23"/>
            <p:cNvSpPr>
              <a:spLocks noChangeShapeType="1"/>
            </p:cNvSpPr>
            <p:nvPr/>
          </p:nvSpPr>
          <p:spPr bwMode="auto">
            <a:xfrm flipH="1">
              <a:off x="1162" y="2177"/>
              <a:ext cx="47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Text Box 24"/>
            <p:cNvSpPr txBox="1">
              <a:spLocks noChangeArrowheads="1"/>
            </p:cNvSpPr>
            <p:nvPr/>
          </p:nvSpPr>
          <p:spPr bwMode="auto">
            <a:xfrm>
              <a:off x="1048" y="1859"/>
              <a:ext cx="91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</a:t>
              </a:r>
            </a:p>
          </p:txBody>
        </p:sp>
        <p:sp>
          <p:nvSpPr>
            <p:cNvPr id="18" name="Text Box 25"/>
            <p:cNvSpPr txBox="1">
              <a:spLocks noChangeArrowheads="1"/>
            </p:cNvSpPr>
            <p:nvPr/>
          </p:nvSpPr>
          <p:spPr bwMode="auto">
            <a:xfrm>
              <a:off x="2047" y="2472"/>
              <a:ext cx="91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x</a:t>
              </a:r>
            </a:p>
          </p:txBody>
        </p:sp>
        <p:sp>
          <p:nvSpPr>
            <p:cNvPr id="19" name="Text Box 26"/>
            <p:cNvSpPr txBox="1">
              <a:spLocks noChangeArrowheads="1"/>
            </p:cNvSpPr>
            <p:nvPr/>
          </p:nvSpPr>
          <p:spPr bwMode="auto">
            <a:xfrm>
              <a:off x="1593" y="1882"/>
              <a:ext cx="340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y=f(x)</a:t>
              </a:r>
            </a:p>
          </p:txBody>
        </p:sp>
        <p:sp>
          <p:nvSpPr>
            <p:cNvPr id="20" name="Line 27"/>
            <p:cNvSpPr>
              <a:spLocks noChangeShapeType="1"/>
            </p:cNvSpPr>
            <p:nvPr/>
          </p:nvSpPr>
          <p:spPr bwMode="auto">
            <a:xfrm flipH="1">
              <a:off x="822" y="2449"/>
              <a:ext cx="1" cy="1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Line 28"/>
            <p:cNvSpPr>
              <a:spLocks noChangeShapeType="1"/>
            </p:cNvSpPr>
            <p:nvPr/>
          </p:nvSpPr>
          <p:spPr bwMode="auto">
            <a:xfrm flipH="1">
              <a:off x="822" y="2653"/>
              <a:ext cx="3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Text Box 29"/>
            <p:cNvSpPr txBox="1">
              <a:spLocks noChangeArrowheads="1"/>
            </p:cNvSpPr>
            <p:nvPr/>
          </p:nvSpPr>
          <p:spPr bwMode="auto">
            <a:xfrm>
              <a:off x="709" y="2449"/>
              <a:ext cx="136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a</a:t>
              </a:r>
              <a:r>
                <a:rPr lang="tr-TR" sz="1200" baseline="30000"/>
                <a:t>ı</a:t>
              </a:r>
            </a:p>
          </p:txBody>
        </p:sp>
        <p:sp>
          <p:nvSpPr>
            <p:cNvPr id="23" name="Line 30"/>
            <p:cNvSpPr>
              <a:spLocks noChangeShapeType="1"/>
            </p:cNvSpPr>
            <p:nvPr/>
          </p:nvSpPr>
          <p:spPr bwMode="auto">
            <a:xfrm flipH="1">
              <a:off x="1026" y="2336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Line 31"/>
            <p:cNvSpPr>
              <a:spLocks noChangeShapeType="1"/>
            </p:cNvSpPr>
            <p:nvPr/>
          </p:nvSpPr>
          <p:spPr bwMode="auto">
            <a:xfrm flipH="1">
              <a:off x="1026" y="233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Line 32"/>
            <p:cNvSpPr>
              <a:spLocks noChangeShapeType="1"/>
            </p:cNvSpPr>
            <p:nvPr/>
          </p:nvSpPr>
          <p:spPr bwMode="auto">
            <a:xfrm flipH="1">
              <a:off x="1638" y="2177"/>
              <a:ext cx="1" cy="28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Text Box 33"/>
            <p:cNvSpPr txBox="1">
              <a:spLocks noChangeArrowheads="1"/>
            </p:cNvSpPr>
            <p:nvPr/>
          </p:nvSpPr>
          <p:spPr bwMode="auto">
            <a:xfrm>
              <a:off x="986" y="2444"/>
              <a:ext cx="136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a</a:t>
              </a:r>
              <a:endParaRPr lang="tr-TR" sz="1200" baseline="30000"/>
            </a:p>
          </p:txBody>
        </p:sp>
        <p:sp>
          <p:nvSpPr>
            <p:cNvPr id="27" name="Text Box 34"/>
            <p:cNvSpPr txBox="1">
              <a:spLocks noChangeArrowheads="1"/>
            </p:cNvSpPr>
            <p:nvPr/>
          </p:nvSpPr>
          <p:spPr bwMode="auto">
            <a:xfrm>
              <a:off x="1570" y="2472"/>
              <a:ext cx="136" cy="11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b</a:t>
              </a:r>
              <a:endParaRPr lang="tr-TR" sz="1200" baseline="30000"/>
            </a:p>
          </p:txBody>
        </p:sp>
        <p:sp>
          <p:nvSpPr>
            <p:cNvPr id="28" name="Line 35"/>
            <p:cNvSpPr>
              <a:spLocks noChangeShapeType="1"/>
            </p:cNvSpPr>
            <p:nvPr/>
          </p:nvSpPr>
          <p:spPr bwMode="auto">
            <a:xfrm>
              <a:off x="824" y="2442"/>
              <a:ext cx="0" cy="22"/>
            </a:xfrm>
            <a:prstGeom prst="line">
              <a:avLst/>
            </a:prstGeom>
            <a:noFill/>
            <a:ln w="666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Line 36"/>
            <p:cNvSpPr>
              <a:spLocks noChangeShapeType="1"/>
            </p:cNvSpPr>
            <p:nvPr/>
          </p:nvSpPr>
          <p:spPr bwMode="auto">
            <a:xfrm>
              <a:off x="1644" y="2440"/>
              <a:ext cx="0" cy="22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0" name="Line 37"/>
            <p:cNvSpPr>
              <a:spLocks noChangeShapeType="1"/>
            </p:cNvSpPr>
            <p:nvPr/>
          </p:nvSpPr>
          <p:spPr bwMode="auto">
            <a:xfrm>
              <a:off x="1031" y="2433"/>
              <a:ext cx="0" cy="22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</p:grpSp>
      <p:grpSp>
        <p:nvGrpSpPr>
          <p:cNvPr id="31" name="Group 38"/>
          <p:cNvGrpSpPr>
            <a:grpSpLocks/>
          </p:cNvGrpSpPr>
          <p:nvPr/>
        </p:nvGrpSpPr>
        <p:grpSpPr bwMode="auto">
          <a:xfrm>
            <a:off x="5364089" y="3251537"/>
            <a:ext cx="3499018" cy="3311978"/>
            <a:chOff x="958" y="2880"/>
            <a:chExt cx="1452" cy="1473"/>
          </a:xfrm>
        </p:grpSpPr>
        <p:sp>
          <p:nvSpPr>
            <p:cNvPr id="32" name="Line 39"/>
            <p:cNvSpPr>
              <a:spLocks noChangeShapeType="1"/>
            </p:cNvSpPr>
            <p:nvPr/>
          </p:nvSpPr>
          <p:spPr bwMode="auto">
            <a:xfrm>
              <a:off x="1095" y="3672"/>
              <a:ext cx="131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3" name="Line 40"/>
            <p:cNvSpPr>
              <a:spLocks noChangeShapeType="1"/>
            </p:cNvSpPr>
            <p:nvPr/>
          </p:nvSpPr>
          <p:spPr bwMode="auto">
            <a:xfrm>
              <a:off x="1095" y="3083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4" name="Line 41"/>
            <p:cNvSpPr>
              <a:spLocks noChangeShapeType="1"/>
            </p:cNvSpPr>
            <p:nvPr/>
          </p:nvSpPr>
          <p:spPr bwMode="auto">
            <a:xfrm>
              <a:off x="1979" y="3266"/>
              <a:ext cx="0" cy="43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Line 42"/>
            <p:cNvSpPr>
              <a:spLocks noChangeShapeType="1"/>
            </p:cNvSpPr>
            <p:nvPr/>
          </p:nvSpPr>
          <p:spPr bwMode="auto">
            <a:xfrm>
              <a:off x="1230" y="3674"/>
              <a:ext cx="0" cy="4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6" name="Line 43"/>
            <p:cNvSpPr>
              <a:spLocks noChangeShapeType="1"/>
            </p:cNvSpPr>
            <p:nvPr/>
          </p:nvSpPr>
          <p:spPr bwMode="auto">
            <a:xfrm flipH="1">
              <a:off x="1094" y="4082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7" name="Line 44"/>
            <p:cNvSpPr>
              <a:spLocks noChangeShapeType="1"/>
            </p:cNvSpPr>
            <p:nvPr/>
          </p:nvSpPr>
          <p:spPr bwMode="auto">
            <a:xfrm flipH="1">
              <a:off x="1616" y="3061"/>
              <a:ext cx="0" cy="115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8" name="Text Box 45"/>
            <p:cNvSpPr txBox="1">
              <a:spLocks noChangeArrowheads="1"/>
            </p:cNvSpPr>
            <p:nvPr/>
          </p:nvSpPr>
          <p:spPr bwMode="auto">
            <a:xfrm>
              <a:off x="1185" y="3515"/>
              <a:ext cx="113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a</a:t>
              </a:r>
            </a:p>
          </p:txBody>
        </p:sp>
        <p:sp>
          <p:nvSpPr>
            <p:cNvPr id="39" name="Line 46"/>
            <p:cNvSpPr>
              <a:spLocks noChangeShapeType="1"/>
            </p:cNvSpPr>
            <p:nvPr/>
          </p:nvSpPr>
          <p:spPr bwMode="auto">
            <a:xfrm>
              <a:off x="1230" y="3651"/>
              <a:ext cx="0" cy="2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0" name="Line 47"/>
            <p:cNvSpPr>
              <a:spLocks noChangeShapeType="1"/>
            </p:cNvSpPr>
            <p:nvPr/>
          </p:nvSpPr>
          <p:spPr bwMode="auto">
            <a:xfrm>
              <a:off x="1979" y="3674"/>
              <a:ext cx="0" cy="22"/>
            </a:xfrm>
            <a:prstGeom prst="line">
              <a:avLst/>
            </a:prstGeom>
            <a:noFill/>
            <a:ln w="508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1" name="Text Box 48"/>
            <p:cNvSpPr txBox="1">
              <a:spLocks noChangeArrowheads="1"/>
            </p:cNvSpPr>
            <p:nvPr/>
          </p:nvSpPr>
          <p:spPr bwMode="auto">
            <a:xfrm>
              <a:off x="2047" y="3742"/>
              <a:ext cx="113" cy="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b</a:t>
              </a:r>
            </a:p>
          </p:txBody>
        </p:sp>
        <p:sp>
          <p:nvSpPr>
            <p:cNvPr id="42" name="Line 49"/>
            <p:cNvSpPr>
              <a:spLocks noChangeShapeType="1"/>
            </p:cNvSpPr>
            <p:nvPr/>
          </p:nvSpPr>
          <p:spPr bwMode="auto">
            <a:xfrm flipH="1">
              <a:off x="1071" y="3266"/>
              <a:ext cx="90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3" name="Text Box 50"/>
            <p:cNvSpPr txBox="1">
              <a:spLocks noChangeArrowheads="1"/>
            </p:cNvSpPr>
            <p:nvPr/>
          </p:nvSpPr>
          <p:spPr bwMode="auto">
            <a:xfrm rot="5400000" flipV="1">
              <a:off x="1550" y="2900"/>
              <a:ext cx="135" cy="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8</a:t>
              </a:r>
            </a:p>
          </p:txBody>
        </p:sp>
        <p:sp>
          <p:nvSpPr>
            <p:cNvPr id="44" name="Text Box 51"/>
            <p:cNvSpPr txBox="1">
              <a:spLocks noChangeArrowheads="1"/>
            </p:cNvSpPr>
            <p:nvPr/>
          </p:nvSpPr>
          <p:spPr bwMode="auto">
            <a:xfrm>
              <a:off x="981" y="3083"/>
              <a:ext cx="91" cy="9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</a:t>
              </a:r>
            </a:p>
          </p:txBody>
        </p:sp>
        <p:sp>
          <p:nvSpPr>
            <p:cNvPr id="45" name="Text Box 52"/>
            <p:cNvSpPr txBox="1">
              <a:spLocks noChangeArrowheads="1"/>
            </p:cNvSpPr>
            <p:nvPr/>
          </p:nvSpPr>
          <p:spPr bwMode="auto">
            <a:xfrm>
              <a:off x="2319" y="3673"/>
              <a:ext cx="91" cy="9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x</a:t>
              </a:r>
            </a:p>
          </p:txBody>
        </p:sp>
        <p:sp>
          <p:nvSpPr>
            <p:cNvPr id="46" name="Freeform 53"/>
            <p:cNvSpPr>
              <a:spLocks/>
            </p:cNvSpPr>
            <p:nvPr/>
          </p:nvSpPr>
          <p:spPr bwMode="auto">
            <a:xfrm>
              <a:off x="1154" y="3084"/>
              <a:ext cx="394" cy="1134"/>
            </a:xfrm>
            <a:custGeom>
              <a:avLst/>
              <a:gdLst>
                <a:gd name="T0" fmla="*/ 394 w 394"/>
                <a:gd name="T1" fmla="*/ 0 h 1134"/>
                <a:gd name="T2" fmla="*/ 326 w 394"/>
                <a:gd name="T3" fmla="*/ 544 h 1134"/>
                <a:gd name="T4" fmla="*/ 53 w 394"/>
                <a:gd name="T5" fmla="*/ 1043 h 1134"/>
                <a:gd name="T6" fmla="*/ 8 w 394"/>
                <a:gd name="T7" fmla="*/ 10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4" h="1134">
                  <a:moveTo>
                    <a:pt x="394" y="0"/>
                  </a:moveTo>
                  <a:cubicBezTo>
                    <a:pt x="388" y="185"/>
                    <a:pt x="383" y="370"/>
                    <a:pt x="326" y="544"/>
                  </a:cubicBezTo>
                  <a:cubicBezTo>
                    <a:pt x="269" y="718"/>
                    <a:pt x="106" y="952"/>
                    <a:pt x="53" y="1043"/>
                  </a:cubicBezTo>
                  <a:cubicBezTo>
                    <a:pt x="0" y="1134"/>
                    <a:pt x="4" y="1111"/>
                    <a:pt x="8" y="1089"/>
                  </a:cubicBez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7" name="Freeform 54"/>
            <p:cNvSpPr>
              <a:spLocks/>
            </p:cNvSpPr>
            <p:nvPr/>
          </p:nvSpPr>
          <p:spPr bwMode="auto">
            <a:xfrm rot="10800000">
              <a:off x="1675" y="3107"/>
              <a:ext cx="394" cy="1134"/>
            </a:xfrm>
            <a:custGeom>
              <a:avLst/>
              <a:gdLst>
                <a:gd name="T0" fmla="*/ 394 w 394"/>
                <a:gd name="T1" fmla="*/ 0 h 1134"/>
                <a:gd name="T2" fmla="*/ 326 w 394"/>
                <a:gd name="T3" fmla="*/ 544 h 1134"/>
                <a:gd name="T4" fmla="*/ 53 w 394"/>
                <a:gd name="T5" fmla="*/ 1043 h 1134"/>
                <a:gd name="T6" fmla="*/ 8 w 394"/>
                <a:gd name="T7" fmla="*/ 1089 h 11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394" h="1134">
                  <a:moveTo>
                    <a:pt x="394" y="0"/>
                  </a:moveTo>
                  <a:cubicBezTo>
                    <a:pt x="388" y="185"/>
                    <a:pt x="383" y="370"/>
                    <a:pt x="326" y="544"/>
                  </a:cubicBezTo>
                  <a:cubicBezTo>
                    <a:pt x="269" y="718"/>
                    <a:pt x="106" y="952"/>
                    <a:pt x="53" y="1043"/>
                  </a:cubicBezTo>
                  <a:cubicBezTo>
                    <a:pt x="0" y="1134"/>
                    <a:pt x="4" y="1111"/>
                    <a:pt x="8" y="1089"/>
                  </a:cubicBez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8" name="Text Box 55"/>
            <p:cNvSpPr txBox="1">
              <a:spLocks noChangeArrowheads="1"/>
            </p:cNvSpPr>
            <p:nvPr/>
          </p:nvSpPr>
          <p:spPr bwMode="auto">
            <a:xfrm>
              <a:off x="958" y="2948"/>
              <a:ext cx="589" cy="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800" b="1" baseline="0"/>
                <a:t>soldan yaklaşınca</a:t>
              </a:r>
            </a:p>
          </p:txBody>
        </p:sp>
        <p:sp>
          <p:nvSpPr>
            <p:cNvPr id="49" name="Text Box 56"/>
            <p:cNvSpPr txBox="1">
              <a:spLocks noChangeArrowheads="1"/>
            </p:cNvSpPr>
            <p:nvPr/>
          </p:nvSpPr>
          <p:spPr bwMode="auto">
            <a:xfrm rot="5400000" flipV="1">
              <a:off x="1550" y="4238"/>
              <a:ext cx="135" cy="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8</a:t>
              </a:r>
            </a:p>
          </p:txBody>
        </p:sp>
        <p:sp>
          <p:nvSpPr>
            <p:cNvPr id="50" name="Text Box 57"/>
            <p:cNvSpPr txBox="1">
              <a:spLocks noChangeArrowheads="1"/>
            </p:cNvSpPr>
            <p:nvPr/>
          </p:nvSpPr>
          <p:spPr bwMode="auto">
            <a:xfrm>
              <a:off x="1684" y="4263"/>
              <a:ext cx="703" cy="6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800" b="1" baseline="0"/>
                <a:t>sağdan yaklaşınca</a:t>
              </a:r>
            </a:p>
          </p:txBody>
        </p:sp>
      </p:grpSp>
      <p:sp>
        <p:nvSpPr>
          <p:cNvPr id="51" name="Rectangle 78"/>
          <p:cNvSpPr>
            <a:spLocks noChangeArrowheads="1"/>
          </p:cNvSpPr>
          <p:nvPr/>
        </p:nvSpPr>
        <p:spPr bwMode="auto">
          <a:xfrm>
            <a:off x="1547664" y="5265400"/>
            <a:ext cx="4032250" cy="11514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20000"/>
              </a:spcBef>
            </a:pPr>
            <a:r>
              <a:rPr lang="tr-TR" sz="2200" baseline="0" dirty="0"/>
              <a:t>x arttığında </a:t>
            </a:r>
            <a:r>
              <a:rPr lang="tr-TR" sz="2200" baseline="0" dirty="0" smtClean="0"/>
              <a:t>fonksiyonda </a:t>
            </a:r>
            <a:r>
              <a:rPr lang="tr-TR" sz="2200" baseline="0" dirty="0"/>
              <a:t>artıyor, fakat sürekli değil. Buna rağmen iki adet kök vardır.   </a:t>
            </a:r>
          </a:p>
        </p:txBody>
      </p:sp>
      <p:sp>
        <p:nvSpPr>
          <p:cNvPr id="2" name="Dikdörtgen 1"/>
          <p:cNvSpPr/>
          <p:nvPr/>
        </p:nvSpPr>
        <p:spPr>
          <a:xfrm>
            <a:off x="39044" y="1297976"/>
            <a:ext cx="121058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sz="1800" b="1" dirty="0">
                <a:solidFill>
                  <a:schemeClr val="bg1">
                    <a:lumMod val="40000"/>
                    <a:lumOff val="60000"/>
                  </a:schemeClr>
                </a:solidFill>
              </a:rPr>
              <a:t>TEOREM</a:t>
            </a:r>
            <a:endParaRPr lang="tr-TR" sz="1800" dirty="0">
              <a:solidFill>
                <a:schemeClr val="bg1">
                  <a:lumMod val="40000"/>
                  <a:lumOff val="6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302878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9 Dikdörtgen"/>
          <p:cNvSpPr/>
          <p:nvPr/>
        </p:nvSpPr>
        <p:spPr bwMode="auto">
          <a:xfrm>
            <a:off x="1291531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6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10"/>
          <p:cNvSpPr>
            <a:spLocks noChangeArrowheads="1"/>
          </p:cNvSpPr>
          <p:nvPr/>
        </p:nvSpPr>
        <p:spPr bwMode="auto">
          <a:xfrm>
            <a:off x="1783078" y="2852936"/>
            <a:ext cx="6677353" cy="93194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tr-TR" sz="2200" baseline="0" dirty="0" smtClean="0"/>
              <a:t>e</a:t>
            </a:r>
            <a:r>
              <a:rPr lang="tr-TR" sz="2200" baseline="30000" dirty="0" smtClean="0"/>
              <a:t>-x</a:t>
            </a:r>
            <a:r>
              <a:rPr lang="tr-TR" sz="2200" baseline="0" dirty="0" smtClean="0"/>
              <a:t> </a:t>
            </a:r>
            <a:r>
              <a:rPr lang="tr-TR" sz="2200" baseline="0" dirty="0"/>
              <a:t>–</a:t>
            </a:r>
            <a:r>
              <a:rPr lang="tr-TR" sz="2200" baseline="0" dirty="0" smtClean="0"/>
              <a:t>x=0  </a:t>
            </a:r>
            <a:r>
              <a:rPr lang="tr-TR" sz="2200" dirty="0" smtClean="0"/>
              <a:t>     ,      </a:t>
            </a:r>
            <a:r>
              <a:rPr lang="tr-TR" sz="2200" baseline="0" dirty="0" smtClean="0"/>
              <a:t>x</a:t>
            </a:r>
            <a:r>
              <a:rPr lang="tr-TR" sz="2200" baseline="0" dirty="0"/>
              <a:t>= e</a:t>
            </a:r>
            <a:r>
              <a:rPr lang="tr-TR" sz="2200" baseline="30000" dirty="0"/>
              <a:t>-x</a:t>
            </a:r>
            <a:r>
              <a:rPr lang="tr-TR" sz="2200" baseline="0" dirty="0"/>
              <a:t> </a:t>
            </a:r>
            <a:r>
              <a:rPr lang="tr-TR" sz="2200" baseline="0" dirty="0" smtClean="0"/>
              <a:t>   =&gt;  </a:t>
            </a:r>
            <a:r>
              <a:rPr lang="tr-TR" sz="2200" dirty="0" smtClean="0"/>
              <a:t> </a:t>
            </a:r>
            <a:r>
              <a:rPr lang="tr-TR" sz="2200" baseline="0" dirty="0" smtClean="0"/>
              <a:t>y</a:t>
            </a:r>
            <a:r>
              <a:rPr lang="tr-TR" sz="2200" baseline="-25000" dirty="0" smtClean="0"/>
              <a:t>1</a:t>
            </a:r>
            <a:r>
              <a:rPr lang="tr-TR" sz="2200" dirty="0" smtClean="0"/>
              <a:t> </a:t>
            </a:r>
            <a:r>
              <a:rPr lang="tr-TR" sz="2200" baseline="0" dirty="0"/>
              <a:t>= x     ve </a:t>
            </a:r>
            <a:r>
              <a:rPr lang="tr-TR" sz="2200" baseline="0" dirty="0" smtClean="0"/>
              <a:t>   y</a:t>
            </a:r>
            <a:r>
              <a:rPr lang="tr-TR" sz="2200" baseline="-25000" dirty="0"/>
              <a:t>2</a:t>
            </a:r>
            <a:r>
              <a:rPr lang="tr-TR" sz="2200" dirty="0" smtClean="0"/>
              <a:t> </a:t>
            </a:r>
            <a:r>
              <a:rPr lang="tr-TR" sz="2200" baseline="0" dirty="0"/>
              <a:t>= e</a:t>
            </a:r>
            <a:r>
              <a:rPr lang="tr-TR" sz="2200" baseline="30000" dirty="0"/>
              <a:t>-x</a:t>
            </a:r>
            <a:r>
              <a:rPr lang="tr-TR" sz="2200" baseline="0" dirty="0"/>
              <a:t> </a:t>
            </a: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558425" y="1300580"/>
            <a:ext cx="5652119" cy="17281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1800" baseline="0" dirty="0"/>
              <a:t>Bu </a:t>
            </a:r>
            <a:r>
              <a:rPr lang="tr-TR" sz="1800" baseline="0" dirty="0" err="1" smtClean="0"/>
              <a:t>f.nun</a:t>
            </a:r>
            <a:r>
              <a:rPr lang="tr-TR" sz="1800" baseline="0" dirty="0" smtClean="0"/>
              <a:t> </a:t>
            </a:r>
            <a:r>
              <a:rPr lang="tr-TR" sz="1800" baseline="0" dirty="0"/>
              <a:t>kökleri grafik yöntemle iki </a:t>
            </a:r>
            <a:r>
              <a:rPr lang="tr-TR" sz="1800" baseline="0" dirty="0" smtClean="0"/>
              <a:t>şekilde</a:t>
            </a:r>
            <a:r>
              <a:rPr lang="tr-TR" sz="1800" dirty="0" smtClean="0"/>
              <a:t> </a:t>
            </a:r>
            <a:r>
              <a:rPr lang="tr-TR" sz="1800" baseline="0" dirty="0" smtClean="0"/>
              <a:t>bulunabilir</a:t>
            </a:r>
            <a:r>
              <a:rPr lang="tr-TR" sz="1800" baseline="0" dirty="0"/>
              <a:t>.</a:t>
            </a:r>
          </a:p>
          <a:p>
            <a:pPr marL="228600" indent="-228600">
              <a:lnSpc>
                <a:spcPct val="150000"/>
              </a:lnSpc>
              <a:spcBef>
                <a:spcPct val="20000"/>
              </a:spcBef>
              <a:buFontTx/>
              <a:buAutoNum type="alphaLcParenR"/>
            </a:pPr>
            <a:r>
              <a:rPr lang="tr-TR" sz="1800" baseline="0" dirty="0"/>
              <a:t>x  ekseni kestiği yerdeki kök</a:t>
            </a:r>
          </a:p>
          <a:p>
            <a:pPr marL="228600" indent="-228600">
              <a:lnSpc>
                <a:spcPct val="150000"/>
              </a:lnSpc>
              <a:spcBef>
                <a:spcPct val="20000"/>
              </a:spcBef>
              <a:buFontTx/>
              <a:buAutoNum type="alphaLcParenR"/>
            </a:pPr>
            <a:r>
              <a:rPr lang="tr-TR" sz="1800" baseline="0" dirty="0"/>
              <a:t>Bileşen </a:t>
            </a:r>
            <a:r>
              <a:rPr lang="tr-TR" sz="1800" baseline="0" dirty="0" err="1" smtClean="0"/>
              <a:t>f.larının</a:t>
            </a:r>
            <a:r>
              <a:rPr lang="tr-TR" sz="1800" baseline="0" dirty="0" smtClean="0"/>
              <a:t> </a:t>
            </a:r>
            <a:r>
              <a:rPr lang="tr-TR" sz="1800" baseline="0" dirty="0"/>
              <a:t>kesiştiği yerdeki kök.</a:t>
            </a:r>
          </a:p>
        </p:txBody>
      </p:sp>
      <p:grpSp>
        <p:nvGrpSpPr>
          <p:cNvPr id="12" name="Group 12"/>
          <p:cNvGrpSpPr>
            <a:grpSpLocks/>
          </p:cNvGrpSpPr>
          <p:nvPr/>
        </p:nvGrpSpPr>
        <p:grpSpPr bwMode="auto">
          <a:xfrm>
            <a:off x="1558425" y="3759674"/>
            <a:ext cx="3024188" cy="2951162"/>
            <a:chOff x="459" y="3787"/>
            <a:chExt cx="1225" cy="1134"/>
          </a:xfrm>
        </p:grpSpPr>
        <p:sp>
          <p:nvSpPr>
            <p:cNvPr id="13" name="Text Box 13"/>
            <p:cNvSpPr txBox="1">
              <a:spLocks noChangeArrowheads="1"/>
            </p:cNvSpPr>
            <p:nvPr/>
          </p:nvSpPr>
          <p:spPr bwMode="auto">
            <a:xfrm>
              <a:off x="1593" y="4421"/>
              <a:ext cx="91" cy="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x</a:t>
              </a:r>
            </a:p>
          </p:txBody>
        </p:sp>
        <p:sp>
          <p:nvSpPr>
            <p:cNvPr id="14" name="Line 14"/>
            <p:cNvSpPr>
              <a:spLocks noChangeShapeType="1"/>
            </p:cNvSpPr>
            <p:nvPr/>
          </p:nvSpPr>
          <p:spPr bwMode="auto">
            <a:xfrm>
              <a:off x="573" y="4376"/>
              <a:ext cx="111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Line 15"/>
            <p:cNvSpPr>
              <a:spLocks noChangeShapeType="1"/>
            </p:cNvSpPr>
            <p:nvPr/>
          </p:nvSpPr>
          <p:spPr bwMode="auto">
            <a:xfrm>
              <a:off x="573" y="3787"/>
              <a:ext cx="0" cy="1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Freeform 16"/>
            <p:cNvSpPr>
              <a:spLocks/>
            </p:cNvSpPr>
            <p:nvPr/>
          </p:nvSpPr>
          <p:spPr bwMode="auto">
            <a:xfrm>
              <a:off x="572" y="3923"/>
              <a:ext cx="1009" cy="718"/>
            </a:xfrm>
            <a:custGeom>
              <a:avLst/>
              <a:gdLst>
                <a:gd name="T0" fmla="*/ 0 w 827"/>
                <a:gd name="T1" fmla="*/ 0 h 605"/>
                <a:gd name="T2" fmla="*/ 317 w 827"/>
                <a:gd name="T3" fmla="*/ 363 h 605"/>
                <a:gd name="T4" fmla="*/ 748 w 827"/>
                <a:gd name="T5" fmla="*/ 567 h 605"/>
                <a:gd name="T6" fmla="*/ 794 w 827"/>
                <a:gd name="T7" fmla="*/ 59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7" h="605">
                  <a:moveTo>
                    <a:pt x="0" y="0"/>
                  </a:moveTo>
                  <a:cubicBezTo>
                    <a:pt x="96" y="134"/>
                    <a:pt x="192" y="269"/>
                    <a:pt x="317" y="363"/>
                  </a:cubicBezTo>
                  <a:cubicBezTo>
                    <a:pt x="442" y="457"/>
                    <a:pt x="669" y="529"/>
                    <a:pt x="748" y="567"/>
                  </a:cubicBezTo>
                  <a:cubicBezTo>
                    <a:pt x="827" y="605"/>
                    <a:pt x="810" y="597"/>
                    <a:pt x="794" y="59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7" name="Line 17"/>
            <p:cNvSpPr>
              <a:spLocks noChangeShapeType="1"/>
            </p:cNvSpPr>
            <p:nvPr/>
          </p:nvSpPr>
          <p:spPr bwMode="auto">
            <a:xfrm flipH="1">
              <a:off x="981" y="4127"/>
              <a:ext cx="0" cy="6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Text Box 18"/>
            <p:cNvSpPr txBox="1">
              <a:spLocks noChangeArrowheads="1"/>
            </p:cNvSpPr>
            <p:nvPr/>
          </p:nvSpPr>
          <p:spPr bwMode="auto">
            <a:xfrm>
              <a:off x="459" y="3833"/>
              <a:ext cx="91" cy="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</a:t>
              </a:r>
            </a:p>
          </p:txBody>
        </p:sp>
        <p:sp>
          <p:nvSpPr>
            <p:cNvPr id="19" name="Text Box 19"/>
            <p:cNvSpPr txBox="1">
              <a:spLocks noChangeArrowheads="1"/>
            </p:cNvSpPr>
            <p:nvPr/>
          </p:nvSpPr>
          <p:spPr bwMode="auto">
            <a:xfrm>
              <a:off x="935" y="4808"/>
              <a:ext cx="113" cy="7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 dirty="0"/>
                <a:t>a)</a:t>
              </a:r>
            </a:p>
          </p:txBody>
        </p:sp>
        <p:sp>
          <p:nvSpPr>
            <p:cNvPr id="20" name="Line 20"/>
            <p:cNvSpPr>
              <a:spLocks noChangeShapeType="1"/>
            </p:cNvSpPr>
            <p:nvPr/>
          </p:nvSpPr>
          <p:spPr bwMode="auto">
            <a:xfrm>
              <a:off x="981" y="4360"/>
              <a:ext cx="0" cy="22"/>
            </a:xfrm>
            <a:prstGeom prst="line">
              <a:avLst/>
            </a:prstGeom>
            <a:noFill/>
            <a:ln w="666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Text Box 21"/>
            <p:cNvSpPr txBox="1">
              <a:spLocks noChangeArrowheads="1"/>
            </p:cNvSpPr>
            <p:nvPr/>
          </p:nvSpPr>
          <p:spPr bwMode="auto">
            <a:xfrm>
              <a:off x="709" y="3946"/>
              <a:ext cx="409" cy="9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/>
                <a:t>y=e</a:t>
              </a:r>
              <a:r>
                <a:rPr lang="tr-TR" sz="1600" b="1" baseline="30000"/>
                <a:t>-x</a:t>
              </a:r>
              <a:r>
                <a:rPr lang="tr-TR" sz="1600" b="1" baseline="0"/>
                <a:t>-x</a:t>
              </a:r>
            </a:p>
          </p:txBody>
        </p:sp>
      </p:grpSp>
      <p:grpSp>
        <p:nvGrpSpPr>
          <p:cNvPr id="22" name="Group 22"/>
          <p:cNvGrpSpPr>
            <a:grpSpLocks/>
          </p:cNvGrpSpPr>
          <p:nvPr/>
        </p:nvGrpSpPr>
        <p:grpSpPr bwMode="auto">
          <a:xfrm>
            <a:off x="4752431" y="3645024"/>
            <a:ext cx="4356100" cy="3141662"/>
            <a:chOff x="2023" y="3901"/>
            <a:chExt cx="1543" cy="1084"/>
          </a:xfrm>
        </p:grpSpPr>
        <p:sp>
          <p:nvSpPr>
            <p:cNvPr id="23" name="Text Box 23"/>
            <p:cNvSpPr txBox="1">
              <a:spLocks noChangeArrowheads="1"/>
            </p:cNvSpPr>
            <p:nvPr/>
          </p:nvSpPr>
          <p:spPr bwMode="auto">
            <a:xfrm>
              <a:off x="3158" y="4808"/>
              <a:ext cx="91" cy="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x</a:t>
              </a:r>
            </a:p>
          </p:txBody>
        </p:sp>
        <p:sp>
          <p:nvSpPr>
            <p:cNvPr id="24" name="Line 24"/>
            <p:cNvSpPr>
              <a:spLocks noChangeShapeType="1"/>
            </p:cNvSpPr>
            <p:nvPr/>
          </p:nvSpPr>
          <p:spPr bwMode="auto">
            <a:xfrm>
              <a:off x="2137" y="4761"/>
              <a:ext cx="1111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Line 25"/>
            <p:cNvSpPr>
              <a:spLocks noChangeShapeType="1"/>
            </p:cNvSpPr>
            <p:nvPr/>
          </p:nvSpPr>
          <p:spPr bwMode="auto">
            <a:xfrm>
              <a:off x="2137" y="3901"/>
              <a:ext cx="0" cy="86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Freeform 26"/>
            <p:cNvSpPr>
              <a:spLocks/>
            </p:cNvSpPr>
            <p:nvPr/>
          </p:nvSpPr>
          <p:spPr bwMode="auto">
            <a:xfrm>
              <a:off x="2136" y="4037"/>
              <a:ext cx="886" cy="363"/>
            </a:xfrm>
            <a:custGeom>
              <a:avLst/>
              <a:gdLst>
                <a:gd name="T0" fmla="*/ 0 w 827"/>
                <a:gd name="T1" fmla="*/ 0 h 605"/>
                <a:gd name="T2" fmla="*/ 317 w 827"/>
                <a:gd name="T3" fmla="*/ 363 h 605"/>
                <a:gd name="T4" fmla="*/ 748 w 827"/>
                <a:gd name="T5" fmla="*/ 567 h 605"/>
                <a:gd name="T6" fmla="*/ 794 w 827"/>
                <a:gd name="T7" fmla="*/ 59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7" h="605">
                  <a:moveTo>
                    <a:pt x="0" y="0"/>
                  </a:moveTo>
                  <a:cubicBezTo>
                    <a:pt x="96" y="134"/>
                    <a:pt x="192" y="269"/>
                    <a:pt x="317" y="363"/>
                  </a:cubicBezTo>
                  <a:cubicBezTo>
                    <a:pt x="442" y="457"/>
                    <a:pt x="669" y="529"/>
                    <a:pt x="748" y="567"/>
                  </a:cubicBezTo>
                  <a:cubicBezTo>
                    <a:pt x="827" y="605"/>
                    <a:pt x="810" y="597"/>
                    <a:pt x="794" y="59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Line 27"/>
            <p:cNvSpPr>
              <a:spLocks noChangeShapeType="1"/>
            </p:cNvSpPr>
            <p:nvPr/>
          </p:nvSpPr>
          <p:spPr bwMode="auto">
            <a:xfrm flipH="1">
              <a:off x="2545" y="3946"/>
              <a:ext cx="1" cy="9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8" name="Text Box 28"/>
            <p:cNvSpPr txBox="1">
              <a:spLocks noChangeArrowheads="1"/>
            </p:cNvSpPr>
            <p:nvPr/>
          </p:nvSpPr>
          <p:spPr bwMode="auto">
            <a:xfrm>
              <a:off x="2023" y="3947"/>
              <a:ext cx="91" cy="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</a:t>
              </a:r>
            </a:p>
          </p:txBody>
        </p:sp>
        <p:sp>
          <p:nvSpPr>
            <p:cNvPr id="29" name="Text Box 29"/>
            <p:cNvSpPr txBox="1">
              <a:spLocks noChangeArrowheads="1"/>
            </p:cNvSpPr>
            <p:nvPr/>
          </p:nvSpPr>
          <p:spPr bwMode="auto">
            <a:xfrm>
              <a:off x="2499" y="4922"/>
              <a:ext cx="113" cy="6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b)</a:t>
              </a:r>
            </a:p>
          </p:txBody>
        </p:sp>
        <p:sp>
          <p:nvSpPr>
            <p:cNvPr id="30" name="Line 30"/>
            <p:cNvSpPr>
              <a:spLocks noChangeShapeType="1"/>
            </p:cNvSpPr>
            <p:nvPr/>
          </p:nvSpPr>
          <p:spPr bwMode="auto">
            <a:xfrm>
              <a:off x="2545" y="4762"/>
              <a:ext cx="0" cy="22"/>
            </a:xfrm>
            <a:prstGeom prst="line">
              <a:avLst/>
            </a:prstGeom>
            <a:noFill/>
            <a:ln w="666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1" name="Text Box 31"/>
            <p:cNvSpPr txBox="1">
              <a:spLocks noChangeArrowheads="1"/>
            </p:cNvSpPr>
            <p:nvPr/>
          </p:nvSpPr>
          <p:spPr bwMode="auto">
            <a:xfrm>
              <a:off x="2772" y="4037"/>
              <a:ext cx="658" cy="8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 dirty="0"/>
                <a:t>f</a:t>
              </a:r>
              <a:r>
                <a:rPr lang="tr-TR" sz="2200" baseline="-25000" dirty="0"/>
                <a:t>1</a:t>
              </a:r>
              <a:r>
                <a:rPr lang="tr-TR" sz="1600" b="1" baseline="0" dirty="0"/>
                <a:t>(x)</a:t>
              </a:r>
              <a:r>
                <a:rPr lang="tr-TR" sz="1600" dirty="0"/>
                <a:t> </a:t>
              </a:r>
              <a:r>
                <a:rPr lang="tr-TR" sz="1600" baseline="0" dirty="0"/>
                <a:t>=</a:t>
              </a:r>
              <a:r>
                <a:rPr lang="tr-TR" sz="1600" b="1" baseline="0" dirty="0"/>
                <a:t>y</a:t>
              </a:r>
              <a:r>
                <a:rPr lang="tr-TR" sz="2200" baseline="-25000" dirty="0"/>
                <a:t>1</a:t>
              </a:r>
              <a:r>
                <a:rPr lang="tr-TR" sz="1600" b="1" baseline="0" dirty="0"/>
                <a:t>=x</a:t>
              </a:r>
            </a:p>
          </p:txBody>
        </p:sp>
        <p:sp>
          <p:nvSpPr>
            <p:cNvPr id="32" name="Line 32"/>
            <p:cNvSpPr>
              <a:spLocks noChangeShapeType="1"/>
            </p:cNvSpPr>
            <p:nvPr/>
          </p:nvSpPr>
          <p:spPr bwMode="auto">
            <a:xfrm flipV="1">
              <a:off x="2137" y="4014"/>
              <a:ext cx="635" cy="74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3" name="Rectangle 33"/>
            <p:cNvSpPr>
              <a:spLocks noChangeArrowheads="1"/>
            </p:cNvSpPr>
            <p:nvPr/>
          </p:nvSpPr>
          <p:spPr bwMode="auto">
            <a:xfrm>
              <a:off x="2795" y="4332"/>
              <a:ext cx="77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tr-TR" sz="1600" b="1" baseline="0" dirty="0"/>
                <a:t>f</a:t>
              </a:r>
              <a:r>
                <a:rPr lang="tr-TR" sz="2200" baseline="-25000" dirty="0"/>
                <a:t>2</a:t>
              </a:r>
              <a:r>
                <a:rPr lang="tr-TR" sz="1600" b="1" baseline="0" dirty="0"/>
                <a:t>(x)=y</a:t>
              </a:r>
              <a:r>
                <a:rPr lang="tr-TR" sz="2200" baseline="-25000" dirty="0"/>
                <a:t>2</a:t>
              </a:r>
              <a:r>
                <a:rPr lang="tr-TR" sz="1600" b="1" baseline="0" dirty="0"/>
                <a:t> = e</a:t>
              </a:r>
              <a:r>
                <a:rPr lang="tr-TR" sz="1600" b="1" baseline="30000" dirty="0"/>
                <a:t>-x</a:t>
              </a:r>
              <a:r>
                <a:rPr lang="tr-TR" sz="1600" b="1" baseline="0" dirty="0"/>
                <a:t> </a:t>
              </a:r>
            </a:p>
          </p:txBody>
        </p:sp>
      </p:grpSp>
      <p:sp>
        <p:nvSpPr>
          <p:cNvPr id="34" name="Rectangle 10"/>
          <p:cNvSpPr>
            <a:spLocks noChangeArrowheads="1"/>
          </p:cNvSpPr>
          <p:nvPr/>
        </p:nvSpPr>
        <p:spPr bwMode="auto">
          <a:xfrm>
            <a:off x="75075" y="1412776"/>
            <a:ext cx="3992869" cy="1140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lnSpc>
                <a:spcPct val="150000"/>
              </a:lnSpc>
              <a:spcBef>
                <a:spcPct val="20000"/>
              </a:spcBef>
            </a:pPr>
            <a:r>
              <a:rPr lang="tr-TR" sz="2200" baseline="0" dirty="0" smtClean="0">
                <a:solidFill>
                  <a:schemeClr val="bg1">
                    <a:lumMod val="60000"/>
                    <a:lumOff val="40000"/>
                  </a:schemeClr>
                </a:solidFill>
              </a:rPr>
              <a:t>ÖRNEK</a:t>
            </a:r>
            <a:endParaRPr lang="tr-TR" sz="2200" baseline="0" dirty="0">
              <a:solidFill>
                <a:schemeClr val="bg1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6302878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9 Dikdörtgen"/>
          <p:cNvSpPr/>
          <p:nvPr/>
        </p:nvSpPr>
        <p:spPr bwMode="auto">
          <a:xfrm>
            <a:off x="1291531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7</a:t>
            </a:fld>
            <a:endParaRPr lang="tr-TR" dirty="0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75656" y="692944"/>
            <a:ext cx="8243887" cy="431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200" baseline="0" dirty="0">
                <a:solidFill>
                  <a:schemeClr val="bg1">
                    <a:lumMod val="50000"/>
                  </a:schemeClr>
                </a:solidFill>
              </a:rPr>
              <a:t>Basit </a:t>
            </a:r>
            <a:r>
              <a:rPr lang="tr-TR" sz="2200" baseline="0" dirty="0" err="1">
                <a:solidFill>
                  <a:schemeClr val="bg1">
                    <a:lumMod val="50000"/>
                  </a:schemeClr>
                </a:solidFill>
              </a:rPr>
              <a:t>iterasyonun</a:t>
            </a:r>
            <a:r>
              <a:rPr lang="tr-TR" sz="2200" baseline="0" dirty="0">
                <a:solidFill>
                  <a:schemeClr val="bg1">
                    <a:lumMod val="50000"/>
                  </a:schemeClr>
                </a:solidFill>
              </a:rPr>
              <a:t> yakınsamasının ve ıraksamasının gösterimi</a:t>
            </a:r>
          </a:p>
        </p:txBody>
      </p:sp>
      <p:grpSp>
        <p:nvGrpSpPr>
          <p:cNvPr id="11" name="Group 10"/>
          <p:cNvGrpSpPr>
            <a:grpSpLocks/>
          </p:cNvGrpSpPr>
          <p:nvPr/>
        </p:nvGrpSpPr>
        <p:grpSpPr bwMode="auto">
          <a:xfrm>
            <a:off x="1630278" y="1306215"/>
            <a:ext cx="3419475" cy="2882900"/>
            <a:chOff x="458" y="1155"/>
            <a:chExt cx="1679" cy="1365"/>
          </a:xfrm>
        </p:grpSpPr>
        <p:sp>
          <p:nvSpPr>
            <p:cNvPr id="12" name="Text Box 11"/>
            <p:cNvSpPr txBox="1">
              <a:spLocks noChangeArrowheads="1"/>
            </p:cNvSpPr>
            <p:nvPr/>
          </p:nvSpPr>
          <p:spPr bwMode="auto">
            <a:xfrm>
              <a:off x="1729" y="2153"/>
              <a:ext cx="9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/>
                <a:t>x</a:t>
              </a:r>
            </a:p>
          </p:txBody>
        </p:sp>
        <p:sp>
          <p:nvSpPr>
            <p:cNvPr id="13" name="Line 12"/>
            <p:cNvSpPr>
              <a:spLocks noChangeShapeType="1"/>
            </p:cNvSpPr>
            <p:nvPr/>
          </p:nvSpPr>
          <p:spPr bwMode="auto">
            <a:xfrm>
              <a:off x="572" y="1156"/>
              <a:ext cx="0" cy="9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Freeform 13"/>
            <p:cNvSpPr>
              <a:spLocks/>
            </p:cNvSpPr>
            <p:nvPr/>
          </p:nvSpPr>
          <p:spPr bwMode="auto">
            <a:xfrm rot="-2845917">
              <a:off x="571" y="1529"/>
              <a:ext cx="886" cy="363"/>
            </a:xfrm>
            <a:custGeom>
              <a:avLst/>
              <a:gdLst>
                <a:gd name="T0" fmla="*/ 0 w 827"/>
                <a:gd name="T1" fmla="*/ 0 h 605"/>
                <a:gd name="T2" fmla="*/ 317 w 827"/>
                <a:gd name="T3" fmla="*/ 363 h 605"/>
                <a:gd name="T4" fmla="*/ 748 w 827"/>
                <a:gd name="T5" fmla="*/ 567 h 605"/>
                <a:gd name="T6" fmla="*/ 794 w 827"/>
                <a:gd name="T7" fmla="*/ 59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7" h="605">
                  <a:moveTo>
                    <a:pt x="0" y="0"/>
                  </a:moveTo>
                  <a:cubicBezTo>
                    <a:pt x="96" y="134"/>
                    <a:pt x="192" y="269"/>
                    <a:pt x="317" y="363"/>
                  </a:cubicBezTo>
                  <a:cubicBezTo>
                    <a:pt x="442" y="457"/>
                    <a:pt x="669" y="529"/>
                    <a:pt x="748" y="567"/>
                  </a:cubicBezTo>
                  <a:cubicBezTo>
                    <a:pt x="827" y="605"/>
                    <a:pt x="810" y="597"/>
                    <a:pt x="794" y="59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Line 14"/>
            <p:cNvSpPr>
              <a:spLocks noChangeShapeType="1"/>
            </p:cNvSpPr>
            <p:nvPr/>
          </p:nvSpPr>
          <p:spPr bwMode="auto">
            <a:xfrm flipH="1">
              <a:off x="799" y="1882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6" name="Text Box 15"/>
            <p:cNvSpPr txBox="1">
              <a:spLocks noChangeArrowheads="1"/>
            </p:cNvSpPr>
            <p:nvPr/>
          </p:nvSpPr>
          <p:spPr bwMode="auto">
            <a:xfrm>
              <a:off x="458" y="1155"/>
              <a:ext cx="91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/>
                <a:t>y</a:t>
              </a:r>
            </a:p>
          </p:txBody>
        </p:sp>
        <p:sp>
          <p:nvSpPr>
            <p:cNvPr id="17" name="Text Box 16"/>
            <p:cNvSpPr txBox="1">
              <a:spLocks noChangeArrowheads="1"/>
            </p:cNvSpPr>
            <p:nvPr/>
          </p:nvSpPr>
          <p:spPr bwMode="auto">
            <a:xfrm>
              <a:off x="845" y="2404"/>
              <a:ext cx="546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/>
                <a:t>Yakınsak</a:t>
              </a:r>
            </a:p>
          </p:txBody>
        </p:sp>
        <p:sp>
          <p:nvSpPr>
            <p:cNvPr id="18" name="Line 17"/>
            <p:cNvSpPr>
              <a:spLocks noChangeShapeType="1"/>
            </p:cNvSpPr>
            <p:nvPr/>
          </p:nvSpPr>
          <p:spPr bwMode="auto">
            <a:xfrm>
              <a:off x="799" y="2118"/>
              <a:ext cx="0" cy="22"/>
            </a:xfrm>
            <a:prstGeom prst="line">
              <a:avLst/>
            </a:prstGeom>
            <a:noFill/>
            <a:ln w="666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Text Box 18"/>
            <p:cNvSpPr txBox="1">
              <a:spLocks noChangeArrowheads="1"/>
            </p:cNvSpPr>
            <p:nvPr/>
          </p:nvSpPr>
          <p:spPr bwMode="auto">
            <a:xfrm>
              <a:off x="1049" y="1247"/>
              <a:ext cx="295" cy="1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 dirty="0"/>
                <a:t>y</a:t>
              </a:r>
              <a:r>
                <a:rPr lang="tr-TR" sz="2200" baseline="-25000" dirty="0"/>
                <a:t>1</a:t>
              </a:r>
              <a:r>
                <a:rPr lang="tr-TR" sz="1600" b="1" baseline="0" dirty="0"/>
                <a:t>=x</a:t>
              </a:r>
            </a:p>
          </p:txBody>
        </p:sp>
        <p:sp>
          <p:nvSpPr>
            <p:cNvPr id="20" name="Line 19"/>
            <p:cNvSpPr>
              <a:spLocks noChangeShapeType="1"/>
            </p:cNvSpPr>
            <p:nvPr/>
          </p:nvSpPr>
          <p:spPr bwMode="auto">
            <a:xfrm flipV="1">
              <a:off x="572" y="1383"/>
              <a:ext cx="635" cy="74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Rectangle 20"/>
            <p:cNvSpPr>
              <a:spLocks noChangeArrowheads="1"/>
            </p:cNvSpPr>
            <p:nvPr/>
          </p:nvSpPr>
          <p:spPr bwMode="auto">
            <a:xfrm>
              <a:off x="1457" y="1429"/>
              <a:ext cx="680" cy="16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tr-TR" sz="1600" b="1" baseline="0" dirty="0"/>
                <a:t>y</a:t>
              </a:r>
              <a:r>
                <a:rPr lang="tr-TR" sz="2200" baseline="-25000" dirty="0"/>
                <a:t>2</a:t>
              </a:r>
              <a:r>
                <a:rPr lang="tr-TR" sz="1600" b="1" baseline="0" dirty="0"/>
                <a:t> = g(x)</a:t>
              </a:r>
            </a:p>
          </p:txBody>
        </p:sp>
        <p:sp>
          <p:nvSpPr>
            <p:cNvPr id="22" name="Text Box 21"/>
            <p:cNvSpPr txBox="1">
              <a:spLocks noChangeArrowheads="1"/>
            </p:cNvSpPr>
            <p:nvPr/>
          </p:nvSpPr>
          <p:spPr bwMode="auto">
            <a:xfrm>
              <a:off x="640" y="2177"/>
              <a:ext cx="227" cy="101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400" b="1" baseline="0"/>
                <a:t>Kök</a:t>
              </a:r>
            </a:p>
          </p:txBody>
        </p:sp>
        <p:sp>
          <p:nvSpPr>
            <p:cNvPr id="23" name="Line 22"/>
            <p:cNvSpPr>
              <a:spLocks noChangeShapeType="1"/>
            </p:cNvSpPr>
            <p:nvPr/>
          </p:nvSpPr>
          <p:spPr bwMode="auto">
            <a:xfrm flipH="1">
              <a:off x="1389" y="1565"/>
              <a:ext cx="0" cy="5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4" name="Line 23"/>
            <p:cNvSpPr>
              <a:spLocks noChangeShapeType="1"/>
            </p:cNvSpPr>
            <p:nvPr/>
          </p:nvSpPr>
          <p:spPr bwMode="auto">
            <a:xfrm flipH="1">
              <a:off x="1071" y="1542"/>
              <a:ext cx="31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5" name="Line 24"/>
            <p:cNvSpPr>
              <a:spLocks noChangeShapeType="1"/>
            </p:cNvSpPr>
            <p:nvPr/>
          </p:nvSpPr>
          <p:spPr bwMode="auto">
            <a:xfrm flipH="1">
              <a:off x="1071" y="1542"/>
              <a:ext cx="0" cy="2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6" name="Line 25"/>
            <p:cNvSpPr>
              <a:spLocks noChangeShapeType="1"/>
            </p:cNvSpPr>
            <p:nvPr/>
          </p:nvSpPr>
          <p:spPr bwMode="auto">
            <a:xfrm flipH="1">
              <a:off x="890" y="1746"/>
              <a:ext cx="15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7" name="Line 26"/>
            <p:cNvSpPr>
              <a:spLocks noChangeShapeType="1"/>
            </p:cNvSpPr>
            <p:nvPr/>
          </p:nvSpPr>
          <p:spPr bwMode="auto">
            <a:xfrm flipH="1">
              <a:off x="897" y="1746"/>
              <a:ext cx="0" cy="1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8" name="Line 27"/>
            <p:cNvSpPr>
              <a:spLocks noChangeShapeType="1"/>
            </p:cNvSpPr>
            <p:nvPr/>
          </p:nvSpPr>
          <p:spPr bwMode="auto">
            <a:xfrm flipH="1">
              <a:off x="792" y="1837"/>
              <a:ext cx="98" cy="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9" name="Line 28"/>
            <p:cNvSpPr>
              <a:spLocks noChangeShapeType="1"/>
            </p:cNvSpPr>
            <p:nvPr/>
          </p:nvSpPr>
          <p:spPr bwMode="auto">
            <a:xfrm>
              <a:off x="799" y="1860"/>
              <a:ext cx="0" cy="22"/>
            </a:xfrm>
            <a:prstGeom prst="line">
              <a:avLst/>
            </a:prstGeom>
            <a:noFill/>
            <a:ln w="8255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0" name="Line 29"/>
            <p:cNvSpPr>
              <a:spLocks noChangeShapeType="1"/>
            </p:cNvSpPr>
            <p:nvPr/>
          </p:nvSpPr>
          <p:spPr bwMode="auto">
            <a:xfrm>
              <a:off x="572" y="2130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1" name="Text Box 30"/>
            <p:cNvSpPr txBox="1">
              <a:spLocks noChangeArrowheads="1"/>
            </p:cNvSpPr>
            <p:nvPr/>
          </p:nvSpPr>
          <p:spPr bwMode="auto">
            <a:xfrm>
              <a:off x="1344" y="2154"/>
              <a:ext cx="136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 dirty="0" err="1"/>
                <a:t>x</a:t>
              </a:r>
              <a:r>
                <a:rPr lang="tr-TR" sz="1600" b="1" baseline="-25000" dirty="0" err="1"/>
                <a:t>o</a:t>
              </a:r>
              <a:endParaRPr lang="tr-TR" sz="1600" b="1" baseline="-25000" dirty="0"/>
            </a:p>
          </p:txBody>
        </p:sp>
        <p:sp>
          <p:nvSpPr>
            <p:cNvPr id="32" name="Text Box 31"/>
            <p:cNvSpPr txBox="1">
              <a:spLocks noChangeArrowheads="1"/>
            </p:cNvSpPr>
            <p:nvPr/>
          </p:nvSpPr>
          <p:spPr bwMode="auto">
            <a:xfrm>
              <a:off x="1049" y="2154"/>
              <a:ext cx="136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 dirty="0"/>
                <a:t>x</a:t>
              </a:r>
              <a:r>
                <a:rPr lang="tr-TR" sz="1600" b="1" baseline="-25000" dirty="0"/>
                <a:t>1</a:t>
              </a:r>
            </a:p>
          </p:txBody>
        </p:sp>
        <p:sp>
          <p:nvSpPr>
            <p:cNvPr id="33" name="Line 32"/>
            <p:cNvSpPr>
              <a:spLocks noChangeShapeType="1"/>
            </p:cNvSpPr>
            <p:nvPr/>
          </p:nvSpPr>
          <p:spPr bwMode="auto">
            <a:xfrm>
              <a:off x="1071" y="1791"/>
              <a:ext cx="0" cy="341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4" name="Line 33"/>
            <p:cNvSpPr>
              <a:spLocks noChangeShapeType="1"/>
            </p:cNvSpPr>
            <p:nvPr/>
          </p:nvSpPr>
          <p:spPr bwMode="auto">
            <a:xfrm>
              <a:off x="897" y="1859"/>
              <a:ext cx="0" cy="250"/>
            </a:xfrm>
            <a:prstGeom prst="line">
              <a:avLst/>
            </a:prstGeom>
            <a:noFill/>
            <a:ln w="12700">
              <a:solidFill>
                <a:schemeClr val="accent2"/>
              </a:solidFill>
              <a:prstDash val="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5" name="Text Box 34"/>
            <p:cNvSpPr txBox="1">
              <a:spLocks noChangeArrowheads="1"/>
            </p:cNvSpPr>
            <p:nvPr/>
          </p:nvSpPr>
          <p:spPr bwMode="auto">
            <a:xfrm>
              <a:off x="867" y="2154"/>
              <a:ext cx="136" cy="11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 dirty="0"/>
                <a:t>x</a:t>
              </a:r>
              <a:r>
                <a:rPr lang="tr-TR" sz="1600" b="1" baseline="-25000" dirty="0"/>
                <a:t>2</a:t>
              </a:r>
            </a:p>
          </p:txBody>
        </p:sp>
      </p:grpSp>
      <p:grpSp>
        <p:nvGrpSpPr>
          <p:cNvPr id="36" name="Group 35"/>
          <p:cNvGrpSpPr>
            <a:grpSpLocks/>
          </p:cNvGrpSpPr>
          <p:nvPr/>
        </p:nvGrpSpPr>
        <p:grpSpPr bwMode="auto">
          <a:xfrm>
            <a:off x="5815373" y="1214356"/>
            <a:ext cx="2952750" cy="2872098"/>
            <a:chOff x="2272" y="1111"/>
            <a:chExt cx="1362" cy="1513"/>
          </a:xfrm>
        </p:grpSpPr>
        <p:sp>
          <p:nvSpPr>
            <p:cNvPr id="37" name="Text Box 36"/>
            <p:cNvSpPr txBox="1">
              <a:spLocks noChangeArrowheads="1"/>
            </p:cNvSpPr>
            <p:nvPr/>
          </p:nvSpPr>
          <p:spPr bwMode="auto">
            <a:xfrm>
              <a:off x="3543" y="2268"/>
              <a:ext cx="91" cy="12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/>
                <a:t>x</a:t>
              </a:r>
            </a:p>
          </p:txBody>
        </p:sp>
        <p:sp>
          <p:nvSpPr>
            <p:cNvPr id="38" name="Line 37"/>
            <p:cNvSpPr>
              <a:spLocks noChangeShapeType="1"/>
            </p:cNvSpPr>
            <p:nvPr/>
          </p:nvSpPr>
          <p:spPr bwMode="auto">
            <a:xfrm>
              <a:off x="2386" y="1270"/>
              <a:ext cx="0" cy="97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39" name="Freeform 38"/>
            <p:cNvSpPr>
              <a:spLocks/>
            </p:cNvSpPr>
            <p:nvPr/>
          </p:nvSpPr>
          <p:spPr bwMode="auto">
            <a:xfrm rot="15396852">
              <a:off x="2137" y="1516"/>
              <a:ext cx="908" cy="453"/>
            </a:xfrm>
            <a:custGeom>
              <a:avLst/>
              <a:gdLst>
                <a:gd name="T0" fmla="*/ 0 w 827"/>
                <a:gd name="T1" fmla="*/ 0 h 605"/>
                <a:gd name="T2" fmla="*/ 317 w 827"/>
                <a:gd name="T3" fmla="*/ 363 h 605"/>
                <a:gd name="T4" fmla="*/ 748 w 827"/>
                <a:gd name="T5" fmla="*/ 567 h 605"/>
                <a:gd name="T6" fmla="*/ 794 w 827"/>
                <a:gd name="T7" fmla="*/ 59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</a:cxnLst>
              <a:rect l="0" t="0" r="r" b="b"/>
              <a:pathLst>
                <a:path w="827" h="605">
                  <a:moveTo>
                    <a:pt x="0" y="0"/>
                  </a:moveTo>
                  <a:cubicBezTo>
                    <a:pt x="96" y="134"/>
                    <a:pt x="192" y="269"/>
                    <a:pt x="317" y="363"/>
                  </a:cubicBezTo>
                  <a:cubicBezTo>
                    <a:pt x="442" y="457"/>
                    <a:pt x="669" y="529"/>
                    <a:pt x="748" y="567"/>
                  </a:cubicBezTo>
                  <a:cubicBezTo>
                    <a:pt x="827" y="605"/>
                    <a:pt x="810" y="597"/>
                    <a:pt x="794" y="590"/>
                  </a:cubicBezTo>
                </a:path>
              </a:pathLst>
            </a:custGeom>
            <a:noFill/>
            <a:ln w="254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0" name="Line 39"/>
            <p:cNvSpPr>
              <a:spLocks noChangeShapeType="1"/>
            </p:cNvSpPr>
            <p:nvPr/>
          </p:nvSpPr>
          <p:spPr bwMode="auto">
            <a:xfrm flipH="1">
              <a:off x="2613" y="1996"/>
              <a:ext cx="0" cy="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1" name="Text Box 40"/>
            <p:cNvSpPr txBox="1">
              <a:spLocks noChangeArrowheads="1"/>
            </p:cNvSpPr>
            <p:nvPr/>
          </p:nvSpPr>
          <p:spPr bwMode="auto">
            <a:xfrm>
              <a:off x="2272" y="1269"/>
              <a:ext cx="91" cy="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/>
                <a:t>y</a:t>
              </a:r>
            </a:p>
          </p:txBody>
        </p:sp>
        <p:sp>
          <p:nvSpPr>
            <p:cNvPr id="42" name="Line 41"/>
            <p:cNvSpPr>
              <a:spLocks noChangeShapeType="1"/>
            </p:cNvSpPr>
            <p:nvPr/>
          </p:nvSpPr>
          <p:spPr bwMode="auto">
            <a:xfrm>
              <a:off x="2613" y="2232"/>
              <a:ext cx="0" cy="22"/>
            </a:xfrm>
            <a:prstGeom prst="line">
              <a:avLst/>
            </a:prstGeom>
            <a:noFill/>
            <a:ln w="66675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3" name="Text Box 42"/>
            <p:cNvSpPr txBox="1">
              <a:spLocks noChangeArrowheads="1"/>
            </p:cNvSpPr>
            <p:nvPr/>
          </p:nvSpPr>
          <p:spPr bwMode="auto">
            <a:xfrm>
              <a:off x="3045" y="1429"/>
              <a:ext cx="295" cy="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 dirty="0"/>
                <a:t>y</a:t>
              </a:r>
              <a:r>
                <a:rPr lang="tr-TR" sz="2200" baseline="-25000" dirty="0"/>
                <a:t>1</a:t>
              </a:r>
              <a:r>
                <a:rPr lang="tr-TR" sz="1600" b="1" baseline="0" dirty="0"/>
                <a:t>=x</a:t>
              </a:r>
            </a:p>
          </p:txBody>
        </p:sp>
        <p:sp>
          <p:nvSpPr>
            <p:cNvPr id="44" name="Line 43"/>
            <p:cNvSpPr>
              <a:spLocks noChangeShapeType="1"/>
            </p:cNvSpPr>
            <p:nvPr/>
          </p:nvSpPr>
          <p:spPr bwMode="auto">
            <a:xfrm flipV="1">
              <a:off x="2386" y="1497"/>
              <a:ext cx="635" cy="748"/>
            </a:xfrm>
            <a:prstGeom prst="line">
              <a:avLst/>
            </a:pr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5" name="Rectangle 44"/>
            <p:cNvSpPr>
              <a:spLocks noChangeArrowheads="1"/>
            </p:cNvSpPr>
            <p:nvPr/>
          </p:nvSpPr>
          <p:spPr bwMode="auto">
            <a:xfrm>
              <a:off x="2478" y="1111"/>
              <a:ext cx="680" cy="17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30000"/>
                </a:spcBef>
              </a:pPr>
              <a:r>
                <a:rPr lang="tr-TR" sz="1600" b="1" baseline="0" dirty="0"/>
                <a:t>y</a:t>
              </a:r>
              <a:r>
                <a:rPr lang="tr-TR" sz="2200" baseline="-25000" dirty="0"/>
                <a:t>2 </a:t>
              </a:r>
              <a:r>
                <a:rPr lang="tr-TR" sz="1600" b="1" baseline="0" dirty="0"/>
                <a:t>= g(x)</a:t>
              </a:r>
            </a:p>
          </p:txBody>
        </p:sp>
        <p:sp>
          <p:nvSpPr>
            <p:cNvPr id="46" name="Text Box 45"/>
            <p:cNvSpPr txBox="1">
              <a:spLocks noChangeArrowheads="1"/>
            </p:cNvSpPr>
            <p:nvPr/>
          </p:nvSpPr>
          <p:spPr bwMode="auto">
            <a:xfrm>
              <a:off x="2454" y="2291"/>
              <a:ext cx="227" cy="12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/>
                <a:t>Kök</a:t>
              </a:r>
            </a:p>
          </p:txBody>
        </p:sp>
        <p:sp>
          <p:nvSpPr>
            <p:cNvPr id="47" name="Line 46"/>
            <p:cNvSpPr>
              <a:spLocks noChangeShapeType="1"/>
            </p:cNvSpPr>
            <p:nvPr/>
          </p:nvSpPr>
          <p:spPr bwMode="auto">
            <a:xfrm>
              <a:off x="2682" y="1746"/>
              <a:ext cx="0" cy="49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 type="triangle" w="med" len="med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8" name="Line 47"/>
            <p:cNvSpPr>
              <a:spLocks noChangeShapeType="1"/>
            </p:cNvSpPr>
            <p:nvPr/>
          </p:nvSpPr>
          <p:spPr bwMode="auto">
            <a:xfrm flipV="1">
              <a:off x="2817" y="1360"/>
              <a:ext cx="1" cy="38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49" name="Line 48"/>
            <p:cNvSpPr>
              <a:spLocks noChangeShapeType="1"/>
            </p:cNvSpPr>
            <p:nvPr/>
          </p:nvSpPr>
          <p:spPr bwMode="auto">
            <a:xfrm flipV="1">
              <a:off x="2682" y="1746"/>
              <a:ext cx="136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dash"/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0" name="Line 49"/>
            <p:cNvSpPr>
              <a:spLocks noChangeShapeType="1"/>
            </p:cNvSpPr>
            <p:nvPr/>
          </p:nvSpPr>
          <p:spPr bwMode="auto">
            <a:xfrm>
              <a:off x="2613" y="1974"/>
              <a:ext cx="0" cy="22"/>
            </a:xfrm>
            <a:prstGeom prst="line">
              <a:avLst/>
            </a:prstGeom>
            <a:noFill/>
            <a:ln w="82550">
              <a:solidFill>
                <a:srgbClr val="3366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1" name="Line 50"/>
            <p:cNvSpPr>
              <a:spLocks noChangeShapeType="1"/>
            </p:cNvSpPr>
            <p:nvPr/>
          </p:nvSpPr>
          <p:spPr bwMode="auto">
            <a:xfrm>
              <a:off x="2386" y="2244"/>
              <a:ext cx="124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52" name="Text Box 51"/>
            <p:cNvSpPr txBox="1">
              <a:spLocks noChangeArrowheads="1"/>
            </p:cNvSpPr>
            <p:nvPr/>
          </p:nvSpPr>
          <p:spPr bwMode="auto">
            <a:xfrm>
              <a:off x="2682" y="2268"/>
              <a:ext cx="313" cy="19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b="1" baseline="0" dirty="0" err="1" smtClean="0"/>
                <a:t>x</a:t>
              </a:r>
              <a:r>
                <a:rPr lang="tr-TR" b="1" baseline="-25000" dirty="0" err="1" smtClean="0"/>
                <a:t>o</a:t>
              </a:r>
              <a:endParaRPr lang="tr-TR" b="1" baseline="-25000" dirty="0"/>
            </a:p>
          </p:txBody>
        </p:sp>
        <p:sp>
          <p:nvSpPr>
            <p:cNvPr id="53" name="Text Box 52"/>
            <p:cNvSpPr txBox="1">
              <a:spLocks noChangeArrowheads="1"/>
            </p:cNvSpPr>
            <p:nvPr/>
          </p:nvSpPr>
          <p:spPr bwMode="auto">
            <a:xfrm>
              <a:off x="2567" y="2494"/>
              <a:ext cx="773" cy="13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600" b="1" baseline="0"/>
                <a:t>Iraksak</a:t>
              </a:r>
            </a:p>
          </p:txBody>
        </p:sp>
      </p:grpSp>
      <p:sp>
        <p:nvSpPr>
          <p:cNvPr id="54" name="Rectangle 53"/>
          <p:cNvSpPr>
            <a:spLocks noChangeArrowheads="1"/>
          </p:cNvSpPr>
          <p:nvPr/>
        </p:nvSpPr>
        <p:spPr bwMode="auto">
          <a:xfrm>
            <a:off x="1441222" y="4286256"/>
            <a:ext cx="4374151" cy="2278070"/>
          </a:xfrm>
          <a:prstGeom prst="rect">
            <a:avLst/>
          </a:prstGeom>
          <a:noFill/>
          <a:ln w="9525">
            <a:solidFill>
              <a:srgbClr val="FF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000" baseline="0" dirty="0">
                <a:solidFill>
                  <a:srgbClr val="FF3300"/>
                </a:solidFill>
              </a:rPr>
              <a:t>Yakınsama ve ıraksama şartı </a:t>
            </a:r>
          </a:p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000" baseline="0" dirty="0"/>
              <a:t>y</a:t>
            </a:r>
            <a:r>
              <a:rPr lang="tr-TR" sz="2200" baseline="-25000" dirty="0"/>
              <a:t>1</a:t>
            </a:r>
            <a:r>
              <a:rPr lang="tr-TR" sz="2000" dirty="0"/>
              <a:t> </a:t>
            </a:r>
            <a:r>
              <a:rPr lang="tr-TR" sz="2000" baseline="0" dirty="0"/>
              <a:t>= x  </a:t>
            </a:r>
            <a:r>
              <a:rPr lang="tr-TR" sz="2000" baseline="0" dirty="0">
                <a:sym typeface="Wingdings" pitchFamily="2" charset="2"/>
              </a:rPr>
              <a:t> </a:t>
            </a:r>
            <a:r>
              <a:rPr lang="tr-TR" sz="2000" baseline="0" dirty="0" smtClean="0"/>
              <a:t>y</a:t>
            </a:r>
            <a:r>
              <a:rPr lang="tr-TR" sz="2000" baseline="30000" dirty="0" smtClean="0"/>
              <a:t>|</a:t>
            </a:r>
            <a:r>
              <a:rPr lang="tr-TR" sz="2200" baseline="-25000" dirty="0" smtClean="0"/>
              <a:t>1</a:t>
            </a:r>
            <a:r>
              <a:rPr lang="tr-TR" sz="2000" dirty="0" smtClean="0"/>
              <a:t> </a:t>
            </a:r>
            <a:r>
              <a:rPr lang="tr-TR" sz="2000" baseline="0" dirty="0"/>
              <a:t>= 1 (Eğim)</a:t>
            </a:r>
          </a:p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000" baseline="0" dirty="0"/>
              <a:t>y</a:t>
            </a:r>
            <a:r>
              <a:rPr lang="tr-TR" sz="2200" baseline="-25000" dirty="0"/>
              <a:t>2</a:t>
            </a:r>
            <a:r>
              <a:rPr lang="tr-TR" sz="2000" baseline="0" dirty="0"/>
              <a:t>= g(x) </a:t>
            </a:r>
            <a:r>
              <a:rPr lang="tr-TR" sz="2000" baseline="0" dirty="0">
                <a:sym typeface="Wingdings" pitchFamily="2" charset="2"/>
              </a:rPr>
              <a:t> | </a:t>
            </a:r>
            <a:r>
              <a:rPr lang="tr-TR" sz="2000" baseline="0" dirty="0"/>
              <a:t>g</a:t>
            </a:r>
            <a:r>
              <a:rPr lang="tr-TR" sz="2000" baseline="30000" dirty="0"/>
              <a:t>|</a:t>
            </a:r>
            <a:r>
              <a:rPr lang="tr-TR" sz="2000" baseline="0" dirty="0"/>
              <a:t>(</a:t>
            </a:r>
            <a:r>
              <a:rPr lang="tr-TR" sz="2000" baseline="0" dirty="0" err="1"/>
              <a:t>x</a:t>
            </a:r>
            <a:r>
              <a:rPr lang="tr-TR" sz="2200" baseline="-25000" dirty="0" err="1"/>
              <a:t>o</a:t>
            </a:r>
            <a:r>
              <a:rPr lang="tr-TR" sz="2000" baseline="0" dirty="0"/>
              <a:t>)</a:t>
            </a:r>
            <a:r>
              <a:rPr lang="tr-TR" sz="2000" baseline="0" dirty="0">
                <a:sym typeface="Wingdings" pitchFamily="2" charset="2"/>
              </a:rPr>
              <a:t> | &lt; 1 ise yakınsak </a:t>
            </a:r>
          </a:p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000" baseline="0" dirty="0">
                <a:sym typeface="Wingdings" pitchFamily="2" charset="2"/>
              </a:rPr>
              <a:t>                 | </a:t>
            </a:r>
            <a:r>
              <a:rPr lang="tr-TR" sz="2000" baseline="0" dirty="0"/>
              <a:t>g</a:t>
            </a:r>
            <a:r>
              <a:rPr lang="tr-TR" sz="2000" baseline="30000" dirty="0"/>
              <a:t>|</a:t>
            </a:r>
            <a:r>
              <a:rPr lang="tr-TR" sz="2000" baseline="0" dirty="0"/>
              <a:t>(</a:t>
            </a:r>
            <a:r>
              <a:rPr lang="tr-TR" sz="2000" baseline="0" dirty="0" err="1"/>
              <a:t>x</a:t>
            </a:r>
            <a:r>
              <a:rPr lang="tr-TR" sz="2200" baseline="-25000" dirty="0" err="1"/>
              <a:t>o</a:t>
            </a:r>
            <a:r>
              <a:rPr lang="tr-TR" sz="2000" baseline="0" dirty="0"/>
              <a:t>)</a:t>
            </a:r>
            <a:r>
              <a:rPr lang="tr-TR" sz="2000" baseline="0" dirty="0">
                <a:sym typeface="Wingdings" pitchFamily="2" charset="2"/>
              </a:rPr>
              <a:t> | &gt; 1 ise ıraksak</a:t>
            </a:r>
          </a:p>
        </p:txBody>
      </p:sp>
      <p:sp>
        <p:nvSpPr>
          <p:cNvPr id="55" name="Rectangle 54"/>
          <p:cNvSpPr>
            <a:spLocks noChangeArrowheads="1"/>
          </p:cNvSpPr>
          <p:nvPr/>
        </p:nvSpPr>
        <p:spPr bwMode="auto">
          <a:xfrm>
            <a:off x="5874846" y="4079888"/>
            <a:ext cx="3269154" cy="2482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92075">
              <a:lnSpc>
                <a:spcPct val="150000"/>
              </a:lnSpc>
              <a:spcBef>
                <a:spcPct val="20000"/>
              </a:spcBef>
            </a:pPr>
            <a:r>
              <a:rPr lang="tr-TR" sz="2000" baseline="0" dirty="0"/>
              <a:t>Burada y</a:t>
            </a:r>
            <a:r>
              <a:rPr lang="tr-TR" sz="2200" baseline="-25000" dirty="0"/>
              <a:t>2</a:t>
            </a:r>
            <a:r>
              <a:rPr lang="tr-TR" sz="2000" baseline="0" dirty="0"/>
              <a:t>= g(x)  </a:t>
            </a:r>
            <a:r>
              <a:rPr lang="tr-TR" sz="2000" baseline="0" dirty="0" err="1" smtClean="0"/>
              <a:t>f.nun</a:t>
            </a:r>
            <a:r>
              <a:rPr lang="tr-TR" sz="2000" dirty="0" smtClean="0"/>
              <a:t> </a:t>
            </a:r>
            <a:r>
              <a:rPr lang="tr-TR" sz="2000" baseline="0" dirty="0" smtClean="0"/>
              <a:t>eğiminin </a:t>
            </a:r>
            <a:r>
              <a:rPr lang="tr-TR" sz="2000" baseline="0" dirty="0"/>
              <a:t>mutlak değeri </a:t>
            </a:r>
            <a:endParaRPr lang="tr-TR" sz="2000" baseline="0" dirty="0" smtClean="0"/>
          </a:p>
          <a:p>
            <a:pPr marL="92075">
              <a:lnSpc>
                <a:spcPct val="150000"/>
              </a:lnSpc>
              <a:spcBef>
                <a:spcPct val="20000"/>
              </a:spcBef>
            </a:pPr>
            <a:r>
              <a:rPr lang="tr-TR" sz="2000" baseline="0" dirty="0" smtClean="0"/>
              <a:t>y</a:t>
            </a:r>
            <a:r>
              <a:rPr lang="tr-TR" sz="2200" baseline="-25000" dirty="0" smtClean="0"/>
              <a:t>1</a:t>
            </a:r>
            <a:r>
              <a:rPr lang="tr-TR" sz="2000" dirty="0" smtClean="0"/>
              <a:t> </a:t>
            </a:r>
            <a:r>
              <a:rPr lang="tr-TR" sz="2000" baseline="0" dirty="0"/>
              <a:t>= </a:t>
            </a:r>
            <a:r>
              <a:rPr lang="tr-TR" sz="2000" baseline="0" dirty="0" smtClean="0"/>
              <a:t>x    </a:t>
            </a:r>
            <a:r>
              <a:rPr lang="tr-TR" sz="2000" baseline="0" dirty="0" err="1" smtClean="0"/>
              <a:t>f.nun</a:t>
            </a:r>
            <a:r>
              <a:rPr lang="tr-TR" sz="2000" baseline="0" dirty="0" smtClean="0"/>
              <a:t> </a:t>
            </a:r>
            <a:r>
              <a:rPr lang="tr-TR" sz="2000" baseline="0" dirty="0"/>
              <a:t>eğiminden küçük olması halinde yakınsama olmaktadır. </a:t>
            </a:r>
          </a:p>
        </p:txBody>
      </p:sp>
    </p:spTree>
    <p:extLst>
      <p:ext uri="{BB962C8B-B14F-4D97-AF65-F5344CB8AC3E}">
        <p14:creationId xmlns:p14="http://schemas.microsoft.com/office/powerpoint/2010/main" val="2636302878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9 Dikdörtgen"/>
          <p:cNvSpPr/>
          <p:nvPr/>
        </p:nvSpPr>
        <p:spPr bwMode="auto">
          <a:xfrm>
            <a:off x="1291531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8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20"/>
          <p:cNvSpPr>
            <a:spLocks noChangeArrowheads="1"/>
          </p:cNvSpPr>
          <p:nvPr/>
        </p:nvSpPr>
        <p:spPr bwMode="auto">
          <a:xfrm>
            <a:off x="1763688" y="1484784"/>
            <a:ext cx="6624736" cy="432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200" baseline="0" dirty="0" smtClean="0"/>
              <a:t>y </a:t>
            </a:r>
            <a:r>
              <a:rPr lang="tr-TR" sz="2200" baseline="0" dirty="0"/>
              <a:t>= x</a:t>
            </a:r>
            <a:r>
              <a:rPr lang="tr-TR" sz="2200" baseline="30000" dirty="0"/>
              <a:t>2</a:t>
            </a:r>
            <a:r>
              <a:rPr lang="tr-TR" sz="2200" baseline="0" dirty="0"/>
              <a:t> - x - 3   denkleminin </a:t>
            </a:r>
            <a:r>
              <a:rPr lang="tr-TR" sz="2200" baseline="0" dirty="0" err="1"/>
              <a:t>x</a:t>
            </a:r>
            <a:r>
              <a:rPr lang="tr-TR" sz="2200" baseline="-25000" dirty="0" err="1"/>
              <a:t>o</a:t>
            </a:r>
            <a:r>
              <a:rPr lang="tr-TR" sz="2200" baseline="0" dirty="0"/>
              <a:t> = 1 noktasında yakınsak mıdır ? </a:t>
            </a:r>
          </a:p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endParaRPr lang="tr-TR" sz="2200" baseline="0" dirty="0"/>
          </a:p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200" baseline="0" dirty="0" smtClean="0"/>
              <a:t>Çözüm : </a:t>
            </a:r>
          </a:p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200" dirty="0"/>
              <a:t> </a:t>
            </a:r>
            <a:r>
              <a:rPr lang="tr-TR" sz="2200" dirty="0" smtClean="0"/>
              <a:t>   </a:t>
            </a:r>
            <a:r>
              <a:rPr lang="tr-TR" sz="2200" baseline="0" dirty="0" smtClean="0"/>
              <a:t>x </a:t>
            </a:r>
            <a:r>
              <a:rPr lang="tr-TR" sz="2200" baseline="0" dirty="0"/>
              <a:t>= x</a:t>
            </a:r>
            <a:r>
              <a:rPr lang="tr-TR" sz="2200" baseline="30000" dirty="0"/>
              <a:t>2</a:t>
            </a:r>
            <a:r>
              <a:rPr lang="tr-TR" sz="2200" baseline="0" dirty="0"/>
              <a:t> – 3  ’ den</a:t>
            </a:r>
          </a:p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200" baseline="0" dirty="0"/>
              <a:t>     y</a:t>
            </a:r>
            <a:r>
              <a:rPr lang="tr-TR" sz="2200" baseline="-25000" dirty="0"/>
              <a:t>1</a:t>
            </a:r>
            <a:r>
              <a:rPr lang="tr-TR" sz="2200" dirty="0"/>
              <a:t> </a:t>
            </a:r>
            <a:r>
              <a:rPr lang="tr-TR" sz="2200" baseline="0" dirty="0"/>
              <a:t>= x </a:t>
            </a:r>
          </a:p>
          <a:p>
            <a:pPr marL="22860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200" baseline="0" dirty="0"/>
              <a:t>     y</a:t>
            </a:r>
            <a:r>
              <a:rPr lang="tr-TR" sz="2200" baseline="-25000" dirty="0"/>
              <a:t>2</a:t>
            </a:r>
            <a:r>
              <a:rPr lang="tr-TR" sz="2200" baseline="0" dirty="0"/>
              <a:t>= x</a:t>
            </a:r>
            <a:r>
              <a:rPr lang="tr-TR" sz="2200" baseline="30000" dirty="0"/>
              <a:t>2</a:t>
            </a:r>
            <a:r>
              <a:rPr lang="tr-TR" sz="2200" baseline="0" dirty="0"/>
              <a:t> – 3 = g(x)  </a:t>
            </a:r>
            <a:r>
              <a:rPr lang="tr-TR" sz="2200" baseline="0" dirty="0">
                <a:sym typeface="Wingdings" pitchFamily="2" charset="2"/>
              </a:rPr>
              <a:t> | </a:t>
            </a:r>
            <a:r>
              <a:rPr lang="tr-TR" sz="2200" baseline="0" dirty="0"/>
              <a:t>g</a:t>
            </a:r>
            <a:r>
              <a:rPr lang="tr-TR" sz="2200" baseline="30000" dirty="0"/>
              <a:t>|</a:t>
            </a:r>
            <a:r>
              <a:rPr lang="tr-TR" sz="2200" baseline="0" dirty="0"/>
              <a:t>(</a:t>
            </a:r>
            <a:r>
              <a:rPr lang="tr-TR" sz="2200" baseline="0" dirty="0" err="1"/>
              <a:t>x</a:t>
            </a:r>
            <a:r>
              <a:rPr lang="tr-TR" sz="2200" baseline="-25000" dirty="0" err="1"/>
              <a:t>o</a:t>
            </a:r>
            <a:r>
              <a:rPr lang="tr-TR" sz="2200" baseline="0" dirty="0"/>
              <a:t>)</a:t>
            </a:r>
            <a:r>
              <a:rPr lang="tr-TR" sz="2200" baseline="0" dirty="0">
                <a:sym typeface="Wingdings" pitchFamily="2" charset="2"/>
              </a:rPr>
              <a:t> = 2x = 2 | &gt; 1    </a:t>
            </a:r>
            <a:r>
              <a:rPr lang="tr-TR" sz="2200" baseline="0" dirty="0" smtClean="0">
                <a:sym typeface="Wingdings" pitchFamily="2" charset="2"/>
              </a:rPr>
              <a:t>olduğundan ıraksaktır</a:t>
            </a:r>
            <a:endParaRPr lang="tr-TR" sz="2200" baseline="0" dirty="0"/>
          </a:p>
        </p:txBody>
      </p:sp>
      <p:sp>
        <p:nvSpPr>
          <p:cNvPr id="2" name="Dikdörtgen 1"/>
          <p:cNvSpPr/>
          <p:nvPr/>
        </p:nvSpPr>
        <p:spPr>
          <a:xfrm>
            <a:off x="54870" y="1309605"/>
            <a:ext cx="1218603" cy="60016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228600" lvl="0" indent="-228600">
              <a:lnSpc>
                <a:spcPct val="150000"/>
              </a:lnSpc>
              <a:spcBef>
                <a:spcPct val="20000"/>
              </a:spcBef>
            </a:pPr>
            <a:r>
              <a:rPr lang="tr-TR" sz="2200" b="1" dirty="0">
                <a:solidFill>
                  <a:srgbClr val="7AA6B0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ÖRNEK</a:t>
            </a:r>
            <a:endParaRPr lang="tr-TR" sz="2200" b="1" dirty="0">
              <a:solidFill>
                <a:srgbClr val="7AA6B0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636302878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9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85852" y="1214422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r>
              <a:rPr lang="tr-TR" sz="1600" b="1" dirty="0" smtClean="0"/>
              <a:t>Basit İterasyon Yöntemi :</a:t>
            </a:r>
          </a:p>
          <a:p>
            <a:pPr marL="0" lvl="1"/>
            <a:endParaRPr lang="tr-TR" sz="1400" b="1" dirty="0" smtClean="0"/>
          </a:p>
          <a:p>
            <a:pPr algn="just"/>
            <a:r>
              <a:rPr lang="tr-TR" sz="1600" dirty="0" smtClean="0"/>
              <a:t>f(x) fonksiyonunun köklerini bulmak için f(x)=0 denkliği x=g(x) durumuna getirilir.</a:t>
            </a:r>
          </a:p>
          <a:p>
            <a:pPr algn="just"/>
            <a:r>
              <a:rPr lang="tr-TR" sz="1600" dirty="0" smtClean="0"/>
              <a:t>Bu eşitliğin anlamı y=x doğrusu ile y=g(x) fonksiyonunun kesişim noktasını bulmaktır.</a:t>
            </a:r>
          </a:p>
          <a:p>
            <a:pPr algn="just"/>
            <a:r>
              <a:rPr lang="tr-TR" sz="1600" dirty="0" smtClean="0"/>
              <a:t>x=x</a:t>
            </a:r>
            <a:r>
              <a:rPr lang="tr-TR" sz="1600" baseline="-25000" dirty="0" smtClean="0"/>
              <a:t>0</a:t>
            </a:r>
            <a:r>
              <a:rPr lang="tr-TR" sz="1600" dirty="0" smtClean="0"/>
              <a:t> başlangıç değeri için g(x</a:t>
            </a:r>
            <a:r>
              <a:rPr lang="tr-TR" sz="1600" baseline="-25000" dirty="0" smtClean="0"/>
              <a:t>0</a:t>
            </a:r>
            <a:r>
              <a:rPr lang="tr-TR" sz="1600" dirty="0" smtClean="0"/>
              <a:t>) değerini bularak işlem yapılırsa ; </a:t>
            </a:r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r>
              <a:rPr lang="tr-TR" sz="1600" b="1" dirty="0" smtClean="0"/>
              <a:t>X</a:t>
            </a:r>
            <a:r>
              <a:rPr lang="tr-TR" sz="1600" dirty="0" smtClean="0"/>
              <a:t>’ in yeni değeri olarak </a:t>
            </a:r>
            <a:r>
              <a:rPr lang="tr-TR" sz="1600" b="1" dirty="0" smtClean="0"/>
              <a:t>X</a:t>
            </a:r>
            <a:r>
              <a:rPr lang="tr-TR" sz="1600" b="1" baseline="-25000" dirty="0" smtClean="0"/>
              <a:t>1</a:t>
            </a:r>
            <a:r>
              <a:rPr lang="tr-TR" sz="1600" b="1" dirty="0" smtClean="0"/>
              <a:t>=g(x</a:t>
            </a:r>
            <a:r>
              <a:rPr lang="tr-TR" sz="1600" b="1" baseline="-25000" dirty="0" smtClean="0"/>
              <a:t>0</a:t>
            </a:r>
            <a:r>
              <a:rPr lang="tr-TR" sz="1600" b="1" dirty="0" smtClean="0"/>
              <a:t>)</a:t>
            </a:r>
            <a:r>
              <a:rPr lang="tr-TR" sz="1600" dirty="0" smtClean="0"/>
              <a:t> alınır. İşlemler tekrarlanırsa  </a:t>
            </a:r>
          </a:p>
          <a:p>
            <a:r>
              <a:rPr lang="tr-TR" sz="1600" dirty="0" smtClean="0"/>
              <a:t>X</a:t>
            </a:r>
            <a:r>
              <a:rPr lang="tr-TR" sz="1600" baseline="-25000" dirty="0" smtClean="0"/>
              <a:t>1</a:t>
            </a:r>
            <a:r>
              <a:rPr lang="tr-TR" sz="1600" dirty="0" smtClean="0"/>
              <a:t>=g(x</a:t>
            </a:r>
            <a:r>
              <a:rPr lang="tr-TR" sz="1600" baseline="-25000" dirty="0" smtClean="0"/>
              <a:t>0</a:t>
            </a:r>
            <a:r>
              <a:rPr lang="tr-TR" sz="1600" dirty="0" smtClean="0"/>
              <a:t>)</a:t>
            </a:r>
          </a:p>
          <a:p>
            <a:r>
              <a:rPr lang="tr-TR" sz="1600" dirty="0" smtClean="0"/>
              <a:t>X</a:t>
            </a:r>
            <a:r>
              <a:rPr lang="tr-TR" sz="1600" baseline="-25000" dirty="0" smtClean="0"/>
              <a:t>2</a:t>
            </a:r>
            <a:r>
              <a:rPr lang="tr-TR" sz="1600" dirty="0" smtClean="0"/>
              <a:t>=g(x</a:t>
            </a:r>
            <a:r>
              <a:rPr lang="tr-TR" sz="1600" baseline="-25000" dirty="0" smtClean="0"/>
              <a:t>1</a:t>
            </a:r>
            <a:r>
              <a:rPr lang="tr-TR" sz="1600" dirty="0" smtClean="0"/>
              <a:t>)</a:t>
            </a:r>
          </a:p>
          <a:p>
            <a:r>
              <a:rPr lang="tr-TR" sz="1600" dirty="0" smtClean="0"/>
              <a:t>…</a:t>
            </a:r>
          </a:p>
          <a:p>
            <a:r>
              <a:rPr lang="tr-TR" sz="1600" dirty="0" err="1" smtClean="0"/>
              <a:t>X</a:t>
            </a:r>
            <a:r>
              <a:rPr lang="tr-TR" sz="1600" baseline="-25000" dirty="0" err="1" smtClean="0"/>
              <a:t>n</a:t>
            </a:r>
            <a:r>
              <a:rPr lang="tr-TR" sz="1600" dirty="0" smtClean="0"/>
              <a:t>=g(</a:t>
            </a:r>
            <a:r>
              <a:rPr lang="tr-TR" sz="1600" dirty="0" err="1" smtClean="0"/>
              <a:t>x</a:t>
            </a:r>
            <a:r>
              <a:rPr lang="tr-TR" sz="1600" baseline="-25000" dirty="0" err="1" smtClean="0"/>
              <a:t>n</a:t>
            </a:r>
            <a:r>
              <a:rPr lang="tr-TR" sz="1600" baseline="-25000" dirty="0" smtClean="0"/>
              <a:t>-1</a:t>
            </a:r>
            <a:r>
              <a:rPr lang="tr-TR" sz="1600" dirty="0" smtClean="0"/>
              <a:t>)      her bir işlem sonunda yeni bir </a:t>
            </a:r>
            <a:r>
              <a:rPr lang="tr-TR" sz="1600" b="1" dirty="0" smtClean="0"/>
              <a:t>X</a:t>
            </a:r>
            <a:r>
              <a:rPr lang="tr-TR" sz="1600" dirty="0" smtClean="0"/>
              <a:t> değeri elde edilir.</a:t>
            </a:r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1" name="10 Resim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83382" y="2643182"/>
            <a:ext cx="2650130" cy="22478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11 Resim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013311" y="2643182"/>
            <a:ext cx="2446562" cy="222597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3" name="12 Resim"/>
          <p:cNvPicPr/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537391" y="2619244"/>
            <a:ext cx="2446274" cy="22478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10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929586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tr-TR" sz="1600" b="1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b="1" dirty="0" smtClean="0"/>
          </a:p>
          <a:p>
            <a:endParaRPr lang="tr-TR" sz="1600" b="1" dirty="0" smtClean="0"/>
          </a:p>
          <a:p>
            <a:endParaRPr lang="tr-TR" sz="1600" b="1" dirty="0" smtClean="0"/>
          </a:p>
          <a:p>
            <a:r>
              <a:rPr lang="tr-TR" sz="1600" b="1" dirty="0" smtClean="0"/>
              <a:t>13.</a:t>
            </a:r>
            <a:r>
              <a:rPr lang="tr-TR" sz="1600" dirty="0" smtClean="0"/>
              <a:t> iterasyondan sonra  </a:t>
            </a:r>
            <a:r>
              <a:rPr lang="tr-TR" sz="1600" b="1" dirty="0" smtClean="0">
                <a:sym typeface="Symbol"/>
              </a:rPr>
              <a:t></a:t>
            </a:r>
            <a:r>
              <a:rPr lang="tr-TR" sz="1600" b="1" dirty="0" smtClean="0"/>
              <a:t> = 0.07</a:t>
            </a:r>
            <a:r>
              <a:rPr lang="tr-TR" sz="1600" dirty="0" smtClean="0"/>
              <a:t>   </a:t>
            </a:r>
          </a:p>
          <a:p>
            <a:r>
              <a:rPr lang="tr-TR" sz="1600" dirty="0" smtClean="0"/>
              <a:t>      hata ile kök değeri </a:t>
            </a:r>
            <a:r>
              <a:rPr lang="tr-TR" sz="1600" b="1" dirty="0" smtClean="0"/>
              <a:t>x=1.4</a:t>
            </a:r>
            <a:r>
              <a:rPr lang="tr-TR" sz="1600" dirty="0" smtClean="0"/>
              <a:t> elde edilir.</a:t>
            </a:r>
          </a:p>
          <a:p>
            <a:r>
              <a:rPr lang="tr-TR" sz="1600" dirty="0" smtClean="0"/>
              <a:t>      ( Yakınsak </a:t>
            </a:r>
            <a:r>
              <a:rPr lang="tr-TR" sz="1600" dirty="0" err="1" smtClean="0"/>
              <a:t>iterasyon</a:t>
            </a:r>
            <a:r>
              <a:rPr lang="tr-TR" sz="1600" dirty="0" smtClean="0"/>
              <a:t> )</a:t>
            </a:r>
          </a:p>
          <a:p>
            <a:endParaRPr lang="tr-TR" sz="20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1" name="10 Resim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004048" y="3284984"/>
            <a:ext cx="3791914" cy="316835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23555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272265" y="1268760"/>
            <a:ext cx="7645802" cy="20882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11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tr-TR" sz="1600" b="1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dirty="0" smtClean="0"/>
          </a:p>
          <a:p>
            <a:endParaRPr lang="tr-TR" sz="1600" b="1" dirty="0" smtClean="0"/>
          </a:p>
          <a:p>
            <a:endParaRPr lang="tr-TR" sz="1600" b="1" dirty="0" smtClean="0"/>
          </a:p>
          <a:p>
            <a:endParaRPr lang="tr-TR" sz="1600" b="1" dirty="0" smtClean="0"/>
          </a:p>
          <a:p>
            <a:endParaRPr lang="tr-TR" sz="20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23554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4403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60390" y="1233893"/>
            <a:ext cx="7682382" cy="514743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9 Dikdörtgen"/>
          <p:cNvSpPr/>
          <p:nvPr/>
        </p:nvSpPr>
        <p:spPr bwMode="auto">
          <a:xfrm>
            <a:off x="1291531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12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12170" y="1160735"/>
            <a:ext cx="7524326" cy="22685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 algn="just">
              <a:spcBef>
                <a:spcPct val="20000"/>
              </a:spcBef>
            </a:pPr>
            <a:r>
              <a:rPr lang="tr-TR" sz="2200" baseline="0" dirty="0" smtClean="0"/>
              <a:t>f(x</a:t>
            </a:r>
            <a:r>
              <a:rPr lang="tr-TR" sz="2200" baseline="0" dirty="0"/>
              <a:t>)= x</a:t>
            </a:r>
            <a:r>
              <a:rPr lang="tr-TR" sz="2200" baseline="30000" dirty="0"/>
              <a:t>3</a:t>
            </a:r>
            <a:r>
              <a:rPr lang="tr-TR" sz="2200" baseline="0" dirty="0"/>
              <a:t>-x-1=0 denkleminin </a:t>
            </a:r>
            <a:r>
              <a:rPr lang="tr-TR" sz="2200" baseline="0" dirty="0" err="1"/>
              <a:t>x</a:t>
            </a:r>
            <a:r>
              <a:rPr lang="tr-TR" sz="2200" baseline="-25000" dirty="0" err="1"/>
              <a:t>o</a:t>
            </a:r>
            <a:r>
              <a:rPr lang="tr-TR" sz="2200" baseline="0" dirty="0"/>
              <a:t>=1.3 civarında kökü olduğu bilindiğine göre, gerçek kökü </a:t>
            </a:r>
            <a:r>
              <a:rPr lang="el-GR" sz="2400" baseline="0" dirty="0" smtClean="0">
                <a:cs typeface="Arial" charset="0"/>
              </a:rPr>
              <a:t>ε</a:t>
            </a:r>
            <a:r>
              <a:rPr lang="tr-TR" sz="2400" dirty="0" smtClean="0">
                <a:cs typeface="Arial" charset="0"/>
              </a:rPr>
              <a:t> </a:t>
            </a:r>
            <a:r>
              <a:rPr lang="tr-TR" sz="2200" baseline="0" dirty="0">
                <a:cs typeface="Arial" charset="0"/>
              </a:rPr>
              <a:t>= 0.0000001</a:t>
            </a:r>
            <a:r>
              <a:rPr lang="tr-TR" sz="2400" baseline="0" dirty="0">
                <a:cs typeface="Arial" charset="0"/>
              </a:rPr>
              <a:t> hassasiyetle </a:t>
            </a:r>
            <a:r>
              <a:rPr lang="tr-TR" sz="2200" baseline="0" dirty="0"/>
              <a:t>basit </a:t>
            </a:r>
            <a:r>
              <a:rPr lang="tr-TR" sz="2200" baseline="0" dirty="0" err="1"/>
              <a:t>iterasyon</a:t>
            </a:r>
            <a:r>
              <a:rPr lang="tr-TR" sz="2200" baseline="0" dirty="0"/>
              <a:t> yöntemiyle bulunuz. </a:t>
            </a:r>
          </a:p>
          <a:p>
            <a:pPr marL="342900" indent="-342900">
              <a:spcBef>
                <a:spcPct val="20000"/>
              </a:spcBef>
            </a:pPr>
            <a:endParaRPr lang="tr-TR" sz="2200" baseline="0" dirty="0"/>
          </a:p>
          <a:p>
            <a:pPr marL="342900" indent="-342900" algn="just">
              <a:spcBef>
                <a:spcPct val="20000"/>
              </a:spcBef>
            </a:pPr>
            <a:r>
              <a:rPr lang="tr-TR" sz="2200" baseline="0" dirty="0"/>
              <a:t>Bu denklemin </a:t>
            </a:r>
            <a:r>
              <a:rPr lang="tr-TR" sz="2200" baseline="0" dirty="0" err="1"/>
              <a:t>x</a:t>
            </a:r>
            <a:r>
              <a:rPr lang="tr-TR" sz="2200" baseline="-25000" dirty="0" err="1"/>
              <a:t>o</a:t>
            </a:r>
            <a:r>
              <a:rPr lang="tr-TR" sz="2200" baseline="0" dirty="0"/>
              <a:t>=1.3 civarında kökü olduğu bilindiğine göre önce şartları sağlayıp sağlamadığına bakalım.</a:t>
            </a:r>
          </a:p>
          <a:p>
            <a:pPr marL="342900" indent="-342900" algn="just">
              <a:spcBef>
                <a:spcPct val="20000"/>
              </a:spcBef>
            </a:pPr>
            <a:endParaRPr lang="tr-TR" sz="2200" baseline="0" dirty="0"/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485456" y="3912050"/>
            <a:ext cx="7776864" cy="12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tr-TR" sz="2200" b="1" baseline="0" dirty="0"/>
              <a:t>Çözüm:</a:t>
            </a:r>
          </a:p>
          <a:p>
            <a:pPr>
              <a:spcBef>
                <a:spcPct val="30000"/>
              </a:spcBef>
            </a:pPr>
            <a:r>
              <a:rPr lang="tr-TR" sz="2200" baseline="0" dirty="0"/>
              <a:t>Denklemi;  x=g(x) şeklinde yazılım. (Yani x=g(x) dönüşümü yapılır)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1728069" y="5237435"/>
            <a:ext cx="6776056" cy="144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r>
              <a:rPr lang="tr-TR" sz="2200" baseline="0" dirty="0"/>
              <a:t>a)       x=x</a:t>
            </a:r>
            <a:r>
              <a:rPr lang="tr-TR" sz="2200" baseline="30000" dirty="0"/>
              <a:t>3</a:t>
            </a:r>
            <a:r>
              <a:rPr lang="tr-TR" sz="2200" baseline="0" dirty="0"/>
              <a:t>-1 </a:t>
            </a:r>
            <a:r>
              <a:rPr lang="tr-TR" sz="2200" baseline="0" dirty="0">
                <a:sym typeface="Wingdings" pitchFamily="2" charset="2"/>
              </a:rPr>
              <a:t> g(x)= x</a:t>
            </a:r>
            <a:r>
              <a:rPr lang="tr-TR" sz="2200" baseline="30000" dirty="0">
                <a:sym typeface="Wingdings" pitchFamily="2" charset="2"/>
              </a:rPr>
              <a:t>3</a:t>
            </a:r>
            <a:r>
              <a:rPr lang="tr-TR" sz="2200" baseline="0" dirty="0">
                <a:sym typeface="Wingdings" pitchFamily="2" charset="2"/>
              </a:rPr>
              <a:t>-1 </a:t>
            </a:r>
          </a:p>
          <a:p>
            <a:pPr lvl="1"/>
            <a:r>
              <a:rPr lang="tr-TR" sz="2200" baseline="0" dirty="0">
                <a:sym typeface="Wingdings" pitchFamily="2" charset="2"/>
              </a:rPr>
              <a:t>          ve </a:t>
            </a:r>
            <a:r>
              <a:rPr lang="tr-TR" sz="2200" baseline="0" dirty="0" err="1">
                <a:sym typeface="Wingdings" pitchFamily="2" charset="2"/>
              </a:rPr>
              <a:t>g</a:t>
            </a:r>
            <a:r>
              <a:rPr lang="tr-TR" sz="2200" baseline="30000" dirty="0" err="1">
                <a:sym typeface="Wingdings" pitchFamily="2" charset="2"/>
              </a:rPr>
              <a:t>ı</a:t>
            </a:r>
            <a:r>
              <a:rPr lang="tr-TR" sz="2200" baseline="0" dirty="0">
                <a:sym typeface="Wingdings" pitchFamily="2" charset="2"/>
              </a:rPr>
              <a:t>(x)=3x</a:t>
            </a:r>
            <a:r>
              <a:rPr lang="tr-TR" sz="2200" baseline="30000" dirty="0">
                <a:sym typeface="Wingdings" pitchFamily="2" charset="2"/>
              </a:rPr>
              <a:t>2</a:t>
            </a:r>
            <a:r>
              <a:rPr lang="tr-TR" sz="2200" baseline="0" dirty="0">
                <a:sym typeface="Wingdings" pitchFamily="2" charset="2"/>
              </a:rPr>
              <a:t> olur.  </a:t>
            </a:r>
          </a:p>
          <a:p>
            <a:pPr lvl="1"/>
            <a:r>
              <a:rPr lang="tr-TR" sz="2200" baseline="0" dirty="0">
                <a:sym typeface="Wingdings" pitchFamily="2" charset="2"/>
              </a:rPr>
              <a:t>          | </a:t>
            </a:r>
            <a:r>
              <a:rPr lang="tr-TR" sz="2200" baseline="0" dirty="0" err="1">
                <a:sym typeface="Wingdings" pitchFamily="2" charset="2"/>
              </a:rPr>
              <a:t>g</a:t>
            </a:r>
            <a:r>
              <a:rPr lang="tr-TR" sz="2200" baseline="30000" dirty="0" err="1">
                <a:sym typeface="Wingdings" pitchFamily="2" charset="2"/>
              </a:rPr>
              <a:t>ı</a:t>
            </a:r>
            <a:r>
              <a:rPr lang="tr-TR" sz="2200" baseline="0" dirty="0">
                <a:sym typeface="Wingdings" pitchFamily="2" charset="2"/>
              </a:rPr>
              <a:t>(</a:t>
            </a:r>
            <a:r>
              <a:rPr lang="tr-TR" sz="2200" baseline="0" dirty="0" err="1">
                <a:sym typeface="Wingdings" pitchFamily="2" charset="2"/>
              </a:rPr>
              <a:t>x</a:t>
            </a:r>
            <a:r>
              <a:rPr lang="tr-TR" sz="2200" baseline="-25000" dirty="0" err="1">
                <a:sym typeface="Wingdings" pitchFamily="2" charset="2"/>
              </a:rPr>
              <a:t>o</a:t>
            </a:r>
            <a:r>
              <a:rPr lang="tr-TR" sz="2200" baseline="0" dirty="0">
                <a:sym typeface="Wingdings" pitchFamily="2" charset="2"/>
              </a:rPr>
              <a:t>) | = | 3x</a:t>
            </a:r>
            <a:r>
              <a:rPr lang="tr-TR" sz="2200" baseline="30000" dirty="0">
                <a:sym typeface="Wingdings" pitchFamily="2" charset="2"/>
              </a:rPr>
              <a:t>2</a:t>
            </a:r>
            <a:r>
              <a:rPr lang="tr-TR" sz="2200" baseline="0" dirty="0">
                <a:sym typeface="Wingdings" pitchFamily="2" charset="2"/>
              </a:rPr>
              <a:t> | = 5.07 &gt; 1 </a:t>
            </a:r>
          </a:p>
          <a:p>
            <a:pPr lvl="1"/>
            <a:r>
              <a:rPr lang="tr-TR" sz="2200" baseline="0" dirty="0">
                <a:sym typeface="Wingdings" pitchFamily="2" charset="2"/>
              </a:rPr>
              <a:t>	olduğu için yaklaşım çok zordur. Yani kök yoktur.</a:t>
            </a:r>
          </a:p>
        </p:txBody>
      </p:sp>
      <p:sp>
        <p:nvSpPr>
          <p:cNvPr id="2" name="Dikdörtgen 1"/>
          <p:cNvSpPr/>
          <p:nvPr/>
        </p:nvSpPr>
        <p:spPr>
          <a:xfrm>
            <a:off x="18471" y="1394282"/>
            <a:ext cx="12186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20000"/>
              </a:spcBef>
            </a:pPr>
            <a:r>
              <a:rPr lang="tr-TR" sz="2200" b="1" dirty="0">
                <a:solidFill>
                  <a:srgbClr val="7AA6B0">
                    <a:lumMod val="50000"/>
                  </a:srgb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ÖRNEK</a:t>
            </a:r>
            <a:endParaRPr lang="tr-TR" sz="2200" b="1" dirty="0">
              <a:solidFill>
                <a:srgbClr val="7AA6B0">
                  <a:lumMod val="50000"/>
                </a:srgb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323362842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9 Dikdörtgen"/>
          <p:cNvSpPr/>
          <p:nvPr/>
        </p:nvSpPr>
        <p:spPr bwMode="auto">
          <a:xfrm>
            <a:off x="1291531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13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15"/>
          <p:cNvSpPr>
            <a:spLocks noChangeArrowheads="1"/>
          </p:cNvSpPr>
          <p:nvPr/>
        </p:nvSpPr>
        <p:spPr bwMode="auto">
          <a:xfrm>
            <a:off x="1403648" y="1226840"/>
            <a:ext cx="41402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</a:pPr>
            <a:r>
              <a:rPr lang="tr-TR" sz="2200" baseline="0"/>
              <a:t>b)       f(x) = x( x</a:t>
            </a:r>
            <a:r>
              <a:rPr lang="tr-TR" sz="2200" baseline="30000"/>
              <a:t>2 </a:t>
            </a:r>
            <a:r>
              <a:rPr lang="tr-TR" sz="2200" baseline="0"/>
              <a:t>- 1) -1 =0’ dan </a:t>
            </a:r>
          </a:p>
        </p:txBody>
      </p:sp>
      <p:graphicFrame>
        <p:nvGraphicFramePr>
          <p:cNvPr id="11" name="Object 1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43774655"/>
              </p:ext>
            </p:extLst>
          </p:nvPr>
        </p:nvGraphicFramePr>
        <p:xfrm>
          <a:off x="1475656" y="1839615"/>
          <a:ext cx="1296988" cy="8032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6" name="Denklem" r:id="rId4" imgW="634680" imgH="393480" progId="Equation.3">
                  <p:embed/>
                </p:oleObj>
              </mc:Choice>
              <mc:Fallback>
                <p:oleObj name="Denklem" r:id="rId4" imgW="63468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75656" y="1839615"/>
                        <a:ext cx="1296988" cy="8032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2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550028459"/>
              </p:ext>
            </p:extLst>
          </p:nvPr>
        </p:nvGraphicFramePr>
        <p:xfrm>
          <a:off x="3563888" y="1885652"/>
          <a:ext cx="2879725" cy="81756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7" name="Denklem" r:id="rId6" imgW="1612800" imgH="457200" progId="Equation.3">
                  <p:embed/>
                </p:oleObj>
              </mc:Choice>
              <mc:Fallback>
                <p:oleObj name="Denklem" r:id="rId6" imgW="1612800" imgH="4572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563888" y="1885652"/>
                        <a:ext cx="2879725" cy="81756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Line 18"/>
          <p:cNvSpPr>
            <a:spLocks noChangeShapeType="1"/>
          </p:cNvSpPr>
          <p:nvPr/>
        </p:nvSpPr>
        <p:spPr bwMode="auto">
          <a:xfrm>
            <a:off x="2843808" y="2276872"/>
            <a:ext cx="468313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tr-TR"/>
          </a:p>
        </p:txBody>
      </p:sp>
      <p:sp>
        <p:nvSpPr>
          <p:cNvPr id="14" name="Rectangle 20"/>
          <p:cNvSpPr>
            <a:spLocks noChangeArrowheads="1"/>
          </p:cNvSpPr>
          <p:nvPr/>
        </p:nvSpPr>
        <p:spPr bwMode="auto">
          <a:xfrm>
            <a:off x="1511598" y="3206452"/>
            <a:ext cx="2592387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30000"/>
              </a:spcBef>
            </a:pPr>
            <a:r>
              <a:rPr lang="tr-TR" sz="2200" baseline="0"/>
              <a:t>c)       x</a:t>
            </a:r>
            <a:r>
              <a:rPr lang="tr-TR" sz="2200" baseline="30000"/>
              <a:t>3</a:t>
            </a:r>
            <a:r>
              <a:rPr lang="tr-TR" sz="2200" baseline="0"/>
              <a:t>=x+1 ’ den </a:t>
            </a:r>
          </a:p>
        </p:txBody>
      </p:sp>
      <p:graphicFrame>
        <p:nvGraphicFramePr>
          <p:cNvPr id="15" name="Object 21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2468853443"/>
              </p:ext>
            </p:extLst>
          </p:nvPr>
        </p:nvGraphicFramePr>
        <p:xfrm>
          <a:off x="2303760" y="3643015"/>
          <a:ext cx="5219700" cy="75247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8" name="Denklem" r:id="rId8" imgW="2730240" imgH="393480" progId="Equation.3">
                  <p:embed/>
                </p:oleObj>
              </mc:Choice>
              <mc:Fallback>
                <p:oleObj name="Denklem" r:id="rId8" imgW="2730240" imgH="393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303760" y="3643015"/>
                        <a:ext cx="5219700" cy="75247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3"/>
          <p:cNvSpPr>
            <a:spLocks noChangeArrowheads="1"/>
          </p:cNvSpPr>
          <p:nvPr/>
        </p:nvSpPr>
        <p:spPr bwMode="auto">
          <a:xfrm>
            <a:off x="2159298" y="4287540"/>
            <a:ext cx="6445250" cy="1265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>
              <a:spcBef>
                <a:spcPct val="50000"/>
              </a:spcBef>
            </a:pPr>
            <a:r>
              <a:rPr lang="tr-TR" sz="2200" baseline="0" dirty="0">
                <a:sym typeface="Wingdings" pitchFamily="2" charset="2"/>
              </a:rPr>
              <a:t>Olduğu için yaklaşım vardır. Yani köke ulaşılır.</a:t>
            </a:r>
            <a:endParaRPr lang="tr-TR" sz="2200" baseline="0" dirty="0"/>
          </a:p>
          <a:p>
            <a:pPr lvl="1">
              <a:spcBef>
                <a:spcPct val="50000"/>
              </a:spcBef>
            </a:pPr>
            <a:r>
              <a:rPr lang="tr-TR" sz="2200" baseline="0" dirty="0"/>
              <a:t>c) şıkkı yakınsama şartını yerine getirdiğinden </a:t>
            </a:r>
            <a:r>
              <a:rPr lang="tr-TR" sz="2200" baseline="0" dirty="0" err="1"/>
              <a:t>iterasyon</a:t>
            </a:r>
            <a:r>
              <a:rPr lang="tr-TR" sz="2200" baseline="0" dirty="0"/>
              <a:t> bu şekilde başlatılır. </a:t>
            </a:r>
          </a:p>
        </p:txBody>
      </p:sp>
      <p:sp>
        <p:nvSpPr>
          <p:cNvPr id="17" name="Rectangle 24"/>
          <p:cNvSpPr>
            <a:spLocks noChangeArrowheads="1"/>
          </p:cNvSpPr>
          <p:nvPr/>
        </p:nvSpPr>
        <p:spPr bwMode="auto">
          <a:xfrm>
            <a:off x="1619672" y="5835352"/>
            <a:ext cx="75960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lvl="1"/>
            <a:r>
              <a:rPr lang="tr-TR" sz="2200" baseline="0" dirty="0"/>
              <a:t>X</a:t>
            </a:r>
            <a:r>
              <a:rPr lang="tr-TR" sz="2200" baseline="-25000" dirty="0"/>
              <a:t>k+1</a:t>
            </a:r>
            <a:r>
              <a:rPr lang="tr-TR" sz="2200" baseline="0" dirty="0"/>
              <a:t> = g(</a:t>
            </a:r>
            <a:r>
              <a:rPr lang="tr-TR" sz="2200" baseline="0" dirty="0" err="1"/>
              <a:t>x</a:t>
            </a:r>
            <a:r>
              <a:rPr lang="tr-TR" sz="2200" baseline="-25000" dirty="0" err="1"/>
              <a:t>k</a:t>
            </a:r>
            <a:r>
              <a:rPr lang="tr-TR" sz="2200" baseline="0" dirty="0"/>
              <a:t>) yaklaşımıyla köke ulaşılmaya çalışılır.</a:t>
            </a:r>
          </a:p>
          <a:p>
            <a:pPr lvl="1"/>
            <a:r>
              <a:rPr lang="tr-TR" sz="2200" baseline="0" dirty="0"/>
              <a:t>X</a:t>
            </a:r>
            <a:r>
              <a:rPr lang="tr-TR" sz="2200" baseline="-25000" dirty="0"/>
              <a:t>1</a:t>
            </a:r>
            <a:r>
              <a:rPr lang="tr-TR" sz="2200" baseline="0" dirty="0"/>
              <a:t>=g(</a:t>
            </a:r>
            <a:r>
              <a:rPr lang="tr-TR" sz="2200" baseline="0" dirty="0" err="1"/>
              <a:t>x</a:t>
            </a:r>
            <a:r>
              <a:rPr lang="tr-TR" sz="2200" baseline="-25000" dirty="0" err="1"/>
              <a:t>o</a:t>
            </a:r>
            <a:r>
              <a:rPr lang="tr-TR" sz="2200" baseline="0" dirty="0"/>
              <a:t>) olacaktır.</a:t>
            </a:r>
          </a:p>
        </p:txBody>
      </p:sp>
      <p:sp>
        <p:nvSpPr>
          <p:cNvPr id="18" name="Rectangle 25"/>
          <p:cNvSpPr>
            <a:spLocks noChangeArrowheads="1"/>
          </p:cNvSpPr>
          <p:nvPr/>
        </p:nvSpPr>
        <p:spPr bwMode="auto">
          <a:xfrm>
            <a:off x="6375432" y="1799818"/>
            <a:ext cx="2592289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marL="177800" lvl="1"/>
            <a:r>
              <a:rPr lang="tr-TR" sz="1400" baseline="0" dirty="0">
                <a:sym typeface="Wingdings" pitchFamily="2" charset="2"/>
              </a:rPr>
              <a:t>     </a:t>
            </a:r>
            <a:r>
              <a:rPr lang="tr-TR" sz="2000" baseline="0" dirty="0">
                <a:sym typeface="Wingdings" pitchFamily="2" charset="2"/>
              </a:rPr>
              <a:t>| </a:t>
            </a:r>
            <a:r>
              <a:rPr lang="tr-TR" sz="2000" baseline="0" dirty="0" err="1">
                <a:sym typeface="Wingdings" pitchFamily="2" charset="2"/>
              </a:rPr>
              <a:t>g</a:t>
            </a:r>
            <a:r>
              <a:rPr lang="tr-TR" sz="2000" baseline="30000" dirty="0" err="1">
                <a:sym typeface="Wingdings" pitchFamily="2" charset="2"/>
              </a:rPr>
              <a:t>ı</a:t>
            </a:r>
            <a:r>
              <a:rPr lang="tr-TR" sz="2000" baseline="0" dirty="0">
                <a:sym typeface="Wingdings" pitchFamily="2" charset="2"/>
              </a:rPr>
              <a:t>(</a:t>
            </a:r>
            <a:r>
              <a:rPr lang="tr-TR" sz="2000" baseline="0" dirty="0" err="1">
                <a:sym typeface="Wingdings" pitchFamily="2" charset="2"/>
              </a:rPr>
              <a:t>x</a:t>
            </a:r>
            <a:r>
              <a:rPr lang="tr-TR" sz="2000" baseline="-25000" dirty="0" err="1">
                <a:sym typeface="Wingdings" pitchFamily="2" charset="2"/>
              </a:rPr>
              <a:t>o</a:t>
            </a:r>
            <a:r>
              <a:rPr lang="tr-TR" sz="2000" baseline="0" dirty="0">
                <a:sym typeface="Wingdings" pitchFamily="2" charset="2"/>
              </a:rPr>
              <a:t>) | = 5.46 &gt; 1</a:t>
            </a:r>
            <a:r>
              <a:rPr lang="tr-TR" sz="2000" dirty="0">
                <a:sym typeface="Wingdings" pitchFamily="2" charset="2"/>
              </a:rPr>
              <a:t>  </a:t>
            </a:r>
            <a:endParaRPr lang="tr-TR" sz="2000" dirty="0" smtClean="0">
              <a:sym typeface="Wingdings" pitchFamily="2" charset="2"/>
            </a:endParaRPr>
          </a:p>
          <a:p>
            <a:pPr lvl="1"/>
            <a:r>
              <a:rPr lang="tr-TR" sz="2000" baseline="0" dirty="0">
                <a:sym typeface="Wingdings" pitchFamily="2" charset="2"/>
              </a:rPr>
              <a:t> </a:t>
            </a:r>
            <a:r>
              <a:rPr lang="tr-TR" sz="2000" baseline="0" dirty="0" smtClean="0">
                <a:sym typeface="Wingdings" pitchFamily="2" charset="2"/>
              </a:rPr>
              <a:t>  </a:t>
            </a:r>
            <a:r>
              <a:rPr lang="tr-TR" sz="1600" baseline="0" dirty="0" smtClean="0">
                <a:sym typeface="Wingdings" pitchFamily="2" charset="2"/>
              </a:rPr>
              <a:t>olduğu </a:t>
            </a:r>
            <a:r>
              <a:rPr lang="tr-TR" sz="1600" baseline="0" dirty="0">
                <a:sym typeface="Wingdings" pitchFamily="2" charset="2"/>
              </a:rPr>
              <a:t>için </a:t>
            </a:r>
            <a:r>
              <a:rPr lang="tr-TR" sz="1600" baseline="0" dirty="0" smtClean="0">
                <a:sym typeface="Wingdings" pitchFamily="2" charset="2"/>
              </a:rPr>
              <a:t>yaklaşım  </a:t>
            </a:r>
          </a:p>
          <a:p>
            <a:pPr lvl="1"/>
            <a:r>
              <a:rPr lang="tr-TR" sz="1600" dirty="0">
                <a:sym typeface="Wingdings" pitchFamily="2" charset="2"/>
              </a:rPr>
              <a:t> </a:t>
            </a:r>
            <a:r>
              <a:rPr lang="tr-TR" sz="1600" dirty="0" smtClean="0">
                <a:sym typeface="Wingdings" pitchFamily="2" charset="2"/>
              </a:rPr>
              <a:t>  </a:t>
            </a:r>
            <a:r>
              <a:rPr lang="tr-TR" sz="1600" baseline="0" dirty="0" smtClean="0">
                <a:sym typeface="Wingdings" pitchFamily="2" charset="2"/>
              </a:rPr>
              <a:t>çok </a:t>
            </a:r>
            <a:r>
              <a:rPr lang="tr-TR" sz="1600" baseline="0" dirty="0">
                <a:sym typeface="Wingdings" pitchFamily="2" charset="2"/>
              </a:rPr>
              <a:t>zor.</a:t>
            </a:r>
          </a:p>
        </p:txBody>
      </p:sp>
    </p:spTree>
    <p:extLst>
      <p:ext uri="{BB962C8B-B14F-4D97-AF65-F5344CB8AC3E}">
        <p14:creationId xmlns:p14="http://schemas.microsoft.com/office/powerpoint/2010/main" val="2069636886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9 Dikdörtgen"/>
          <p:cNvSpPr/>
          <p:nvPr/>
        </p:nvSpPr>
        <p:spPr bwMode="auto">
          <a:xfrm>
            <a:off x="1291531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14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691680" y="1315095"/>
            <a:ext cx="7993062" cy="14763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tr-TR" sz="2200" baseline="0" dirty="0"/>
              <a:t>k=0 için</a:t>
            </a:r>
          </a:p>
          <a:p>
            <a:pPr marL="342900" indent="-342900">
              <a:spcBef>
                <a:spcPct val="20000"/>
              </a:spcBef>
            </a:pPr>
            <a:r>
              <a:rPr lang="tr-TR" sz="2200" baseline="0" dirty="0"/>
              <a:t>x</a:t>
            </a:r>
            <a:r>
              <a:rPr lang="tr-TR" sz="2000" baseline="-25000" dirty="0"/>
              <a:t>1</a:t>
            </a:r>
            <a:r>
              <a:rPr lang="tr-TR" sz="2200" baseline="0" dirty="0"/>
              <a:t>= g(</a:t>
            </a:r>
            <a:r>
              <a:rPr lang="tr-TR" sz="2200" baseline="0" dirty="0" err="1"/>
              <a:t>x</a:t>
            </a:r>
            <a:r>
              <a:rPr lang="tr-TR" sz="2000" baseline="-25000" dirty="0" err="1"/>
              <a:t>o</a:t>
            </a:r>
            <a:r>
              <a:rPr lang="tr-TR" sz="2200" baseline="0" dirty="0"/>
              <a:t>)= (x+1)</a:t>
            </a:r>
            <a:r>
              <a:rPr lang="tr-TR" sz="2200" baseline="30000" dirty="0"/>
              <a:t>1/3  </a:t>
            </a:r>
            <a:r>
              <a:rPr lang="tr-TR" sz="2200" baseline="0" dirty="0"/>
              <a:t>= (1.3+1)</a:t>
            </a:r>
            <a:r>
              <a:rPr lang="tr-TR" sz="2200" baseline="30000" dirty="0"/>
              <a:t>1/3 </a:t>
            </a:r>
            <a:r>
              <a:rPr lang="tr-TR" sz="2200" baseline="0" dirty="0">
                <a:sym typeface="Wingdings" pitchFamily="2" charset="2"/>
              </a:rPr>
              <a:t>   x</a:t>
            </a:r>
            <a:r>
              <a:rPr lang="tr-TR" sz="2000" baseline="-25000" dirty="0">
                <a:sym typeface="Wingdings" pitchFamily="2" charset="2"/>
              </a:rPr>
              <a:t>1</a:t>
            </a:r>
            <a:r>
              <a:rPr lang="tr-TR" sz="2200" baseline="0" dirty="0">
                <a:sym typeface="Wingdings" pitchFamily="2" charset="2"/>
              </a:rPr>
              <a:t>= 1.3200061   </a:t>
            </a:r>
          </a:p>
          <a:p>
            <a:pPr marL="342900" indent="-342900">
              <a:spcBef>
                <a:spcPct val="20000"/>
              </a:spcBef>
            </a:pPr>
            <a:r>
              <a:rPr lang="tr-TR" sz="2200" baseline="0" dirty="0">
                <a:sym typeface="Wingdings" pitchFamily="2" charset="2"/>
              </a:rPr>
              <a:t>                             </a:t>
            </a:r>
            <a:endParaRPr lang="tr-TR" sz="2200" baseline="0" dirty="0">
              <a:solidFill>
                <a:srgbClr val="000099"/>
              </a:solidFill>
            </a:endParaRPr>
          </a:p>
        </p:txBody>
      </p:sp>
      <p:sp>
        <p:nvSpPr>
          <p:cNvPr id="11" name="Text Box 11"/>
          <p:cNvSpPr txBox="1">
            <a:spLocks noChangeArrowheads="1"/>
          </p:cNvSpPr>
          <p:nvPr/>
        </p:nvSpPr>
        <p:spPr bwMode="auto">
          <a:xfrm>
            <a:off x="1728105" y="2600049"/>
            <a:ext cx="3492500" cy="38010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200" baseline="0" dirty="0"/>
              <a:t>Mutlak </a:t>
            </a:r>
            <a:r>
              <a:rPr lang="tr-TR" sz="2000" baseline="-25000" dirty="0"/>
              <a:t>hata</a:t>
            </a:r>
          </a:p>
          <a:p>
            <a:pPr>
              <a:spcBef>
                <a:spcPct val="50000"/>
              </a:spcBef>
            </a:pPr>
            <a:r>
              <a:rPr lang="tr-TR" sz="2200" baseline="0" dirty="0"/>
              <a:t>E</a:t>
            </a:r>
            <a:r>
              <a:rPr lang="tr-TR" sz="2200" dirty="0"/>
              <a:t>t </a:t>
            </a:r>
            <a:r>
              <a:rPr lang="tr-TR" sz="2200" baseline="0" dirty="0"/>
              <a:t>= x</a:t>
            </a:r>
            <a:r>
              <a:rPr lang="tr-TR" sz="2000" baseline="-25000" dirty="0"/>
              <a:t>1</a:t>
            </a:r>
            <a:r>
              <a:rPr lang="tr-TR" sz="2200" baseline="0" dirty="0"/>
              <a:t> –</a:t>
            </a:r>
            <a:r>
              <a:rPr lang="tr-TR" sz="2200" baseline="0" dirty="0" err="1"/>
              <a:t>x</a:t>
            </a:r>
            <a:r>
              <a:rPr lang="tr-TR" sz="2000" baseline="-25000" dirty="0" err="1"/>
              <a:t>o</a:t>
            </a:r>
            <a:endParaRPr lang="tr-TR" sz="2000" baseline="-25000" dirty="0"/>
          </a:p>
          <a:p>
            <a:pPr>
              <a:spcBef>
                <a:spcPct val="50000"/>
              </a:spcBef>
            </a:pPr>
            <a:r>
              <a:rPr lang="tr-TR" sz="2200" dirty="0"/>
              <a:t>      </a:t>
            </a:r>
            <a:r>
              <a:rPr lang="tr-TR" sz="2200" baseline="0" dirty="0"/>
              <a:t>= 1.3200061 – 1.3</a:t>
            </a:r>
          </a:p>
          <a:p>
            <a:pPr>
              <a:spcBef>
                <a:spcPct val="50000"/>
              </a:spcBef>
            </a:pPr>
            <a:r>
              <a:rPr lang="tr-TR" sz="2200" baseline="0" dirty="0"/>
              <a:t>    =  0.0200061</a:t>
            </a:r>
          </a:p>
          <a:p>
            <a:pPr>
              <a:spcBef>
                <a:spcPct val="50000"/>
              </a:spcBef>
            </a:pPr>
            <a:r>
              <a:rPr lang="tr-TR" sz="2400" baseline="0" dirty="0" smtClean="0">
                <a:cs typeface="Arial" charset="0"/>
              </a:rPr>
              <a:t>| </a:t>
            </a:r>
            <a:r>
              <a:rPr lang="el-GR" baseline="0" dirty="0"/>
              <a:t>ε</a:t>
            </a:r>
            <a:r>
              <a:rPr lang="tr-TR" sz="2000" baseline="-25000" dirty="0"/>
              <a:t>t</a:t>
            </a:r>
            <a:r>
              <a:rPr lang="tr-TR" baseline="0" dirty="0"/>
              <a:t> </a:t>
            </a:r>
            <a:r>
              <a:rPr lang="tr-TR" sz="2400" baseline="0" dirty="0">
                <a:cs typeface="Arial" charset="0"/>
              </a:rPr>
              <a:t>| &lt; </a:t>
            </a:r>
            <a:r>
              <a:rPr lang="el-GR" sz="2400" baseline="0" dirty="0"/>
              <a:t>ε</a:t>
            </a:r>
            <a:r>
              <a:rPr lang="tr-TR" sz="2000" baseline="-25000" dirty="0"/>
              <a:t>k</a:t>
            </a:r>
            <a:r>
              <a:rPr lang="tr-TR" sz="2400" baseline="0" dirty="0"/>
              <a:t> şartı sağlanmadığı için </a:t>
            </a:r>
            <a:r>
              <a:rPr lang="tr-TR" sz="2400" baseline="0" dirty="0" err="1"/>
              <a:t>iterasyona</a:t>
            </a:r>
            <a:r>
              <a:rPr lang="tr-TR" sz="2400" baseline="0" dirty="0"/>
              <a:t> devam edilir.</a:t>
            </a:r>
            <a:endParaRPr lang="el-GR" sz="2400" baseline="0" dirty="0">
              <a:cs typeface="Arial" charset="0"/>
            </a:endParaRPr>
          </a:p>
          <a:p>
            <a:pPr>
              <a:spcBef>
                <a:spcPct val="50000"/>
              </a:spcBef>
            </a:pPr>
            <a:endParaRPr lang="tr-TR" sz="2400" baseline="0" dirty="0"/>
          </a:p>
        </p:txBody>
      </p:sp>
      <p:sp>
        <p:nvSpPr>
          <p:cNvPr id="12" name="Text Box 13"/>
          <p:cNvSpPr txBox="1">
            <a:spLocks noChangeArrowheads="1"/>
          </p:cNvSpPr>
          <p:nvPr/>
        </p:nvSpPr>
        <p:spPr bwMode="auto">
          <a:xfrm>
            <a:off x="5460947" y="2632725"/>
            <a:ext cx="3672483" cy="264687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200" baseline="0" dirty="0"/>
              <a:t>Bağıl hata</a:t>
            </a:r>
          </a:p>
          <a:p>
            <a:pPr>
              <a:spcBef>
                <a:spcPct val="50000"/>
              </a:spcBef>
            </a:pPr>
            <a:r>
              <a:rPr lang="el-GR" sz="2400" baseline="0" dirty="0">
                <a:cs typeface="Arial" charset="0"/>
              </a:rPr>
              <a:t>ε</a:t>
            </a:r>
            <a:r>
              <a:rPr lang="tr-TR" sz="2000" baseline="-25000" dirty="0"/>
              <a:t>t</a:t>
            </a:r>
            <a:r>
              <a:rPr lang="tr-TR" sz="2200" baseline="0" dirty="0">
                <a:cs typeface="Arial" charset="0"/>
              </a:rPr>
              <a:t> = E</a:t>
            </a:r>
            <a:r>
              <a:rPr lang="tr-TR" sz="2000" baseline="-25000" dirty="0"/>
              <a:t>t</a:t>
            </a:r>
            <a:r>
              <a:rPr lang="tr-TR" sz="2200" dirty="0">
                <a:cs typeface="Arial" charset="0"/>
              </a:rPr>
              <a:t> </a:t>
            </a:r>
            <a:r>
              <a:rPr lang="tr-TR" sz="2200" baseline="0" dirty="0">
                <a:cs typeface="Arial" charset="0"/>
              </a:rPr>
              <a:t>/ </a:t>
            </a:r>
            <a:r>
              <a:rPr lang="tr-TR" sz="2400" baseline="0" dirty="0"/>
              <a:t>x</a:t>
            </a:r>
            <a:r>
              <a:rPr lang="tr-TR" sz="2000" baseline="-25000" dirty="0"/>
              <a:t>1</a:t>
            </a:r>
            <a:r>
              <a:rPr lang="tr-TR" sz="2400" baseline="0" dirty="0"/>
              <a:t> </a:t>
            </a:r>
          </a:p>
          <a:p>
            <a:pPr>
              <a:spcBef>
                <a:spcPct val="50000"/>
              </a:spcBef>
            </a:pPr>
            <a:r>
              <a:rPr lang="tr-TR" sz="2400" baseline="0" dirty="0"/>
              <a:t>   = 0.0200061/ 1.3200061</a:t>
            </a:r>
          </a:p>
          <a:p>
            <a:pPr>
              <a:spcBef>
                <a:spcPct val="50000"/>
              </a:spcBef>
            </a:pPr>
            <a:r>
              <a:rPr lang="tr-TR" sz="2400" baseline="0" dirty="0"/>
              <a:t>   =0.015156   </a:t>
            </a:r>
            <a:r>
              <a:rPr lang="tr-TR" sz="2400" baseline="0" dirty="0">
                <a:sym typeface="Wingdings" pitchFamily="2" charset="2"/>
              </a:rPr>
              <a:t> % 1,5156</a:t>
            </a:r>
            <a:endParaRPr lang="el-GR" sz="2400" baseline="0" dirty="0">
              <a:cs typeface="Arial" charset="0"/>
            </a:endParaRPr>
          </a:p>
          <a:p>
            <a:pPr>
              <a:spcBef>
                <a:spcPct val="50000"/>
              </a:spcBef>
            </a:pPr>
            <a:endParaRPr lang="tr-TR" sz="2400" baseline="0" dirty="0"/>
          </a:p>
        </p:txBody>
      </p:sp>
    </p:spTree>
    <p:extLst>
      <p:ext uri="{BB962C8B-B14F-4D97-AF65-F5344CB8AC3E}">
        <p14:creationId xmlns:p14="http://schemas.microsoft.com/office/powerpoint/2010/main" val="2128341161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9 Dikdörtgen"/>
          <p:cNvSpPr/>
          <p:nvPr/>
        </p:nvSpPr>
        <p:spPr bwMode="auto">
          <a:xfrm>
            <a:off x="1291531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15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1892746" y="1280815"/>
            <a:ext cx="6769100" cy="11079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tr-TR" sz="2200" baseline="0" dirty="0">
                <a:sym typeface="Wingdings" pitchFamily="2" charset="2"/>
              </a:rPr>
              <a:t>k= 1 için  x</a:t>
            </a:r>
            <a:r>
              <a:rPr lang="tr-TR" sz="2000" baseline="-25000" dirty="0">
                <a:sym typeface="Wingdings" pitchFamily="2" charset="2"/>
              </a:rPr>
              <a:t>2</a:t>
            </a:r>
            <a:r>
              <a:rPr lang="tr-TR" sz="2200" baseline="0" dirty="0">
                <a:sym typeface="Wingdings" pitchFamily="2" charset="2"/>
              </a:rPr>
              <a:t>= g(x</a:t>
            </a:r>
            <a:r>
              <a:rPr lang="tr-TR" sz="2000" baseline="-25000" dirty="0">
                <a:sym typeface="Wingdings" pitchFamily="2" charset="2"/>
              </a:rPr>
              <a:t>1</a:t>
            </a:r>
            <a:r>
              <a:rPr lang="tr-TR" sz="2200" baseline="0" dirty="0">
                <a:sym typeface="Wingdings" pitchFamily="2" charset="2"/>
              </a:rPr>
              <a:t>) = (x</a:t>
            </a:r>
            <a:r>
              <a:rPr lang="tr-TR" sz="2200" dirty="0">
                <a:sym typeface="Wingdings" pitchFamily="2" charset="2"/>
              </a:rPr>
              <a:t>1</a:t>
            </a:r>
            <a:r>
              <a:rPr lang="tr-TR" sz="2200" baseline="0" dirty="0">
                <a:sym typeface="Wingdings" pitchFamily="2" charset="2"/>
              </a:rPr>
              <a:t>+1)</a:t>
            </a:r>
            <a:r>
              <a:rPr lang="tr-TR" sz="2200" baseline="30000" dirty="0">
                <a:sym typeface="Wingdings" pitchFamily="2" charset="2"/>
              </a:rPr>
              <a:t>1/3</a:t>
            </a:r>
            <a:r>
              <a:rPr lang="tr-TR" sz="2200" baseline="0" dirty="0">
                <a:sym typeface="Wingdings" pitchFamily="2" charset="2"/>
              </a:rPr>
              <a:t> = (1.320006+1)</a:t>
            </a:r>
            <a:r>
              <a:rPr lang="tr-TR" sz="2200" baseline="30000" dirty="0">
                <a:sym typeface="Wingdings" pitchFamily="2" charset="2"/>
              </a:rPr>
              <a:t>1/3 </a:t>
            </a:r>
          </a:p>
          <a:p>
            <a:r>
              <a:rPr lang="tr-TR" sz="2200" baseline="30000" dirty="0">
                <a:sym typeface="Wingdings" pitchFamily="2" charset="2"/>
              </a:rPr>
              <a:t>                                                                            </a:t>
            </a:r>
            <a:r>
              <a:rPr lang="tr-TR" sz="2200" baseline="0" dirty="0">
                <a:sym typeface="Wingdings" pitchFamily="2" charset="2"/>
              </a:rPr>
              <a:t>= 1.323822</a:t>
            </a:r>
          </a:p>
          <a:p>
            <a:endParaRPr lang="tr-TR" sz="2200" baseline="0" dirty="0">
              <a:sym typeface="Wingdings" pitchFamily="2" charset="2"/>
            </a:endParaRP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1856233" y="2001540"/>
            <a:ext cx="6624638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200" baseline="0" dirty="0"/>
              <a:t>E</a:t>
            </a:r>
            <a:r>
              <a:rPr lang="tr-TR" sz="2000" baseline="-25000" dirty="0"/>
              <a:t>t</a:t>
            </a:r>
            <a:r>
              <a:rPr lang="tr-TR" sz="2200" dirty="0"/>
              <a:t> </a:t>
            </a:r>
            <a:r>
              <a:rPr lang="tr-TR" sz="2200" baseline="0" dirty="0"/>
              <a:t>= x</a:t>
            </a:r>
            <a:r>
              <a:rPr lang="tr-TR" sz="2000" baseline="-25000" dirty="0"/>
              <a:t>2</a:t>
            </a:r>
            <a:r>
              <a:rPr lang="tr-TR" sz="2200" baseline="0" dirty="0"/>
              <a:t> –x</a:t>
            </a:r>
            <a:r>
              <a:rPr lang="tr-TR" sz="2000" baseline="-25000" dirty="0"/>
              <a:t>1</a:t>
            </a:r>
            <a:r>
              <a:rPr lang="tr-TR" sz="2200" dirty="0"/>
              <a:t> </a:t>
            </a:r>
            <a:r>
              <a:rPr lang="tr-TR" sz="2200" baseline="0" dirty="0"/>
              <a:t>= </a:t>
            </a:r>
            <a:r>
              <a:rPr lang="tr-TR" sz="2200" baseline="0" dirty="0">
                <a:sym typeface="Wingdings" pitchFamily="2" charset="2"/>
              </a:rPr>
              <a:t>1.323822 – 1.320006= 0.003816</a:t>
            </a:r>
            <a:endParaRPr lang="tr-TR" sz="2200" baseline="0" dirty="0"/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927671" y="2468265"/>
            <a:ext cx="66078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l-GR" sz="2400" baseline="0" dirty="0">
                <a:cs typeface="Arial" charset="0"/>
              </a:rPr>
              <a:t>ε</a:t>
            </a:r>
            <a:r>
              <a:rPr lang="tr-TR" sz="2000" baseline="-25000" dirty="0"/>
              <a:t>t</a:t>
            </a:r>
            <a:r>
              <a:rPr lang="tr-TR" sz="2200" baseline="0" dirty="0">
                <a:cs typeface="Arial" charset="0"/>
              </a:rPr>
              <a:t> = E</a:t>
            </a:r>
            <a:r>
              <a:rPr lang="tr-TR" sz="2000" baseline="-25000" dirty="0"/>
              <a:t>t</a:t>
            </a:r>
            <a:r>
              <a:rPr lang="tr-TR" sz="2200" dirty="0">
                <a:cs typeface="Arial" charset="0"/>
              </a:rPr>
              <a:t> </a:t>
            </a:r>
            <a:r>
              <a:rPr lang="tr-TR" sz="2200" baseline="0" dirty="0">
                <a:cs typeface="Arial" charset="0"/>
              </a:rPr>
              <a:t>/ </a:t>
            </a:r>
            <a:r>
              <a:rPr lang="tr-TR" sz="2400" baseline="0" dirty="0"/>
              <a:t>x</a:t>
            </a:r>
            <a:r>
              <a:rPr lang="tr-TR" sz="2000" baseline="-25000" dirty="0"/>
              <a:t>2</a:t>
            </a:r>
            <a:r>
              <a:rPr lang="tr-TR" sz="2400" dirty="0"/>
              <a:t> </a:t>
            </a:r>
            <a:r>
              <a:rPr lang="tr-TR" sz="2400" baseline="0" dirty="0"/>
              <a:t>= 0.003816 / 1.323822 = 0.002882</a:t>
            </a:r>
          </a:p>
          <a:p>
            <a:pPr>
              <a:spcBef>
                <a:spcPct val="50000"/>
              </a:spcBef>
            </a:pPr>
            <a:r>
              <a:rPr lang="tr-TR" sz="2200" baseline="0" dirty="0"/>
              <a:t> | </a:t>
            </a:r>
            <a:r>
              <a:rPr lang="el-GR" sz="2200" baseline="0" dirty="0"/>
              <a:t>ε</a:t>
            </a:r>
            <a:r>
              <a:rPr lang="tr-TR" sz="2000" baseline="-25000" dirty="0"/>
              <a:t>t</a:t>
            </a:r>
            <a:r>
              <a:rPr lang="tr-TR" sz="2200" baseline="0" dirty="0"/>
              <a:t> | &lt; </a:t>
            </a:r>
            <a:r>
              <a:rPr lang="el-GR" sz="2200" baseline="0" dirty="0"/>
              <a:t>ε</a:t>
            </a:r>
            <a:r>
              <a:rPr lang="tr-TR" sz="2000" baseline="-25000" dirty="0"/>
              <a:t>k</a:t>
            </a:r>
            <a:r>
              <a:rPr lang="tr-TR" sz="2200" baseline="0" dirty="0"/>
              <a:t> şartı sağlanmadığı için </a:t>
            </a:r>
            <a:r>
              <a:rPr lang="tr-TR" sz="2200" baseline="0" dirty="0" err="1"/>
              <a:t>iterasyona</a:t>
            </a:r>
            <a:r>
              <a:rPr lang="tr-TR" sz="2200" baseline="0" dirty="0"/>
              <a:t> devam edilir</a:t>
            </a:r>
            <a:endParaRPr lang="el-GR" sz="2200" baseline="0" dirty="0"/>
          </a:p>
          <a:p>
            <a:pPr>
              <a:spcBef>
                <a:spcPct val="50000"/>
              </a:spcBef>
            </a:pPr>
            <a:endParaRPr lang="tr-TR" sz="2200" baseline="0" dirty="0"/>
          </a:p>
        </p:txBody>
      </p:sp>
      <p:sp>
        <p:nvSpPr>
          <p:cNvPr id="13" name="Rectangle 15"/>
          <p:cNvSpPr>
            <a:spLocks noChangeArrowheads="1"/>
          </p:cNvSpPr>
          <p:nvPr/>
        </p:nvSpPr>
        <p:spPr bwMode="auto">
          <a:xfrm>
            <a:off x="1819721" y="3981152"/>
            <a:ext cx="6769100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tr-TR" sz="2200" baseline="0" dirty="0">
                <a:sym typeface="Wingdings" pitchFamily="2" charset="2"/>
              </a:rPr>
              <a:t>k= 2 için  x</a:t>
            </a:r>
            <a:r>
              <a:rPr lang="tr-TR" sz="2000" baseline="-25000">
                <a:sym typeface="Wingdings" pitchFamily="2" charset="2"/>
              </a:rPr>
              <a:t>3</a:t>
            </a:r>
            <a:r>
              <a:rPr lang="tr-TR" sz="2200" baseline="0" dirty="0">
                <a:sym typeface="Wingdings" pitchFamily="2" charset="2"/>
              </a:rPr>
              <a:t>= g(x</a:t>
            </a:r>
            <a:r>
              <a:rPr lang="tr-TR" sz="2000" baseline="-25000" dirty="0">
                <a:sym typeface="Wingdings" pitchFamily="2" charset="2"/>
              </a:rPr>
              <a:t>2</a:t>
            </a:r>
            <a:r>
              <a:rPr lang="tr-TR" sz="2200" baseline="0" dirty="0">
                <a:sym typeface="Wingdings" pitchFamily="2" charset="2"/>
              </a:rPr>
              <a:t>) = (x</a:t>
            </a:r>
            <a:r>
              <a:rPr lang="tr-TR" sz="2000" baseline="-25000" dirty="0">
                <a:sym typeface="Wingdings" pitchFamily="2" charset="2"/>
              </a:rPr>
              <a:t>2</a:t>
            </a:r>
            <a:r>
              <a:rPr lang="tr-TR" sz="2200" baseline="0" dirty="0">
                <a:sym typeface="Wingdings" pitchFamily="2" charset="2"/>
              </a:rPr>
              <a:t>+1)</a:t>
            </a:r>
            <a:r>
              <a:rPr lang="tr-TR" sz="2200" baseline="30000" dirty="0">
                <a:sym typeface="Wingdings" pitchFamily="2" charset="2"/>
              </a:rPr>
              <a:t>1/3</a:t>
            </a:r>
            <a:r>
              <a:rPr lang="tr-TR" sz="2200" baseline="0" dirty="0">
                <a:sym typeface="Wingdings" pitchFamily="2" charset="2"/>
              </a:rPr>
              <a:t> = (1.323822+1)</a:t>
            </a:r>
            <a:r>
              <a:rPr lang="tr-TR" sz="2200" baseline="30000" dirty="0">
                <a:sym typeface="Wingdings" pitchFamily="2" charset="2"/>
              </a:rPr>
              <a:t>1/3 </a:t>
            </a:r>
          </a:p>
          <a:p>
            <a:r>
              <a:rPr lang="tr-TR" sz="2200" baseline="30000" dirty="0">
                <a:sym typeface="Wingdings" pitchFamily="2" charset="2"/>
              </a:rPr>
              <a:t>                                                                            </a:t>
            </a:r>
            <a:r>
              <a:rPr lang="tr-TR" sz="2200" baseline="0" dirty="0">
                <a:sym typeface="Wingdings" pitchFamily="2" charset="2"/>
              </a:rPr>
              <a:t>= 1.324547</a:t>
            </a:r>
          </a:p>
        </p:txBody>
      </p:sp>
      <p:sp>
        <p:nvSpPr>
          <p:cNvPr id="14" name="Rectangle 16"/>
          <p:cNvSpPr>
            <a:spLocks noChangeArrowheads="1"/>
          </p:cNvSpPr>
          <p:nvPr/>
        </p:nvSpPr>
        <p:spPr bwMode="auto">
          <a:xfrm>
            <a:off x="1856233" y="4736802"/>
            <a:ext cx="6624638" cy="4270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</a:pPr>
            <a:r>
              <a:rPr lang="tr-TR" sz="2200" baseline="0" dirty="0"/>
              <a:t>E</a:t>
            </a:r>
            <a:r>
              <a:rPr lang="tr-TR" sz="2000" baseline="-25000" dirty="0"/>
              <a:t>t</a:t>
            </a:r>
            <a:r>
              <a:rPr lang="tr-TR" sz="2200" dirty="0"/>
              <a:t> </a:t>
            </a:r>
            <a:r>
              <a:rPr lang="tr-TR" sz="2200" baseline="0" dirty="0"/>
              <a:t>= x</a:t>
            </a:r>
            <a:r>
              <a:rPr lang="tr-TR" sz="2000" baseline="-25000" dirty="0"/>
              <a:t>3</a:t>
            </a:r>
            <a:r>
              <a:rPr lang="tr-TR" sz="2200" baseline="0" dirty="0"/>
              <a:t> –x</a:t>
            </a:r>
            <a:r>
              <a:rPr lang="tr-TR" sz="2000" baseline="-25000" dirty="0"/>
              <a:t>2</a:t>
            </a:r>
            <a:r>
              <a:rPr lang="tr-TR" sz="2200" dirty="0"/>
              <a:t> </a:t>
            </a:r>
            <a:r>
              <a:rPr lang="tr-TR" sz="2200" baseline="0" dirty="0"/>
              <a:t>= </a:t>
            </a:r>
            <a:r>
              <a:rPr lang="tr-TR" sz="2200" baseline="0" dirty="0">
                <a:sym typeface="Wingdings" pitchFamily="2" charset="2"/>
              </a:rPr>
              <a:t>1.324547 – 1.323822= 0.0007254</a:t>
            </a:r>
            <a:endParaRPr lang="tr-TR" sz="2200" baseline="0" dirty="0"/>
          </a:p>
        </p:txBody>
      </p:sp>
      <p:sp>
        <p:nvSpPr>
          <p:cNvPr id="15" name="Rectangle 17"/>
          <p:cNvSpPr>
            <a:spLocks noChangeArrowheads="1"/>
          </p:cNvSpPr>
          <p:nvPr/>
        </p:nvSpPr>
        <p:spPr bwMode="auto">
          <a:xfrm>
            <a:off x="1819721" y="5133677"/>
            <a:ext cx="660789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>
              <a:spcBef>
                <a:spcPct val="50000"/>
              </a:spcBef>
            </a:pPr>
            <a:r>
              <a:rPr lang="el-GR" sz="2400" baseline="0" dirty="0">
                <a:cs typeface="Arial" charset="0"/>
              </a:rPr>
              <a:t>ε</a:t>
            </a:r>
            <a:r>
              <a:rPr lang="tr-TR" sz="2000" baseline="-25000" dirty="0"/>
              <a:t>t</a:t>
            </a:r>
            <a:r>
              <a:rPr lang="tr-TR" sz="2200" baseline="0" dirty="0">
                <a:cs typeface="Arial" charset="0"/>
              </a:rPr>
              <a:t> = E</a:t>
            </a:r>
            <a:r>
              <a:rPr lang="tr-TR" sz="2000" baseline="-25000" dirty="0"/>
              <a:t>t</a:t>
            </a:r>
            <a:r>
              <a:rPr lang="tr-TR" sz="2200" dirty="0">
                <a:cs typeface="Arial" charset="0"/>
              </a:rPr>
              <a:t> </a:t>
            </a:r>
            <a:r>
              <a:rPr lang="tr-TR" sz="2200" baseline="0" dirty="0">
                <a:cs typeface="Arial" charset="0"/>
              </a:rPr>
              <a:t>/ </a:t>
            </a:r>
            <a:r>
              <a:rPr lang="tr-TR" sz="2000" baseline="-25000" dirty="0"/>
              <a:t>x3</a:t>
            </a:r>
            <a:r>
              <a:rPr lang="tr-TR" sz="2400" dirty="0"/>
              <a:t> </a:t>
            </a:r>
            <a:r>
              <a:rPr lang="tr-TR" sz="2400" baseline="0" dirty="0"/>
              <a:t>=  0.000547</a:t>
            </a:r>
          </a:p>
          <a:p>
            <a:pPr>
              <a:spcBef>
                <a:spcPct val="50000"/>
              </a:spcBef>
            </a:pPr>
            <a:r>
              <a:rPr lang="tr-TR" sz="2200" baseline="0" dirty="0"/>
              <a:t> | </a:t>
            </a:r>
            <a:r>
              <a:rPr lang="el-GR" sz="2200" baseline="0" dirty="0"/>
              <a:t>ε</a:t>
            </a:r>
            <a:r>
              <a:rPr lang="tr-TR" sz="2000" baseline="-25000" dirty="0"/>
              <a:t>t</a:t>
            </a:r>
            <a:r>
              <a:rPr lang="tr-TR" sz="2200" baseline="0" dirty="0"/>
              <a:t> | &lt; </a:t>
            </a:r>
            <a:r>
              <a:rPr lang="el-GR" sz="2200" baseline="0" dirty="0"/>
              <a:t>ε</a:t>
            </a:r>
            <a:r>
              <a:rPr lang="tr-TR" sz="2000" baseline="-25000" dirty="0"/>
              <a:t>k</a:t>
            </a:r>
            <a:r>
              <a:rPr lang="tr-TR" sz="2200" baseline="0" dirty="0"/>
              <a:t> şartı sağlanmadığı için </a:t>
            </a:r>
            <a:r>
              <a:rPr lang="tr-TR" sz="2200" baseline="0" dirty="0" err="1"/>
              <a:t>iterasyona</a:t>
            </a:r>
            <a:r>
              <a:rPr lang="tr-TR" sz="2200" baseline="0" dirty="0"/>
              <a:t> devam edilir</a:t>
            </a:r>
            <a:endParaRPr lang="el-GR" sz="2200" baseline="0" dirty="0"/>
          </a:p>
          <a:p>
            <a:pPr>
              <a:spcBef>
                <a:spcPct val="50000"/>
              </a:spcBef>
            </a:pPr>
            <a:endParaRPr lang="tr-TR" sz="2200" baseline="0" dirty="0"/>
          </a:p>
        </p:txBody>
      </p:sp>
    </p:spTree>
    <p:extLst>
      <p:ext uri="{BB962C8B-B14F-4D97-AF65-F5344CB8AC3E}">
        <p14:creationId xmlns:p14="http://schemas.microsoft.com/office/powerpoint/2010/main" val="3612376038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9 Dikdörtgen"/>
          <p:cNvSpPr/>
          <p:nvPr/>
        </p:nvSpPr>
        <p:spPr bwMode="auto">
          <a:xfrm>
            <a:off x="1287786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16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475656" y="4149080"/>
            <a:ext cx="7740650" cy="2880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tr-TR" sz="2200" baseline="0" dirty="0">
                <a:sym typeface="Wingdings" pitchFamily="2" charset="2"/>
              </a:rPr>
              <a:t>9 </a:t>
            </a:r>
            <a:r>
              <a:rPr lang="tr-TR" sz="2200" baseline="0" dirty="0" err="1">
                <a:sym typeface="Wingdings" pitchFamily="2" charset="2"/>
              </a:rPr>
              <a:t>iterasyon</a:t>
            </a:r>
            <a:r>
              <a:rPr lang="tr-TR" sz="2200" baseline="0" dirty="0">
                <a:sym typeface="Wingdings" pitchFamily="2" charset="2"/>
              </a:rPr>
              <a:t> sonunda 0.0000001 hassasiyetle köke yaklaşılmıştır</a:t>
            </a:r>
            <a:r>
              <a:rPr lang="tr-TR" sz="2200" baseline="0" dirty="0" smtClean="0">
                <a:sym typeface="Wingdings" pitchFamily="2" charset="2"/>
              </a:rPr>
              <a:t>.</a:t>
            </a:r>
          </a:p>
          <a:p>
            <a:pPr marL="342900" indent="-342900">
              <a:spcBef>
                <a:spcPct val="20000"/>
              </a:spcBef>
            </a:pPr>
            <a:r>
              <a:rPr lang="tr-TR" sz="2200" dirty="0">
                <a:sym typeface="Wingdings" pitchFamily="2" charset="2"/>
              </a:rPr>
              <a:t> </a:t>
            </a:r>
            <a:r>
              <a:rPr lang="tr-TR" sz="2200" dirty="0" smtClean="0">
                <a:sym typeface="Wingdings" pitchFamily="2" charset="2"/>
              </a:rPr>
              <a:t>   </a:t>
            </a:r>
            <a:r>
              <a:rPr lang="tr-TR" sz="2200" baseline="0" dirty="0" smtClean="0">
                <a:sym typeface="Wingdings" pitchFamily="2" charset="2"/>
              </a:rPr>
              <a:t> </a:t>
            </a:r>
            <a:r>
              <a:rPr lang="tr-TR" sz="2200" baseline="0" dirty="0" err="1">
                <a:sym typeface="Wingdings" pitchFamily="2" charset="2"/>
              </a:rPr>
              <a:t>İterasyonu</a:t>
            </a:r>
            <a:r>
              <a:rPr lang="tr-TR" sz="2200" baseline="0" dirty="0">
                <a:sym typeface="Wingdings" pitchFamily="2" charset="2"/>
              </a:rPr>
              <a:t> sonlandırmak için | </a:t>
            </a:r>
            <a:r>
              <a:rPr lang="el-GR" sz="2200" baseline="0" dirty="0">
                <a:cs typeface="Arial" charset="0"/>
                <a:sym typeface="Wingdings" pitchFamily="2" charset="2"/>
              </a:rPr>
              <a:t>ε</a:t>
            </a:r>
            <a:r>
              <a:rPr lang="tr-TR" sz="2000" baseline="-25000" dirty="0">
                <a:sym typeface="Wingdings" pitchFamily="2" charset="2"/>
              </a:rPr>
              <a:t>t</a:t>
            </a:r>
            <a:r>
              <a:rPr lang="tr-TR" sz="2200" baseline="0" dirty="0">
                <a:sym typeface="Wingdings" pitchFamily="2" charset="2"/>
              </a:rPr>
              <a:t> | &lt; </a:t>
            </a:r>
            <a:r>
              <a:rPr lang="el-GR" sz="2200" baseline="0" dirty="0">
                <a:cs typeface="Arial" charset="0"/>
                <a:sym typeface="Wingdings" pitchFamily="2" charset="2"/>
              </a:rPr>
              <a:t>ε</a:t>
            </a:r>
            <a:r>
              <a:rPr lang="tr-TR" sz="2000" baseline="-25000" dirty="0">
                <a:sym typeface="Wingdings" pitchFamily="2" charset="2"/>
              </a:rPr>
              <a:t>k</a:t>
            </a:r>
            <a:r>
              <a:rPr lang="tr-TR" sz="2200" baseline="0" dirty="0">
                <a:sym typeface="Wingdings" pitchFamily="2" charset="2"/>
              </a:rPr>
              <a:t>    şartına bakılır (</a:t>
            </a:r>
            <a:r>
              <a:rPr lang="el-GR" sz="2200" baseline="0" dirty="0">
                <a:cs typeface="Arial" charset="0"/>
                <a:sym typeface="Wingdings" pitchFamily="2" charset="2"/>
              </a:rPr>
              <a:t>ε</a:t>
            </a:r>
            <a:r>
              <a:rPr lang="tr-TR" sz="2000" baseline="-25000" dirty="0">
                <a:sym typeface="Wingdings" pitchFamily="2" charset="2"/>
              </a:rPr>
              <a:t>k</a:t>
            </a:r>
            <a:r>
              <a:rPr lang="tr-TR" sz="2200" baseline="0" dirty="0">
                <a:sym typeface="Wingdings" pitchFamily="2" charset="2"/>
              </a:rPr>
              <a:t> daha önce anlatılmıştı). </a:t>
            </a:r>
            <a:r>
              <a:rPr lang="el-GR" sz="2200" baseline="0" dirty="0">
                <a:cs typeface="Arial" charset="0"/>
                <a:sym typeface="Wingdings" pitchFamily="2" charset="2"/>
              </a:rPr>
              <a:t>ε</a:t>
            </a:r>
            <a:r>
              <a:rPr lang="tr-TR" sz="2000" baseline="-25000" dirty="0">
                <a:sym typeface="Wingdings" pitchFamily="2" charset="2"/>
              </a:rPr>
              <a:t>k </a:t>
            </a:r>
            <a:r>
              <a:rPr lang="tr-TR" sz="2200" baseline="0" dirty="0">
                <a:cs typeface="Arial" charset="0"/>
                <a:sym typeface="Wingdings" pitchFamily="2" charset="2"/>
              </a:rPr>
              <a:t>problemi çözen kişi tarafından belirlenen çok küçük bir sayıdır. Köke yaklaşma hassasiyeti ne ölçüde isteniyorsa </a:t>
            </a:r>
            <a:r>
              <a:rPr lang="el-GR" sz="2200" baseline="0" dirty="0">
                <a:cs typeface="Arial" charset="0"/>
                <a:sym typeface="Wingdings" pitchFamily="2" charset="2"/>
              </a:rPr>
              <a:t>ε</a:t>
            </a:r>
            <a:r>
              <a:rPr lang="tr-TR" sz="2000" baseline="-25000" dirty="0">
                <a:sym typeface="Wingdings" pitchFamily="2" charset="2"/>
              </a:rPr>
              <a:t>k</a:t>
            </a:r>
            <a:r>
              <a:rPr lang="tr-TR" sz="2200" baseline="0" dirty="0">
                <a:sym typeface="Wingdings" pitchFamily="2" charset="2"/>
              </a:rPr>
              <a:t>  ona göre seçilir. </a:t>
            </a:r>
            <a:endParaRPr lang="tr-TR" sz="2200" baseline="0" dirty="0"/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tr-TR" sz="1900" baseline="0" dirty="0">
              <a:solidFill>
                <a:srgbClr val="000099"/>
              </a:solidFill>
            </a:endParaRPr>
          </a:p>
        </p:txBody>
      </p:sp>
      <p:sp>
        <p:nvSpPr>
          <p:cNvPr id="11" name="Rectangle 11"/>
          <p:cNvSpPr>
            <a:spLocks noChangeArrowheads="1"/>
          </p:cNvSpPr>
          <p:nvPr/>
        </p:nvSpPr>
        <p:spPr bwMode="auto">
          <a:xfrm>
            <a:off x="1656631" y="1555700"/>
            <a:ext cx="7164387" cy="212365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tr-TR" sz="2200" baseline="0" dirty="0">
                <a:sym typeface="Wingdings" pitchFamily="2" charset="2"/>
              </a:rPr>
              <a:t>k= 3 </a:t>
            </a:r>
            <a:r>
              <a:rPr lang="tr-TR" sz="2200" dirty="0">
                <a:sym typeface="Wingdings" pitchFamily="2" charset="2"/>
              </a:rPr>
              <a:t>için   x</a:t>
            </a:r>
            <a:r>
              <a:rPr lang="tr-TR" sz="2000" baseline="-25000" dirty="0">
                <a:sym typeface="Wingdings" pitchFamily="2" charset="2"/>
              </a:rPr>
              <a:t>4</a:t>
            </a:r>
            <a:r>
              <a:rPr lang="tr-TR" sz="2200" baseline="0" dirty="0">
                <a:sym typeface="Wingdings" pitchFamily="2" charset="2"/>
              </a:rPr>
              <a:t>= 1.3246856    0.0001378       0.00010</a:t>
            </a:r>
          </a:p>
          <a:p>
            <a:r>
              <a:rPr lang="tr-TR" sz="2200" baseline="0" dirty="0">
                <a:sym typeface="Wingdings" pitchFamily="2" charset="2"/>
              </a:rPr>
              <a:t>k= 4 için   x</a:t>
            </a:r>
            <a:r>
              <a:rPr lang="tr-TR" sz="2000" baseline="-25000" dirty="0">
                <a:sym typeface="Wingdings" pitchFamily="2" charset="2"/>
              </a:rPr>
              <a:t>5</a:t>
            </a:r>
            <a:r>
              <a:rPr lang="tr-TR" sz="2200" baseline="0" dirty="0">
                <a:sym typeface="Wingdings" pitchFamily="2" charset="2"/>
              </a:rPr>
              <a:t>= 1.3247118    0.0000261       0.000019</a:t>
            </a:r>
          </a:p>
          <a:p>
            <a:r>
              <a:rPr lang="tr-TR" sz="2200" baseline="0" dirty="0"/>
              <a:t>k= 5 için   </a:t>
            </a:r>
            <a:r>
              <a:rPr lang="tr-TR" sz="2200" baseline="0" dirty="0">
                <a:sym typeface="Wingdings" pitchFamily="2" charset="2"/>
              </a:rPr>
              <a:t>x</a:t>
            </a:r>
            <a:r>
              <a:rPr lang="tr-TR" sz="2000" baseline="-25000" dirty="0">
                <a:sym typeface="Wingdings" pitchFamily="2" charset="2"/>
              </a:rPr>
              <a:t>6</a:t>
            </a:r>
            <a:r>
              <a:rPr lang="tr-TR" sz="2200" baseline="0" dirty="0">
                <a:sym typeface="Wingdings" pitchFamily="2" charset="2"/>
              </a:rPr>
              <a:t>= 1.3247168    0.0000049       0.0000037</a:t>
            </a:r>
          </a:p>
          <a:p>
            <a:r>
              <a:rPr lang="tr-TR" sz="2200" baseline="0" dirty="0">
                <a:sym typeface="Wingdings" pitchFamily="2" charset="2"/>
              </a:rPr>
              <a:t>k= 6 için   x</a:t>
            </a:r>
            <a:r>
              <a:rPr lang="tr-TR" sz="2000" baseline="-25000" dirty="0">
                <a:sym typeface="Wingdings" pitchFamily="2" charset="2"/>
              </a:rPr>
              <a:t>7</a:t>
            </a:r>
            <a:r>
              <a:rPr lang="tr-TR" sz="2200" baseline="0" dirty="0">
                <a:sym typeface="Wingdings" pitchFamily="2" charset="2"/>
              </a:rPr>
              <a:t>= 1.3247177    0.00000094     0.00000071</a:t>
            </a:r>
          </a:p>
          <a:p>
            <a:r>
              <a:rPr lang="tr-TR" sz="2200" baseline="0" dirty="0">
                <a:sym typeface="Wingdings" pitchFamily="2" charset="2"/>
              </a:rPr>
              <a:t>k= 7 için   x</a:t>
            </a:r>
            <a:r>
              <a:rPr lang="tr-TR" sz="2000" baseline="-25000" dirty="0">
                <a:sym typeface="Wingdings" pitchFamily="2" charset="2"/>
              </a:rPr>
              <a:t>8</a:t>
            </a:r>
            <a:r>
              <a:rPr lang="tr-TR" sz="2200" baseline="0" dirty="0">
                <a:sym typeface="Wingdings" pitchFamily="2" charset="2"/>
              </a:rPr>
              <a:t>= 1.3247179    0.00000017     0.00000013</a:t>
            </a:r>
          </a:p>
          <a:p>
            <a:r>
              <a:rPr lang="tr-TR" sz="2200" baseline="0" dirty="0">
                <a:sym typeface="Wingdings" pitchFamily="2" charset="2"/>
              </a:rPr>
              <a:t>k= 8 için   x</a:t>
            </a:r>
            <a:r>
              <a:rPr lang="tr-TR" sz="2000" baseline="-25000" dirty="0">
                <a:sym typeface="Wingdings" pitchFamily="2" charset="2"/>
              </a:rPr>
              <a:t>9</a:t>
            </a:r>
            <a:r>
              <a:rPr lang="tr-TR" sz="2200" baseline="0" dirty="0">
                <a:sym typeface="Wingdings" pitchFamily="2" charset="2"/>
              </a:rPr>
              <a:t>= 1.3247179    0.00000003     </a:t>
            </a:r>
            <a:r>
              <a:rPr lang="tr-TR" sz="2200" baseline="0" dirty="0">
                <a:solidFill>
                  <a:srgbClr val="FF3300"/>
                </a:solidFill>
                <a:sym typeface="Wingdings" pitchFamily="2" charset="2"/>
              </a:rPr>
              <a:t>0.00000002</a:t>
            </a:r>
          </a:p>
        </p:txBody>
      </p:sp>
      <p:sp>
        <p:nvSpPr>
          <p:cNvPr id="12" name="Rectangle 12"/>
          <p:cNvSpPr>
            <a:spLocks noChangeArrowheads="1"/>
          </p:cNvSpPr>
          <p:nvPr/>
        </p:nvSpPr>
        <p:spPr bwMode="auto">
          <a:xfrm>
            <a:off x="5143041" y="1218018"/>
            <a:ext cx="405880" cy="4308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tr-TR" sz="2200" baseline="0" dirty="0"/>
              <a:t>E</a:t>
            </a:r>
            <a:r>
              <a:rPr lang="tr-TR" sz="2000" baseline="-25000" dirty="0"/>
              <a:t>t</a:t>
            </a:r>
          </a:p>
        </p:txBody>
      </p:sp>
      <p:sp>
        <p:nvSpPr>
          <p:cNvPr id="13" name="Rectangle 13"/>
          <p:cNvSpPr>
            <a:spLocks noChangeArrowheads="1"/>
          </p:cNvSpPr>
          <p:nvPr/>
        </p:nvSpPr>
        <p:spPr bwMode="auto">
          <a:xfrm>
            <a:off x="6876256" y="1178342"/>
            <a:ext cx="362600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r>
              <a:rPr lang="el-GR" sz="2400" baseline="0" dirty="0">
                <a:cs typeface="Arial" charset="0"/>
              </a:rPr>
              <a:t>ε</a:t>
            </a:r>
            <a:r>
              <a:rPr lang="tr-TR" sz="2000" baseline="-25000" dirty="0"/>
              <a:t>t</a:t>
            </a:r>
          </a:p>
        </p:txBody>
      </p:sp>
    </p:spTree>
    <p:extLst>
      <p:ext uri="{BB962C8B-B14F-4D97-AF65-F5344CB8AC3E}">
        <p14:creationId xmlns:p14="http://schemas.microsoft.com/office/powerpoint/2010/main" val="1624535964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9 Dikdörtgen"/>
          <p:cNvSpPr/>
          <p:nvPr/>
        </p:nvSpPr>
        <p:spPr bwMode="auto">
          <a:xfrm>
            <a:off x="1291531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17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12"/>
          <p:cNvSpPr>
            <a:spLocks noChangeArrowheads="1"/>
          </p:cNvSpPr>
          <p:nvPr/>
        </p:nvSpPr>
        <p:spPr bwMode="auto">
          <a:xfrm>
            <a:off x="1475656" y="1219200"/>
            <a:ext cx="4047951" cy="3600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1588" indent="12700">
              <a:lnSpc>
                <a:spcPct val="120000"/>
              </a:lnSpc>
              <a:spcBef>
                <a:spcPct val="30000"/>
              </a:spcBef>
            </a:pPr>
            <a:r>
              <a:rPr lang="tr-TR" sz="2200" baseline="0" dirty="0" smtClean="0"/>
              <a:t>f(x</a:t>
            </a:r>
            <a:r>
              <a:rPr lang="tr-TR" sz="2200" baseline="0" dirty="0"/>
              <a:t>)= 2x</a:t>
            </a:r>
            <a:r>
              <a:rPr lang="tr-TR" sz="2200" baseline="30000" dirty="0"/>
              <a:t>4</a:t>
            </a:r>
            <a:r>
              <a:rPr lang="tr-TR" sz="2200" baseline="0" dirty="0"/>
              <a:t>-3x-2=0 </a:t>
            </a:r>
            <a:r>
              <a:rPr lang="tr-TR" sz="2200" baseline="0" dirty="0" err="1"/>
              <a:t>fks.nun</a:t>
            </a:r>
            <a:r>
              <a:rPr lang="tr-TR" sz="2200" baseline="0" dirty="0"/>
              <a:t> </a:t>
            </a:r>
            <a:r>
              <a:rPr lang="tr-TR" sz="2200" baseline="0" dirty="0" err="1"/>
              <a:t>xo</a:t>
            </a:r>
            <a:r>
              <a:rPr lang="tr-TR" sz="2200" baseline="0" dirty="0"/>
              <a:t>= 1.3 ve </a:t>
            </a:r>
            <a:r>
              <a:rPr lang="tr-TR" sz="2200" baseline="0" dirty="0" err="1"/>
              <a:t>x</a:t>
            </a:r>
            <a:r>
              <a:rPr lang="tr-TR" sz="2000" baseline="-25000" dirty="0" err="1"/>
              <a:t>o</a:t>
            </a:r>
            <a:r>
              <a:rPr lang="tr-TR" sz="2200" baseline="0" dirty="0"/>
              <a:t>= -0.5 </a:t>
            </a:r>
            <a:r>
              <a:rPr lang="tr-TR" sz="2200" dirty="0"/>
              <a:t>civarında kökleri olduğu bilindiğine göre </a:t>
            </a:r>
            <a:r>
              <a:rPr lang="el-GR" sz="2200" dirty="0"/>
              <a:t>ε</a:t>
            </a:r>
            <a:r>
              <a:rPr lang="tr-TR" sz="2000" baseline="-25000" dirty="0"/>
              <a:t>k</a:t>
            </a:r>
            <a:r>
              <a:rPr lang="tr-TR" sz="2200" dirty="0"/>
              <a:t>= 0.0000001 hassasiyetle basit </a:t>
            </a:r>
            <a:r>
              <a:rPr lang="tr-TR" sz="2200" dirty="0" err="1"/>
              <a:t>iterasyon</a:t>
            </a:r>
            <a:r>
              <a:rPr lang="tr-TR" sz="2200" dirty="0"/>
              <a:t> yöntemiyle denklemin köklerini bulunuz </a:t>
            </a:r>
          </a:p>
        </p:txBody>
      </p:sp>
      <p:grpSp>
        <p:nvGrpSpPr>
          <p:cNvPr id="11" name="Group 14"/>
          <p:cNvGrpSpPr>
            <a:grpSpLocks/>
          </p:cNvGrpSpPr>
          <p:nvPr/>
        </p:nvGrpSpPr>
        <p:grpSpPr bwMode="auto">
          <a:xfrm>
            <a:off x="5459859" y="1844675"/>
            <a:ext cx="3576637" cy="2663825"/>
            <a:chOff x="346" y="930"/>
            <a:chExt cx="1634" cy="1292"/>
          </a:xfrm>
        </p:grpSpPr>
        <p:sp>
          <p:nvSpPr>
            <p:cNvPr id="12" name="Freeform 15"/>
            <p:cNvSpPr>
              <a:spLocks/>
            </p:cNvSpPr>
            <p:nvPr/>
          </p:nvSpPr>
          <p:spPr bwMode="auto">
            <a:xfrm>
              <a:off x="663" y="1066"/>
              <a:ext cx="1225" cy="952"/>
            </a:xfrm>
            <a:custGeom>
              <a:avLst/>
              <a:gdLst>
                <a:gd name="T0" fmla="*/ 0 w 1134"/>
                <a:gd name="T1" fmla="*/ 226 h 605"/>
                <a:gd name="T2" fmla="*/ 522 w 1134"/>
                <a:gd name="T3" fmla="*/ 567 h 605"/>
                <a:gd name="T4" fmla="*/ 1134 w 1134"/>
                <a:gd name="T5" fmla="*/ 0 h 60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</a:cxnLst>
              <a:rect l="0" t="0" r="r" b="b"/>
              <a:pathLst>
                <a:path w="1134" h="605">
                  <a:moveTo>
                    <a:pt x="0" y="226"/>
                  </a:moveTo>
                  <a:cubicBezTo>
                    <a:pt x="166" y="415"/>
                    <a:pt x="333" y="605"/>
                    <a:pt x="522" y="567"/>
                  </a:cubicBezTo>
                  <a:cubicBezTo>
                    <a:pt x="711" y="529"/>
                    <a:pt x="922" y="264"/>
                    <a:pt x="1134" y="0"/>
                  </a:cubicBezTo>
                </a:path>
              </a:pathLst>
            </a:custGeom>
            <a:noFill/>
            <a:ln w="3175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3" name="Line 16"/>
            <p:cNvSpPr>
              <a:spLocks noChangeShapeType="1"/>
            </p:cNvSpPr>
            <p:nvPr/>
          </p:nvSpPr>
          <p:spPr bwMode="auto">
            <a:xfrm flipV="1">
              <a:off x="346" y="1520"/>
              <a:ext cx="1633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4" name="Line 17"/>
            <p:cNvSpPr>
              <a:spLocks noChangeShapeType="1"/>
            </p:cNvSpPr>
            <p:nvPr/>
          </p:nvSpPr>
          <p:spPr bwMode="auto">
            <a:xfrm>
              <a:off x="1004" y="930"/>
              <a:ext cx="0" cy="129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5" name="Text Box 18"/>
            <p:cNvSpPr txBox="1">
              <a:spLocks noChangeArrowheads="1"/>
            </p:cNvSpPr>
            <p:nvPr/>
          </p:nvSpPr>
          <p:spPr bwMode="auto">
            <a:xfrm>
              <a:off x="890" y="930"/>
              <a:ext cx="91" cy="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y</a:t>
              </a:r>
            </a:p>
          </p:txBody>
        </p:sp>
        <p:sp>
          <p:nvSpPr>
            <p:cNvPr id="16" name="Text Box 19"/>
            <p:cNvSpPr txBox="1">
              <a:spLocks noChangeArrowheads="1"/>
            </p:cNvSpPr>
            <p:nvPr/>
          </p:nvSpPr>
          <p:spPr bwMode="auto">
            <a:xfrm>
              <a:off x="1889" y="1543"/>
              <a:ext cx="91" cy="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x</a:t>
              </a:r>
            </a:p>
          </p:txBody>
        </p:sp>
        <p:sp>
          <p:nvSpPr>
            <p:cNvPr id="17" name="Line 20"/>
            <p:cNvSpPr>
              <a:spLocks noChangeShapeType="1"/>
            </p:cNvSpPr>
            <p:nvPr/>
          </p:nvSpPr>
          <p:spPr bwMode="auto">
            <a:xfrm>
              <a:off x="498" y="1513"/>
              <a:ext cx="0" cy="22"/>
            </a:xfrm>
            <a:prstGeom prst="line">
              <a:avLst/>
            </a:prstGeom>
            <a:noFill/>
            <a:ln w="666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8" name="Line 21"/>
            <p:cNvSpPr>
              <a:spLocks noChangeShapeType="1"/>
            </p:cNvSpPr>
            <p:nvPr/>
          </p:nvSpPr>
          <p:spPr bwMode="auto">
            <a:xfrm>
              <a:off x="1478" y="1512"/>
              <a:ext cx="0" cy="23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19" name="Line 22"/>
            <p:cNvSpPr>
              <a:spLocks noChangeShapeType="1"/>
            </p:cNvSpPr>
            <p:nvPr/>
          </p:nvSpPr>
          <p:spPr bwMode="auto">
            <a:xfrm>
              <a:off x="768" y="1511"/>
              <a:ext cx="0" cy="22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0" name="Line 23"/>
            <p:cNvSpPr>
              <a:spLocks noChangeShapeType="1"/>
            </p:cNvSpPr>
            <p:nvPr/>
          </p:nvSpPr>
          <p:spPr bwMode="auto">
            <a:xfrm>
              <a:off x="1232" y="1511"/>
              <a:ext cx="0" cy="22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1" name="Line 24"/>
            <p:cNvSpPr>
              <a:spLocks noChangeShapeType="1"/>
            </p:cNvSpPr>
            <p:nvPr/>
          </p:nvSpPr>
          <p:spPr bwMode="auto">
            <a:xfrm>
              <a:off x="1729" y="1519"/>
              <a:ext cx="0" cy="22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2" name="Line 25"/>
            <p:cNvSpPr>
              <a:spLocks noChangeShapeType="1"/>
            </p:cNvSpPr>
            <p:nvPr/>
          </p:nvSpPr>
          <p:spPr bwMode="auto">
            <a:xfrm>
              <a:off x="1004" y="1905"/>
              <a:ext cx="0" cy="22"/>
            </a:xfrm>
            <a:prstGeom prst="line">
              <a:avLst/>
            </a:prstGeom>
            <a:noFill/>
            <a:ln w="539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tr-TR"/>
            </a:p>
          </p:txBody>
        </p:sp>
        <p:sp>
          <p:nvSpPr>
            <p:cNvPr id="23" name="Text Box 26"/>
            <p:cNvSpPr txBox="1">
              <a:spLocks noChangeArrowheads="1"/>
            </p:cNvSpPr>
            <p:nvPr/>
          </p:nvSpPr>
          <p:spPr bwMode="auto">
            <a:xfrm>
              <a:off x="1143" y="1383"/>
              <a:ext cx="227" cy="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0.5</a:t>
              </a:r>
              <a:endParaRPr lang="tr-TR" sz="1200" baseline="30000"/>
            </a:p>
          </p:txBody>
        </p:sp>
        <p:sp>
          <p:nvSpPr>
            <p:cNvPr id="24" name="Text Box 27"/>
            <p:cNvSpPr txBox="1">
              <a:spLocks noChangeArrowheads="1"/>
            </p:cNvSpPr>
            <p:nvPr/>
          </p:nvSpPr>
          <p:spPr bwMode="auto">
            <a:xfrm>
              <a:off x="1457" y="1383"/>
              <a:ext cx="136" cy="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1</a:t>
              </a:r>
              <a:endParaRPr lang="tr-TR" sz="1200" baseline="30000"/>
            </a:p>
          </p:txBody>
        </p:sp>
        <p:sp>
          <p:nvSpPr>
            <p:cNvPr id="25" name="Text Box 28"/>
            <p:cNvSpPr txBox="1">
              <a:spLocks noChangeArrowheads="1"/>
            </p:cNvSpPr>
            <p:nvPr/>
          </p:nvSpPr>
          <p:spPr bwMode="auto">
            <a:xfrm>
              <a:off x="1661" y="1383"/>
              <a:ext cx="204" cy="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1.5</a:t>
              </a:r>
              <a:endParaRPr lang="tr-TR" sz="1200" baseline="30000"/>
            </a:p>
          </p:txBody>
        </p:sp>
        <p:sp>
          <p:nvSpPr>
            <p:cNvPr id="26" name="Text Box 29"/>
            <p:cNvSpPr txBox="1">
              <a:spLocks noChangeArrowheads="1"/>
            </p:cNvSpPr>
            <p:nvPr/>
          </p:nvSpPr>
          <p:spPr bwMode="auto">
            <a:xfrm>
              <a:off x="686" y="1383"/>
              <a:ext cx="227" cy="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-0.5</a:t>
              </a:r>
              <a:endParaRPr lang="tr-TR" sz="1200" baseline="30000"/>
            </a:p>
          </p:txBody>
        </p:sp>
        <p:sp>
          <p:nvSpPr>
            <p:cNvPr id="27" name="Text Box 30"/>
            <p:cNvSpPr txBox="1">
              <a:spLocks noChangeArrowheads="1"/>
            </p:cNvSpPr>
            <p:nvPr/>
          </p:nvSpPr>
          <p:spPr bwMode="auto">
            <a:xfrm>
              <a:off x="414" y="1383"/>
              <a:ext cx="227" cy="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1.0</a:t>
              </a:r>
              <a:endParaRPr lang="tr-TR" sz="1200" baseline="30000"/>
            </a:p>
          </p:txBody>
        </p:sp>
        <p:sp>
          <p:nvSpPr>
            <p:cNvPr id="28" name="Text Box 31"/>
            <p:cNvSpPr txBox="1">
              <a:spLocks noChangeArrowheads="1"/>
            </p:cNvSpPr>
            <p:nvPr/>
          </p:nvSpPr>
          <p:spPr bwMode="auto">
            <a:xfrm>
              <a:off x="800" y="1859"/>
              <a:ext cx="227" cy="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-2.0</a:t>
              </a:r>
              <a:endParaRPr lang="tr-TR" sz="1200" baseline="30000"/>
            </a:p>
          </p:txBody>
        </p:sp>
        <p:sp>
          <p:nvSpPr>
            <p:cNvPr id="29" name="Oval 32"/>
            <p:cNvSpPr>
              <a:spLocks noChangeArrowheads="1"/>
            </p:cNvSpPr>
            <p:nvPr/>
          </p:nvSpPr>
          <p:spPr bwMode="auto">
            <a:xfrm>
              <a:off x="1593" y="1497"/>
              <a:ext cx="68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0" name="Oval 33"/>
            <p:cNvSpPr>
              <a:spLocks noChangeArrowheads="1"/>
            </p:cNvSpPr>
            <p:nvPr/>
          </p:nvSpPr>
          <p:spPr bwMode="auto">
            <a:xfrm>
              <a:off x="686" y="1491"/>
              <a:ext cx="68" cy="46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tr-TR"/>
            </a:p>
          </p:txBody>
        </p:sp>
        <p:sp>
          <p:nvSpPr>
            <p:cNvPr id="31" name="Text Box 34"/>
            <p:cNvSpPr txBox="1">
              <a:spLocks noChangeArrowheads="1"/>
            </p:cNvSpPr>
            <p:nvPr/>
          </p:nvSpPr>
          <p:spPr bwMode="auto">
            <a:xfrm>
              <a:off x="1593" y="1542"/>
              <a:ext cx="136" cy="1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 dirty="0"/>
                <a:t>x</a:t>
              </a:r>
              <a:r>
                <a:rPr lang="tr-TR" sz="2000" baseline="-25000" dirty="0"/>
                <a:t>1</a:t>
              </a:r>
            </a:p>
          </p:txBody>
        </p:sp>
        <p:sp>
          <p:nvSpPr>
            <p:cNvPr id="32" name="Text Box 35"/>
            <p:cNvSpPr txBox="1">
              <a:spLocks noChangeArrowheads="1"/>
            </p:cNvSpPr>
            <p:nvPr/>
          </p:nvSpPr>
          <p:spPr bwMode="auto">
            <a:xfrm>
              <a:off x="642" y="1576"/>
              <a:ext cx="136" cy="89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lIns="18000" tIns="0" rIns="18000" bIns="0"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tr-TR" sz="1200" b="1" baseline="0"/>
                <a:t>x</a:t>
              </a:r>
              <a:r>
                <a:rPr lang="tr-TR" sz="1200" b="1"/>
                <a:t>2</a:t>
              </a:r>
            </a:p>
          </p:txBody>
        </p:sp>
      </p:grpSp>
      <p:sp>
        <p:nvSpPr>
          <p:cNvPr id="33" name="Rectangle 37"/>
          <p:cNvSpPr>
            <a:spLocks noChangeArrowheads="1"/>
          </p:cNvSpPr>
          <p:nvPr/>
        </p:nvSpPr>
        <p:spPr bwMode="auto">
          <a:xfrm>
            <a:off x="1670104" y="4717326"/>
            <a:ext cx="7579509" cy="12095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30000"/>
              </a:spcBef>
            </a:pPr>
            <a:r>
              <a:rPr lang="tr-TR" sz="2200" b="1" baseline="0" dirty="0"/>
              <a:t>Çözüm:</a:t>
            </a:r>
          </a:p>
          <a:p>
            <a:pPr>
              <a:spcBef>
                <a:spcPct val="30000"/>
              </a:spcBef>
            </a:pPr>
            <a:r>
              <a:rPr lang="tr-TR" sz="2200" baseline="0" dirty="0"/>
              <a:t>Denklem;  x=g(x) şeklinde yazılım. (Yani x=g(x) dönüşümü yapılır)</a:t>
            </a:r>
          </a:p>
        </p:txBody>
      </p:sp>
      <p:sp>
        <p:nvSpPr>
          <p:cNvPr id="2" name="Dikdörtgen 1"/>
          <p:cNvSpPr/>
          <p:nvPr/>
        </p:nvSpPr>
        <p:spPr>
          <a:xfrm>
            <a:off x="72928" y="1510169"/>
            <a:ext cx="1218603" cy="43088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342900" lvl="0" indent="-342900">
              <a:spcBef>
                <a:spcPct val="30000"/>
              </a:spcBef>
            </a:pPr>
            <a:r>
              <a:rPr lang="tr-TR" sz="2200" b="1" dirty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ÖRNEK</a:t>
            </a:r>
            <a:endParaRPr lang="tr-TR" sz="2200" b="1" dirty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376430093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9 Dikdörtgen"/>
          <p:cNvSpPr/>
          <p:nvPr/>
        </p:nvSpPr>
        <p:spPr bwMode="auto">
          <a:xfrm>
            <a:off x="1187624" y="1218018"/>
            <a:ext cx="7956376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18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Rectangle 9"/>
          <p:cNvSpPr>
            <a:spLocks noChangeArrowheads="1"/>
          </p:cNvSpPr>
          <p:nvPr/>
        </p:nvSpPr>
        <p:spPr bwMode="auto">
          <a:xfrm>
            <a:off x="1404863" y="1007765"/>
            <a:ext cx="5976937" cy="682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hlink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chemeClr val="bg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20000"/>
              </a:spcBef>
            </a:pPr>
            <a:r>
              <a:rPr lang="tr-TR" sz="2200" baseline="0" dirty="0"/>
              <a:t>Öncelikle </a:t>
            </a:r>
            <a:r>
              <a:rPr lang="tr-TR" sz="2200" baseline="0" dirty="0" err="1"/>
              <a:t>x</a:t>
            </a:r>
            <a:r>
              <a:rPr lang="tr-TR" sz="2000" baseline="-25000" dirty="0" err="1"/>
              <a:t>o</a:t>
            </a:r>
            <a:r>
              <a:rPr lang="tr-TR" sz="2200" baseline="0" dirty="0"/>
              <a:t>= 1.3 civarındaki kökü arayalım</a:t>
            </a:r>
            <a:r>
              <a:rPr lang="tr-TR" sz="3200" baseline="0" dirty="0"/>
              <a:t>.</a:t>
            </a: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endParaRPr lang="tr-TR" sz="2200" baseline="0" dirty="0">
              <a:solidFill>
                <a:srgbClr val="000099"/>
              </a:solidFill>
            </a:endParaRPr>
          </a:p>
        </p:txBody>
      </p:sp>
      <p:graphicFrame>
        <p:nvGraphicFramePr>
          <p:cNvPr id="12" name="Object 14"/>
          <p:cNvGraphicFramePr>
            <a:graphicFrameLocks noGrp="1" noChangeAspect="1"/>
          </p:cNvGraphicFramePr>
          <p:nvPr>
            <p:ph/>
            <p:extLst>
              <p:ext uri="{D42A27DB-BD31-4B8C-83A1-F6EECF244321}">
                <p14:modId xmlns:p14="http://schemas.microsoft.com/office/powerpoint/2010/main" val="3265602369"/>
              </p:ext>
            </p:extLst>
          </p:nvPr>
        </p:nvGraphicFramePr>
        <p:xfrm>
          <a:off x="1404863" y="2276872"/>
          <a:ext cx="7504112" cy="7413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8" name="Denklem" r:id="rId4" imgW="4241520" imgH="419040" progId="Equation.3">
                  <p:embed/>
                </p:oleObj>
              </mc:Choice>
              <mc:Fallback>
                <p:oleObj name="Denklem" r:id="rId4" imgW="424152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404863" y="2276872"/>
                        <a:ext cx="7504112" cy="7413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ext Box 16"/>
          <p:cNvSpPr txBox="1">
            <a:spLocks noChangeArrowheads="1"/>
          </p:cNvSpPr>
          <p:nvPr/>
        </p:nvSpPr>
        <p:spPr bwMode="auto">
          <a:xfrm>
            <a:off x="1343519" y="1690390"/>
            <a:ext cx="1460500" cy="4270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r>
              <a:rPr lang="tr-TR" sz="2200" baseline="0" dirty="0"/>
              <a:t>1. Adım</a:t>
            </a:r>
          </a:p>
        </p:txBody>
      </p:sp>
      <p:graphicFrame>
        <p:nvGraphicFramePr>
          <p:cNvPr id="14" name="Object 1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881802908"/>
              </p:ext>
            </p:extLst>
          </p:nvPr>
        </p:nvGraphicFramePr>
        <p:xfrm>
          <a:off x="1187624" y="3917652"/>
          <a:ext cx="7993062" cy="10128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299" name="Denklem" r:id="rId6" imgW="4813200" imgH="609480" progId="Equation.3">
                  <p:embed/>
                </p:oleObj>
              </mc:Choice>
              <mc:Fallback>
                <p:oleObj name="Denklem" r:id="rId6" imgW="4813200" imgH="60948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7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87624" y="3917652"/>
                        <a:ext cx="7993062" cy="1012825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5" name="Object 19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976201910"/>
              </p:ext>
            </p:extLst>
          </p:nvPr>
        </p:nvGraphicFramePr>
        <p:xfrm>
          <a:off x="1115616" y="5877272"/>
          <a:ext cx="8135937" cy="76676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0" name="Denklem" r:id="rId8" imgW="5130720" imgH="482400" progId="Equation.3">
                  <p:embed/>
                </p:oleObj>
              </mc:Choice>
              <mc:Fallback>
                <p:oleObj name="Denklem" r:id="rId8" imgW="5130720" imgH="4824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115616" y="5877272"/>
                        <a:ext cx="8135937" cy="76676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6" name="Rectangle 21"/>
          <p:cNvSpPr>
            <a:spLocks noChangeArrowheads="1"/>
          </p:cNvSpPr>
          <p:nvPr/>
        </p:nvSpPr>
        <p:spPr bwMode="auto">
          <a:xfrm>
            <a:off x="1655688" y="5254327"/>
            <a:ext cx="1439862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36000" rIns="18000" bIns="36000"/>
          <a:lstStyle/>
          <a:p>
            <a:pPr marL="342900" indent="-342900">
              <a:spcBef>
                <a:spcPct val="20000"/>
              </a:spcBef>
            </a:pPr>
            <a:r>
              <a:rPr lang="tr-TR" sz="2200" baseline="0"/>
              <a:t>3. Adım</a:t>
            </a:r>
          </a:p>
        </p:txBody>
      </p:sp>
      <p:sp>
        <p:nvSpPr>
          <p:cNvPr id="17" name="Rectangle 22"/>
          <p:cNvSpPr>
            <a:spLocks noChangeArrowheads="1"/>
          </p:cNvSpPr>
          <p:nvPr/>
        </p:nvSpPr>
        <p:spPr bwMode="auto">
          <a:xfrm>
            <a:off x="1512813" y="3273127"/>
            <a:ext cx="1619250" cy="4683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36000" rIns="18000" bIns="36000"/>
          <a:lstStyle/>
          <a:p>
            <a:pPr marL="342900" indent="-342900">
              <a:spcBef>
                <a:spcPct val="20000"/>
              </a:spcBef>
            </a:pPr>
            <a:r>
              <a:rPr lang="tr-TR" sz="2200" baseline="0"/>
              <a:t>2. Adım</a:t>
            </a:r>
          </a:p>
        </p:txBody>
      </p:sp>
      <p:graphicFrame>
        <p:nvGraphicFramePr>
          <p:cNvPr id="18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03249203"/>
              </p:ext>
            </p:extLst>
          </p:nvPr>
        </p:nvGraphicFramePr>
        <p:xfrm>
          <a:off x="2701057" y="1690390"/>
          <a:ext cx="1692274" cy="44758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1301" name="Denklem" r:id="rId10" imgW="863280" imgH="228600" progId="Equation.3">
                  <p:embed/>
                </p:oleObj>
              </mc:Choice>
              <mc:Fallback>
                <p:oleObj name="Denklem" r:id="rId10" imgW="863280" imgH="22860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11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01057" y="1690390"/>
                        <a:ext cx="1692274" cy="447589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1764506431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9 Dikdörtgen"/>
          <p:cNvSpPr/>
          <p:nvPr/>
        </p:nvSpPr>
        <p:spPr bwMode="auto">
          <a:xfrm>
            <a:off x="1291531" y="1218018"/>
            <a:ext cx="7858148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algn="just"/>
            <a:endParaRPr lang="tr-TR" sz="16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19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18"/>
          <p:cNvSpPr>
            <a:spLocks noChangeArrowheads="1"/>
          </p:cNvSpPr>
          <p:nvPr/>
        </p:nvSpPr>
        <p:spPr bwMode="auto">
          <a:xfrm>
            <a:off x="1474862" y="2312739"/>
            <a:ext cx="2160587" cy="381573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tr-TR" sz="2200" baseline="0" dirty="0"/>
              <a:t>x</a:t>
            </a:r>
            <a:r>
              <a:rPr lang="tr-TR" sz="2000" baseline="-25000" dirty="0"/>
              <a:t>0</a:t>
            </a:r>
            <a:r>
              <a:rPr lang="tr-TR" sz="2200" baseline="0" dirty="0"/>
              <a:t>= 1.3                   x</a:t>
            </a:r>
            <a:r>
              <a:rPr lang="tr-TR" sz="2000" baseline="-25000" dirty="0"/>
              <a:t>1</a:t>
            </a:r>
            <a:r>
              <a:rPr lang="tr-TR" sz="2200" baseline="0" dirty="0"/>
              <a:t>= 1.3105558</a:t>
            </a:r>
          </a:p>
          <a:p>
            <a:r>
              <a:rPr lang="tr-TR" sz="2200" baseline="0" dirty="0"/>
              <a:t>x</a:t>
            </a:r>
            <a:r>
              <a:rPr lang="tr-TR" sz="2000" baseline="-25000" dirty="0"/>
              <a:t>2</a:t>
            </a:r>
            <a:r>
              <a:rPr lang="tr-TR" sz="2200" baseline="0" dirty="0"/>
              <a:t>= 1.3123108       x</a:t>
            </a:r>
            <a:r>
              <a:rPr lang="tr-TR" sz="2000" baseline="-25000" dirty="0"/>
              <a:t>3</a:t>
            </a:r>
            <a:r>
              <a:rPr lang="tr-TR" sz="2200" baseline="0" dirty="0"/>
              <a:t>= 1.3126019</a:t>
            </a:r>
          </a:p>
          <a:p>
            <a:r>
              <a:rPr lang="tr-TR" sz="2200" baseline="0" dirty="0"/>
              <a:t>x</a:t>
            </a:r>
            <a:r>
              <a:rPr lang="tr-TR" sz="2000" baseline="-25000" dirty="0"/>
              <a:t>4</a:t>
            </a:r>
            <a:r>
              <a:rPr lang="tr-TR" sz="2200" baseline="0" dirty="0"/>
              <a:t>= 1.3126502       x</a:t>
            </a:r>
            <a:r>
              <a:rPr lang="tr-TR" sz="2000" baseline="-25000" dirty="0"/>
              <a:t>5</a:t>
            </a:r>
            <a:r>
              <a:rPr lang="tr-TR" sz="2200" baseline="0" dirty="0"/>
              <a:t>= 1.3126582</a:t>
            </a:r>
          </a:p>
          <a:p>
            <a:r>
              <a:rPr lang="tr-TR" sz="2200" baseline="0" dirty="0"/>
              <a:t>x</a:t>
            </a:r>
            <a:r>
              <a:rPr lang="tr-TR" sz="2000" baseline="-25000" dirty="0"/>
              <a:t>6</a:t>
            </a:r>
            <a:r>
              <a:rPr lang="tr-TR" sz="2200" baseline="0" dirty="0"/>
              <a:t>= 1.3126595       </a:t>
            </a:r>
            <a:r>
              <a:rPr lang="tr-TR" sz="2200" b="1" baseline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tr-TR" sz="2000" baseline="-25000" dirty="0"/>
              <a:t>7</a:t>
            </a:r>
            <a:r>
              <a:rPr lang="tr-TR" sz="2200" b="1" baseline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 1.3126597</a:t>
            </a:r>
          </a:p>
          <a:p>
            <a:endParaRPr lang="tr-TR" sz="2200" dirty="0"/>
          </a:p>
        </p:txBody>
      </p:sp>
      <p:sp>
        <p:nvSpPr>
          <p:cNvPr id="11" name="Rectangle 19"/>
          <p:cNvSpPr>
            <a:spLocks noChangeArrowheads="1"/>
          </p:cNvSpPr>
          <p:nvPr/>
        </p:nvSpPr>
        <p:spPr bwMode="auto">
          <a:xfrm>
            <a:off x="4211712" y="2241301"/>
            <a:ext cx="3816350" cy="428404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tr-TR" sz="2200" baseline="0" dirty="0"/>
              <a:t>8 </a:t>
            </a:r>
            <a:r>
              <a:rPr lang="tr-TR" sz="2200" baseline="0" dirty="0" err="1"/>
              <a:t>iterasyon</a:t>
            </a:r>
            <a:r>
              <a:rPr lang="tr-TR" sz="2200" baseline="0" dirty="0"/>
              <a:t> sonucunda 0.0000001 hassasiyetle kök bulunmuştur. </a:t>
            </a:r>
          </a:p>
          <a:p>
            <a:endParaRPr lang="tr-TR" sz="2200" baseline="0" dirty="0"/>
          </a:p>
          <a:p>
            <a:r>
              <a:rPr lang="tr-TR" sz="2200" baseline="0" dirty="0" err="1"/>
              <a:t>İterasyona</a:t>
            </a:r>
            <a:r>
              <a:rPr lang="tr-TR" sz="2200" baseline="0" dirty="0"/>
              <a:t> son vermek </a:t>
            </a:r>
            <a:r>
              <a:rPr lang="tr-TR" sz="2200" baseline="0" dirty="0" smtClean="0"/>
              <a:t>için</a:t>
            </a:r>
          </a:p>
          <a:p>
            <a:r>
              <a:rPr lang="tr-TR" sz="2200" baseline="0" dirty="0" smtClean="0"/>
              <a:t>   </a:t>
            </a:r>
            <a:r>
              <a:rPr lang="tr-TR" sz="2200" b="1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| </a:t>
            </a:r>
            <a:r>
              <a:rPr lang="el-GR" b="1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ε</a:t>
            </a:r>
            <a:r>
              <a:rPr lang="tr-TR" sz="2000" baseline="-25000" dirty="0"/>
              <a:t>t</a:t>
            </a:r>
            <a:r>
              <a:rPr lang="tr-TR" sz="2200" b="1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 |&lt; </a:t>
            </a:r>
            <a:r>
              <a:rPr lang="el-GR" sz="2200" b="1" baseline="0" dirty="0">
                <a:solidFill>
                  <a:schemeClr val="accent2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ε</a:t>
            </a:r>
            <a:r>
              <a:rPr lang="tr-TR" sz="2000" baseline="-25000" dirty="0"/>
              <a:t>k</a:t>
            </a:r>
            <a:r>
              <a:rPr lang="tr-TR" sz="2200" baseline="0" dirty="0"/>
              <a:t> şartı aranır. </a:t>
            </a:r>
          </a:p>
          <a:p>
            <a:endParaRPr lang="tr-TR" sz="2200" baseline="0" dirty="0"/>
          </a:p>
          <a:p>
            <a:r>
              <a:rPr lang="el-GR" sz="2200" baseline="0" dirty="0"/>
              <a:t>ε</a:t>
            </a:r>
            <a:r>
              <a:rPr lang="tr-TR" sz="2200" dirty="0"/>
              <a:t> </a:t>
            </a:r>
            <a:r>
              <a:rPr lang="tr-TR" sz="2000" baseline="-25000" dirty="0"/>
              <a:t>k</a:t>
            </a:r>
            <a:r>
              <a:rPr lang="tr-TR" sz="2200" dirty="0"/>
              <a:t> </a:t>
            </a:r>
            <a:r>
              <a:rPr lang="tr-TR" sz="2200" baseline="0" dirty="0"/>
              <a:t>problemi çözen tarafından saptanır. Ne kadar küçük olursa </a:t>
            </a:r>
            <a:r>
              <a:rPr lang="tr-TR" sz="2200" baseline="0" dirty="0" err="1"/>
              <a:t>iterasyon</a:t>
            </a:r>
            <a:r>
              <a:rPr lang="tr-TR" sz="2200" baseline="0" dirty="0"/>
              <a:t> sayısı o kadar artar. </a:t>
            </a:r>
            <a:endParaRPr lang="tr-TR" sz="2200" baseline="0" dirty="0" smtClean="0"/>
          </a:p>
          <a:p>
            <a:r>
              <a:rPr lang="el-GR" sz="2200" baseline="0" dirty="0" smtClean="0"/>
              <a:t>ε</a:t>
            </a:r>
            <a:r>
              <a:rPr lang="tr-TR" sz="2200" dirty="0" smtClean="0"/>
              <a:t> </a:t>
            </a:r>
            <a:r>
              <a:rPr lang="tr-TR" sz="2000" baseline="-25000" dirty="0"/>
              <a:t>k</a:t>
            </a:r>
            <a:r>
              <a:rPr lang="tr-TR" sz="2200" dirty="0"/>
              <a:t>  </a:t>
            </a:r>
            <a:r>
              <a:rPr lang="tr-TR" sz="2200" baseline="0" dirty="0"/>
              <a:t>seçiminde köke yaklaşma hassasiyetine göre karar verilir.</a:t>
            </a:r>
          </a:p>
        </p:txBody>
      </p:sp>
      <p:sp>
        <p:nvSpPr>
          <p:cNvPr id="12" name="Rectangle 20"/>
          <p:cNvSpPr>
            <a:spLocks noChangeArrowheads="1"/>
          </p:cNvSpPr>
          <p:nvPr/>
        </p:nvSpPr>
        <p:spPr bwMode="auto">
          <a:xfrm>
            <a:off x="1258962" y="1196726"/>
            <a:ext cx="7129462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lvl="1"/>
            <a:r>
              <a:rPr lang="tr-TR" sz="2200" baseline="0" dirty="0"/>
              <a:t>X</a:t>
            </a:r>
            <a:r>
              <a:rPr lang="tr-TR" sz="2000" baseline="-25000" dirty="0"/>
              <a:t>k+1</a:t>
            </a:r>
            <a:r>
              <a:rPr lang="tr-TR" sz="2200" baseline="0" dirty="0"/>
              <a:t> = g(</a:t>
            </a:r>
            <a:r>
              <a:rPr lang="tr-TR" sz="2200" baseline="0" dirty="0" err="1"/>
              <a:t>x</a:t>
            </a:r>
            <a:r>
              <a:rPr lang="tr-TR" sz="2000" baseline="-25000" dirty="0" err="1"/>
              <a:t>k</a:t>
            </a:r>
            <a:r>
              <a:rPr lang="tr-TR" sz="2200" baseline="0" dirty="0"/>
              <a:t>) yaklaşımıyla köke ulaşılmaya çalışılır.</a:t>
            </a:r>
          </a:p>
          <a:p>
            <a:pPr lvl="1"/>
            <a:r>
              <a:rPr lang="tr-TR" sz="2200" baseline="0" dirty="0"/>
              <a:t>X</a:t>
            </a:r>
            <a:r>
              <a:rPr lang="tr-TR" sz="2000" baseline="-25000" dirty="0"/>
              <a:t>1</a:t>
            </a:r>
            <a:r>
              <a:rPr lang="tr-TR" sz="2200" baseline="0" dirty="0"/>
              <a:t>=g(</a:t>
            </a:r>
            <a:r>
              <a:rPr lang="tr-TR" sz="2200" baseline="0" dirty="0" err="1"/>
              <a:t>x</a:t>
            </a:r>
            <a:r>
              <a:rPr lang="tr-TR" sz="2000" baseline="-25000" dirty="0" err="1"/>
              <a:t>o</a:t>
            </a:r>
            <a:r>
              <a:rPr lang="tr-TR" sz="2200" baseline="0" dirty="0"/>
              <a:t>) olacak.</a:t>
            </a:r>
          </a:p>
        </p:txBody>
      </p:sp>
    </p:spTree>
    <p:extLst>
      <p:ext uri="{BB962C8B-B14F-4D97-AF65-F5344CB8AC3E}">
        <p14:creationId xmlns:p14="http://schemas.microsoft.com/office/powerpoint/2010/main" val="3040711559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9 Dikdörtgen"/>
          <p:cNvSpPr/>
          <p:nvPr/>
        </p:nvSpPr>
        <p:spPr bwMode="auto">
          <a:xfrm>
            <a:off x="1214414" y="1214422"/>
            <a:ext cx="7929586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tr-TR" sz="1400" dirty="0" smtClean="0"/>
          </a:p>
          <a:p>
            <a:r>
              <a:rPr lang="tr-TR" sz="1400" dirty="0" smtClean="0"/>
              <a:t> </a:t>
            </a:r>
          </a:p>
          <a:p>
            <a:r>
              <a:rPr lang="tr-TR" sz="1400" dirty="0" smtClean="0"/>
              <a:t>           </a:t>
            </a:r>
          </a:p>
          <a:p>
            <a:endParaRPr lang="tr-TR" sz="14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20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Rectangle 23"/>
          <p:cNvSpPr>
            <a:spLocks noChangeArrowheads="1"/>
          </p:cNvSpPr>
          <p:nvPr/>
        </p:nvSpPr>
        <p:spPr bwMode="auto">
          <a:xfrm>
            <a:off x="1547664" y="1339800"/>
            <a:ext cx="4284663" cy="504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>
              <a:spcBef>
                <a:spcPct val="30000"/>
              </a:spcBef>
            </a:pPr>
            <a:r>
              <a:rPr lang="tr-TR" sz="2200" baseline="0" dirty="0" err="1"/>
              <a:t>x</a:t>
            </a:r>
            <a:r>
              <a:rPr lang="tr-TR" sz="2000" baseline="-25000" dirty="0" err="1"/>
              <a:t>o</a:t>
            </a:r>
            <a:r>
              <a:rPr lang="tr-TR" sz="2200" baseline="0" dirty="0"/>
              <a:t>=-0.5 yakınlarındaki kök için</a:t>
            </a:r>
          </a:p>
        </p:txBody>
      </p:sp>
      <p:sp>
        <p:nvSpPr>
          <p:cNvPr id="11" name="Rectangle 24"/>
          <p:cNvSpPr>
            <a:spLocks noChangeArrowheads="1"/>
          </p:cNvSpPr>
          <p:nvPr/>
        </p:nvSpPr>
        <p:spPr bwMode="auto">
          <a:xfrm>
            <a:off x="1491291" y="1988304"/>
            <a:ext cx="323850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18000" tIns="36000" rIns="18000" bIns="36000"/>
          <a:lstStyle/>
          <a:p>
            <a:r>
              <a:rPr lang="tr-TR" sz="2200" baseline="0" dirty="0"/>
              <a:t>1)</a:t>
            </a:r>
            <a:endParaRPr lang="tr-TR" sz="2200" dirty="0"/>
          </a:p>
        </p:txBody>
      </p:sp>
      <p:graphicFrame>
        <p:nvGraphicFramePr>
          <p:cNvPr id="12" name="Object 2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93560436"/>
              </p:ext>
            </p:extLst>
          </p:nvPr>
        </p:nvGraphicFramePr>
        <p:xfrm>
          <a:off x="1979712" y="2060525"/>
          <a:ext cx="7235825" cy="7381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8" name="Denklem" r:id="rId4" imgW="4127400" imgH="419040" progId="Equation.3">
                  <p:embed/>
                </p:oleObj>
              </mc:Choice>
              <mc:Fallback>
                <p:oleObj name="Denklem" r:id="rId4" imgW="4127400" imgH="419040" progId="Equation.3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979712" y="2060525"/>
                        <a:ext cx="7235825" cy="738188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Rectangle 26"/>
          <p:cNvSpPr>
            <a:spLocks noChangeArrowheads="1"/>
          </p:cNvSpPr>
          <p:nvPr/>
        </p:nvSpPr>
        <p:spPr bwMode="auto">
          <a:xfrm>
            <a:off x="2160439" y="3068141"/>
            <a:ext cx="5146675" cy="2521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tr-TR" sz="2200" baseline="0" dirty="0"/>
              <a:t>x</a:t>
            </a:r>
            <a:r>
              <a:rPr lang="tr-TR" sz="2000" baseline="-25000" dirty="0"/>
              <a:t>0</a:t>
            </a:r>
            <a:r>
              <a:rPr lang="tr-TR" sz="2200" baseline="0" dirty="0"/>
              <a:t>= -0.5                  x</a:t>
            </a:r>
            <a:r>
              <a:rPr lang="tr-TR" sz="2000" baseline="-25000" dirty="0"/>
              <a:t>1</a:t>
            </a:r>
            <a:r>
              <a:rPr lang="tr-TR" sz="2200" baseline="0" dirty="0"/>
              <a:t>= -0.6250 </a:t>
            </a:r>
          </a:p>
          <a:p>
            <a:r>
              <a:rPr lang="tr-TR" sz="2200" baseline="0" dirty="0"/>
              <a:t>x</a:t>
            </a:r>
            <a:r>
              <a:rPr lang="tr-TR" sz="2000" baseline="-25000" dirty="0"/>
              <a:t>2</a:t>
            </a:r>
            <a:r>
              <a:rPr lang="tr-TR" sz="2200" baseline="0" dirty="0"/>
              <a:t>= -0.5649            x</a:t>
            </a:r>
            <a:r>
              <a:rPr lang="tr-TR" sz="2000" baseline="-25000" dirty="0"/>
              <a:t>3</a:t>
            </a:r>
            <a:r>
              <a:rPr lang="tr-TR" sz="2200" baseline="0" dirty="0"/>
              <a:t>= -0.5988</a:t>
            </a:r>
          </a:p>
          <a:p>
            <a:r>
              <a:rPr lang="tr-TR" sz="2200" baseline="0" dirty="0"/>
              <a:t>x</a:t>
            </a:r>
            <a:r>
              <a:rPr lang="tr-TR" sz="2000" baseline="-25000" dirty="0"/>
              <a:t>4</a:t>
            </a:r>
            <a:r>
              <a:rPr lang="tr-TR" sz="2200" baseline="0" dirty="0"/>
              <a:t>= -0.5810            x</a:t>
            </a:r>
            <a:r>
              <a:rPr lang="tr-TR" sz="2000" baseline="-25000" dirty="0"/>
              <a:t>5</a:t>
            </a:r>
            <a:r>
              <a:rPr lang="tr-TR" sz="2200" baseline="0" dirty="0"/>
              <a:t>= -0.5967</a:t>
            </a:r>
          </a:p>
          <a:p>
            <a:r>
              <a:rPr lang="tr-TR" sz="2200" baseline="0" dirty="0"/>
              <a:t>x</a:t>
            </a:r>
            <a:r>
              <a:rPr lang="tr-TR" sz="2000" baseline="-25000" dirty="0"/>
              <a:t>6</a:t>
            </a:r>
            <a:r>
              <a:rPr lang="tr-TR" sz="2200" baseline="0" dirty="0"/>
              <a:t>= -0.5855            x</a:t>
            </a:r>
            <a:r>
              <a:rPr lang="tr-TR" sz="2000" baseline="-25000" dirty="0"/>
              <a:t>7</a:t>
            </a:r>
            <a:r>
              <a:rPr lang="tr-TR" sz="2200" baseline="0" dirty="0"/>
              <a:t>= -0.5883</a:t>
            </a:r>
          </a:p>
          <a:p>
            <a:r>
              <a:rPr lang="tr-TR" sz="2200" baseline="0" dirty="0"/>
              <a:t>x</a:t>
            </a:r>
            <a:r>
              <a:rPr lang="tr-TR" sz="2000" baseline="-25000" dirty="0"/>
              <a:t>8</a:t>
            </a:r>
            <a:r>
              <a:rPr lang="tr-TR" sz="2200" baseline="0" dirty="0"/>
              <a:t>= -0.5868            x</a:t>
            </a:r>
            <a:r>
              <a:rPr lang="tr-TR" sz="2000" baseline="-25000" dirty="0"/>
              <a:t>9</a:t>
            </a:r>
            <a:r>
              <a:rPr lang="tr-TR" sz="2200" baseline="0" dirty="0"/>
              <a:t>= -0.5876</a:t>
            </a:r>
          </a:p>
          <a:p>
            <a:r>
              <a:rPr lang="tr-TR" sz="2200" baseline="0" dirty="0"/>
              <a:t>x</a:t>
            </a:r>
            <a:r>
              <a:rPr lang="tr-TR" sz="2000" baseline="-25000" dirty="0"/>
              <a:t>10</a:t>
            </a:r>
            <a:r>
              <a:rPr lang="tr-TR" sz="2200" baseline="0" dirty="0"/>
              <a:t>= -0.5872           </a:t>
            </a:r>
            <a:r>
              <a:rPr lang="tr-TR" sz="2200" b="1" baseline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x</a:t>
            </a:r>
            <a:r>
              <a:rPr lang="tr-TR" sz="2000" baseline="-25000" dirty="0"/>
              <a:t>11</a:t>
            </a:r>
            <a:r>
              <a:rPr lang="tr-TR" sz="2200" b="1" baseline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= -0.5874</a:t>
            </a:r>
          </a:p>
          <a:p>
            <a:endParaRPr lang="tr-TR" sz="2200" baseline="0" dirty="0"/>
          </a:p>
          <a:p>
            <a:endParaRPr lang="tr-TR" sz="2200" baseline="0" dirty="0"/>
          </a:p>
          <a:p>
            <a:endParaRPr lang="tr-TR" sz="1200" baseline="0" dirty="0"/>
          </a:p>
          <a:p>
            <a:endParaRPr lang="tr-TR" dirty="0"/>
          </a:p>
        </p:txBody>
      </p:sp>
      <p:sp>
        <p:nvSpPr>
          <p:cNvPr id="14" name="Rectangle 27"/>
          <p:cNvSpPr>
            <a:spLocks noChangeArrowheads="1"/>
          </p:cNvSpPr>
          <p:nvPr/>
        </p:nvSpPr>
        <p:spPr bwMode="auto">
          <a:xfrm>
            <a:off x="1526138" y="5625728"/>
            <a:ext cx="7726382" cy="1763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tr-TR" sz="2200" baseline="0" dirty="0"/>
              <a:t>12 </a:t>
            </a:r>
            <a:r>
              <a:rPr lang="tr-TR" sz="2200" baseline="0" dirty="0" err="1"/>
              <a:t>iterasyon</a:t>
            </a:r>
            <a:r>
              <a:rPr lang="tr-TR" sz="2200" baseline="0" dirty="0"/>
              <a:t> sonucunda 0.0000001 hassasiyetle kök bulunmuştur. </a:t>
            </a:r>
          </a:p>
          <a:p>
            <a:endParaRPr lang="tr-TR" sz="2200" baseline="0" dirty="0"/>
          </a:p>
        </p:txBody>
      </p:sp>
    </p:spTree>
    <p:extLst>
      <p:ext uri="{BB962C8B-B14F-4D97-AF65-F5344CB8AC3E}">
        <p14:creationId xmlns:p14="http://schemas.microsoft.com/office/powerpoint/2010/main" val="2603898349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3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929330"/>
            <a:ext cx="714380" cy="476250"/>
          </a:xfrm>
        </p:spPr>
        <p:txBody>
          <a:bodyPr/>
          <a:lstStyle/>
          <a:p>
            <a:pPr algn="ctr"/>
            <a:r>
              <a:rPr lang="tr-TR" smtClean="0"/>
              <a:t>2.  Sayfa</a:t>
            </a:r>
            <a:endParaRPr lang="tr-TR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6896E4-35C4-4741-8A69-D49CDAA919B9}" type="slidenum">
              <a:rPr lang="tr-TR" smtClean="0"/>
              <a:pPr/>
              <a:t>21</a:t>
            </a:fld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1" name="9 Dikdörtgen"/>
          <p:cNvSpPr/>
          <p:nvPr/>
        </p:nvSpPr>
        <p:spPr bwMode="auto">
          <a:xfrm>
            <a:off x="1214414" y="1214422"/>
            <a:ext cx="7929586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endParaRPr lang="tr-TR" sz="1400" dirty="0" smtClean="0"/>
          </a:p>
          <a:p>
            <a:r>
              <a:rPr lang="tr-TR" sz="1400" dirty="0" smtClean="0"/>
              <a:t> </a:t>
            </a:r>
          </a:p>
          <a:p>
            <a:r>
              <a:rPr lang="tr-TR" sz="1400" dirty="0" smtClean="0"/>
              <a:t>           </a:t>
            </a:r>
          </a:p>
          <a:p>
            <a:endParaRPr lang="tr-TR" sz="14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0" name="Rectangle 14"/>
          <p:cNvSpPr>
            <a:spLocks noChangeArrowheads="1"/>
          </p:cNvSpPr>
          <p:nvPr/>
        </p:nvSpPr>
        <p:spPr bwMode="auto">
          <a:xfrm>
            <a:off x="1691679" y="1392138"/>
            <a:ext cx="6841133" cy="4629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342900" indent="-342900">
              <a:spcBef>
                <a:spcPct val="30000"/>
              </a:spcBef>
            </a:pPr>
            <a:r>
              <a:rPr lang="tr-TR" sz="2400" b="1" baseline="0" dirty="0">
                <a:solidFill>
                  <a:srgbClr val="FF3300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ÖDEV</a:t>
            </a:r>
          </a:p>
          <a:p>
            <a:pPr marL="342900" indent="-342900">
              <a:spcBef>
                <a:spcPct val="30000"/>
              </a:spcBef>
            </a:pPr>
            <a:endParaRPr lang="tr-TR" sz="2400" baseline="0" dirty="0">
              <a:solidFill>
                <a:srgbClr val="FF3300"/>
              </a:solidFill>
              <a:effectLst>
                <a:outerShdw blurRad="38100" dist="38100" dir="2700000" algn="tl">
                  <a:srgbClr val="C0C0C0"/>
                </a:outerShdw>
              </a:effectLst>
            </a:endParaRPr>
          </a:p>
          <a:p>
            <a:pPr marL="342900" indent="-342900">
              <a:spcBef>
                <a:spcPct val="30000"/>
              </a:spcBef>
            </a:pPr>
            <a:r>
              <a:rPr lang="tr-TR" sz="2400" baseline="0" dirty="0"/>
              <a:t>f(x) = x</a:t>
            </a:r>
            <a:r>
              <a:rPr lang="tr-TR" sz="2400" baseline="30000" dirty="0"/>
              <a:t>3</a:t>
            </a:r>
            <a:r>
              <a:rPr lang="tr-TR" sz="2400" baseline="0" dirty="0"/>
              <a:t>- 4.Sin(x)  denkleminin</a:t>
            </a:r>
          </a:p>
          <a:p>
            <a:pPr marL="342900" indent="-342900">
              <a:spcBef>
                <a:spcPct val="30000"/>
              </a:spcBef>
            </a:pPr>
            <a:endParaRPr lang="tr-TR" sz="2400" baseline="0" dirty="0"/>
          </a:p>
          <a:p>
            <a:pPr marL="342900" indent="-342900">
              <a:spcBef>
                <a:spcPct val="30000"/>
              </a:spcBef>
            </a:pPr>
            <a:r>
              <a:rPr lang="tr-TR" sz="2400" baseline="0" dirty="0" err="1"/>
              <a:t>x</a:t>
            </a:r>
            <a:r>
              <a:rPr lang="tr-TR" sz="2000" baseline="-25000" dirty="0" err="1"/>
              <a:t>o</a:t>
            </a:r>
            <a:r>
              <a:rPr lang="tr-TR" sz="2400" baseline="0" dirty="0"/>
              <a:t>=1.5 civarında bir kökünün olduğu bilindiğine göre kökü </a:t>
            </a:r>
            <a:r>
              <a:rPr lang="el-GR" sz="2400" baseline="0" dirty="0">
                <a:cs typeface="Arial" charset="0"/>
                <a:sym typeface="Wingdings" pitchFamily="2" charset="2"/>
              </a:rPr>
              <a:t>ε</a:t>
            </a:r>
            <a:r>
              <a:rPr lang="tr-TR" sz="2400" dirty="0">
                <a:cs typeface="Arial" charset="0"/>
                <a:sym typeface="Wingdings" pitchFamily="2" charset="2"/>
              </a:rPr>
              <a:t> </a:t>
            </a:r>
            <a:r>
              <a:rPr lang="tr-TR" sz="2000" baseline="-25000" dirty="0">
                <a:sym typeface="Wingdings" pitchFamily="2" charset="2"/>
              </a:rPr>
              <a:t>k</a:t>
            </a:r>
            <a:r>
              <a:rPr lang="tr-TR" sz="2400" dirty="0">
                <a:cs typeface="Arial" charset="0"/>
                <a:sym typeface="Wingdings" pitchFamily="2" charset="2"/>
              </a:rPr>
              <a:t> </a:t>
            </a:r>
            <a:r>
              <a:rPr lang="tr-TR" sz="2400" baseline="0" dirty="0">
                <a:cs typeface="Arial" charset="0"/>
                <a:sym typeface="Wingdings" pitchFamily="2" charset="2"/>
              </a:rPr>
              <a:t>=0.0000001 yaklaşımla </a:t>
            </a:r>
            <a:r>
              <a:rPr lang="tr-TR" sz="2200" baseline="0" dirty="0"/>
              <a:t>basit </a:t>
            </a:r>
            <a:r>
              <a:rPr lang="tr-TR" sz="2400" baseline="0" dirty="0" err="1"/>
              <a:t>iterasyon</a:t>
            </a:r>
            <a:r>
              <a:rPr lang="tr-TR" sz="2400" baseline="0" dirty="0"/>
              <a:t> yöntemini kullanarak </a:t>
            </a:r>
            <a:r>
              <a:rPr lang="tr-TR" sz="2400" baseline="0" dirty="0">
                <a:cs typeface="Arial" charset="0"/>
                <a:sym typeface="Wingdings" pitchFamily="2" charset="2"/>
              </a:rPr>
              <a:t>bulunuz. </a:t>
            </a:r>
          </a:p>
          <a:p>
            <a:pPr marL="342900" indent="-342900">
              <a:spcBef>
                <a:spcPct val="30000"/>
              </a:spcBef>
            </a:pPr>
            <a:endParaRPr lang="tr-TR" sz="2400" baseline="0" dirty="0">
              <a:cs typeface="Arial" charset="0"/>
              <a:sym typeface="Wingdings" pitchFamily="2" charset="2"/>
            </a:endParaRPr>
          </a:p>
          <a:p>
            <a:pPr marL="342900" indent="-342900">
              <a:spcBef>
                <a:spcPct val="30000"/>
              </a:spcBef>
            </a:pPr>
            <a:r>
              <a:rPr lang="tr-TR" sz="2400" baseline="0" dirty="0">
                <a:cs typeface="Arial" charset="0"/>
                <a:sym typeface="Wingdings" pitchFamily="2" charset="2"/>
              </a:rPr>
              <a:t>(x radyan alınacak)</a:t>
            </a:r>
          </a:p>
        </p:txBody>
      </p:sp>
    </p:spTree>
    <p:extLst>
      <p:ext uri="{BB962C8B-B14F-4D97-AF65-F5344CB8AC3E}">
        <p14:creationId xmlns:p14="http://schemas.microsoft.com/office/powerpoint/2010/main" val="2024101723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22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929586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r>
              <a:rPr lang="tr-TR" sz="1400" b="1" dirty="0" smtClean="0"/>
              <a:t>Yarılama (</a:t>
            </a:r>
            <a:r>
              <a:rPr lang="tr-TR" sz="1400" b="1" dirty="0" err="1" smtClean="0"/>
              <a:t>Bisection</a:t>
            </a:r>
            <a:r>
              <a:rPr lang="tr-TR" sz="1400" b="1" dirty="0" smtClean="0"/>
              <a:t>) Yöntemi :</a:t>
            </a:r>
          </a:p>
          <a:p>
            <a:r>
              <a:rPr lang="tr-TR" sz="1800" b="1" dirty="0" smtClean="0"/>
              <a:t>          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a</a:t>
            </a:r>
            <a:r>
              <a:rPr lang="tr-TR" sz="1400" b="1" dirty="0" smtClean="0"/>
              <a:t>, 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b</a:t>
            </a:r>
            <a:r>
              <a:rPr lang="tr-TR" sz="1400" dirty="0" smtClean="0"/>
              <a:t> başlangıç değerleri için </a:t>
            </a:r>
            <a:r>
              <a:rPr lang="tr-TR" sz="1400" b="1" dirty="0" smtClean="0"/>
              <a:t>f(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a</a:t>
            </a:r>
            <a:r>
              <a:rPr lang="tr-TR" sz="1400" b="1" dirty="0" smtClean="0"/>
              <a:t>)</a:t>
            </a:r>
            <a:r>
              <a:rPr lang="tr-TR" sz="1400" dirty="0" smtClean="0"/>
              <a:t> ve </a:t>
            </a:r>
            <a:r>
              <a:rPr lang="tr-TR" sz="1400" b="1" dirty="0" smtClean="0"/>
              <a:t>f(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b</a:t>
            </a:r>
            <a:r>
              <a:rPr lang="tr-TR" sz="1400" b="1" dirty="0" smtClean="0"/>
              <a:t>)</a:t>
            </a:r>
            <a:r>
              <a:rPr lang="tr-TR" sz="1400" dirty="0" smtClean="0"/>
              <a:t> değerleri zıt işaretli, böyle başlangıç noktaları bulunabiliyorsa kökün 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a</a:t>
            </a:r>
            <a:r>
              <a:rPr lang="tr-TR" sz="1400" b="1" dirty="0" smtClean="0"/>
              <a:t>  </a:t>
            </a:r>
            <a:r>
              <a:rPr lang="tr-TR" sz="1400" dirty="0" smtClean="0"/>
              <a:t>ve</a:t>
            </a:r>
            <a:r>
              <a:rPr lang="tr-TR" sz="1400" b="1" dirty="0" smtClean="0"/>
              <a:t> 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b</a:t>
            </a:r>
            <a:r>
              <a:rPr lang="tr-TR" sz="1400" b="1" baseline="-25000" dirty="0" smtClean="0"/>
              <a:t> </a:t>
            </a:r>
            <a:r>
              <a:rPr lang="tr-TR" sz="1400" dirty="0" smtClean="0"/>
              <a:t> arasında olacağı açıktır.</a:t>
            </a:r>
          </a:p>
          <a:p>
            <a:r>
              <a:rPr lang="tr-TR" sz="1400" dirty="0" smtClean="0"/>
              <a:t>             Bir bilinmeyenli bir denklem                   biçiminde yazılabilir. Denkleminin kökleri                    aralığında ve bu aralıkta  </a:t>
            </a:r>
            <a:r>
              <a:rPr lang="tr-TR" sz="1400" b="1" i="1" dirty="0" smtClean="0"/>
              <a:t>f</a:t>
            </a:r>
            <a:r>
              <a:rPr lang="tr-TR" sz="1400" dirty="0" smtClean="0"/>
              <a:t>  fonksiyonu sürekli olsun.</a:t>
            </a:r>
          </a:p>
          <a:p>
            <a:r>
              <a:rPr lang="tr-TR" sz="1400" dirty="0" smtClean="0"/>
              <a:t>             Aralığı ikiye bölme yöntemi ardışık olarak kökün bulunduğu aralığın uzunluğunu ikiye bölerek kökü içeren aralık uzunluğunu istenildiği kadar daraltan bir yöntemdir. </a:t>
            </a:r>
          </a:p>
          <a:p>
            <a:endParaRPr lang="tr-TR" sz="1400" dirty="0" smtClean="0"/>
          </a:p>
          <a:p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a</a:t>
            </a:r>
            <a:r>
              <a:rPr lang="tr-TR" sz="1400" b="1" dirty="0" smtClean="0"/>
              <a:t>  </a:t>
            </a:r>
            <a:r>
              <a:rPr lang="tr-TR" sz="1400" dirty="0" smtClean="0"/>
              <a:t>ile</a:t>
            </a:r>
            <a:r>
              <a:rPr lang="tr-TR" sz="1400" b="1" dirty="0" smtClean="0"/>
              <a:t> 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b</a:t>
            </a:r>
            <a:r>
              <a:rPr lang="tr-TR" sz="1400" b="1" dirty="0" smtClean="0"/>
              <a:t>   </a:t>
            </a:r>
            <a:r>
              <a:rPr lang="tr-TR" sz="1400" dirty="0" smtClean="0"/>
              <a:t>aralığını küçülterek                         ile yeni bir      ve          değerleri bulunur.                         </a:t>
            </a:r>
            <a:r>
              <a:rPr lang="tr-TR" sz="1400" b="1" dirty="0" smtClean="0"/>
              <a:t> </a:t>
            </a:r>
            <a:r>
              <a:rPr lang="tr-TR" sz="1400" dirty="0" smtClean="0"/>
              <a:t>ile aynı  işaretli             ile zıt işaretli olduğundan</a:t>
            </a:r>
            <a:r>
              <a:rPr lang="tr-TR" sz="1400" b="1" dirty="0" smtClean="0"/>
              <a:t> </a:t>
            </a:r>
            <a:r>
              <a:rPr lang="tr-TR" sz="1400" dirty="0" smtClean="0"/>
              <a:t>kök</a:t>
            </a:r>
            <a:r>
              <a:rPr lang="tr-TR" sz="1400" b="1" dirty="0" smtClean="0"/>
              <a:t> X</a:t>
            </a:r>
            <a:r>
              <a:rPr lang="tr-TR" sz="1400" b="1" baseline="-25000" dirty="0" smtClean="0"/>
              <a:t>1</a:t>
            </a:r>
            <a:r>
              <a:rPr lang="tr-TR" sz="1400" b="1" dirty="0" smtClean="0"/>
              <a:t>  </a:t>
            </a:r>
            <a:r>
              <a:rPr lang="tr-TR" sz="1400" dirty="0" smtClean="0"/>
              <a:t>ile</a:t>
            </a:r>
            <a:r>
              <a:rPr lang="tr-TR" sz="1400" b="1" dirty="0" smtClean="0"/>
              <a:t> 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b</a:t>
            </a:r>
            <a:r>
              <a:rPr lang="tr-TR" sz="1400" b="1" dirty="0" smtClean="0"/>
              <a:t>   </a:t>
            </a:r>
            <a:r>
              <a:rPr lang="tr-TR" sz="1400" dirty="0" smtClean="0"/>
              <a:t>arasındadır.</a:t>
            </a:r>
          </a:p>
          <a:p>
            <a:endParaRPr lang="tr-TR" sz="1400" dirty="0" smtClean="0"/>
          </a:p>
          <a:p>
            <a:r>
              <a:rPr lang="tr-TR" sz="1400" dirty="0" smtClean="0"/>
              <a:t> </a:t>
            </a:r>
          </a:p>
          <a:p>
            <a:r>
              <a:rPr lang="tr-TR" sz="1400" dirty="0" smtClean="0"/>
              <a:t>           </a:t>
            </a:r>
          </a:p>
          <a:p>
            <a:endParaRPr lang="tr-TR" sz="14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1" name="10 Resim"/>
          <p:cNvPicPr/>
          <p:nvPr/>
        </p:nvPicPr>
        <p:blipFill>
          <a:blip r:embed="rId3" cstate="print"/>
          <a:srcRect t="1200" b="3600"/>
          <a:stretch>
            <a:fillRect/>
          </a:stretch>
        </p:blipFill>
        <p:spPr bwMode="auto">
          <a:xfrm>
            <a:off x="2699792" y="3642716"/>
            <a:ext cx="3672408" cy="281062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393" name="Picture 9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7643834" y="3071810"/>
            <a:ext cx="800100" cy="209550"/>
          </a:xfrm>
          <a:prstGeom prst="rect">
            <a:avLst/>
          </a:prstGeom>
          <a:noFill/>
        </p:spPr>
      </p:pic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395" name="Picture 11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600512" y="2976622"/>
            <a:ext cx="876300" cy="361950"/>
          </a:xfrm>
          <a:prstGeom prst="rect">
            <a:avLst/>
          </a:prstGeom>
          <a:noFill/>
        </p:spPr>
      </p:pic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397" name="Picture 13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464881" y="3047872"/>
            <a:ext cx="161925" cy="209550"/>
          </a:xfrm>
          <a:prstGeom prst="rect">
            <a:avLst/>
          </a:prstGeom>
          <a:noFill/>
        </p:spPr>
      </p:pic>
      <p:sp>
        <p:nvSpPr>
          <p:cNvPr id="1640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399" name="Picture 15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5857884" y="3071810"/>
            <a:ext cx="371475" cy="209550"/>
          </a:xfrm>
          <a:prstGeom prst="rect">
            <a:avLst/>
          </a:prstGeom>
          <a:noFill/>
        </p:spPr>
      </p:pic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401" name="Picture 17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476548" y="3262374"/>
            <a:ext cx="371475" cy="209550"/>
          </a:xfrm>
          <a:prstGeom prst="rect">
            <a:avLst/>
          </a:prstGeom>
          <a:noFill/>
        </p:spPr>
      </p:pic>
      <p:sp>
        <p:nvSpPr>
          <p:cNvPr id="1640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403" name="Picture 19"/>
          <p:cNvPicPr>
            <a:picLocks noChangeAspect="1" noChangeArrowheads="1"/>
          </p:cNvPicPr>
          <p:nvPr/>
        </p:nvPicPr>
        <p:blipFill>
          <a:blip r:embed="rId9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024313" y="1976490"/>
            <a:ext cx="619125" cy="209550"/>
          </a:xfrm>
          <a:prstGeom prst="rect">
            <a:avLst/>
          </a:prstGeom>
          <a:noFill/>
        </p:spPr>
      </p:pic>
      <p:sp>
        <p:nvSpPr>
          <p:cNvPr id="1640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405" name="Picture 21"/>
          <p:cNvPicPr>
            <a:picLocks noChangeAspect="1" noChangeArrowheads="1"/>
          </p:cNvPicPr>
          <p:nvPr/>
        </p:nvPicPr>
        <p:blipFill>
          <a:blip r:embed="rId10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001024" y="2000240"/>
            <a:ext cx="657225" cy="209550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23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r>
              <a:rPr lang="tr-TR" sz="1400" b="1" dirty="0" smtClean="0"/>
              <a:t>Yarılama (İkiye Bölme veya Bisection) Yöntemi :</a:t>
            </a:r>
          </a:p>
          <a:p>
            <a:endParaRPr lang="tr-TR" sz="1400" dirty="0" smtClean="0"/>
          </a:p>
          <a:p>
            <a:r>
              <a:rPr lang="tr-TR" sz="1400" dirty="0" smtClean="0"/>
              <a:t> </a:t>
            </a:r>
          </a:p>
          <a:p>
            <a:r>
              <a:rPr lang="tr-TR" sz="1400" dirty="0" smtClean="0"/>
              <a:t>           </a:t>
            </a:r>
          </a:p>
          <a:p>
            <a:endParaRPr lang="tr-TR" sz="1400" dirty="0" smtClean="0"/>
          </a:p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1" name="10 Resim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220072" y="1340768"/>
            <a:ext cx="3434724" cy="2736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11 Metin kutusu"/>
          <p:cNvSpPr txBox="1"/>
          <p:nvPr/>
        </p:nvSpPr>
        <p:spPr>
          <a:xfrm>
            <a:off x="1142976" y="3643126"/>
            <a:ext cx="500066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1400" dirty="0" smtClean="0"/>
              <a:t>O halde yönteme göre bu iki aralığı daraltmalıyız.</a:t>
            </a:r>
          </a:p>
          <a:p>
            <a:pPr algn="just"/>
            <a:endParaRPr lang="tr-TR" sz="1400" dirty="0" smtClean="0"/>
          </a:p>
          <a:p>
            <a:pPr algn="just"/>
            <a:r>
              <a:rPr lang="tr-TR" sz="1400" dirty="0" smtClean="0"/>
              <a:t>Yani                           ile yeni         ve            değerlerini bulalım.</a:t>
            </a:r>
          </a:p>
          <a:p>
            <a:pPr algn="just"/>
            <a:endParaRPr lang="tr-TR" sz="1400" dirty="0" smtClean="0"/>
          </a:p>
          <a:p>
            <a:pPr algn="just"/>
            <a:r>
              <a:rPr lang="tr-TR" sz="1400" dirty="0" smtClean="0"/>
              <a:t>Grafikten </a:t>
            </a:r>
            <a:r>
              <a:rPr lang="tr-TR" sz="1400" b="1" dirty="0" smtClean="0"/>
              <a:t>                   ‘  </a:t>
            </a:r>
            <a:r>
              <a:rPr lang="tr-TR" sz="1400" dirty="0" err="1" smtClean="0"/>
              <a:t>nin</a:t>
            </a:r>
            <a:r>
              <a:rPr lang="tr-TR" sz="1400" dirty="0" smtClean="0"/>
              <a:t> zıt işaretli olduğu görülür. Dolayısıyla kök </a:t>
            </a:r>
            <a:r>
              <a:rPr lang="tr-TR" sz="1400" b="1" dirty="0" smtClean="0"/>
              <a:t>X</a:t>
            </a:r>
            <a:r>
              <a:rPr lang="tr-TR" sz="1400" b="1" baseline="-25000" dirty="0" smtClean="0"/>
              <a:t>1</a:t>
            </a:r>
            <a:r>
              <a:rPr lang="tr-TR" sz="1400" b="1" dirty="0" smtClean="0"/>
              <a:t>  </a:t>
            </a:r>
            <a:r>
              <a:rPr lang="tr-TR" sz="1400" dirty="0" smtClean="0"/>
              <a:t>ile</a:t>
            </a:r>
            <a:r>
              <a:rPr lang="tr-TR" sz="1400" b="1" dirty="0" smtClean="0"/>
              <a:t> X</a:t>
            </a:r>
            <a:r>
              <a:rPr lang="tr-TR" sz="1400" b="1" baseline="-25000" dirty="0" smtClean="0"/>
              <a:t>2</a:t>
            </a:r>
            <a:r>
              <a:rPr lang="tr-TR" sz="1400" b="1" dirty="0" smtClean="0"/>
              <a:t>   </a:t>
            </a:r>
            <a:r>
              <a:rPr lang="tr-TR" sz="1400" dirty="0" smtClean="0"/>
              <a:t>arasındadır, bu aralık ikiye bölünerek köke bir adım daha yaklaşılacaktır.</a:t>
            </a:r>
          </a:p>
          <a:p>
            <a:pPr algn="just"/>
            <a:endParaRPr lang="tr-TR" sz="1400" dirty="0" smtClean="0"/>
          </a:p>
          <a:p>
            <a:pPr algn="just"/>
            <a:r>
              <a:rPr lang="tr-TR" sz="1400" dirty="0" smtClean="0"/>
              <a:t>İşlemler son iki x değerinin farkının mutlak değeri verilen bir </a:t>
            </a:r>
            <a:r>
              <a:rPr lang="tr-TR" sz="1600" b="1" dirty="0" smtClean="0">
                <a:sym typeface="Symbol"/>
              </a:rPr>
              <a:t></a:t>
            </a:r>
            <a:r>
              <a:rPr lang="tr-TR" sz="1400" dirty="0" smtClean="0"/>
              <a:t> değerine eşit veya küçük olana kadar devam eder. </a:t>
            </a:r>
          </a:p>
          <a:p>
            <a:pPr algn="just"/>
            <a:endParaRPr lang="tr-TR" sz="1400" dirty="0" smtClean="0"/>
          </a:p>
          <a:p>
            <a:pPr algn="just"/>
            <a:r>
              <a:rPr lang="tr-TR" sz="1400" dirty="0" smtClean="0"/>
              <a:t>İşlemler </a:t>
            </a:r>
            <a:r>
              <a:rPr lang="tr-TR" sz="1400" b="1" dirty="0" smtClean="0"/>
              <a:t>|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n</a:t>
            </a:r>
            <a:r>
              <a:rPr lang="tr-TR" sz="1400" b="1" dirty="0" smtClean="0"/>
              <a:t>-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n</a:t>
            </a:r>
            <a:r>
              <a:rPr lang="tr-TR" sz="1400" b="1" baseline="-25000" dirty="0" smtClean="0"/>
              <a:t>-1</a:t>
            </a:r>
            <a:r>
              <a:rPr lang="tr-TR" sz="1400" b="1" dirty="0" smtClean="0"/>
              <a:t>|</a:t>
            </a:r>
            <a:r>
              <a:rPr lang="tr-TR" sz="1400" b="1" dirty="0" smtClean="0">
                <a:sym typeface="Symbol"/>
              </a:rPr>
              <a:t></a:t>
            </a:r>
            <a:r>
              <a:rPr lang="tr-TR" sz="1400" b="1" dirty="0" smtClean="0"/>
              <a:t> </a:t>
            </a:r>
            <a:r>
              <a:rPr lang="tr-TR" sz="1400" b="1" dirty="0" smtClean="0">
                <a:sym typeface="Symbol"/>
              </a:rPr>
              <a:t></a:t>
            </a:r>
            <a:r>
              <a:rPr lang="tr-TR" sz="1400" baseline="-25000" dirty="0" smtClean="0"/>
              <a:t>   </a:t>
            </a:r>
            <a:r>
              <a:rPr lang="tr-TR" sz="1400" dirty="0" smtClean="0"/>
              <a:t>olduğunda işlem sonlandırılır ve kök değerin </a:t>
            </a:r>
            <a:r>
              <a:rPr lang="tr-TR" sz="1400" b="1" dirty="0" err="1" smtClean="0"/>
              <a:t>x</a:t>
            </a:r>
            <a:r>
              <a:rPr lang="tr-TR" sz="1400" b="1" baseline="-25000" dirty="0" err="1" smtClean="0"/>
              <a:t>n</a:t>
            </a:r>
            <a:r>
              <a:rPr lang="tr-TR" sz="1400" dirty="0" smtClean="0"/>
              <a:t> olduğu kabul edilir.</a:t>
            </a:r>
            <a:endParaRPr lang="tr-TR" sz="1400" dirty="0"/>
          </a:p>
        </p:txBody>
      </p:sp>
      <p:sp>
        <p:nvSpPr>
          <p:cNvPr id="16386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385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750293" y="4067182"/>
            <a:ext cx="885825" cy="361950"/>
          </a:xfrm>
          <a:prstGeom prst="rect">
            <a:avLst/>
          </a:prstGeom>
          <a:noFill/>
        </p:spPr>
      </p:pic>
      <p:sp>
        <p:nvSpPr>
          <p:cNvPr id="16388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387" name="Picture 3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914773" y="4148144"/>
            <a:ext cx="371475" cy="209550"/>
          </a:xfrm>
          <a:prstGeom prst="rect">
            <a:avLst/>
          </a:prstGeom>
          <a:noFill/>
        </p:spPr>
      </p:pic>
      <p:sp>
        <p:nvSpPr>
          <p:cNvPr id="16390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389" name="Picture 5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3428992" y="4148144"/>
            <a:ext cx="123825" cy="209550"/>
          </a:xfrm>
          <a:prstGeom prst="rect">
            <a:avLst/>
          </a:prstGeom>
          <a:noFill/>
        </p:spPr>
      </p:pic>
      <p:sp>
        <p:nvSpPr>
          <p:cNvPr id="16392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16391" name="Picture 7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1928794" y="4576772"/>
            <a:ext cx="971550" cy="209550"/>
          </a:xfrm>
          <a:prstGeom prst="rect">
            <a:avLst/>
          </a:prstGeom>
          <a:noFill/>
        </p:spPr>
      </p:pic>
      <p:sp>
        <p:nvSpPr>
          <p:cNvPr id="16394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396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398" name="Rectangle 1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400" name="Rectangle 1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402" name="Rectangle 1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404" name="Rectangle 2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sp>
        <p:nvSpPr>
          <p:cNvPr id="16406" name="Rectangle 2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24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187624" y="1214422"/>
            <a:ext cx="7956376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247977"/>
            <a:ext cx="7486650" cy="26289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1" name="10 Resim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228184" y="3717032"/>
            <a:ext cx="2851662" cy="3100024"/>
          </a:xfrm>
          <a:prstGeom prst="rect">
            <a:avLst/>
          </a:prstGeom>
          <a:ln>
            <a:solidFill>
              <a:schemeClr val="tx1"/>
            </a:solidFill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2" name="Rectangle 1"/>
          <p:cNvSpPr>
            <a:spLocks noChangeArrowheads="1"/>
          </p:cNvSpPr>
          <p:nvPr/>
        </p:nvSpPr>
        <p:spPr bwMode="auto">
          <a:xfrm>
            <a:off x="2051720" y="5014331"/>
            <a:ext cx="3114092" cy="61555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just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6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İşlemlere devam edildiğinde </a:t>
            </a:r>
            <a:endParaRPr kumimoji="0" 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tr-TR" sz="1600" b="1" i="0" u="none" strike="noStrike" cap="none" normalizeH="0" baseline="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x</a:t>
            </a:r>
            <a:r>
              <a:rPr kumimoji="0" lang="tr-TR" sz="1600" b="1" i="0" u="none" strike="noStrike" cap="none" normalizeH="0" baseline="-3000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</a:t>
            </a:r>
            <a:r>
              <a:rPr kumimoji="0" lang="tr-TR" sz="1600" b="1" i="0" u="none" strike="noStrike" cap="none" normalizeH="0" baseline="-3000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Arial"/>
                <a:ea typeface="Times New Roman" pitchFamily="18" charset="0"/>
                <a:cs typeface="Times New Roman" pitchFamily="18" charset="0"/>
              </a:rPr>
              <a:t>ö</a:t>
            </a:r>
            <a:r>
              <a:rPr kumimoji="0" lang="tr-TR" sz="1600" b="1" i="0" u="none" strike="noStrike" cap="none" normalizeH="0" baseline="-30000" dirty="0" err="1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k</a:t>
            </a:r>
            <a:r>
              <a:rPr kumimoji="0" lang="tr-T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= </a:t>
            </a:r>
            <a:r>
              <a:rPr kumimoji="0" lang="tr-TR" sz="18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1,99975586</a:t>
            </a:r>
            <a:r>
              <a:rPr kumimoji="0" lang="tr-TR" sz="1600" b="1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Calibri" pitchFamily="34" charset="0"/>
                <a:ea typeface="Times New Roman" pitchFamily="18" charset="0"/>
                <a:cs typeface="Times New Roman" pitchFamily="18" charset="0"/>
              </a:rPr>
              <a:t>  bulunur</a:t>
            </a:r>
            <a:endParaRPr kumimoji="0" lang="tr-TR" sz="16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2" name="Dikdörtgen 1"/>
          <p:cNvSpPr/>
          <p:nvPr/>
        </p:nvSpPr>
        <p:spPr>
          <a:xfrm>
            <a:off x="357158" y="1248936"/>
            <a:ext cx="78739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lvl="1"/>
            <a:r>
              <a:rPr lang="tr-TR" sz="1400" b="1" dirty="0">
                <a:solidFill>
                  <a:schemeClr val="bg1">
                    <a:lumMod val="50000"/>
                  </a:schemeClr>
                </a:solidFill>
              </a:rPr>
              <a:t>Örnek :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25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11" name="10 Dikdörtgen"/>
          <p:cNvSpPr/>
          <p:nvPr/>
        </p:nvSpPr>
        <p:spPr>
          <a:xfrm>
            <a:off x="1259632" y="1772816"/>
            <a:ext cx="7272808" cy="18158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tr-TR" sz="2000" dirty="0" smtClean="0">
                <a:latin typeface="Arial Narrow" pitchFamily="34" charset="0"/>
              </a:rPr>
              <a:t>Örnek : </a:t>
            </a:r>
          </a:p>
          <a:p>
            <a:endParaRPr lang="tr-TR" sz="2000" dirty="0" smtClean="0">
              <a:latin typeface="Arial Narrow" pitchFamily="34" charset="0"/>
              <a:sym typeface="Symbol"/>
            </a:endParaRPr>
          </a:p>
          <a:p>
            <a:r>
              <a:rPr lang="tr-TR" sz="1800" dirty="0" smtClean="0">
                <a:latin typeface="Arial Narrow" pitchFamily="34" charset="0"/>
                <a:sym typeface="Symbol"/>
              </a:rPr>
              <a:t>f(x) = x3 + 2x2 + 6x + 3 = 0 denkleminin -1 &lt; x &lt; 0 aralığında bir köke sahip olduğu bilinmektedir. </a:t>
            </a:r>
          </a:p>
          <a:p>
            <a:endParaRPr lang="tr-TR" sz="1800" dirty="0" smtClean="0">
              <a:latin typeface="Arial Narrow" pitchFamily="34" charset="0"/>
              <a:sym typeface="Symbol"/>
            </a:endParaRPr>
          </a:p>
          <a:p>
            <a:r>
              <a:rPr lang="tr-TR" sz="1800" dirty="0" smtClean="0">
                <a:latin typeface="Arial Narrow" pitchFamily="34" charset="0"/>
                <a:sym typeface="Symbol"/>
              </a:rPr>
              <a:t>Bu kök bu aralıkta yarılama yöntemiyle   = 0:06 hata ile hesaplayınız.</a:t>
            </a: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26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268760"/>
            <a:ext cx="7563950" cy="511256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27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268759"/>
            <a:ext cx="7416824" cy="52565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28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556792"/>
            <a:ext cx="7560840" cy="43204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29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03648" y="1988840"/>
            <a:ext cx="7246671" cy="386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275856" y="2636913"/>
            <a:ext cx="2638787" cy="25922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30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63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1556792"/>
            <a:ext cx="7597081" cy="10081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31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23249" y="1256126"/>
            <a:ext cx="6949151" cy="52509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32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331640" y="1412776"/>
            <a:ext cx="7446264" cy="40324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33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929586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9224" name="Picture 8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9657" y="2873957"/>
            <a:ext cx="3864391" cy="1851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Dikdörtgen 15"/>
          <p:cNvSpPr/>
          <p:nvPr/>
        </p:nvSpPr>
        <p:spPr>
          <a:xfrm>
            <a:off x="106141" y="1214422"/>
            <a:ext cx="10310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tr-TR" dirty="0" smtClean="0">
                <a:solidFill>
                  <a:schemeClr val="bg1">
                    <a:lumMod val="75000"/>
                  </a:schemeClr>
                </a:solidFill>
              </a:rPr>
              <a:t>Örnek</a:t>
            </a:r>
            <a:r>
              <a:rPr lang="tr-TR" b="1" dirty="0" smtClean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tr-TR" dirty="0">
              <a:solidFill>
                <a:schemeClr val="bg1">
                  <a:lumMod val="75000"/>
                </a:schemeClr>
              </a:solidFill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Metin kutusu 14"/>
              <p:cNvSpPr txBox="1"/>
              <p:nvPr/>
            </p:nvSpPr>
            <p:spPr>
              <a:xfrm>
                <a:off x="1249752" y="1249000"/>
                <a:ext cx="7894248" cy="21236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r-TR" sz="1600" i="1" dirty="0" smtClean="0"/>
                  <a:t>x</a:t>
                </a:r>
                <a:r>
                  <a:rPr lang="tr-TR" sz="1600" dirty="0" smtClean="0"/>
                  <a:t>-2sin</a:t>
                </a:r>
                <a:r>
                  <a:rPr lang="tr-TR" sz="1600" i="1" dirty="0" smtClean="0"/>
                  <a:t>x</a:t>
                </a:r>
                <a:r>
                  <a:rPr lang="tr-TR" sz="1600" dirty="0" smtClean="0"/>
                  <a:t>=0  </a:t>
                </a:r>
                <a:r>
                  <a:rPr lang="tr-TR" sz="1600" dirty="0"/>
                  <a:t>denkleminin köklerini </a:t>
                </a:r>
                <a:r>
                  <a:rPr lang="tr-TR" sz="2000" dirty="0" smtClean="0"/>
                  <a:t>ɛ=</a:t>
                </a:r>
                <a:r>
                  <a:rPr lang="tr-TR" sz="1600" dirty="0" smtClean="0"/>
                  <a:t>0.001 </a:t>
                </a:r>
                <a:r>
                  <a:rPr lang="tr-TR" sz="1600" dirty="0"/>
                  <a:t>den daha küçük </a:t>
                </a:r>
                <a:r>
                  <a:rPr lang="tr-TR" sz="1600" dirty="0" smtClean="0"/>
                  <a:t> </a:t>
                </a:r>
                <a:r>
                  <a:rPr lang="tr-TR" sz="1600" dirty="0"/>
                  <a:t>mutlak hata ile bulmaya çalışalım. </a:t>
                </a:r>
              </a:p>
              <a:p>
                <a:r>
                  <a:rPr lang="tr-TR" sz="1600" dirty="0"/>
                  <a:t> 	</a:t>
                </a:r>
                <a:endParaRPr lang="tr-TR" sz="1600" dirty="0" smtClean="0"/>
              </a:p>
              <a:p>
                <a:r>
                  <a:rPr lang="tr-TR" sz="1600" i="1" dirty="0" smtClean="0"/>
                  <a:t>x</a:t>
                </a:r>
                <a:r>
                  <a:rPr lang="tr-TR" sz="1600" dirty="0" smtClean="0"/>
                  <a:t>-2sin</a:t>
                </a:r>
                <a:r>
                  <a:rPr lang="tr-TR" sz="1600" i="1" dirty="0" smtClean="0"/>
                  <a:t>x</a:t>
                </a:r>
                <a:r>
                  <a:rPr lang="tr-TR" sz="1600" dirty="0" smtClean="0"/>
                  <a:t>=0 </a:t>
                </a:r>
                <a:r>
                  <a:rPr lang="tr-TR" sz="1600" dirty="0"/>
                  <a:t>denklemini </a:t>
                </a:r>
                <a:r>
                  <a:rPr lang="tr-TR" sz="1600" i="1" dirty="0"/>
                  <a:t>x</a:t>
                </a:r>
                <a:r>
                  <a:rPr lang="tr-TR" sz="1600" dirty="0"/>
                  <a:t>=2sin</a:t>
                </a:r>
                <a:r>
                  <a:rPr lang="tr-TR" sz="1600" i="1" dirty="0"/>
                  <a:t>x </a:t>
                </a:r>
                <a:r>
                  <a:rPr lang="tr-TR" sz="1600" dirty="0"/>
                  <a:t>biçiminde yazalım. Bu denklemin kökleri </a:t>
                </a:r>
                <a:r>
                  <a:rPr lang="tr-TR" sz="1600" i="1" dirty="0"/>
                  <a:t>y</a:t>
                </a:r>
                <a:r>
                  <a:rPr lang="tr-TR" sz="1600" dirty="0"/>
                  <a:t>=</a:t>
                </a:r>
                <a:r>
                  <a:rPr lang="tr-TR" sz="1600" dirty="0" err="1"/>
                  <a:t>sin</a:t>
                </a:r>
                <a:r>
                  <a:rPr lang="tr-TR" sz="1600" i="1" dirty="0" err="1"/>
                  <a:t>x</a:t>
                </a:r>
                <a:r>
                  <a:rPr lang="tr-TR" sz="1600" i="1" dirty="0"/>
                  <a:t> </a:t>
                </a:r>
                <a:r>
                  <a:rPr lang="tr-TR" sz="1600" dirty="0"/>
                  <a:t>eğrisi ile </a:t>
                </a:r>
                <a:r>
                  <a:rPr lang="tr-TR" sz="1600" i="1" dirty="0"/>
                  <a:t>y</a:t>
                </a:r>
                <a:r>
                  <a:rPr lang="tr-TR" sz="1600" dirty="0"/>
                  <a:t>=x doğrusunun kesiştiği noktalardır. Aşağıdaki grafikten görüldüğü gibi üç tane kök söz konusudur. </a:t>
                </a:r>
                <a:r>
                  <a:rPr lang="tr-TR" sz="1600" dirty="0" smtClean="0"/>
                  <a:t>Bunlardan biri x</a:t>
                </a:r>
                <a:r>
                  <a:rPr lang="tr-TR" sz="1600" baseline="-25000" dirty="0" smtClean="0"/>
                  <a:t>1</a:t>
                </a:r>
                <a:r>
                  <a:rPr lang="tr-TR" sz="1600" dirty="0" smtClean="0"/>
                  <a:t>=0 </a:t>
                </a:r>
                <a:r>
                  <a:rPr lang="tr-TR" sz="1600" dirty="0"/>
                  <a:t>, diğer ikisinden pozitif </a:t>
                </a:r>
                <a:r>
                  <a:rPr lang="tr-TR" sz="1600" dirty="0" smtClean="0"/>
                  <a:t>olanı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600" i="1" dirty="0" smtClean="0">
                            <a:latin typeface="Cambria Math"/>
                          </a:rPr>
                        </m:ctrlPr>
                      </m:sSubPr>
                      <m:e>
                        <m:r>
                          <a:rPr lang="tr-TR" sz="1600" b="0" i="1" dirty="0" smtClean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1600" b="0" i="1" dirty="0" smtClean="0">
                            <a:latin typeface="Cambria Math"/>
                          </a:rPr>
                          <m:t>2</m:t>
                        </m:r>
                      </m:sub>
                    </m:sSub>
                    <m:r>
                      <a:rPr lang="tr-TR" sz="1600" i="1" dirty="0" smtClean="0">
                        <a:latin typeface="Cambria Math"/>
                        <a:ea typeface="Cambria Math"/>
                      </a:rPr>
                      <m:t>∈</m:t>
                    </m:r>
                    <m:d>
                      <m:dPr>
                        <m:begChr m:val="["/>
                        <m:endChr m:val="]"/>
                        <m:ctrlPr>
                          <a:rPr lang="tr-TR" sz="1600" i="1" dirty="0" smtClean="0">
                            <a:latin typeface="Cambria Math"/>
                            <a:ea typeface="Cambria Math"/>
                          </a:rPr>
                        </m:ctrlPr>
                      </m:dPr>
                      <m:e>
                        <m:r>
                          <a:rPr lang="tr-TR" sz="1600" b="0" i="1" dirty="0" smtClean="0">
                            <a:latin typeface="Cambria Math"/>
                            <a:ea typeface="Cambria Math"/>
                          </a:rPr>
                          <m:t>1,3</m:t>
                        </m:r>
                      </m:e>
                    </m:d>
                  </m:oMath>
                </a14:m>
                <a:r>
                  <a:rPr lang="tr-TR" sz="1600" dirty="0" smtClean="0"/>
                  <a:t> dır</a:t>
                </a:r>
                <a:r>
                  <a:rPr lang="tr-TR" sz="1600" dirty="0"/>
                  <a:t>. Üçüncü kök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tr-TR" sz="16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tr-TR" sz="16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1600" b="0" i="1" dirty="0" smtClean="0">
                            <a:latin typeface="Cambria Math"/>
                          </a:rPr>
                          <m:t>3</m:t>
                        </m:r>
                      </m:sub>
                    </m:sSub>
                    <m:r>
                      <a:rPr lang="tr-TR" sz="1600" b="0" i="1" dirty="0" smtClean="0">
                        <a:latin typeface="Cambria Math"/>
                      </a:rPr>
                      <m:t>=−</m:t>
                    </m:r>
                    <m:sSub>
                      <m:sSubPr>
                        <m:ctrlPr>
                          <a:rPr lang="tr-TR" sz="1600" i="1" dirty="0">
                            <a:latin typeface="Cambria Math"/>
                          </a:rPr>
                        </m:ctrlPr>
                      </m:sSubPr>
                      <m:e>
                        <m:r>
                          <a:rPr lang="tr-TR" sz="1600" i="1" dirty="0">
                            <a:latin typeface="Cambria Math"/>
                          </a:rPr>
                          <m:t>𝑥</m:t>
                        </m:r>
                      </m:e>
                      <m:sub>
                        <m:r>
                          <a:rPr lang="tr-TR" sz="1600" i="1" dirty="0">
                            <a:latin typeface="Cambria Math"/>
                          </a:rPr>
                          <m:t>2</m:t>
                        </m:r>
                      </m:sub>
                    </m:sSub>
                  </m:oMath>
                </a14:m>
                <a:r>
                  <a:rPr lang="tr-TR" sz="1600" dirty="0" smtClean="0"/>
                  <a:t> dir</a:t>
                </a:r>
                <a:r>
                  <a:rPr lang="tr-TR" sz="1600" dirty="0"/>
                  <a:t>. </a:t>
                </a:r>
                <a:endParaRPr lang="tr-TR" sz="1600" dirty="0" smtClean="0"/>
              </a:p>
              <a:p>
                <a:endParaRPr lang="tr-TR" sz="1600" dirty="0" smtClean="0"/>
              </a:p>
              <a:p>
                <a:endParaRPr lang="tr-TR" sz="1600" dirty="0"/>
              </a:p>
            </p:txBody>
          </p:sp>
        </mc:Choice>
        <mc:Fallback>
          <p:sp>
            <p:nvSpPr>
              <p:cNvPr id="15" name="Metin kutusu 1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49752" y="1249000"/>
                <a:ext cx="7894248" cy="2123658"/>
              </a:xfrm>
              <a:prstGeom prst="rect">
                <a:avLst/>
              </a:prstGeom>
              <a:blipFill rotWithShape="1">
                <a:blip r:embed="rId4"/>
                <a:stretch>
                  <a:fillRect l="-386" t="-1437" r="-1004"/>
                </a:stretch>
              </a:blipFill>
            </p:spPr>
            <p:txBody>
              <a:bodyPr/>
              <a:lstStyle/>
              <a:p>
                <a:r>
                  <a:rPr lang="tr-TR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7" name="Metin kutusu 16"/>
          <p:cNvSpPr txBox="1"/>
          <p:nvPr/>
        </p:nvSpPr>
        <p:spPr>
          <a:xfrm>
            <a:off x="5179207" y="3329697"/>
            <a:ext cx="352839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tr-TR" sz="1600" dirty="0"/>
              <a:t>Kökleri ve yerlerini  fonksiyonunun grafiğini çizerek de tespit edebiliriz. </a:t>
            </a:r>
            <a:endParaRPr lang="tr-TR" sz="1600" dirty="0" smtClean="0"/>
          </a:p>
          <a:p>
            <a:pPr algn="just"/>
            <a:r>
              <a:rPr lang="tr-TR" sz="1600" dirty="0" smtClean="0"/>
              <a:t>[-</a:t>
            </a:r>
            <a:r>
              <a:rPr lang="tr-TR" sz="1600" dirty="0"/>
              <a:t>4,4] aralığında  fonksiyonunun grafiği aşağıdadır. </a:t>
            </a:r>
          </a:p>
        </p:txBody>
      </p:sp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72000" y="4500570"/>
            <a:ext cx="4202832" cy="19888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6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69682" y="4876128"/>
            <a:ext cx="3096344" cy="12377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2835425972"/>
      </p:ext>
    </p:extLst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34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 dirty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929586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grpSp>
        <p:nvGrpSpPr>
          <p:cNvPr id="12290" name="Group 2"/>
          <p:cNvGrpSpPr>
            <a:grpSpLocks/>
          </p:cNvGrpSpPr>
          <p:nvPr/>
        </p:nvGrpSpPr>
        <p:grpSpPr bwMode="auto">
          <a:xfrm>
            <a:off x="2357422" y="1285860"/>
            <a:ext cx="5357850" cy="5233987"/>
            <a:chOff x="856" y="873"/>
            <a:chExt cx="6479" cy="7036"/>
          </a:xfrm>
        </p:grpSpPr>
        <p:cxnSp>
          <p:nvCxnSpPr>
            <p:cNvPr id="12291" name="AutoShape 3"/>
            <p:cNvCxnSpPr>
              <a:cxnSpLocks noChangeShapeType="1"/>
              <a:endCxn id="12303" idx="0"/>
            </p:cNvCxnSpPr>
            <p:nvPr/>
          </p:nvCxnSpPr>
          <p:spPr bwMode="auto">
            <a:xfrm flipH="1">
              <a:off x="1783" y="3264"/>
              <a:ext cx="0" cy="185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cxnSp>
          <p:nvCxnSpPr>
            <p:cNvPr id="12292" name="AutoShape 4"/>
            <p:cNvCxnSpPr>
              <a:cxnSpLocks noChangeShapeType="1"/>
            </p:cNvCxnSpPr>
            <p:nvPr/>
          </p:nvCxnSpPr>
          <p:spPr bwMode="auto">
            <a:xfrm>
              <a:off x="1785" y="3276"/>
              <a:ext cx="4009" cy="1"/>
            </a:xfrm>
            <a:prstGeom prst="straightConnector1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</p:cxnSp>
        <p:grpSp>
          <p:nvGrpSpPr>
            <p:cNvPr id="12293" name="Group 5"/>
            <p:cNvGrpSpPr>
              <a:grpSpLocks/>
            </p:cNvGrpSpPr>
            <p:nvPr/>
          </p:nvGrpSpPr>
          <p:grpSpPr bwMode="auto">
            <a:xfrm>
              <a:off x="1097" y="6599"/>
              <a:ext cx="1279" cy="1310"/>
              <a:chOff x="6413" y="7702"/>
              <a:chExt cx="1279" cy="1310"/>
            </a:xfrm>
          </p:grpSpPr>
          <p:sp>
            <p:nvSpPr>
              <p:cNvPr id="12294" name="AutoShape 6"/>
              <p:cNvSpPr>
                <a:spLocks noChangeArrowheads="1"/>
              </p:cNvSpPr>
              <p:nvPr/>
            </p:nvSpPr>
            <p:spPr bwMode="auto">
              <a:xfrm>
                <a:off x="6714" y="8549"/>
                <a:ext cx="771" cy="463"/>
              </a:xfrm>
              <a:prstGeom prst="flowChartTerminator">
                <a:avLst/>
              </a:prstGeom>
              <a:solidFill>
                <a:srgbClr val="FF0000">
                  <a:alpha val="51000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tr-TR" sz="16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Dur</a:t>
                </a:r>
                <a:endParaRPr kumimoji="0" lang="tr-TR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  <p:cxnSp>
            <p:nvCxnSpPr>
              <p:cNvPr id="12295" name="AutoShape 7"/>
              <p:cNvCxnSpPr>
                <a:cxnSpLocks noChangeShapeType="1"/>
              </p:cNvCxnSpPr>
              <p:nvPr/>
            </p:nvCxnSpPr>
            <p:spPr bwMode="auto">
              <a:xfrm>
                <a:off x="7076" y="8228"/>
                <a:ext cx="0" cy="32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sp>
            <p:nvSpPr>
              <p:cNvPr id="12296" name="AutoShape 8"/>
              <p:cNvSpPr>
                <a:spLocks noChangeArrowheads="1"/>
              </p:cNvSpPr>
              <p:nvPr/>
            </p:nvSpPr>
            <p:spPr bwMode="auto">
              <a:xfrm>
                <a:off x="6413" y="7702"/>
                <a:ext cx="1279" cy="590"/>
              </a:xfrm>
              <a:prstGeom prst="flowChartDocument">
                <a:avLst/>
              </a:prstGeom>
              <a:solidFill>
                <a:srgbClr val="7030A0">
                  <a:alpha val="37000"/>
                </a:srgbClr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1000"/>
                  </a:spcAft>
                  <a:buClrTx/>
                  <a:buSzTx/>
                  <a:buFontTx/>
                  <a:buNone/>
                  <a:tabLst/>
                </a:pPr>
                <a:r>
                  <a:rPr kumimoji="0" lang="tr-TR" sz="16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Calibri" pitchFamily="34" charset="0"/>
                    <a:cs typeface="Arial" pitchFamily="34" charset="0"/>
                  </a:rPr>
                  <a:t>x</a:t>
                </a:r>
                <a:endParaRPr kumimoji="0" lang="tr-TR" sz="28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pitchFamily="34" charset="0"/>
                  <a:cs typeface="Arial" pitchFamily="34" charset="0"/>
                </a:endParaRPr>
              </a:p>
            </p:txBody>
          </p:sp>
        </p:grpSp>
        <p:grpSp>
          <p:nvGrpSpPr>
            <p:cNvPr id="12297" name="Group 9"/>
            <p:cNvGrpSpPr>
              <a:grpSpLocks/>
            </p:cNvGrpSpPr>
            <p:nvPr/>
          </p:nvGrpSpPr>
          <p:grpSpPr bwMode="auto">
            <a:xfrm>
              <a:off x="856" y="3449"/>
              <a:ext cx="2045" cy="3149"/>
              <a:chOff x="2014" y="8165"/>
              <a:chExt cx="2045" cy="3149"/>
            </a:xfrm>
          </p:grpSpPr>
          <p:cxnSp>
            <p:nvCxnSpPr>
              <p:cNvPr id="12298" name="AutoShape 10"/>
              <p:cNvCxnSpPr>
                <a:cxnSpLocks noChangeShapeType="1"/>
              </p:cNvCxnSpPr>
              <p:nvPr/>
            </p:nvCxnSpPr>
            <p:spPr bwMode="auto">
              <a:xfrm flipV="1">
                <a:off x="2933" y="8824"/>
                <a:ext cx="3" cy="410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12299" name="Group 11"/>
              <p:cNvGrpSpPr>
                <a:grpSpLocks/>
              </p:cNvGrpSpPr>
              <p:nvPr/>
            </p:nvGrpSpPr>
            <p:grpSpPr bwMode="auto">
              <a:xfrm>
                <a:off x="2014" y="8165"/>
                <a:ext cx="2045" cy="3149"/>
                <a:chOff x="2014" y="8165"/>
                <a:chExt cx="2045" cy="3149"/>
              </a:xfrm>
            </p:grpSpPr>
            <p:grpSp>
              <p:nvGrpSpPr>
                <p:cNvPr id="12300" name="Group 12"/>
                <p:cNvGrpSpPr>
                  <a:grpSpLocks/>
                </p:cNvGrpSpPr>
                <p:nvPr/>
              </p:nvGrpSpPr>
              <p:grpSpPr bwMode="auto">
                <a:xfrm>
                  <a:off x="2014" y="10286"/>
                  <a:ext cx="1790" cy="1028"/>
                  <a:chOff x="3241" y="3458"/>
                  <a:chExt cx="1790" cy="1028"/>
                </a:xfrm>
              </p:grpSpPr>
              <p:cxnSp>
                <p:nvCxnSpPr>
                  <p:cNvPr id="12301" name="AutoShape 13"/>
                  <p:cNvCxnSpPr>
                    <a:cxnSpLocks noChangeShapeType="1"/>
                    <a:stCxn id="12302" idx="2"/>
                  </p:cNvCxnSpPr>
                  <p:nvPr/>
                </p:nvCxnSpPr>
                <p:spPr bwMode="auto">
                  <a:xfrm rot="5400000">
                    <a:off x="3960" y="4310"/>
                    <a:ext cx="345" cy="8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sp>
                <p:nvSpPr>
                  <p:cNvPr id="12302" name="Rectangle 14"/>
                  <p:cNvSpPr>
                    <a:spLocks noChangeArrowheads="1"/>
                  </p:cNvSpPr>
                  <p:nvPr/>
                </p:nvSpPr>
                <p:spPr bwMode="auto">
                  <a:xfrm>
                    <a:off x="3241" y="3458"/>
                    <a:ext cx="1790" cy="684"/>
                  </a:xfrm>
                  <a:prstGeom prst="rect">
                    <a:avLst/>
                  </a:prstGeom>
                  <a:solidFill>
                    <a:srgbClr val="92D050">
                      <a:alpha val="40000"/>
                    </a:srgbClr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eaLnBrk="1" hangingPunct="1">
                      <a:spcAft>
                        <a:spcPts val="1000"/>
                      </a:spcAft>
                    </a:pPr>
                    <a:r>
                      <a:rPr lang="tr-TR" sz="1400" dirty="0" smtClean="0">
                        <a:latin typeface="Calibri" pitchFamily="34" charset="0"/>
                        <a:cs typeface="Arial" pitchFamily="34" charset="0"/>
                      </a:rPr>
                      <a:t>Kök x=(XL-XR)/2</a:t>
                    </a:r>
                  </a:p>
                </p:txBody>
              </p:sp>
            </p:grpSp>
            <p:sp>
              <p:nvSpPr>
                <p:cNvPr id="12303" name="Rectangle 15"/>
                <p:cNvSpPr>
                  <a:spLocks noChangeArrowheads="1"/>
                </p:cNvSpPr>
                <p:nvPr/>
              </p:nvSpPr>
              <p:spPr bwMode="auto">
                <a:xfrm>
                  <a:off x="2046" y="8165"/>
                  <a:ext cx="1790" cy="684"/>
                </a:xfrm>
                <a:prstGeom prst="rect">
                  <a:avLst/>
                </a:prstGeom>
                <a:solidFill>
                  <a:srgbClr val="FF0000">
                    <a:alpha val="24000"/>
                  </a:srgb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algn="ctr" eaLnBrk="1" hangingPunct="1"/>
                  <a:r>
                    <a:rPr lang="tr-TR" sz="1400" dirty="0" smtClean="0">
                      <a:latin typeface="Calibri" pitchFamily="34" charset="0"/>
                      <a:cs typeface="Arial" pitchFamily="34" charset="0"/>
                    </a:rPr>
                    <a:t>XT=XL</a:t>
                  </a:r>
                </a:p>
                <a:p>
                  <a:pPr algn="ctr" eaLnBrk="1" hangingPunct="1"/>
                  <a:r>
                    <a:rPr lang="tr-TR" sz="1400" dirty="0" smtClean="0">
                      <a:latin typeface="Calibri" pitchFamily="34" charset="0"/>
                      <a:cs typeface="Arial" pitchFamily="34" charset="0"/>
                    </a:rPr>
                    <a:t>XL=(XL+XR)/2</a:t>
                  </a:r>
                </a:p>
              </p:txBody>
            </p:sp>
            <p:sp>
              <p:nvSpPr>
                <p:cNvPr id="12304" name="Rectangle 16"/>
                <p:cNvSpPr>
                  <a:spLocks noChangeArrowheads="1"/>
                </p:cNvSpPr>
                <p:nvPr/>
              </p:nvSpPr>
              <p:spPr bwMode="auto">
                <a:xfrm flipH="1">
                  <a:off x="2417" y="8868"/>
                  <a:ext cx="466" cy="49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tr-TR" sz="16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H</a:t>
                  </a:r>
                  <a:endParaRPr kumimoji="0" lang="tr-TR" sz="2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sp>
              <p:nvSpPr>
                <p:cNvPr id="12305" name="Rectangle 17"/>
                <p:cNvSpPr>
                  <a:spLocks noChangeArrowheads="1"/>
                </p:cNvSpPr>
                <p:nvPr/>
              </p:nvSpPr>
              <p:spPr bwMode="auto">
                <a:xfrm flipH="1">
                  <a:off x="2511" y="9778"/>
                  <a:ext cx="465" cy="489"/>
                </a:xfrm>
                <a:prstGeom prst="rect">
                  <a:avLst/>
                </a:prstGeom>
                <a:solidFill>
                  <a:srgbClr val="FFFFFF"/>
                </a:solidFill>
                <a:ln w="9525">
                  <a:noFill/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l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tr-TR" sz="12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E</a:t>
                  </a:r>
                  <a:endParaRPr kumimoji="0" lang="tr-TR" sz="2800" b="0" i="0" u="none" strike="noStrike" cap="none" normalizeH="0" baseline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  <p:cxnSp>
              <p:nvCxnSpPr>
                <p:cNvPr id="12306" name="AutoShape 18"/>
                <p:cNvCxnSpPr>
                  <a:cxnSpLocks noChangeShapeType="1"/>
                </p:cNvCxnSpPr>
                <p:nvPr/>
              </p:nvCxnSpPr>
              <p:spPr bwMode="auto">
                <a:xfrm flipH="1">
                  <a:off x="3603" y="9600"/>
                  <a:ext cx="456" cy="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12307" name="AutoShape 19"/>
                <p:cNvCxnSpPr>
                  <a:cxnSpLocks noChangeShapeType="1"/>
                </p:cNvCxnSpPr>
                <p:nvPr/>
              </p:nvCxnSpPr>
              <p:spPr bwMode="auto">
                <a:xfrm flipH="1">
                  <a:off x="2936" y="9993"/>
                  <a:ext cx="0" cy="321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sp>
              <p:nvSpPr>
                <p:cNvPr id="12308" name="AutoShape 20"/>
                <p:cNvSpPr>
                  <a:spLocks noChangeArrowheads="1"/>
                </p:cNvSpPr>
                <p:nvPr/>
              </p:nvSpPr>
              <p:spPr bwMode="auto">
                <a:xfrm flipH="1">
                  <a:off x="2236" y="9194"/>
                  <a:ext cx="1405" cy="798"/>
                </a:xfrm>
                <a:prstGeom prst="flowChartDecision">
                  <a:avLst/>
                </a:prstGeom>
                <a:solidFill>
                  <a:srgbClr val="FFFF00">
                    <a:alpha val="46000"/>
                  </a:srgb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tr-TR" sz="12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ER&lt;</a:t>
                  </a:r>
                  <a:r>
                    <a:rPr kumimoji="0" lang="tr-TR" sz="1600" b="1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ɛ</a:t>
                  </a:r>
                  <a:endParaRPr kumimoji="0" lang="tr-TR" sz="2800" b="1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  <p:grpSp>
          <p:nvGrpSpPr>
            <p:cNvPr id="12309" name="Group 21"/>
            <p:cNvGrpSpPr>
              <a:grpSpLocks/>
            </p:cNvGrpSpPr>
            <p:nvPr/>
          </p:nvGrpSpPr>
          <p:grpSpPr bwMode="auto">
            <a:xfrm>
              <a:off x="2907" y="873"/>
              <a:ext cx="4428" cy="6655"/>
              <a:chOff x="2907" y="873"/>
              <a:chExt cx="4428" cy="6655"/>
            </a:xfrm>
          </p:grpSpPr>
          <p:cxnSp>
            <p:nvCxnSpPr>
              <p:cNvPr id="12310" name="AutoShape 22"/>
              <p:cNvCxnSpPr>
                <a:cxnSpLocks noChangeShapeType="1"/>
              </p:cNvCxnSpPr>
              <p:nvPr/>
            </p:nvCxnSpPr>
            <p:spPr bwMode="auto">
              <a:xfrm flipH="1">
                <a:off x="6513" y="3270"/>
                <a:ext cx="342" cy="1"/>
              </a:xfrm>
              <a:prstGeom prst="straightConnector1">
                <a:avLst/>
              </a:prstGeom>
              <a:noFill/>
              <a:ln w="9525">
                <a:solidFill>
                  <a:srgbClr val="000000"/>
                </a:solidFill>
                <a:round/>
                <a:headEnd/>
                <a:tailEnd type="triangle" w="med" len="med"/>
              </a:ln>
            </p:spPr>
          </p:cxnSp>
          <p:grpSp>
            <p:nvGrpSpPr>
              <p:cNvPr id="12311" name="Group 23"/>
              <p:cNvGrpSpPr>
                <a:grpSpLocks/>
              </p:cNvGrpSpPr>
              <p:nvPr/>
            </p:nvGrpSpPr>
            <p:grpSpPr bwMode="auto">
              <a:xfrm>
                <a:off x="5694" y="3264"/>
                <a:ext cx="1641" cy="4256"/>
                <a:chOff x="5694" y="3264"/>
                <a:chExt cx="1641" cy="4256"/>
              </a:xfrm>
            </p:grpSpPr>
            <p:cxnSp>
              <p:nvCxnSpPr>
                <p:cNvPr id="12312" name="AutoShape 24"/>
                <p:cNvCxnSpPr>
                  <a:cxnSpLocks noChangeShapeType="1"/>
                </p:cNvCxnSpPr>
                <p:nvPr/>
              </p:nvCxnSpPr>
              <p:spPr bwMode="auto">
                <a:xfrm>
                  <a:off x="5727" y="7516"/>
                  <a:ext cx="1604" cy="0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12313" name="AutoShape 25"/>
                <p:cNvCxnSpPr>
                  <a:cxnSpLocks noChangeShapeType="1"/>
                </p:cNvCxnSpPr>
                <p:nvPr/>
              </p:nvCxnSpPr>
              <p:spPr bwMode="auto">
                <a:xfrm flipV="1">
                  <a:off x="7335" y="5294"/>
                  <a:ext cx="0" cy="612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 type="triangle" w="med" len="med"/>
                </a:ln>
              </p:spPr>
            </p:cxnSp>
            <p:cxnSp>
              <p:nvCxnSpPr>
                <p:cNvPr id="12314" name="AutoShape 26"/>
                <p:cNvCxnSpPr>
                  <a:cxnSpLocks noChangeShapeType="1"/>
                </p:cNvCxnSpPr>
                <p:nvPr/>
              </p:nvCxnSpPr>
              <p:spPr bwMode="auto">
                <a:xfrm flipV="1">
                  <a:off x="5694" y="3264"/>
                  <a:ext cx="1637" cy="13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  <p:cxnSp>
              <p:nvCxnSpPr>
                <p:cNvPr id="12315" name="AutoShape 27"/>
                <p:cNvCxnSpPr>
                  <a:cxnSpLocks noChangeShapeType="1"/>
                </p:cNvCxnSpPr>
                <p:nvPr/>
              </p:nvCxnSpPr>
              <p:spPr bwMode="auto">
                <a:xfrm rot="5400000" flipH="1" flipV="1">
                  <a:off x="5210" y="5395"/>
                  <a:ext cx="4246" cy="4"/>
                </a:xfrm>
                <a:prstGeom prst="straightConnector1">
                  <a:avLst/>
                </a:prstGeom>
                <a:noFill/>
                <a:ln w="9525">
                  <a:solidFill>
                    <a:srgbClr val="000000"/>
                  </a:solidFill>
                  <a:round/>
                  <a:headEnd/>
                  <a:tailEnd/>
                </a:ln>
              </p:spPr>
            </p:cxnSp>
          </p:grpSp>
          <p:grpSp>
            <p:nvGrpSpPr>
              <p:cNvPr id="12316" name="Group 28"/>
              <p:cNvGrpSpPr>
                <a:grpSpLocks/>
              </p:cNvGrpSpPr>
              <p:nvPr/>
            </p:nvGrpSpPr>
            <p:grpSpPr bwMode="auto">
              <a:xfrm>
                <a:off x="2907" y="873"/>
                <a:ext cx="4139" cy="6655"/>
                <a:chOff x="1178" y="873"/>
                <a:chExt cx="4139" cy="6655"/>
              </a:xfrm>
            </p:grpSpPr>
            <p:grpSp>
              <p:nvGrpSpPr>
                <p:cNvPr id="12317" name="Group 29"/>
                <p:cNvGrpSpPr>
                  <a:grpSpLocks/>
                </p:cNvGrpSpPr>
                <p:nvPr/>
              </p:nvGrpSpPr>
              <p:grpSpPr bwMode="auto">
                <a:xfrm>
                  <a:off x="2675" y="6654"/>
                  <a:ext cx="2642" cy="874"/>
                  <a:chOff x="1549" y="1032"/>
                  <a:chExt cx="1873" cy="518"/>
                </a:xfrm>
              </p:grpSpPr>
              <p:sp>
                <p:nvSpPr>
                  <p:cNvPr id="12318" name="Rectangle 30"/>
                  <p:cNvSpPr>
                    <a:spLocks noChangeArrowheads="1"/>
                  </p:cNvSpPr>
                  <p:nvPr/>
                </p:nvSpPr>
                <p:spPr bwMode="auto">
                  <a:xfrm>
                    <a:off x="1549" y="1032"/>
                    <a:ext cx="1873" cy="368"/>
                  </a:xfrm>
                  <a:prstGeom prst="rect">
                    <a:avLst/>
                  </a:prstGeom>
                  <a:solidFill>
                    <a:srgbClr val="00B0F0">
                      <a:alpha val="21000"/>
                    </a:srgbClr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eaLnBrk="1" hangingPunct="1">
                      <a:spcAft>
                        <a:spcPts val="1000"/>
                      </a:spcAft>
                    </a:pPr>
                    <a:r>
                      <a:rPr lang="tr-TR" sz="1600" smtClean="0">
                        <a:latin typeface="Calibri" pitchFamily="34" charset="0"/>
                        <a:cs typeface="Arial" pitchFamily="34" charset="0"/>
                      </a:rPr>
                      <a:t>XL=(XL+XR)/2</a:t>
                    </a:r>
                  </a:p>
                </p:txBody>
              </p:sp>
              <p:cxnSp>
                <p:nvCxnSpPr>
                  <p:cNvPr id="12319" name="AutoShape 31"/>
                  <p:cNvCxnSpPr>
                    <a:cxnSpLocks noChangeShapeType="1"/>
                    <a:stCxn id="12318" idx="2"/>
                  </p:cNvCxnSpPr>
                  <p:nvPr/>
                </p:nvCxnSpPr>
                <p:spPr bwMode="auto">
                  <a:xfrm>
                    <a:off x="2486" y="1400"/>
                    <a:ext cx="1" cy="15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</p:grpSp>
            <p:grpSp>
              <p:nvGrpSpPr>
                <p:cNvPr id="12320" name="Group 32"/>
                <p:cNvGrpSpPr>
                  <a:grpSpLocks/>
                </p:cNvGrpSpPr>
                <p:nvPr/>
              </p:nvGrpSpPr>
              <p:grpSpPr bwMode="auto">
                <a:xfrm>
                  <a:off x="3165" y="2366"/>
                  <a:ext cx="1866" cy="1092"/>
                  <a:chOff x="3165" y="2366"/>
                  <a:chExt cx="1866" cy="1092"/>
                </a:xfrm>
              </p:grpSpPr>
              <p:sp>
                <p:nvSpPr>
                  <p:cNvPr id="12321" name="Rectangle 33"/>
                  <p:cNvSpPr>
                    <a:spLocks noChangeArrowheads="1"/>
                  </p:cNvSpPr>
                  <p:nvPr/>
                </p:nvSpPr>
                <p:spPr bwMode="auto">
                  <a:xfrm>
                    <a:off x="3165" y="2366"/>
                    <a:ext cx="1866" cy="734"/>
                  </a:xfrm>
                  <a:prstGeom prst="rect">
                    <a:avLst/>
                  </a:prstGeom>
                  <a:solidFill>
                    <a:srgbClr val="00B0F0">
                      <a:alpha val="21000"/>
                    </a:srgbClr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algn="ctr" eaLnBrk="1" hangingPunct="1">
                      <a:spcAft>
                        <a:spcPts val="1000"/>
                      </a:spcAft>
                    </a:pPr>
                    <a:r>
                      <a:rPr lang="tr-TR" sz="1200" dirty="0" smtClean="0">
                        <a:latin typeface="Calibri" pitchFamily="34" charset="0"/>
                        <a:cs typeface="Arial" pitchFamily="34" charset="0"/>
                      </a:rPr>
                      <a:t>XL=XA</a:t>
                    </a:r>
                  </a:p>
                  <a:p>
                    <a:pPr algn="ctr" eaLnBrk="1" hangingPunct="1">
                      <a:spcAft>
                        <a:spcPts val="1000"/>
                      </a:spcAft>
                    </a:pPr>
                    <a:r>
                      <a:rPr lang="tr-TR" sz="1200" dirty="0" smtClean="0">
                        <a:latin typeface="Calibri" pitchFamily="34" charset="0"/>
                        <a:cs typeface="Arial" pitchFamily="34" charset="0"/>
                      </a:rPr>
                      <a:t>XR=XB</a:t>
                    </a:r>
                  </a:p>
                </p:txBody>
              </p:sp>
              <p:cxnSp>
                <p:nvCxnSpPr>
                  <p:cNvPr id="12322" name="AutoShape 34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4028" y="3108"/>
                    <a:ext cx="4" cy="350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</p:grpSp>
            <p:grpSp>
              <p:nvGrpSpPr>
                <p:cNvPr id="12323" name="Group 35"/>
                <p:cNvGrpSpPr>
                  <a:grpSpLocks/>
                </p:cNvGrpSpPr>
                <p:nvPr/>
              </p:nvGrpSpPr>
              <p:grpSpPr bwMode="auto">
                <a:xfrm>
                  <a:off x="3165" y="873"/>
                  <a:ext cx="1665" cy="767"/>
                  <a:chOff x="10275" y="243"/>
                  <a:chExt cx="1665" cy="767"/>
                </a:xfrm>
              </p:grpSpPr>
              <p:sp>
                <p:nvSpPr>
                  <p:cNvPr id="12324" name="AutoShape 36"/>
                  <p:cNvSpPr>
                    <a:spLocks noChangeArrowheads="1"/>
                  </p:cNvSpPr>
                  <p:nvPr/>
                </p:nvSpPr>
                <p:spPr bwMode="auto">
                  <a:xfrm>
                    <a:off x="10275" y="243"/>
                    <a:ext cx="1665" cy="523"/>
                  </a:xfrm>
                  <a:prstGeom prst="flowChartTerminator">
                    <a:avLst/>
                  </a:prstGeom>
                  <a:solidFill>
                    <a:srgbClr val="92D050">
                      <a:alpha val="55000"/>
                    </a:srgbClr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tr-T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pitchFamily="34" charset="0"/>
                      </a:rPr>
                      <a:t>Başla</a:t>
                    </a:r>
                    <a:endParaRPr kumimoji="0" lang="tr-TR" sz="2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12325" name="AutoShape 37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132" y="766"/>
                    <a:ext cx="1" cy="244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</p:grpSp>
            <p:grpSp>
              <p:nvGrpSpPr>
                <p:cNvPr id="12326" name="Group 38"/>
                <p:cNvGrpSpPr>
                  <a:grpSpLocks/>
                </p:cNvGrpSpPr>
                <p:nvPr/>
              </p:nvGrpSpPr>
              <p:grpSpPr bwMode="auto">
                <a:xfrm>
                  <a:off x="3241" y="1609"/>
                  <a:ext cx="1543" cy="690"/>
                  <a:chOff x="10346" y="954"/>
                  <a:chExt cx="1543" cy="690"/>
                </a:xfrm>
              </p:grpSpPr>
              <p:cxnSp>
                <p:nvCxnSpPr>
                  <p:cNvPr id="12327" name="AutoShape 39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133" y="1415"/>
                    <a:ext cx="0" cy="229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sp>
                <p:nvSpPr>
                  <p:cNvPr id="12328" name="AutoShape 40"/>
                  <p:cNvSpPr>
                    <a:spLocks noChangeArrowheads="1"/>
                  </p:cNvSpPr>
                  <p:nvPr/>
                </p:nvSpPr>
                <p:spPr bwMode="auto">
                  <a:xfrm>
                    <a:off x="10346" y="954"/>
                    <a:ext cx="1543" cy="430"/>
                  </a:xfrm>
                  <a:prstGeom prst="flowChartManualInput">
                    <a:avLst/>
                  </a:prstGeom>
                  <a:solidFill>
                    <a:srgbClr val="00B0F0">
                      <a:alpha val="21000"/>
                    </a:srgbClr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tr-T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pitchFamily="34" charset="0"/>
                      </a:rPr>
                      <a:t>XA,XB,E</a:t>
                    </a:r>
                    <a:endParaRPr kumimoji="0" lang="tr-TR" sz="2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12329" name="Group 41"/>
                <p:cNvGrpSpPr>
                  <a:grpSpLocks/>
                </p:cNvGrpSpPr>
                <p:nvPr/>
              </p:nvGrpSpPr>
              <p:grpSpPr bwMode="auto">
                <a:xfrm>
                  <a:off x="2968" y="4487"/>
                  <a:ext cx="1576" cy="1168"/>
                  <a:chOff x="10109" y="4962"/>
                  <a:chExt cx="1576" cy="1168"/>
                </a:xfrm>
              </p:grpSpPr>
              <p:sp>
                <p:nvSpPr>
                  <p:cNvPr id="12330" name="Rectangle 42"/>
                  <p:cNvSpPr>
                    <a:spLocks noChangeArrowheads="1"/>
                  </p:cNvSpPr>
                  <p:nvPr/>
                </p:nvSpPr>
                <p:spPr bwMode="auto">
                  <a:xfrm>
                    <a:off x="10404" y="5003"/>
                    <a:ext cx="450" cy="499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tr-T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pitchFamily="34" charset="0"/>
                      </a:rPr>
                      <a:t>E</a:t>
                    </a:r>
                    <a:endParaRPr kumimoji="0" lang="tr-TR" sz="2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sp>
                <p:nvSpPr>
                  <p:cNvPr id="12331" name="Rectangle 43"/>
                  <p:cNvSpPr>
                    <a:spLocks noChangeArrowheads="1"/>
                  </p:cNvSpPr>
                  <p:nvPr/>
                </p:nvSpPr>
                <p:spPr bwMode="auto">
                  <a:xfrm>
                    <a:off x="11094" y="5641"/>
                    <a:ext cx="450" cy="489"/>
                  </a:xfrm>
                  <a:prstGeom prst="rect">
                    <a:avLst/>
                  </a:prstGeom>
                  <a:solidFill>
                    <a:srgbClr val="FFFFFF"/>
                  </a:solidFill>
                  <a:ln w="9525">
                    <a:noFill/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tr-TR" sz="16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pitchFamily="34" charset="0"/>
                      </a:rPr>
                      <a:t>H</a:t>
                    </a:r>
                    <a:endParaRPr kumimoji="0" lang="tr-TR" sz="2800" b="0" i="0" u="none" strike="noStrike" cap="none" normalizeH="0" baseline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  <p:cxnSp>
                <p:nvCxnSpPr>
                  <p:cNvPr id="12332" name="AutoShape 44"/>
                  <p:cNvCxnSpPr>
                    <a:cxnSpLocks noChangeShapeType="1"/>
                  </p:cNvCxnSpPr>
                  <p:nvPr/>
                </p:nvCxnSpPr>
                <p:spPr bwMode="auto">
                  <a:xfrm flipH="1">
                    <a:off x="10109" y="5349"/>
                    <a:ext cx="544" cy="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cxnSp>
                <p:nvCxnSpPr>
                  <p:cNvPr id="12333" name="AutoShape 45"/>
                  <p:cNvCxnSpPr>
                    <a:cxnSpLocks noChangeShapeType="1"/>
                  </p:cNvCxnSpPr>
                  <p:nvPr/>
                </p:nvCxnSpPr>
                <p:spPr bwMode="auto">
                  <a:xfrm>
                    <a:off x="11170" y="5761"/>
                    <a:ext cx="0" cy="321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sp>
                <p:nvSpPr>
                  <p:cNvPr id="12334" name="AutoShape 46"/>
                  <p:cNvSpPr>
                    <a:spLocks noChangeArrowheads="1"/>
                  </p:cNvSpPr>
                  <p:nvPr/>
                </p:nvSpPr>
                <p:spPr bwMode="auto">
                  <a:xfrm>
                    <a:off x="10653" y="4962"/>
                    <a:ext cx="1032" cy="798"/>
                  </a:xfrm>
                  <a:prstGeom prst="flowChartDecision">
                    <a:avLst/>
                  </a:prstGeom>
                  <a:solidFill>
                    <a:srgbClr val="FFFF00">
                      <a:alpha val="54000"/>
                    </a:srgbClr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tr-TR" sz="12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pitchFamily="34" charset="0"/>
                      </a:rPr>
                      <a:t>C&lt;0</a:t>
                    </a:r>
                    <a:endParaRPr kumimoji="0" lang="tr-TR" sz="20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grpSp>
              <p:nvGrpSpPr>
                <p:cNvPr id="12335" name="Group 47"/>
                <p:cNvGrpSpPr>
                  <a:grpSpLocks/>
                </p:cNvGrpSpPr>
                <p:nvPr/>
              </p:nvGrpSpPr>
              <p:grpSpPr bwMode="auto">
                <a:xfrm>
                  <a:off x="3146" y="3458"/>
                  <a:ext cx="1790" cy="1028"/>
                  <a:chOff x="3241" y="3458"/>
                  <a:chExt cx="1790" cy="1028"/>
                </a:xfrm>
              </p:grpSpPr>
              <p:cxnSp>
                <p:nvCxnSpPr>
                  <p:cNvPr id="12336" name="AutoShape 48"/>
                  <p:cNvCxnSpPr>
                    <a:cxnSpLocks noChangeShapeType="1"/>
                    <a:stCxn id="12337" idx="2"/>
                  </p:cNvCxnSpPr>
                  <p:nvPr/>
                </p:nvCxnSpPr>
                <p:spPr bwMode="auto">
                  <a:xfrm rot="5400000">
                    <a:off x="3960" y="4310"/>
                    <a:ext cx="345" cy="8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sp>
                <p:nvSpPr>
                  <p:cNvPr id="12337" name="Rectangle 49"/>
                  <p:cNvSpPr>
                    <a:spLocks noChangeArrowheads="1"/>
                  </p:cNvSpPr>
                  <p:nvPr/>
                </p:nvSpPr>
                <p:spPr bwMode="auto">
                  <a:xfrm>
                    <a:off x="3241" y="3458"/>
                    <a:ext cx="1790" cy="684"/>
                  </a:xfrm>
                  <a:prstGeom prst="rect">
                    <a:avLst/>
                  </a:prstGeom>
                  <a:solidFill>
                    <a:srgbClr val="00B0F0">
                      <a:alpha val="21000"/>
                    </a:srgbClr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eaLnBrk="1" latinLnBrk="0" hangingPunct="1">
                      <a:lnSpc>
                        <a:spcPct val="100000"/>
                      </a:lnSpc>
                      <a:spcAft>
                        <a:spcPts val="100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lang="tr-TR" sz="1600" dirty="0" smtClean="0">
                        <a:latin typeface="Calibri" pitchFamily="34" charset="0"/>
                        <a:cs typeface="Arial" pitchFamily="34" charset="0"/>
                      </a:rPr>
                      <a:t>C=F(XL)*F(XR)</a:t>
                    </a:r>
                  </a:p>
                </p:txBody>
              </p:sp>
            </p:grpSp>
            <p:grpSp>
              <p:nvGrpSpPr>
                <p:cNvPr id="12338" name="Group 50"/>
                <p:cNvGrpSpPr>
                  <a:grpSpLocks/>
                </p:cNvGrpSpPr>
                <p:nvPr/>
              </p:nvGrpSpPr>
              <p:grpSpPr bwMode="auto">
                <a:xfrm>
                  <a:off x="3127" y="5584"/>
                  <a:ext cx="1790" cy="1072"/>
                  <a:chOff x="3241" y="3458"/>
                  <a:chExt cx="1790" cy="1072"/>
                </a:xfrm>
              </p:grpSpPr>
              <p:cxnSp>
                <p:nvCxnSpPr>
                  <p:cNvPr id="12339" name="AutoShape 51"/>
                  <p:cNvCxnSpPr>
                    <a:cxnSpLocks noChangeShapeType="1"/>
                    <a:stCxn id="12340" idx="2"/>
                    <a:endCxn id="12318" idx="0"/>
                  </p:cNvCxnSpPr>
                  <p:nvPr/>
                </p:nvCxnSpPr>
                <p:spPr bwMode="auto">
                  <a:xfrm rot="5400000">
                    <a:off x="3929" y="4323"/>
                    <a:ext cx="388" cy="26"/>
                  </a:xfrm>
                  <a:prstGeom prst="straightConnector1">
                    <a:avLst/>
                  </a:prstGeom>
                  <a:noFill/>
                  <a:ln w="9525">
                    <a:solidFill>
                      <a:srgbClr val="000000"/>
                    </a:solidFill>
                    <a:round/>
                    <a:headEnd/>
                    <a:tailEnd type="triangle" w="med" len="med"/>
                  </a:ln>
                </p:spPr>
              </p:cxnSp>
              <p:sp>
                <p:nvSpPr>
                  <p:cNvPr id="12340" name="Rectangle 52"/>
                  <p:cNvSpPr>
                    <a:spLocks noChangeArrowheads="1"/>
                  </p:cNvSpPr>
                  <p:nvPr/>
                </p:nvSpPr>
                <p:spPr bwMode="auto">
                  <a:xfrm>
                    <a:off x="3241" y="3458"/>
                    <a:ext cx="1790" cy="684"/>
                  </a:xfrm>
                  <a:prstGeom prst="rect">
                    <a:avLst/>
                  </a:prstGeom>
                  <a:solidFill>
                    <a:srgbClr val="FF0000">
                      <a:alpha val="24000"/>
                    </a:srgbClr>
                  </a:solidFill>
                  <a:ln w="9525">
                    <a:solidFill>
                      <a:srgbClr val="000000"/>
                    </a:solidFill>
                    <a:miter lim="800000"/>
                    <a:headEnd/>
                    <a:tailEnd/>
                  </a:ln>
                </p:spPr>
                <p:txBody>
                  <a:bodyPr vert="horz" wrap="square" lIns="91440" tIns="45720" rIns="91440" bIns="45720" numCol="1" anchor="t" anchorCtr="0" compatLnSpc="1">
                    <a:prstTxWarp prst="textNoShape">
                      <a:avLst/>
                    </a:prstTxWarp>
                  </a:bodyPr>
                  <a:lstStyle/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tr-T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pitchFamily="34" charset="0"/>
                      </a:rPr>
                      <a:t>XR=XL</a:t>
                    </a:r>
                  </a:p>
                  <a:p>
                    <a:pPr marL="0" marR="0" lvl="0" indent="0" algn="ctr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r>
                      <a:rPr kumimoji="0" lang="tr-TR" sz="16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Arial" pitchFamily="34" charset="0"/>
                      </a:rPr>
                      <a:t>XL=XT</a:t>
                    </a:r>
                  </a:p>
                  <a:p>
                    <a:pPr marL="0" marR="0" lvl="0" indent="0" algn="l" defTabSz="914400" rtl="0" eaLnBrk="1" fontAlgn="base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ct val="0"/>
                      </a:spcAft>
                      <a:buClrTx/>
                      <a:buSzTx/>
                      <a:buFontTx/>
                      <a:buNone/>
                      <a:tabLst/>
                    </a:pPr>
                    <a:endParaRPr kumimoji="0" lang="tr-TR" sz="28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Arial" pitchFamily="34" charset="0"/>
                      <a:cs typeface="Arial" pitchFamily="34" charset="0"/>
                    </a:endParaRPr>
                  </a:p>
                </p:txBody>
              </p:sp>
            </p:grpSp>
            <p:sp>
              <p:nvSpPr>
                <p:cNvPr id="12341" name="Rectangle 53"/>
                <p:cNvSpPr>
                  <a:spLocks noChangeArrowheads="1"/>
                </p:cNvSpPr>
                <p:nvPr/>
              </p:nvSpPr>
              <p:spPr bwMode="auto">
                <a:xfrm>
                  <a:off x="1178" y="4625"/>
                  <a:ext cx="1790" cy="492"/>
                </a:xfrm>
                <a:prstGeom prst="rect">
                  <a:avLst/>
                </a:prstGeom>
                <a:solidFill>
                  <a:srgbClr val="92D050">
                    <a:alpha val="40000"/>
                  </a:srgbClr>
                </a:solidFill>
                <a:ln w="952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vert="horz" wrap="square" lIns="91440" tIns="45720" rIns="91440" bIns="45720" numCol="1" anchor="t" anchorCtr="0" compatLnSpc="1">
                  <a:prstTxWarp prst="textNoShape">
                    <a:avLst/>
                  </a:prstTxWarp>
                </a:bodyPr>
                <a:lstStyle/>
                <a:p>
                  <a:pPr marL="0" marR="0" lvl="0" indent="0" algn="ctr" defTabSz="914400" rtl="0" eaLnBrk="1" fontAlgn="base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1000"/>
                    </a:spcAft>
                    <a:buClrTx/>
                    <a:buSzTx/>
                    <a:buFontTx/>
                    <a:buNone/>
                    <a:tabLst/>
                  </a:pPr>
                  <a:r>
                    <a:rPr kumimoji="0" lang="tr-TR" sz="12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ER=|</a:t>
                  </a:r>
                  <a:r>
                    <a:rPr kumimoji="0" lang="tr-TR" sz="1200" b="0" i="0" u="none" strike="noStrike" cap="none" normalizeH="0" baseline="0" dirty="0" smtClean="0">
                      <a:ln>
                        <a:noFill/>
                      </a:ln>
                      <a:solidFill>
                        <a:schemeClr val="tx1"/>
                      </a:solidFill>
                      <a:effectLst/>
                      <a:latin typeface="Calibri" pitchFamily="34" charset="0"/>
                      <a:cs typeface="Arial" pitchFamily="34" charset="0"/>
                    </a:rPr>
                    <a:t>XL-XR|</a:t>
                  </a:r>
                  <a:endParaRPr kumimoji="0" lang="tr-TR" sz="2800" b="0" i="0" u="none" strike="noStrike" cap="none" normalizeH="0" baseline="0" dirty="0" smtClean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" pitchFamily="34" charset="0"/>
                    <a:cs typeface="Arial" pitchFamily="34" charset="0"/>
                  </a:endParaRPr>
                </a:p>
              </p:txBody>
            </p:sp>
          </p:grpSp>
        </p:grpSp>
      </p:grpSp>
      <p:sp>
        <p:nvSpPr>
          <p:cNvPr id="12342" name="AutoShape 54"/>
          <p:cNvSpPr>
            <a:spLocks noChangeArrowheads="1"/>
          </p:cNvSpPr>
          <p:nvPr/>
        </p:nvSpPr>
        <p:spPr bwMode="auto">
          <a:xfrm>
            <a:off x="1382815" y="1481705"/>
            <a:ext cx="1428760" cy="1071570"/>
          </a:xfrm>
          <a:prstGeom prst="foldedCorner">
            <a:avLst>
              <a:gd name="adj" fmla="val 28093"/>
            </a:avLst>
          </a:prstGeom>
          <a:solidFill>
            <a:schemeClr val="bg1">
              <a:alpha val="53000"/>
            </a:schemeClr>
          </a:solidFill>
          <a:ln w="9525">
            <a:solidFill>
              <a:srgbClr val="000000"/>
            </a:solidFill>
            <a:round/>
            <a:headEnd/>
            <a:tailEnd/>
          </a:ln>
          <a:effectLst>
            <a:outerShdw dist="107763" dir="2700000" algn="ctr" rotWithShape="0">
              <a:srgbClr val="808080">
                <a:alpha val="50000"/>
              </a:srgbClr>
            </a:outerShdw>
          </a:effec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endParaRPr kumimoji="0" lang="tr-TR" sz="1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  <a:cs typeface="Arial" pitchFamily="34" charset="0"/>
            </a:endParaRP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Aralığı İkiye Bölme</a:t>
            </a:r>
          </a:p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tr-TR" sz="10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Akış Diyagramı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64" name="AutoShape 39"/>
          <p:cNvCxnSpPr>
            <a:cxnSpLocks noChangeShapeType="1"/>
          </p:cNvCxnSpPr>
          <p:nvPr/>
        </p:nvCxnSpPr>
        <p:spPr bwMode="auto">
          <a:xfrm>
            <a:off x="4053509" y="3074541"/>
            <a:ext cx="806523" cy="0"/>
          </a:xfrm>
          <a:prstGeom prst="straightConnector1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</p:spPr>
      </p:cxnSp>
      <p:sp>
        <p:nvSpPr>
          <p:cNvPr id="16" name="Oval 15"/>
          <p:cNvSpPr/>
          <p:nvPr/>
        </p:nvSpPr>
        <p:spPr bwMode="auto">
          <a:xfrm>
            <a:off x="6377640" y="3034272"/>
            <a:ext cx="72008" cy="78296"/>
          </a:xfrm>
          <a:prstGeom prst="ellipse">
            <a:avLst/>
          </a:prstGeom>
          <a:solidFill>
            <a:schemeClr val="tx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Times New Roman" pitchFamily="18" charset="0"/>
            </a:endParaRPr>
          </a:p>
        </p:txBody>
      </p:sp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35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028" name="Picture 4" descr="http://www.gtsav.gatech.edu/people/ffedele/cee3000/Fall08/CEE3000Fall08_files/matlab_logo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24520" y="5512389"/>
            <a:ext cx="1362561" cy="1020750"/>
          </a:xfrm>
          <a:prstGeom prst="rect">
            <a:avLst/>
          </a:prstGeom>
          <a:noFill/>
        </p:spPr>
      </p:pic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1547664" y="1244251"/>
            <a:ext cx="5760640" cy="53071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36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lvl="0"/>
            <a:r>
              <a:rPr lang="tr-TR" sz="1400" b="1" dirty="0" smtClean="0"/>
              <a:t>Kiriş (secant) Yöntemi :</a:t>
            </a:r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  <a:p>
            <a:r>
              <a:rPr lang="tr-TR" sz="1400" dirty="0" smtClean="0"/>
              <a:t>Grafikteki A ve B noktaları arasındaki kirişin denklemini  yazalım ,</a:t>
            </a:r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r>
              <a:rPr lang="tr-TR" sz="1400" dirty="0" smtClean="0"/>
              <a:t>A ve B </a:t>
            </a:r>
            <a:r>
              <a:rPr lang="tr-TR" sz="1400" dirty="0" err="1" smtClean="0"/>
              <a:t>nokatalarının</a:t>
            </a:r>
            <a:r>
              <a:rPr lang="tr-TR" sz="1400" dirty="0" smtClean="0"/>
              <a:t> oluşturduğu kirişin    eksenini kestiği nokta </a:t>
            </a:r>
            <a:r>
              <a:rPr lang="tr-TR" sz="1400" b="1" dirty="0" smtClean="0"/>
              <a:t> </a:t>
            </a:r>
          </a:p>
          <a:p>
            <a:r>
              <a:rPr lang="tr-TR" sz="1400" dirty="0" smtClean="0"/>
              <a:t>bu denklemde </a:t>
            </a:r>
            <a:r>
              <a:rPr lang="tr-TR" sz="1400" b="1" dirty="0" smtClean="0"/>
              <a:t>  </a:t>
            </a:r>
            <a:r>
              <a:rPr lang="tr-TR" sz="1400" dirty="0" smtClean="0"/>
              <a:t> ;</a:t>
            </a:r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endParaRPr lang="tr-TR" sz="1400" dirty="0" smtClean="0"/>
          </a:p>
          <a:p>
            <a:r>
              <a:rPr lang="tr-TR" sz="1400" dirty="0" smtClean="0"/>
              <a:t>Böylece </a:t>
            </a:r>
            <a:r>
              <a:rPr lang="tr-TR" sz="1400" b="1" dirty="0" smtClean="0"/>
              <a:t>          </a:t>
            </a:r>
            <a:r>
              <a:rPr lang="tr-TR" sz="1400" dirty="0" smtClean="0"/>
              <a:t>ve</a:t>
            </a:r>
            <a:r>
              <a:rPr lang="tr-TR" sz="1400" b="1" dirty="0" smtClean="0"/>
              <a:t>          </a:t>
            </a:r>
            <a:r>
              <a:rPr lang="tr-TR" sz="1400" dirty="0" smtClean="0"/>
              <a:t>gibi  bilinen başlangıç noktalarıyla gerçek kök         </a:t>
            </a:r>
            <a:r>
              <a:rPr lang="tr-TR" sz="1400" b="1" dirty="0" smtClean="0"/>
              <a:t>  </a:t>
            </a:r>
            <a:r>
              <a:rPr lang="tr-TR" sz="1400" dirty="0" smtClean="0"/>
              <a:t>‘e daha yakın bir kökü </a:t>
            </a:r>
            <a:r>
              <a:rPr lang="tr-TR" sz="1400" b="1" dirty="0" smtClean="0"/>
              <a:t>                                   </a:t>
            </a:r>
            <a:r>
              <a:rPr lang="tr-TR" sz="1400" dirty="0" smtClean="0"/>
              <a:t>fonksiyonunun türevine gerek kalmadan bulabiliriz.</a:t>
            </a:r>
          </a:p>
          <a:p>
            <a:endParaRPr lang="tr-TR" sz="1400" dirty="0" smtClean="0"/>
          </a:p>
          <a:p>
            <a:endParaRPr lang="tr-TR" sz="1400" dirty="0" smtClean="0"/>
          </a:p>
          <a:p>
            <a:r>
              <a:rPr lang="tr-TR" sz="1400" dirty="0" smtClean="0"/>
              <a:t>İşlemlere devam ederek yeni kiriş noktaları bularak bunların x eksenini kestiği noktalarından gerçek köke daha da yaklaşabiliriz.</a:t>
            </a:r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1" name="10 Resim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215074" y="1500174"/>
            <a:ext cx="2500330" cy="257176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9218" name="Rectangle 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9217" name="Picture 1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43174" y="2000240"/>
            <a:ext cx="2643206" cy="589057"/>
          </a:xfrm>
          <a:prstGeom prst="rect">
            <a:avLst/>
          </a:prstGeom>
          <a:noFill/>
        </p:spPr>
      </p:pic>
      <p:sp>
        <p:nvSpPr>
          <p:cNvPr id="9220" name="Rectangle 4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9219" name="Picture 3"/>
          <p:cNvPicPr>
            <a:picLocks noChangeAspect="1" noChangeArrowheads="1"/>
          </p:cNvPicPr>
          <p:nvPr/>
        </p:nvPicPr>
        <p:blipFill>
          <a:blip r:embed="rId4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43174" y="3500438"/>
            <a:ext cx="2564441" cy="571504"/>
          </a:xfrm>
          <a:prstGeom prst="rect">
            <a:avLst/>
          </a:prstGeom>
          <a:noFill/>
        </p:spPr>
      </p:pic>
      <p:sp>
        <p:nvSpPr>
          <p:cNvPr id="9222" name="Rectangle 6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5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131421" y="4422021"/>
            <a:ext cx="152400" cy="209550"/>
          </a:xfrm>
          <a:prstGeom prst="rect">
            <a:avLst/>
          </a:prstGeom>
          <a:noFill/>
        </p:spPr>
      </p:pic>
      <p:sp>
        <p:nvSpPr>
          <p:cNvPr id="9224" name="Rectangle 8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9223" name="Picture 7"/>
          <p:cNvPicPr>
            <a:picLocks noChangeAspect="1" noChangeArrowheads="1"/>
          </p:cNvPicPr>
          <p:nvPr/>
        </p:nvPicPr>
        <p:blipFill>
          <a:blip r:embed="rId6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2667112" y="4433896"/>
            <a:ext cx="152400" cy="209550"/>
          </a:xfrm>
          <a:prstGeom prst="rect">
            <a:avLst/>
          </a:prstGeom>
          <a:noFill/>
        </p:spPr>
      </p:pic>
      <p:sp>
        <p:nvSpPr>
          <p:cNvPr id="9226" name="Rectangle 10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9225" name="Picture 9"/>
          <p:cNvPicPr>
            <a:picLocks noChangeAspect="1" noChangeArrowheads="1"/>
          </p:cNvPicPr>
          <p:nvPr/>
        </p:nvPicPr>
        <p:blipFill>
          <a:blip r:embed="rId7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6429388" y="4433896"/>
            <a:ext cx="276225" cy="209550"/>
          </a:xfrm>
          <a:prstGeom prst="rect">
            <a:avLst/>
          </a:prstGeom>
          <a:noFill/>
        </p:spPr>
      </p:pic>
      <p:sp>
        <p:nvSpPr>
          <p:cNvPr id="9228" name="Rectangle 12"/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tr-TR"/>
          </a:p>
        </p:txBody>
      </p:sp>
      <p:pic>
        <p:nvPicPr>
          <p:cNvPr id="9227" name="Picture 11"/>
          <p:cNvPicPr>
            <a:picLocks noChangeAspect="1" noChangeArrowheads="1"/>
          </p:cNvPicPr>
          <p:nvPr/>
        </p:nvPicPr>
        <p:blipFill>
          <a:blip r:embed="rId8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8501090" y="4433896"/>
            <a:ext cx="304800" cy="209550"/>
          </a:xfrm>
          <a:prstGeom prst="rect">
            <a:avLst/>
          </a:prstGeom>
          <a:noFill/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37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7169" name="Picture 1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7624" y="1268760"/>
            <a:ext cx="7704856" cy="528919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38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267744" y="2996952"/>
            <a:ext cx="5592059" cy="13545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39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259632" y="1251345"/>
            <a:ext cx="6912768" cy="53118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40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lvl="1"/>
            <a:endParaRPr lang="tr-TR" sz="1400" dirty="0" smtClean="0"/>
          </a:p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pic>
        <p:nvPicPr>
          <p:cNvPr id="1024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5" y="1700808"/>
            <a:ext cx="6973485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2 İçerik Yer Tutucusu"/>
          <p:cNvSpPr>
            <a:spLocks noGrp="1"/>
          </p:cNvSpPr>
          <p:nvPr>
            <p:ph idx="1"/>
          </p:nvPr>
        </p:nvSpPr>
        <p:spPr>
          <a:xfrm>
            <a:off x="1111444" y="603012"/>
            <a:ext cx="7772424" cy="611410"/>
          </a:xfrm>
        </p:spPr>
        <p:txBody>
          <a:bodyPr/>
          <a:lstStyle/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Lineer Olmayan </a:t>
            </a:r>
          </a:p>
          <a:p>
            <a:pPr lvl="0">
              <a:buNone/>
            </a:pPr>
            <a:r>
              <a:rPr lang="tr-TR" sz="1600" b="1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Denklem </a:t>
            </a:r>
            <a:r>
              <a:rPr lang="tr-TR" sz="1600" b="1" dirty="0" smtClean="0">
                <a:solidFill>
                  <a:srgbClr val="FFFF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Sistemlerinin Çözüm Yöntemleri</a:t>
            </a:r>
          </a:p>
          <a:p>
            <a:pPr>
              <a:buFont typeface="Wingdings" pitchFamily="2" charset="2"/>
              <a:buChar char="v"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>
              <a:buNone/>
            </a:pPr>
            <a:endParaRPr lang="tr-TR" sz="1600" dirty="0" smtClean="0">
              <a:solidFill>
                <a:schemeClr val="bg1">
                  <a:lumMod val="40000"/>
                  <a:lumOff val="6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5" name="4 Altbilgi Yer Tutucusu"/>
          <p:cNvSpPr>
            <a:spLocks noGrp="1"/>
          </p:cNvSpPr>
          <p:nvPr>
            <p:ph type="ftr" sz="quarter" idx="11"/>
          </p:nvPr>
        </p:nvSpPr>
        <p:spPr>
          <a:xfrm>
            <a:off x="3124200" y="6565945"/>
            <a:ext cx="2895600" cy="363517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6" name="5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428596" y="6000768"/>
            <a:ext cx="642942" cy="476250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41</a:t>
            </a:fld>
            <a:r>
              <a:rPr lang="tr-TR" smtClean="0"/>
              <a:t>.</a:t>
            </a:r>
          </a:p>
          <a:p>
            <a:pPr algn="ctr"/>
            <a:r>
              <a:rPr lang="tr-TR" smtClean="0"/>
              <a:t>Sayfa</a:t>
            </a:r>
            <a:endParaRPr lang="tr-TR"/>
          </a:p>
        </p:txBody>
      </p:sp>
      <p:sp>
        <p:nvSpPr>
          <p:cNvPr id="7" name="6 Veri Yer Tutucusu"/>
          <p:cNvSpPr txBox="1">
            <a:spLocks/>
          </p:cNvSpPr>
          <p:nvPr/>
        </p:nvSpPr>
        <p:spPr bwMode="auto">
          <a:xfrm>
            <a:off x="357158" y="5000636"/>
            <a:ext cx="714380" cy="64294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6.  Hafta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8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9" name="1 Başlık"/>
          <p:cNvSpPr txBox="1">
            <a:spLocks/>
          </p:cNvSpPr>
          <p:nvPr/>
        </p:nvSpPr>
        <p:spPr bwMode="auto">
          <a:xfrm>
            <a:off x="-32" y="-24"/>
            <a:ext cx="7381875" cy="4905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1" lang="tr-TR" sz="2400" b="0" i="0" u="none" strike="noStrike" kern="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Harrington" pitchFamily="82" charset="0"/>
                <a:ea typeface="+mj-ea"/>
                <a:cs typeface="+mj-cs"/>
              </a:rPr>
              <a:t>Sayısal Analiz</a:t>
            </a:r>
            <a:endParaRPr kumimoji="1" lang="tr-TR" sz="2400" b="0" i="0" u="none" strike="noStrike" kern="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  <p:sp>
        <p:nvSpPr>
          <p:cNvPr id="10" name="9 Dikdörtgen"/>
          <p:cNvSpPr/>
          <p:nvPr/>
        </p:nvSpPr>
        <p:spPr bwMode="auto">
          <a:xfrm>
            <a:off x="1214414" y="1214422"/>
            <a:ext cx="7715304" cy="5357850"/>
          </a:xfrm>
          <a:prstGeom prst="rect">
            <a:avLst/>
          </a:prstGeom>
          <a:solidFill>
            <a:srgbClr val="FFFFFF"/>
          </a:solidFill>
          <a:ln w="9525" cap="flat" cmpd="sng" algn="ctr">
            <a:solidFill>
              <a:srgbClr val="F8F8F8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05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+mn-lt"/>
            </a:endParaRPr>
          </a:p>
        </p:txBody>
      </p:sp>
      <p:sp>
        <p:nvSpPr>
          <p:cNvPr id="39938" name="AutoShape 2"/>
          <p:cNvSpPr>
            <a:spLocks noChangeArrowheads="1"/>
          </p:cNvSpPr>
          <p:nvPr/>
        </p:nvSpPr>
        <p:spPr bwMode="auto">
          <a:xfrm>
            <a:off x="2500298" y="1285860"/>
            <a:ext cx="4564063" cy="5286412"/>
          </a:xfrm>
          <a:prstGeom prst="foldedCorner">
            <a:avLst>
              <a:gd name="adj" fmla="val 12500"/>
            </a:avLst>
          </a:prstGeom>
          <a:solidFill>
            <a:srgbClr val="FFFFFF"/>
          </a:solidFill>
          <a:ln w="6350">
            <a:solidFill>
              <a:srgbClr val="B6DDE8"/>
            </a:solidFill>
            <a:prstDash val="dash"/>
            <a:round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tr-TR" sz="11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cs typeface="Arial" pitchFamily="34" charset="0"/>
              </a:rPr>
              <a:t>Kiriş Yöntemi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11" name="10 Resim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643306" y="1500174"/>
            <a:ext cx="2438402" cy="480392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/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Başlık"/>
          <p:cNvSpPr>
            <a:spLocks noGrp="1"/>
          </p:cNvSpPr>
          <p:nvPr>
            <p:ph type="title"/>
          </p:nvPr>
        </p:nvSpPr>
        <p:spPr>
          <a:xfrm>
            <a:off x="-32" y="-24"/>
            <a:ext cx="7381875" cy="490540"/>
          </a:xfrm>
        </p:spPr>
        <p:txBody>
          <a:bodyPr/>
          <a:lstStyle/>
          <a:p>
            <a:r>
              <a:rPr lang="tr-TR" sz="2400" smtClean="0">
                <a:latin typeface="Harrington" pitchFamily="82" charset="0"/>
              </a:rPr>
              <a:t>Sayısal Analiz</a:t>
            </a:r>
            <a:endParaRPr lang="tr-TR" sz="2400"/>
          </a:p>
        </p:txBody>
      </p:sp>
      <p:sp>
        <p:nvSpPr>
          <p:cNvPr id="4" name="3 Altbilgi Yer Tutucusu"/>
          <p:cNvSpPr>
            <a:spLocks noGrp="1"/>
          </p:cNvSpPr>
          <p:nvPr>
            <p:ph type="ftr" sz="quarter" idx="11"/>
          </p:nvPr>
        </p:nvSpPr>
        <p:spPr>
          <a:xfrm>
            <a:off x="3143240" y="6557988"/>
            <a:ext cx="2895600" cy="476250"/>
          </a:xfrm>
        </p:spPr>
        <p:txBody>
          <a:bodyPr/>
          <a:lstStyle/>
          <a:p>
            <a:r>
              <a:rPr lang="tr-TR" dirty="0" smtClean="0"/>
              <a:t>SAÜ YYurtaY </a:t>
            </a:r>
            <a:endParaRPr lang="tr-TR" dirty="0"/>
          </a:p>
        </p:txBody>
      </p:sp>
      <p:sp>
        <p:nvSpPr>
          <p:cNvPr id="5" name="4 Slayt Numarası Yer Tutucusu"/>
          <p:cNvSpPr>
            <a:spLocks noGrp="1"/>
          </p:cNvSpPr>
          <p:nvPr>
            <p:ph type="sldNum" sz="quarter" idx="12"/>
          </p:nvPr>
        </p:nvSpPr>
        <p:spPr>
          <a:xfrm>
            <a:off x="357158" y="5929330"/>
            <a:ext cx="714380" cy="571504"/>
          </a:xfrm>
        </p:spPr>
        <p:txBody>
          <a:bodyPr/>
          <a:lstStyle/>
          <a:p>
            <a:pPr algn="ctr"/>
            <a:fld id="{5C6896E4-35C4-4741-8A69-D49CDAA919B9}" type="slidenum">
              <a:rPr lang="tr-TR" smtClean="0"/>
              <a:pPr algn="ctr"/>
              <a:t>42</a:t>
            </a:fld>
            <a:r>
              <a:rPr lang="tr-TR" smtClean="0"/>
              <a:t>. Sayfa</a:t>
            </a:r>
            <a:endParaRPr lang="tr-TR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1500166" y="857232"/>
            <a:ext cx="7643834" cy="56436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anchor="t" anchorCtr="0"/>
          <a:lstStyle/>
          <a:p>
            <a:pPr marL="342900" indent="-342900" eaLnBrk="1" hangingPunct="1">
              <a:spcBef>
                <a:spcPct val="20000"/>
              </a:spcBef>
              <a:buClr>
                <a:srgbClr val="3C605F"/>
              </a:buClr>
              <a:buSzPct val="75000"/>
            </a:pPr>
            <a:r>
              <a:rPr kumimoji="1" lang="tr-TR" sz="1600" dirty="0" smtClean="0">
                <a:solidFill>
                  <a:schemeClr val="bg1">
                    <a:lumMod val="40000"/>
                    <a:lumOff val="6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</a:rPr>
              <a:t>Kaynaklar</a:t>
            </a: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Sayısal Analiz S.Akpınar</a:t>
            </a:r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 smtClean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chemeClr val="accent2">
                    <a:lumMod val="75000"/>
                  </a:schemeClr>
                </a:solidFill>
                <a:latin typeface="Arial" pitchFamily="34" charset="0"/>
                <a:cs typeface="Arial" pitchFamily="34" charset="0"/>
              </a:rPr>
              <a:t>   </a:t>
            </a:r>
            <a:endParaRPr lang="tr-TR" sz="1600" dirty="0" smtClean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r>
              <a:rPr lang="tr-TR" sz="1200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   Sonraki Hafta :</a:t>
            </a:r>
          </a:p>
          <a:p>
            <a:r>
              <a:rPr lang="tr-TR" sz="1600" dirty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</a:t>
            </a:r>
            <a:endParaRPr lang="tr-TR" sz="1600" dirty="0" smtClean="0"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endParaRPr lang="tr-TR" sz="1600" dirty="0">
              <a:solidFill>
                <a:srgbClr val="EAEAEA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itchFamily="34" charset="0"/>
              <a:cs typeface="Arial" pitchFamily="34" charset="0"/>
            </a:endParaRPr>
          </a:p>
          <a:p>
            <a:r>
              <a:rPr lang="tr-TR" sz="1600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              Lineer </a:t>
            </a:r>
            <a:r>
              <a:rPr lang="tr-TR" sz="160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Olmayan </a:t>
            </a:r>
          </a:p>
          <a:p>
            <a:r>
              <a:rPr lang="tr-TR" sz="160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Denklem </a:t>
            </a:r>
            <a:r>
              <a:rPr lang="tr-TR" sz="1600" dirty="0" smtClean="0">
                <a:solidFill>
                  <a:srgbClr val="EAEAEA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itchFamily="34" charset="0"/>
                <a:cs typeface="Arial" pitchFamily="34" charset="0"/>
              </a:rPr>
              <a:t>Sistemlerinin Çözümleri…</a:t>
            </a:r>
          </a:p>
          <a:p>
            <a:endParaRPr lang="en-US" sz="1400" dirty="0">
              <a:solidFill>
                <a:schemeClr val="accent2">
                  <a:lumMod val="7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0" name="9 Veri Yer Tutucusu"/>
          <p:cNvSpPr>
            <a:spLocks noGrp="1"/>
          </p:cNvSpPr>
          <p:nvPr>
            <p:ph type="dt" sz="half" idx="10"/>
          </p:nvPr>
        </p:nvSpPr>
        <p:spPr>
          <a:xfrm>
            <a:off x="357158" y="5000636"/>
            <a:ext cx="714380" cy="642942"/>
          </a:xfrm>
        </p:spPr>
        <p:txBody>
          <a:bodyPr/>
          <a:lstStyle/>
          <a:p>
            <a:pPr algn="ctr"/>
            <a:r>
              <a:rPr lang="tr-TR" smtClean="0"/>
              <a:t>6.  </a:t>
            </a:r>
            <a:r>
              <a:rPr lang="tr-TR" dirty="0" smtClean="0"/>
              <a:t>Hafta</a:t>
            </a:r>
            <a:endParaRPr lang="tr-TR" dirty="0"/>
          </a:p>
        </p:txBody>
      </p:sp>
      <p:sp>
        <p:nvSpPr>
          <p:cNvPr id="9" name="6 Veri Yer Tutucusu"/>
          <p:cNvSpPr txBox="1">
            <a:spLocks/>
          </p:cNvSpPr>
          <p:nvPr/>
        </p:nvSpPr>
        <p:spPr bwMode="auto">
          <a:xfrm>
            <a:off x="357158" y="4286256"/>
            <a:ext cx="714380" cy="42862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tr-T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itchFamily="18" charset="0"/>
                <a:ea typeface="+mn-ea"/>
                <a:cs typeface="+mn-cs"/>
              </a:rPr>
              <a:t>BSM</a:t>
            </a:r>
            <a:endParaRPr kumimoji="0" lang="tr-TR" sz="1400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itchFamily="18" charset="0"/>
              <a:ea typeface="+mn-ea"/>
              <a:cs typeface="+mn-cs"/>
            </a:endParaRPr>
          </a:p>
        </p:txBody>
      </p:sp>
      <p:pic>
        <p:nvPicPr>
          <p:cNvPr id="27650" name="Picture 2" descr="http://upload.wikimedia.org/wikipedia/commons/8/84/Matrix.png"/>
          <p:cNvPicPr>
            <a:picLocks noChangeAspect="1" noChangeArrowheads="1"/>
          </p:cNvPicPr>
          <p:nvPr/>
        </p:nvPicPr>
        <p:blipFill>
          <a:blip r:embed="rId3" cstate="print">
            <a:lum bright="-21000" contrast="43000"/>
            <a:duotone>
              <a:prstClr val="black"/>
              <a:schemeClr val="accent3">
                <a:tint val="45000"/>
                <a:satMod val="400000"/>
              </a:schemeClr>
            </a:duotone>
          </a:blip>
          <a:srcRect/>
          <a:stretch>
            <a:fillRect/>
          </a:stretch>
        </p:blipFill>
        <p:spPr bwMode="auto">
          <a:xfrm>
            <a:off x="5000628" y="2083437"/>
            <a:ext cx="3143272" cy="2845761"/>
          </a:xfrm>
          <a:prstGeom prst="rect">
            <a:avLst/>
          </a:prstGeom>
          <a:ln>
            <a:noFill/>
          </a:ln>
          <a:effectLst>
            <a:reflection blurRad="12700" stA="30000" endPos="30000" dist="5000" dir="5400000" sy="-100000" algn="bl" rotWithShape="0"/>
          </a:effectLst>
          <a:scene3d>
            <a:camera prst="perspectiveContrastingLeftFacing" fov="5100000">
              <a:rot lat="702102" lon="2705924" rev="9120"/>
            </a:camera>
            <a:lightRig rig="threePt" dir="t">
              <a:rot lat="0" lon="0" rev="2700000"/>
            </a:lightRig>
          </a:scene3d>
          <a:sp3d>
            <a:bevelT w="63500" h="50800"/>
          </a:sp3d>
        </p:spPr>
      </p:pic>
      <p:pic>
        <p:nvPicPr>
          <p:cNvPr id="12" name="Picture 4" descr="http://www.gtsav.gatech.edu/people/ffedele/cee3000/Fall08/CEE3000Fall08_files/matlab_logo.jpg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429520" y="5214950"/>
            <a:ext cx="1362561" cy="1020750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</p:cSld>
  <p:clrMapOvr>
    <a:masterClrMapping/>
  </p:clrMapOvr>
  <p:transition>
    <p:pull dir="r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6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Bitler ve baytlar tasarım şablonu">
  <a:themeElements>
    <a:clrScheme name="Ofis Teması 1">
      <a:dk1>
        <a:srgbClr val="080808"/>
      </a:dk1>
      <a:lt1>
        <a:srgbClr val="7AA6B0"/>
      </a:lt1>
      <a:dk2>
        <a:srgbClr val="000000"/>
      </a:dk2>
      <a:lt2>
        <a:srgbClr val="080808"/>
      </a:lt2>
      <a:accent1>
        <a:srgbClr val="917AA4"/>
      </a:accent1>
      <a:accent2>
        <a:srgbClr val="76669A"/>
      </a:accent2>
      <a:accent3>
        <a:srgbClr val="BED0D4"/>
      </a:accent3>
      <a:accent4>
        <a:srgbClr val="060606"/>
      </a:accent4>
      <a:accent5>
        <a:srgbClr val="C7BECF"/>
      </a:accent5>
      <a:accent6>
        <a:srgbClr val="6A5C8B"/>
      </a:accent6>
      <a:hlink>
        <a:srgbClr val="377B89"/>
      </a:hlink>
      <a:folHlink>
        <a:srgbClr val="1A4E54"/>
      </a:folHlink>
    </a:clrScheme>
    <a:fontScheme name="Ofis Teması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Ofis Teması 1">
        <a:dk1>
          <a:srgbClr val="080808"/>
        </a:dk1>
        <a:lt1>
          <a:srgbClr val="7AA6B0"/>
        </a:lt1>
        <a:dk2>
          <a:srgbClr val="000000"/>
        </a:dk2>
        <a:lt2>
          <a:srgbClr val="080808"/>
        </a:lt2>
        <a:accent1>
          <a:srgbClr val="917AA4"/>
        </a:accent1>
        <a:accent2>
          <a:srgbClr val="76669A"/>
        </a:accent2>
        <a:accent3>
          <a:srgbClr val="BED0D4"/>
        </a:accent3>
        <a:accent4>
          <a:srgbClr val="060606"/>
        </a:accent4>
        <a:accent5>
          <a:srgbClr val="C7BECF"/>
        </a:accent5>
        <a:accent6>
          <a:srgbClr val="6A5C8B"/>
        </a:accent6>
        <a:hlink>
          <a:srgbClr val="377B89"/>
        </a:hlink>
        <a:folHlink>
          <a:srgbClr val="1A4E5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is Teması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i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is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Bitler ve baytlar tasarım şablonu</Template>
  <TotalTime>2721</TotalTime>
  <Words>2347</Words>
  <Application>Microsoft Office PowerPoint</Application>
  <PresentationFormat>Ekran Gösterisi (4:3)</PresentationFormat>
  <Paragraphs>803</Paragraphs>
  <Slides>42</Slides>
  <Notes>42</Notes>
  <HiddenSlides>0</HiddenSlides>
  <MMClips>0</MMClips>
  <ScaleCrop>false</ScaleCrop>
  <HeadingPairs>
    <vt:vector size="6" baseType="variant">
      <vt:variant>
        <vt:lpstr>Tema</vt:lpstr>
      </vt:variant>
      <vt:variant>
        <vt:i4>1</vt:i4>
      </vt:variant>
      <vt:variant>
        <vt:lpstr>Katıştırılmış OLE Hizmet Programları</vt:lpstr>
      </vt:variant>
      <vt:variant>
        <vt:i4>1</vt:i4>
      </vt:variant>
      <vt:variant>
        <vt:lpstr>Slayt Başlıkları</vt:lpstr>
      </vt:variant>
      <vt:variant>
        <vt:i4>42</vt:i4>
      </vt:variant>
    </vt:vector>
  </HeadingPairs>
  <TitlesOfParts>
    <vt:vector size="44" baseType="lpstr">
      <vt:lpstr>Bitler ve baytlar tasarım şablonu</vt:lpstr>
      <vt:lpstr>Denklem</vt:lpstr>
      <vt:lpstr>Sayısal Analiz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PowerPoint Sunusu</vt:lpstr>
      <vt:lpstr>Sayısal Analiz</vt:lpstr>
    </vt:vector>
  </TitlesOfParts>
  <Company>HP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Sayısal Analiz</dc:title>
  <dc:creator>Sau;YYurtaY</dc:creator>
  <cp:keywords>YYurtaY_SA/2009</cp:keywords>
  <cp:lastModifiedBy>SAU</cp:lastModifiedBy>
  <cp:revision>216</cp:revision>
  <dcterms:created xsi:type="dcterms:W3CDTF">2009-08-30T08:05:20Z</dcterms:created>
  <dcterms:modified xsi:type="dcterms:W3CDTF">2012-11-01T08:56:18Z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TC011408341055</vt:lpwstr>
  </property>
</Properties>
</file>